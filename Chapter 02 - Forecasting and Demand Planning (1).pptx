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7" r:id="rId1"/>
    <p:sldMasterId id="2147484287" r:id="rId2"/>
  </p:sldMasterIdLst>
  <p:notesMasterIdLst>
    <p:notesMasterId r:id="rId45"/>
  </p:notesMasterIdLst>
  <p:handoutMasterIdLst>
    <p:handoutMasterId r:id="rId46"/>
  </p:handoutMasterIdLst>
  <p:sldIdLst>
    <p:sldId id="342" r:id="rId3"/>
    <p:sldId id="714" r:id="rId4"/>
    <p:sldId id="689" r:id="rId5"/>
    <p:sldId id="690" r:id="rId6"/>
    <p:sldId id="691" r:id="rId7"/>
    <p:sldId id="692" r:id="rId8"/>
    <p:sldId id="668" r:id="rId9"/>
    <p:sldId id="669" r:id="rId10"/>
    <p:sldId id="688" r:id="rId11"/>
    <p:sldId id="640" r:id="rId12"/>
    <p:sldId id="693" r:id="rId13"/>
    <p:sldId id="699" r:id="rId14"/>
    <p:sldId id="694" r:id="rId15"/>
    <p:sldId id="695" r:id="rId16"/>
    <p:sldId id="696" r:id="rId17"/>
    <p:sldId id="641" r:id="rId18"/>
    <p:sldId id="642" r:id="rId19"/>
    <p:sldId id="705" r:id="rId20"/>
    <p:sldId id="644" r:id="rId21"/>
    <p:sldId id="697" r:id="rId22"/>
    <p:sldId id="698" r:id="rId23"/>
    <p:sldId id="700" r:id="rId24"/>
    <p:sldId id="701" r:id="rId25"/>
    <p:sldId id="713" r:id="rId26"/>
    <p:sldId id="653" r:id="rId27"/>
    <p:sldId id="703" r:id="rId28"/>
    <p:sldId id="704" r:id="rId29"/>
    <p:sldId id="676" r:id="rId30"/>
    <p:sldId id="679" r:id="rId31"/>
    <p:sldId id="678" r:id="rId32"/>
    <p:sldId id="680" r:id="rId33"/>
    <p:sldId id="707" r:id="rId34"/>
    <p:sldId id="655" r:id="rId35"/>
    <p:sldId id="708" r:id="rId36"/>
    <p:sldId id="657" r:id="rId37"/>
    <p:sldId id="709" r:id="rId38"/>
    <p:sldId id="656" r:id="rId39"/>
    <p:sldId id="711" r:id="rId40"/>
    <p:sldId id="684" r:id="rId41"/>
    <p:sldId id="683" r:id="rId42"/>
    <p:sldId id="712" r:id="rId43"/>
    <p:sldId id="681" r:id="rId44"/>
  </p:sldIdLst>
  <p:sldSz cx="9144000" cy="6858000" type="screen4x3"/>
  <p:notesSz cx="6985000" cy="9283700"/>
  <p:custDataLst>
    <p:tags r:id="rId47"/>
  </p:custDataLst>
  <p:defaultTex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3" orient="horz" pos="2592" userDrawn="1">
          <p15:clr>
            <a:srgbClr val="A4A3A4"/>
          </p15:clr>
        </p15:guide>
        <p15:guide id="4" pos="3456" userDrawn="1">
          <p15:clr>
            <a:srgbClr val="A4A3A4"/>
          </p15:clr>
        </p15:guide>
        <p15:guide id="9" pos="5616" userDrawn="1">
          <p15:clr>
            <a:srgbClr val="A4A3A4"/>
          </p15:clr>
        </p15:guide>
        <p15:guide id="11" pos="144" userDrawn="1">
          <p15:clr>
            <a:srgbClr val="A4A3A4"/>
          </p15:clr>
        </p15:guide>
        <p15:guide id="12" pos="2880" userDrawn="1">
          <p15:clr>
            <a:srgbClr val="A4A3A4"/>
          </p15:clr>
        </p15:guide>
        <p15:guide id="14" pos="1152" userDrawn="1">
          <p15:clr>
            <a:srgbClr val="A4A3A4"/>
          </p15:clr>
        </p15:guide>
        <p15:guide id="16" orient="horz" pos="2448" userDrawn="1">
          <p15:clr>
            <a:srgbClr val="A4A3A4"/>
          </p15:clr>
        </p15:guide>
        <p15:guide id="17" orient="horz" pos="240" userDrawn="1">
          <p15:clr>
            <a:srgbClr val="A4A3A4"/>
          </p15:clr>
        </p15:guide>
        <p15:guide id="18" orient="horz" pos="576" userDrawn="1">
          <p15:clr>
            <a:srgbClr val="A4A3A4"/>
          </p15:clr>
        </p15:guide>
        <p15:guide id="19" orient="horz" pos="2016" userDrawn="1">
          <p15:clr>
            <a:srgbClr val="A4A3A4"/>
          </p15:clr>
        </p15:guide>
        <p15:guide id="20" orient="horz" pos="3600" userDrawn="1">
          <p15:clr>
            <a:srgbClr val="A4A3A4"/>
          </p15:clr>
        </p15:guide>
        <p15:guide id="21" orient="horz" pos="4224" userDrawn="1">
          <p15:clr>
            <a:srgbClr val="A4A3A4"/>
          </p15:clr>
        </p15:guide>
        <p15:guide id="22" orient="horz" pos="2976" userDrawn="1">
          <p15:clr>
            <a:srgbClr val="A4A3A4"/>
          </p15:clr>
        </p15:guide>
        <p15:guide id="23" orient="horz" pos="3168" userDrawn="1">
          <p15:clr>
            <a:srgbClr val="A4A3A4"/>
          </p15:clr>
        </p15:guide>
        <p15:guide id="24" pos="1728" userDrawn="1">
          <p15:clr>
            <a:srgbClr val="A4A3A4"/>
          </p15:clr>
        </p15:guide>
        <p15:guide id="26" pos="2304" userDrawn="1">
          <p15:clr>
            <a:srgbClr val="A4A3A4"/>
          </p15:clr>
        </p15:guide>
        <p15:guide id="27" pos="4032" userDrawn="1">
          <p15:clr>
            <a:srgbClr val="A4A3A4"/>
          </p15:clr>
        </p15:guide>
        <p15:guide id="28" orient="horz" pos="1224" userDrawn="1">
          <p15:clr>
            <a:srgbClr val="A4A3A4"/>
          </p15:clr>
        </p15:guide>
        <p15:guide id="30" pos="5184" userDrawn="1">
          <p15:clr>
            <a:srgbClr val="A4A3A4"/>
          </p15:clr>
        </p15:guide>
        <p15:guide id="31" pos="744" userDrawn="1">
          <p15:clr>
            <a:srgbClr val="A4A3A4"/>
          </p15:clr>
        </p15:guide>
        <p15:guide id="32" pos="4632" userDrawn="1">
          <p15:clr>
            <a:srgbClr val="A4A3A4"/>
          </p15:clr>
        </p15:guide>
      </p15:sldGuideLst>
    </p:ext>
    <p:ext uri="{2D200454-40CA-4A62-9FC3-DE9A4176ACB9}">
      <p15:notesGuideLst xmlns:p15="http://schemas.microsoft.com/office/powerpoint/2012/main">
        <p15:guide id="1" orient="horz" pos="2780" userDrawn="1">
          <p15:clr>
            <a:srgbClr val="A4A3A4"/>
          </p15:clr>
        </p15:guide>
        <p15:guide id="2" pos="430" userDrawn="1">
          <p15:clr>
            <a:srgbClr val="A4A3A4"/>
          </p15:clr>
        </p15:guide>
        <p15:guide id="3" pos="3970" userDrawn="1">
          <p15:clr>
            <a:srgbClr val="A4A3A4"/>
          </p15:clr>
        </p15:guide>
        <p15:guide id="4" orient="horz" pos="28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3222"/>
    <a:srgbClr val="F2F2F2"/>
    <a:srgbClr val="FFFF99"/>
    <a:srgbClr val="008000"/>
    <a:srgbClr val="99CCFF"/>
    <a:srgbClr val="0000FF"/>
    <a:srgbClr val="FFFFCC"/>
    <a:srgbClr val="FCAF17"/>
    <a:srgbClr val="FFCC66"/>
    <a:srgbClr val="BB7A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18289" autoAdjust="0"/>
    <p:restoredTop sz="98817" autoAdjust="0"/>
  </p:normalViewPr>
  <p:slideViewPr>
    <p:cSldViewPr snapToGrid="0">
      <p:cViewPr varScale="1">
        <p:scale>
          <a:sx n="78" d="100"/>
          <a:sy n="78" d="100"/>
        </p:scale>
        <p:origin x="1280" y="48"/>
      </p:cViewPr>
      <p:guideLst>
        <p:guide orient="horz" pos="2592"/>
        <p:guide pos="3456"/>
        <p:guide pos="5616"/>
        <p:guide pos="144"/>
        <p:guide pos="2880"/>
        <p:guide pos="1152"/>
        <p:guide orient="horz" pos="2448"/>
        <p:guide orient="horz" pos="240"/>
        <p:guide orient="horz" pos="576"/>
        <p:guide orient="horz" pos="2016"/>
        <p:guide orient="horz" pos="3600"/>
        <p:guide orient="horz" pos="4224"/>
        <p:guide orient="horz" pos="2976"/>
        <p:guide orient="horz" pos="3168"/>
        <p:guide pos="1728"/>
        <p:guide pos="2304"/>
        <p:guide pos="4032"/>
        <p:guide orient="horz" pos="1224"/>
        <p:guide pos="5184"/>
        <p:guide pos="744"/>
        <p:guide pos="4632"/>
      </p:guideLst>
    </p:cSldViewPr>
  </p:slideViewPr>
  <p:notesTextViewPr>
    <p:cViewPr>
      <p:scale>
        <a:sx n="100" d="100"/>
        <a:sy n="100" d="100"/>
      </p:scale>
      <p:origin x="0" y="0"/>
    </p:cViewPr>
  </p:notesTextViewPr>
  <p:sorterViewPr>
    <p:cViewPr varScale="1">
      <p:scale>
        <a:sx n="1" d="1"/>
        <a:sy n="1" d="1"/>
      </p:scale>
      <p:origin x="0" y="-4944"/>
    </p:cViewPr>
  </p:sorterViewPr>
  <p:notesViewPr>
    <p:cSldViewPr snapToGrid="0">
      <p:cViewPr varScale="1">
        <p:scale>
          <a:sx n="84" d="100"/>
          <a:sy n="84" d="100"/>
        </p:scale>
        <p:origin x="3798" y="108"/>
      </p:cViewPr>
      <p:guideLst>
        <p:guide orient="horz" pos="2780"/>
        <p:guide pos="430"/>
        <p:guide pos="3970"/>
        <p:guide orient="horz" pos="288"/>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5954" name="Rectangle 2"/>
          <p:cNvSpPr>
            <a:spLocks noGrp="1" noChangeArrowheads="1"/>
          </p:cNvSpPr>
          <p:nvPr>
            <p:ph type="hdr" sz="quarter"/>
          </p:nvPr>
        </p:nvSpPr>
        <p:spPr bwMode="auto">
          <a:xfrm>
            <a:off x="1" y="0"/>
            <a:ext cx="3027466" cy="464503"/>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defRPr sz="1200" smtClean="0"/>
            </a:lvl1pPr>
          </a:lstStyle>
          <a:p>
            <a:pPr>
              <a:defRPr/>
            </a:pPr>
            <a:endParaRPr lang="en-US" dirty="0"/>
          </a:p>
        </p:txBody>
      </p:sp>
      <p:sp>
        <p:nvSpPr>
          <p:cNvPr id="765955" name="Rectangle 3"/>
          <p:cNvSpPr>
            <a:spLocks noGrp="1" noChangeArrowheads="1"/>
          </p:cNvSpPr>
          <p:nvPr>
            <p:ph type="dt" sz="quarter" idx="1"/>
          </p:nvPr>
        </p:nvSpPr>
        <p:spPr bwMode="auto">
          <a:xfrm>
            <a:off x="3955953" y="0"/>
            <a:ext cx="3027466" cy="464503"/>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a:defRPr sz="1200" smtClean="0"/>
            </a:lvl1pPr>
          </a:lstStyle>
          <a:p>
            <a:pPr>
              <a:defRPr/>
            </a:pPr>
            <a:endParaRPr lang="en-US" dirty="0"/>
          </a:p>
        </p:txBody>
      </p:sp>
      <p:sp>
        <p:nvSpPr>
          <p:cNvPr id="765956" name="Rectangle 4"/>
          <p:cNvSpPr>
            <a:spLocks noGrp="1" noChangeArrowheads="1"/>
          </p:cNvSpPr>
          <p:nvPr>
            <p:ph type="ftr" sz="quarter" idx="2"/>
          </p:nvPr>
        </p:nvSpPr>
        <p:spPr bwMode="auto">
          <a:xfrm>
            <a:off x="1" y="8817612"/>
            <a:ext cx="3027466" cy="464503"/>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defRPr sz="1200" smtClean="0"/>
            </a:lvl1pPr>
          </a:lstStyle>
          <a:p>
            <a:pPr>
              <a:defRPr/>
            </a:pPr>
            <a:endParaRPr lang="en-US" dirty="0"/>
          </a:p>
        </p:txBody>
      </p:sp>
      <p:sp>
        <p:nvSpPr>
          <p:cNvPr id="765957" name="Rectangle 5"/>
          <p:cNvSpPr>
            <a:spLocks noGrp="1" noChangeArrowheads="1"/>
          </p:cNvSpPr>
          <p:nvPr>
            <p:ph type="sldNum" sz="quarter" idx="3"/>
          </p:nvPr>
        </p:nvSpPr>
        <p:spPr bwMode="auto">
          <a:xfrm>
            <a:off x="3955953" y="8817612"/>
            <a:ext cx="3027466" cy="464503"/>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a:defRPr sz="1200" smtClean="0"/>
            </a:lvl1pPr>
          </a:lstStyle>
          <a:p>
            <a:pPr>
              <a:defRPr/>
            </a:pPr>
            <a:fld id="{F4F278CE-4F29-4C0C-8549-B3BF430AA3F2}" type="slidenum">
              <a:rPr lang="en-US"/>
              <a:pPr>
                <a:defRPr/>
              </a:pPr>
              <a:t>‹#›</a:t>
            </a:fld>
            <a:endParaRPr lang="en-US" dirty="0"/>
          </a:p>
        </p:txBody>
      </p:sp>
    </p:spTree>
    <p:extLst>
      <p:ext uri="{BB962C8B-B14F-4D97-AF65-F5344CB8AC3E}">
        <p14:creationId xmlns:p14="http://schemas.microsoft.com/office/powerpoint/2010/main" val="32140021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1" y="0"/>
            <a:ext cx="3027466" cy="464503"/>
          </a:xfrm>
          <a:prstGeom prst="rect">
            <a:avLst/>
          </a:prstGeom>
          <a:noFill/>
          <a:ln w="9525">
            <a:noFill/>
            <a:miter lim="800000"/>
            <a:headEnd/>
            <a:tailEnd/>
          </a:ln>
          <a:effectLst/>
        </p:spPr>
        <p:txBody>
          <a:bodyPr vert="horz" wrap="square" lIns="92953" tIns="46477" rIns="92953" bIns="46477" numCol="1" anchor="t" anchorCtr="0" compatLnSpc="1">
            <a:prstTxWarp prst="textNoShape">
              <a:avLst/>
            </a:prstTxWarp>
          </a:bodyPr>
          <a:lstStyle>
            <a:lvl1pPr defTabSz="929627">
              <a:defRPr sz="1200" smtClean="0"/>
            </a:lvl1pPr>
          </a:lstStyle>
          <a:p>
            <a:pPr>
              <a:defRPr/>
            </a:pPr>
            <a:endParaRPr lang="en-US" dirty="0"/>
          </a:p>
        </p:txBody>
      </p:sp>
      <p:sp>
        <p:nvSpPr>
          <p:cNvPr id="24579" name="Rectangle 3"/>
          <p:cNvSpPr>
            <a:spLocks noGrp="1" noChangeArrowheads="1"/>
          </p:cNvSpPr>
          <p:nvPr>
            <p:ph type="dt" idx="1"/>
          </p:nvPr>
        </p:nvSpPr>
        <p:spPr bwMode="auto">
          <a:xfrm>
            <a:off x="3955953" y="0"/>
            <a:ext cx="3027466" cy="464503"/>
          </a:xfrm>
          <a:prstGeom prst="rect">
            <a:avLst/>
          </a:prstGeom>
          <a:noFill/>
          <a:ln w="9525">
            <a:noFill/>
            <a:miter lim="800000"/>
            <a:headEnd/>
            <a:tailEnd/>
          </a:ln>
          <a:effectLst/>
        </p:spPr>
        <p:txBody>
          <a:bodyPr vert="horz" wrap="square" lIns="92953" tIns="46477" rIns="92953" bIns="46477" numCol="1" anchor="t" anchorCtr="0" compatLnSpc="1">
            <a:prstTxWarp prst="textNoShape">
              <a:avLst/>
            </a:prstTxWarp>
          </a:bodyPr>
          <a:lstStyle>
            <a:lvl1pPr algn="r" defTabSz="929627">
              <a:defRPr sz="1200" smtClean="0"/>
            </a:lvl1pPr>
          </a:lstStyle>
          <a:p>
            <a:pPr>
              <a:defRPr/>
            </a:pPr>
            <a:endParaRPr lang="en-US" dirty="0"/>
          </a:p>
        </p:txBody>
      </p:sp>
      <p:sp>
        <p:nvSpPr>
          <p:cNvPr id="5124" name="Rectangle 4"/>
          <p:cNvSpPr>
            <a:spLocks noGrp="1" noRot="1" noChangeAspect="1" noChangeArrowheads="1" noTextEdit="1"/>
          </p:cNvSpPr>
          <p:nvPr>
            <p:ph type="sldImg" idx="2"/>
          </p:nvPr>
        </p:nvSpPr>
        <p:spPr bwMode="auto">
          <a:xfrm>
            <a:off x="1171575" y="695325"/>
            <a:ext cx="4641850" cy="3481388"/>
          </a:xfrm>
          <a:prstGeom prst="rect">
            <a:avLst/>
          </a:prstGeom>
          <a:noFill/>
          <a:ln w="9525">
            <a:solidFill>
              <a:srgbClr val="000000"/>
            </a:solidFill>
            <a:miter lim="800000"/>
            <a:headEnd/>
            <a:tailEnd/>
          </a:ln>
        </p:spPr>
      </p:sp>
      <p:sp>
        <p:nvSpPr>
          <p:cNvPr id="24581" name="Rectangle 5"/>
          <p:cNvSpPr>
            <a:spLocks noGrp="1" noChangeArrowheads="1"/>
          </p:cNvSpPr>
          <p:nvPr>
            <p:ph type="body" sz="quarter" idx="3"/>
          </p:nvPr>
        </p:nvSpPr>
        <p:spPr bwMode="auto">
          <a:xfrm>
            <a:off x="699133" y="4410392"/>
            <a:ext cx="5586735" cy="4177348"/>
          </a:xfrm>
          <a:prstGeom prst="rect">
            <a:avLst/>
          </a:prstGeom>
          <a:noFill/>
          <a:ln w="9525">
            <a:noFill/>
            <a:miter lim="800000"/>
            <a:headEnd/>
            <a:tailEnd/>
          </a:ln>
          <a:effectLst/>
        </p:spPr>
        <p:txBody>
          <a:bodyPr vert="horz" wrap="square" lIns="92953" tIns="46477" rIns="92953" bIns="4647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582" name="Rectangle 6"/>
          <p:cNvSpPr>
            <a:spLocks noGrp="1" noChangeArrowheads="1"/>
          </p:cNvSpPr>
          <p:nvPr>
            <p:ph type="ftr" sz="quarter" idx="4"/>
          </p:nvPr>
        </p:nvSpPr>
        <p:spPr bwMode="auto">
          <a:xfrm>
            <a:off x="1" y="8817612"/>
            <a:ext cx="3027466" cy="464503"/>
          </a:xfrm>
          <a:prstGeom prst="rect">
            <a:avLst/>
          </a:prstGeom>
          <a:noFill/>
          <a:ln w="9525">
            <a:noFill/>
            <a:miter lim="800000"/>
            <a:headEnd/>
            <a:tailEnd/>
          </a:ln>
          <a:effectLst/>
        </p:spPr>
        <p:txBody>
          <a:bodyPr vert="horz" wrap="square" lIns="92953" tIns="46477" rIns="92953" bIns="46477" numCol="1" anchor="b" anchorCtr="0" compatLnSpc="1">
            <a:prstTxWarp prst="textNoShape">
              <a:avLst/>
            </a:prstTxWarp>
          </a:bodyPr>
          <a:lstStyle>
            <a:lvl1pPr defTabSz="929627">
              <a:defRPr sz="1200" smtClean="0"/>
            </a:lvl1pPr>
          </a:lstStyle>
          <a:p>
            <a:pPr>
              <a:defRPr/>
            </a:pPr>
            <a:endParaRPr lang="en-US" dirty="0"/>
          </a:p>
        </p:txBody>
      </p:sp>
      <p:sp>
        <p:nvSpPr>
          <p:cNvPr id="24583" name="Rectangle 7"/>
          <p:cNvSpPr>
            <a:spLocks noGrp="1" noChangeArrowheads="1"/>
          </p:cNvSpPr>
          <p:nvPr>
            <p:ph type="sldNum" sz="quarter" idx="5"/>
          </p:nvPr>
        </p:nvSpPr>
        <p:spPr bwMode="auto">
          <a:xfrm>
            <a:off x="3955953" y="8817612"/>
            <a:ext cx="3027466" cy="464503"/>
          </a:xfrm>
          <a:prstGeom prst="rect">
            <a:avLst/>
          </a:prstGeom>
          <a:noFill/>
          <a:ln w="9525">
            <a:noFill/>
            <a:miter lim="800000"/>
            <a:headEnd/>
            <a:tailEnd/>
          </a:ln>
          <a:effectLst/>
        </p:spPr>
        <p:txBody>
          <a:bodyPr vert="horz" wrap="square" lIns="92953" tIns="46477" rIns="92953" bIns="46477" numCol="1" anchor="b" anchorCtr="0" compatLnSpc="1">
            <a:prstTxWarp prst="textNoShape">
              <a:avLst/>
            </a:prstTxWarp>
          </a:bodyPr>
          <a:lstStyle>
            <a:lvl1pPr algn="r" defTabSz="929627">
              <a:defRPr sz="1200" smtClean="0"/>
            </a:lvl1pPr>
          </a:lstStyle>
          <a:p>
            <a:pPr>
              <a:defRPr/>
            </a:pPr>
            <a:fld id="{13D50BE3-7B63-4F74-A846-78120FB61B94}" type="slidenum">
              <a:rPr lang="en-US"/>
              <a:pPr>
                <a:defRPr/>
              </a:pPr>
              <a:t>‹#›</a:t>
            </a:fld>
            <a:endParaRPr lang="en-US" dirty="0"/>
          </a:p>
        </p:txBody>
      </p:sp>
    </p:spTree>
    <p:extLst>
      <p:ext uri="{BB962C8B-B14F-4D97-AF65-F5344CB8AC3E}">
        <p14:creationId xmlns:p14="http://schemas.microsoft.com/office/powerpoint/2010/main" val="3562812337"/>
      </p:ext>
    </p:extLst>
  </p:cSld>
  <p:clrMap bg1="lt1" tx1="dk1" bg2="lt2" tx2="dk2" accent1="accent1" accent2="accent2" accent3="accent3" accent4="accent4" accent5="accent5" accent6="accent6" hlink="hlink" folHlink="folHlink"/>
  <p:notesStyle>
    <a:lvl1pPr algn="l" rtl="0" eaLnBrk="0" fontAlgn="base" hangingPunct="0">
      <a:lnSpc>
        <a:spcPct val="95000"/>
      </a:lnSpc>
      <a:spcBef>
        <a:spcPct val="60000"/>
      </a:spcBef>
      <a:spcAft>
        <a:spcPct val="0"/>
      </a:spcAft>
      <a:defRPr sz="1200" kern="1200">
        <a:solidFill>
          <a:schemeClr val="tx1"/>
        </a:solidFill>
        <a:latin typeface="Arial" charset="0"/>
        <a:ea typeface="+mn-ea"/>
        <a:cs typeface="+mn-cs"/>
      </a:defRPr>
    </a:lvl1pPr>
    <a:lvl2pPr marL="114300" indent="-112713" algn="l" rtl="0" eaLnBrk="0" fontAlgn="base" hangingPunct="0">
      <a:lnSpc>
        <a:spcPct val="95000"/>
      </a:lnSpc>
      <a:spcBef>
        <a:spcPct val="40000"/>
      </a:spcBef>
      <a:spcAft>
        <a:spcPct val="0"/>
      </a:spcAft>
      <a:buChar char="•"/>
      <a:defRPr sz="1200" kern="1200">
        <a:solidFill>
          <a:schemeClr val="tx1"/>
        </a:solidFill>
        <a:latin typeface="Arial" charset="0"/>
        <a:ea typeface="+mn-ea"/>
        <a:cs typeface="+mn-cs"/>
      </a:defRPr>
    </a:lvl2pPr>
    <a:lvl3pPr marL="347663" indent="-119063" algn="l" rtl="0" eaLnBrk="0" fontAlgn="base" hangingPunct="0">
      <a:lnSpc>
        <a:spcPct val="95000"/>
      </a:lnSpc>
      <a:spcBef>
        <a:spcPct val="20000"/>
      </a:spcBef>
      <a:spcAft>
        <a:spcPct val="0"/>
      </a:spcAft>
      <a:buChar char="•"/>
      <a:defRPr sz="1000" kern="1200">
        <a:solidFill>
          <a:schemeClr val="tx1"/>
        </a:solidFill>
        <a:latin typeface="Arial" charset="0"/>
        <a:ea typeface="+mn-ea"/>
        <a:cs typeface="+mn-cs"/>
      </a:defRPr>
    </a:lvl3pPr>
    <a:lvl4pPr marL="566738" indent="-104775" algn="l" rtl="0" eaLnBrk="0" fontAlgn="base" hangingPunct="0">
      <a:lnSpc>
        <a:spcPct val="95000"/>
      </a:lnSpc>
      <a:spcBef>
        <a:spcPct val="20000"/>
      </a:spcBef>
      <a:spcAft>
        <a:spcPct val="0"/>
      </a:spcAft>
      <a:buChar char="•"/>
      <a:defRPr sz="900" kern="1200">
        <a:solidFill>
          <a:schemeClr val="tx1"/>
        </a:solidFill>
        <a:latin typeface="Arial" charset="0"/>
        <a:ea typeface="+mn-ea"/>
        <a:cs typeface="+mn-cs"/>
      </a:defRPr>
    </a:lvl4pPr>
    <a:lvl5pPr marL="798513" indent="-117475" algn="l" rtl="0" eaLnBrk="0" fontAlgn="base" hangingPunct="0">
      <a:lnSpc>
        <a:spcPct val="95000"/>
      </a:lnSpc>
      <a:spcBef>
        <a:spcPct val="20000"/>
      </a:spcBef>
      <a:spcAft>
        <a:spcPct val="0"/>
      </a:spcAft>
      <a:buChar char="•"/>
      <a:defRPr sz="9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xfrm>
            <a:off x="844550" y="457200"/>
            <a:ext cx="5280025" cy="3960813"/>
          </a:xfrm>
          <a:ln/>
        </p:spPr>
      </p:sp>
      <p:sp>
        <p:nvSpPr>
          <p:cNvPr id="18435" name="Rectangle 3"/>
          <p:cNvSpPr>
            <a:spLocks noGrp="1" noChangeArrowheads="1"/>
          </p:cNvSpPr>
          <p:nvPr>
            <p:ph type="body" idx="1"/>
          </p:nvPr>
        </p:nvSpPr>
        <p:spPr>
          <a:xfrm>
            <a:off x="699133" y="4410392"/>
            <a:ext cx="5586735" cy="4177348"/>
          </a:xfrm>
          <a:noFill/>
          <a:ln/>
        </p:spPr>
        <p:txBody>
          <a:bodyPr/>
          <a:lstStyle/>
          <a:p>
            <a:endParaRPr lang="en-US" dirty="0"/>
          </a:p>
        </p:txBody>
      </p:sp>
    </p:spTree>
    <p:extLst>
      <p:ext uri="{BB962C8B-B14F-4D97-AF65-F5344CB8AC3E}">
        <p14:creationId xmlns:p14="http://schemas.microsoft.com/office/powerpoint/2010/main" val="2628900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3D50BE3-7B63-4F74-A846-78120FB61B94}" type="slidenum">
              <a:rPr lang="en-US" smtClean="0"/>
              <a:pPr>
                <a:defRPr/>
              </a:pPr>
              <a:t>3</a:t>
            </a:fld>
            <a:endParaRPr lang="en-US" dirty="0"/>
          </a:p>
        </p:txBody>
      </p:sp>
    </p:spTree>
    <p:extLst>
      <p:ext uri="{BB962C8B-B14F-4D97-AF65-F5344CB8AC3E}">
        <p14:creationId xmlns:p14="http://schemas.microsoft.com/office/powerpoint/2010/main" val="2172784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703026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646342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2935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973991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721531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201798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916644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734641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66578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2689341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315742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3D50BE3-7B63-4F74-A846-78120FB61B94}" type="slidenum">
              <a:rPr lang="en-US" smtClean="0"/>
              <a:pPr>
                <a:defRPr/>
              </a:pPr>
              <a:t>30</a:t>
            </a:fld>
            <a:endParaRPr lang="en-US" dirty="0"/>
          </a:p>
        </p:txBody>
      </p:sp>
    </p:spTree>
    <p:extLst>
      <p:ext uri="{BB962C8B-B14F-4D97-AF65-F5344CB8AC3E}">
        <p14:creationId xmlns:p14="http://schemas.microsoft.com/office/powerpoint/2010/main" val="260771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4955971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5847635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5418815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5663" y="457200"/>
            <a:ext cx="5273675" cy="3956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3D50BE3-7B63-4F74-A846-78120FB61B94}" type="slidenum">
              <a:rPr lang="en-US">
                <a:solidFill>
                  <a:srgbClr val="917B69"/>
                </a:solidFill>
              </a:rPr>
              <a:pPr>
                <a:defRPr/>
              </a:pPr>
              <a:t>40</a:t>
            </a:fld>
            <a:endParaRPr lang="en-US" dirty="0">
              <a:solidFill>
                <a:srgbClr val="917B69"/>
              </a:solidFill>
            </a:endParaRPr>
          </a:p>
        </p:txBody>
      </p:sp>
    </p:spTree>
    <p:extLst>
      <p:ext uri="{BB962C8B-B14F-4D97-AF65-F5344CB8AC3E}">
        <p14:creationId xmlns:p14="http://schemas.microsoft.com/office/powerpoint/2010/main" val="31499505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316042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7" name="DividerColorBox"/>
          <p:cNvSpPr>
            <a:spLocks noChangeArrowheads="1"/>
          </p:cNvSpPr>
          <p:nvPr userDrawn="1"/>
        </p:nvSpPr>
        <p:spPr bwMode="auto">
          <a:xfrm>
            <a:off x="0" y="0"/>
            <a:ext cx="1208088" cy="4046538"/>
          </a:xfrm>
          <a:prstGeom prst="rect">
            <a:avLst/>
          </a:prstGeom>
          <a:solidFill>
            <a:srgbClr val="923222"/>
          </a:solidFill>
          <a:ln w="12700" algn="ctr">
            <a:noFill/>
            <a:miter lim="800000"/>
            <a:headEnd/>
            <a:tailEnd/>
          </a:ln>
        </p:spPr>
        <p:txBody>
          <a:bodyPr wrap="none" anchor="ctr"/>
          <a:lstStyle/>
          <a:p>
            <a:pPr algn="ctr" eaLnBrk="0" hangingPunct="0"/>
            <a:endParaRPr lang="en-US" sz="2800" b="1" dirty="0">
              <a:solidFill>
                <a:prstClr val="black"/>
              </a:solidFill>
              <a:latin typeface="News Gothic MT" pitchFamily="34" charset="0"/>
            </a:endParaRPr>
          </a:p>
        </p:txBody>
      </p:sp>
    </p:spTree>
    <p:extLst>
      <p:ext uri="{BB962C8B-B14F-4D97-AF65-F5344CB8AC3E}">
        <p14:creationId xmlns:p14="http://schemas.microsoft.com/office/powerpoint/2010/main" val="3353398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924135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435" y="440692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435"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643451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53158" y="1295400"/>
            <a:ext cx="4148503" cy="4775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2340" y="1295400"/>
            <a:ext cx="4149969" cy="4775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21150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0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0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280" y="1535113"/>
            <a:ext cx="40415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280" y="2174875"/>
            <a:ext cx="40415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5"/>
          <p:cNvSpPr>
            <a:spLocks noGrp="1"/>
          </p:cNvSpPr>
          <p:nvPr>
            <p:ph type="sldNum" sz="quarter" idx="10"/>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10" name="Footer Placeholder 4"/>
          <p:cNvSpPr>
            <a:spLocks noGrp="1"/>
          </p:cNvSpPr>
          <p:nvPr>
            <p:ph type="ftr" sz="quarter" idx="11"/>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831189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42465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5"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79173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7" y="273050"/>
            <a:ext cx="3008435"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538" y="273071"/>
            <a:ext cx="511126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7" y="1435103"/>
            <a:ext cx="300843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199383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166"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936633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827149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3620" y="76200"/>
            <a:ext cx="2108688" cy="5994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53164" y="76200"/>
            <a:ext cx="6189785" cy="5994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51081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53163" y="76200"/>
            <a:ext cx="8439150" cy="599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9486472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53163" y="76200"/>
            <a:ext cx="8439150" cy="914400"/>
          </a:xfrm>
        </p:spPr>
        <p:txBody>
          <a:bodyPr/>
          <a:lstStyle/>
          <a:p>
            <a:r>
              <a:rPr lang="en-US"/>
              <a:t>Click to edit Master title style</a:t>
            </a:r>
          </a:p>
        </p:txBody>
      </p:sp>
      <p:sp>
        <p:nvSpPr>
          <p:cNvPr id="3" name="Table Placeholder 2"/>
          <p:cNvSpPr>
            <a:spLocks noGrp="1"/>
          </p:cNvSpPr>
          <p:nvPr>
            <p:ph type="tbl" idx="1"/>
          </p:nvPr>
        </p:nvSpPr>
        <p:spPr>
          <a:xfrm>
            <a:off x="353163" y="1295400"/>
            <a:ext cx="8439150" cy="4775200"/>
          </a:xfrm>
        </p:spPr>
        <p:txBody>
          <a:bodyPr/>
          <a:lstStyle/>
          <a:p>
            <a:pPr lvl="0"/>
            <a:endParaRPr lang="en-US" noProof="0" dirty="0"/>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340039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53163" y="76200"/>
            <a:ext cx="8439150" cy="914400"/>
          </a:xfrm>
        </p:spPr>
        <p:txBody>
          <a:bodyPr/>
          <a:lstStyle/>
          <a:p>
            <a:r>
              <a:rPr lang="en-US"/>
              <a:t>Click to edit Master title style</a:t>
            </a:r>
          </a:p>
        </p:txBody>
      </p:sp>
      <p:sp>
        <p:nvSpPr>
          <p:cNvPr id="3" name="Content Placeholder 2"/>
          <p:cNvSpPr>
            <a:spLocks noGrp="1"/>
          </p:cNvSpPr>
          <p:nvPr>
            <p:ph sz="half" idx="1"/>
          </p:nvPr>
        </p:nvSpPr>
        <p:spPr>
          <a:xfrm>
            <a:off x="353158" y="1295400"/>
            <a:ext cx="4148503" cy="477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2340" y="1295400"/>
            <a:ext cx="4149969" cy="231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2340" y="3759200"/>
            <a:ext cx="4149969" cy="231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10"/>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7795306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06152992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5" name="Content Placeholder 2"/>
          <p:cNvSpPr>
            <a:spLocks noGrp="1"/>
          </p:cNvSpPr>
          <p:nvPr>
            <p:ph sz="half" idx="1"/>
          </p:nvPr>
        </p:nvSpPr>
        <p:spPr>
          <a:xfrm>
            <a:off x="527051" y="1346200"/>
            <a:ext cx="2667371" cy="49450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
        <p:nvSpPr>
          <p:cNvPr id="6" name="Content Placeholder 3"/>
          <p:cNvSpPr>
            <a:spLocks noGrp="1"/>
          </p:cNvSpPr>
          <p:nvPr>
            <p:ph sz="half" idx="2"/>
          </p:nvPr>
        </p:nvSpPr>
        <p:spPr>
          <a:xfrm>
            <a:off x="6170308" y="1346200"/>
            <a:ext cx="2676809" cy="49450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7" name="Content Placeholder 2"/>
          <p:cNvSpPr>
            <a:spLocks noGrp="1"/>
          </p:cNvSpPr>
          <p:nvPr>
            <p:ph sz="half" idx="12"/>
          </p:nvPr>
        </p:nvSpPr>
        <p:spPr>
          <a:xfrm>
            <a:off x="3339524" y="1357911"/>
            <a:ext cx="2667371" cy="493335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2159301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a:t>Click to edit Master title style</a:t>
            </a:r>
            <a:endParaRPr lang="en-US" noProof="0" dirty="0"/>
          </a:p>
        </p:txBody>
      </p:sp>
      <p:sp>
        <p:nvSpPr>
          <p:cNvPr id="10" name="Textplatzhalter 9" descr="Subtitle" title="Subtitle"/>
          <p:cNvSpPr>
            <a:spLocks noGrp="1"/>
          </p:cNvSpPr>
          <p:nvPr>
            <p:ph type="body" sz="quarter" idx="10"/>
          </p:nvPr>
        </p:nvSpPr>
        <p:spPr>
          <a:xfrm>
            <a:off x="540000" y="738554"/>
            <a:ext cx="8311392" cy="367571"/>
          </a:xfrm>
        </p:spPr>
        <p:txBody>
          <a:bodyPr anchor="b">
            <a:noAutofit/>
          </a:bodyPr>
          <a:lstStyle>
            <a:lvl1pPr marL="0" indent="0">
              <a:lnSpc>
                <a:spcPct val="95000"/>
              </a:lnSpc>
              <a:buNone/>
              <a:defRPr sz="2000" b="0" i="1">
                <a:solidFill>
                  <a:schemeClr val="tx1"/>
                </a:solidFill>
              </a:defRPr>
            </a:lvl1pPr>
          </a:lstStyle>
          <a:p>
            <a:pPr lvl="0"/>
            <a:r>
              <a:rPr lang="en-US" noProof="0"/>
              <a:t>Click to edit Master text styles</a:t>
            </a:r>
          </a:p>
        </p:txBody>
      </p:sp>
      <p:sp>
        <p:nvSpPr>
          <p:cNvPr id="9" name="Content Placeholder 2"/>
          <p:cNvSpPr>
            <a:spLocks noGrp="1"/>
          </p:cNvSpPr>
          <p:nvPr>
            <p:ph idx="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41835648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27050" y="1346200"/>
            <a:ext cx="4160838" cy="4945063"/>
          </a:xfrm>
        </p:spPr>
        <p:txBody>
          <a:bodyPr/>
          <a:lstStyle>
            <a:lvl1pPr marL="233363" marR="0" indent="-233363" algn="l" defTabSz="914400" rtl="0" eaLnBrk="1" fontAlgn="base" latinLnBrk="0" hangingPunct="1">
              <a:lnSpc>
                <a:spcPct val="95000"/>
              </a:lnSpc>
              <a:spcBef>
                <a:spcPct val="75000"/>
              </a:spcBef>
              <a:spcAft>
                <a:spcPct val="0"/>
              </a:spcAft>
              <a:buClr>
                <a:srgbClr val="FCAF17"/>
              </a:buClr>
              <a:buSzPct val="110000"/>
              <a:buFont typeface="Wingdings" pitchFamily="2" charset="2"/>
              <a:buChar char="§"/>
              <a:tabLst/>
              <a:defRPr sz="2800"/>
            </a:lvl1pPr>
            <a:lvl2pPr marL="398463" marR="0" indent="-163513" algn="l" defTabSz="914400" rtl="0" eaLnBrk="1" fontAlgn="base" latinLnBrk="0" hangingPunct="1">
              <a:lnSpc>
                <a:spcPct val="95000"/>
              </a:lnSpc>
              <a:spcBef>
                <a:spcPct val="40000"/>
              </a:spcBef>
              <a:spcAft>
                <a:spcPct val="0"/>
              </a:spcAft>
              <a:buClr>
                <a:srgbClr val="917B69"/>
              </a:buClr>
              <a:buSzTx/>
              <a:buFont typeface="Arial" charset="0"/>
              <a:buChar char="•"/>
              <a:tabLst/>
              <a:defRPr sz="2400"/>
            </a:lvl2pPr>
            <a:lvl3pPr marL="577850" marR="0" indent="-177800" algn="l" defTabSz="914400" rtl="0" eaLnBrk="1" fontAlgn="base" latinLnBrk="0" hangingPunct="1">
              <a:lnSpc>
                <a:spcPct val="95000"/>
              </a:lnSpc>
              <a:spcBef>
                <a:spcPct val="30000"/>
              </a:spcBef>
              <a:spcAft>
                <a:spcPct val="0"/>
              </a:spcAft>
              <a:buClrTx/>
              <a:buSzTx/>
              <a:buFont typeface="Arial" charset="0"/>
              <a:buChar char="-"/>
              <a:tabLst/>
              <a:defRPr sz="2000"/>
            </a:lvl3pPr>
            <a:lvl4pPr marL="752475" marR="0" indent="-173038" algn="l" defTabSz="914400" rtl="0" eaLnBrk="1" fontAlgn="base" latinLnBrk="0" hangingPunct="1">
              <a:lnSpc>
                <a:spcPct val="95000"/>
              </a:lnSpc>
              <a:spcBef>
                <a:spcPct val="20000"/>
              </a:spcBef>
              <a:spcAft>
                <a:spcPct val="0"/>
              </a:spcAft>
              <a:buClrTx/>
              <a:buSzTx/>
              <a:buFont typeface="Arial" charset="0"/>
              <a:buChar char="•"/>
              <a:tabLst/>
              <a:defRPr sz="1800"/>
            </a:lvl4pPr>
            <a:lvl5pPr marL="917575" marR="0" indent="-163513" algn="l" defTabSz="914400" rtl="0" eaLnBrk="1" fontAlgn="base" latinLnBrk="0" hangingPunct="1">
              <a:lnSpc>
                <a:spcPct val="100000"/>
              </a:lnSpc>
              <a:spcBef>
                <a:spcPct val="20000"/>
              </a:spcBef>
              <a:spcAft>
                <a:spcPct val="0"/>
              </a:spcAft>
              <a:buClrTx/>
              <a:buSzTx/>
              <a:buFontTx/>
              <a:buChar char="»"/>
              <a:tabLst/>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Content Placeholder 3"/>
          <p:cNvSpPr>
            <a:spLocks noGrp="1"/>
          </p:cNvSpPr>
          <p:nvPr>
            <p:ph sz="half" idx="2"/>
          </p:nvPr>
        </p:nvSpPr>
        <p:spPr>
          <a:xfrm>
            <a:off x="4840289" y="1346200"/>
            <a:ext cx="3998912" cy="4945063"/>
          </a:xfrm>
        </p:spPr>
        <p:txBody>
          <a:bodyPr/>
          <a:lstStyle>
            <a:lvl1pPr marL="233363" marR="0" indent="-233363" algn="l" defTabSz="914400" rtl="0" eaLnBrk="1" fontAlgn="base" latinLnBrk="0" hangingPunct="1">
              <a:lnSpc>
                <a:spcPct val="95000"/>
              </a:lnSpc>
              <a:spcBef>
                <a:spcPct val="75000"/>
              </a:spcBef>
              <a:spcAft>
                <a:spcPct val="0"/>
              </a:spcAft>
              <a:buClr>
                <a:srgbClr val="FCAF17"/>
              </a:buClr>
              <a:buSzPct val="110000"/>
              <a:buFont typeface="Wingdings" pitchFamily="2" charset="2"/>
              <a:buChar char="§"/>
              <a:tabLst/>
              <a:defRPr sz="2800"/>
            </a:lvl1pPr>
            <a:lvl2pPr marL="398463" marR="0" indent="-163513" algn="l" defTabSz="914400" rtl="0" eaLnBrk="1" fontAlgn="base" latinLnBrk="0" hangingPunct="1">
              <a:lnSpc>
                <a:spcPct val="95000"/>
              </a:lnSpc>
              <a:spcBef>
                <a:spcPct val="40000"/>
              </a:spcBef>
              <a:spcAft>
                <a:spcPct val="0"/>
              </a:spcAft>
              <a:buClr>
                <a:srgbClr val="917B69"/>
              </a:buClr>
              <a:buSzTx/>
              <a:buFont typeface="Arial" charset="0"/>
              <a:buChar char="•"/>
              <a:tabLst/>
              <a:defRPr sz="2400"/>
            </a:lvl2pPr>
            <a:lvl3pPr marL="577850" marR="0" indent="-177800" algn="l" defTabSz="914400" rtl="0" eaLnBrk="1" fontAlgn="base" latinLnBrk="0" hangingPunct="1">
              <a:lnSpc>
                <a:spcPct val="95000"/>
              </a:lnSpc>
              <a:spcBef>
                <a:spcPct val="30000"/>
              </a:spcBef>
              <a:spcAft>
                <a:spcPct val="0"/>
              </a:spcAft>
              <a:buClrTx/>
              <a:buSzTx/>
              <a:buFont typeface="Arial" charset="0"/>
              <a:buChar char="-"/>
              <a:tabLst/>
              <a:defRPr sz="2000"/>
            </a:lvl3pPr>
            <a:lvl4pPr marL="752475" marR="0" indent="-173038" algn="l" defTabSz="914400" rtl="0" eaLnBrk="1" fontAlgn="base" latinLnBrk="0" hangingPunct="1">
              <a:lnSpc>
                <a:spcPct val="95000"/>
              </a:lnSpc>
              <a:spcBef>
                <a:spcPct val="20000"/>
              </a:spcBef>
              <a:spcAft>
                <a:spcPct val="0"/>
              </a:spcAft>
              <a:buClrTx/>
              <a:buSzTx/>
              <a:buFont typeface="Arial" charset="0"/>
              <a:buChar char="•"/>
              <a:tabLst/>
              <a:defRPr sz="1800"/>
            </a:lvl4pPr>
            <a:lvl5pPr marL="917575" marR="0" indent="-163513" algn="l" defTabSz="914400" rtl="0" eaLnBrk="1" fontAlgn="base" latinLnBrk="0" hangingPunct="1">
              <a:lnSpc>
                <a:spcPct val="100000"/>
              </a:lnSpc>
              <a:spcBef>
                <a:spcPct val="20000"/>
              </a:spcBef>
              <a:spcAft>
                <a:spcPct val="0"/>
              </a:spcAft>
              <a:buClrTx/>
              <a:buSzTx/>
              <a:buFontTx/>
              <a:buChar char="»"/>
              <a:tabLst/>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platzhalter 9" descr="Subtitle" title="Subtitle"/>
          <p:cNvSpPr>
            <a:spLocks noGrp="1"/>
          </p:cNvSpPr>
          <p:nvPr>
            <p:ph type="body" sz="quarter" idx="10"/>
          </p:nvPr>
        </p:nvSpPr>
        <p:spPr>
          <a:xfrm>
            <a:off x="540000" y="738554"/>
            <a:ext cx="8311392" cy="367571"/>
          </a:xfrm>
        </p:spPr>
        <p:txBody>
          <a:bodyPr anchor="b">
            <a:noAutofit/>
          </a:bodyPr>
          <a:lstStyle>
            <a:lvl1pPr marL="0" indent="0">
              <a:lnSpc>
                <a:spcPct val="95000"/>
              </a:lnSpc>
              <a:buNone/>
              <a:defRPr sz="2000" b="0" i="1">
                <a:solidFill>
                  <a:schemeClr val="tx1"/>
                </a:solidFill>
              </a:defRPr>
            </a:lvl1pPr>
          </a:lstStyle>
          <a:p>
            <a:pPr lvl="0"/>
            <a:r>
              <a:rPr lang="en-US" noProof="0"/>
              <a:t>Click to edit Master text styles</a:t>
            </a:r>
          </a:p>
        </p:txBody>
      </p:sp>
      <p:sp>
        <p:nvSpPr>
          <p:cNvPr id="13" name="Title 1"/>
          <p:cNvSpPr>
            <a:spLocks noGrp="1"/>
          </p:cNvSpPr>
          <p:nvPr>
            <p:ph type="title"/>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a:t>Click to edit Master title style</a:t>
            </a:r>
            <a:endParaRPr lang="en-US" noProof="0" dirty="0"/>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557863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0" name="Textplatzhalter 9" descr="Subtitle" title="Subtitle"/>
          <p:cNvSpPr>
            <a:spLocks noGrp="1"/>
          </p:cNvSpPr>
          <p:nvPr>
            <p:ph type="body" sz="quarter" idx="10"/>
          </p:nvPr>
        </p:nvSpPr>
        <p:spPr>
          <a:xfrm>
            <a:off x="540000" y="738554"/>
            <a:ext cx="8311392" cy="367571"/>
          </a:xfrm>
        </p:spPr>
        <p:txBody>
          <a:bodyPr anchor="b">
            <a:noAutofit/>
          </a:bodyPr>
          <a:lstStyle>
            <a:lvl1pPr marL="0" indent="0">
              <a:lnSpc>
                <a:spcPct val="95000"/>
              </a:lnSpc>
              <a:buNone/>
              <a:defRPr sz="2000" b="0" i="1">
                <a:solidFill>
                  <a:schemeClr val="tx1"/>
                </a:solidFill>
              </a:defRPr>
            </a:lvl1pPr>
          </a:lstStyle>
          <a:p>
            <a:pPr lvl="0"/>
            <a:r>
              <a:rPr lang="en-US" noProof="0"/>
              <a:t>Click to edit Master text styles</a:t>
            </a:r>
          </a:p>
        </p:txBody>
      </p:sp>
      <p:sp>
        <p:nvSpPr>
          <p:cNvPr id="11" name="Title 1"/>
          <p:cNvSpPr>
            <a:spLocks noGrp="1"/>
          </p:cNvSpPr>
          <p:nvPr>
            <p:ph type="title"/>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a:t>Click to edit Master title style</a:t>
            </a:r>
            <a:endParaRPr lang="en-US" noProof="0" dirty="0"/>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0841512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el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0"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9" name="Content Placeholder 2"/>
          <p:cNvSpPr>
            <a:spLocks noGrp="1"/>
          </p:cNvSpPr>
          <p:nvPr>
            <p:ph idx="1" hasCustomPrompt="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9639504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
        <p:nvSpPr>
          <p:cNvPr id="9"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1"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9399832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23875" y="1346200"/>
            <a:ext cx="4162425" cy="4940320"/>
          </a:xfrm>
        </p:spPr>
        <p:txBody>
          <a:bodyPr>
            <a:noAutofit/>
          </a:bodyPr>
          <a:lstStyle>
            <a:lvl1pPr>
              <a:defRPr sz="2400" baseline="0"/>
            </a:lvl1pPr>
            <a:lvl2pPr>
              <a:defRPr sz="2000" baseline="0"/>
            </a:lvl2pPr>
            <a:lvl3pPr>
              <a:defRPr sz="1800" baseline="0"/>
            </a:lvl3pPr>
            <a:lvl4pPr>
              <a:defRPr sz="1600" baseline="0"/>
            </a:lvl4pPr>
            <a:lvl5pPr>
              <a:defRPr sz="1400" baseline="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4" name="Content Placeholder 3"/>
          <p:cNvSpPr>
            <a:spLocks noGrp="1"/>
          </p:cNvSpPr>
          <p:nvPr>
            <p:ph sz="half" idx="2"/>
          </p:nvPr>
        </p:nvSpPr>
        <p:spPr>
          <a:xfrm>
            <a:off x="4838701" y="1346200"/>
            <a:ext cx="4019580" cy="4940320"/>
          </a:xfrm>
        </p:spPr>
        <p:txBody>
          <a:bodyPr>
            <a:noAutofit/>
          </a:bodyPr>
          <a:lstStyle>
            <a:lvl1pPr>
              <a:defRPr sz="2400" baseline="0"/>
            </a:lvl1pPr>
            <a:lvl2pPr>
              <a:defRPr sz="2000" baseline="0"/>
            </a:lvl2pPr>
            <a:lvl3pPr>
              <a:defRPr sz="1800" baseline="0"/>
            </a:lvl3pPr>
            <a:lvl4pPr>
              <a:defRPr sz="1600" baseline="0"/>
            </a:lvl4pPr>
            <a:lvl5pPr>
              <a:defRPr sz="1400" baseline="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7"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0"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2222626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8"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435617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Titel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0"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9" name="Content Placeholder 2"/>
          <p:cNvSpPr>
            <a:spLocks noGrp="1"/>
          </p:cNvSpPr>
          <p:nvPr>
            <p:ph idx="1" hasCustomPrompt="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
        <p:nvSpPr>
          <p:cNvPr id="1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1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5180875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7" name="DividerColorBox"/>
          <p:cNvSpPr>
            <a:spLocks noChangeArrowheads="1"/>
          </p:cNvSpPr>
          <p:nvPr userDrawn="1"/>
        </p:nvSpPr>
        <p:spPr bwMode="auto">
          <a:xfrm>
            <a:off x="0" y="0"/>
            <a:ext cx="1208088" cy="4046538"/>
          </a:xfrm>
          <a:prstGeom prst="rect">
            <a:avLst/>
          </a:prstGeom>
          <a:solidFill>
            <a:srgbClr val="923222"/>
          </a:solidFill>
          <a:ln w="12700" algn="ctr">
            <a:noFill/>
            <a:miter lim="800000"/>
            <a:headEnd/>
            <a:tailEnd/>
          </a:ln>
        </p:spPr>
        <p:txBody>
          <a:bodyPr wrap="none" anchor="ctr"/>
          <a:lstStyle/>
          <a:p>
            <a:pPr algn="ctr" eaLnBrk="0" hangingPunct="0"/>
            <a:endParaRPr lang="en-US" sz="2800" b="1" dirty="0">
              <a:solidFill>
                <a:prstClr val="black"/>
              </a:solidFill>
              <a:latin typeface="News Gothic MT" pitchFamily="34" charset="0"/>
            </a:endParaRPr>
          </a:p>
        </p:txBody>
      </p:sp>
    </p:spTree>
    <p:extLst>
      <p:ext uri="{BB962C8B-B14F-4D97-AF65-F5344CB8AC3E}">
        <p14:creationId xmlns:p14="http://schemas.microsoft.com/office/powerpoint/2010/main" val="1711011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275672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435" y="440692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435"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5464061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53158" y="1295400"/>
            <a:ext cx="4148503" cy="4775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2340" y="1295400"/>
            <a:ext cx="4149969" cy="4775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42074288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0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0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280" y="1535113"/>
            <a:ext cx="40415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280" y="2174875"/>
            <a:ext cx="40415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5"/>
          <p:cNvSpPr>
            <a:spLocks noGrp="1"/>
          </p:cNvSpPr>
          <p:nvPr>
            <p:ph type="sldNum" sz="quarter" idx="10"/>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10" name="Footer Placeholder 4"/>
          <p:cNvSpPr>
            <a:spLocks noGrp="1"/>
          </p:cNvSpPr>
          <p:nvPr>
            <p:ph type="ftr" sz="quarter" idx="11"/>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6394315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4519883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5"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40919042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7" y="273050"/>
            <a:ext cx="3008435"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538" y="273071"/>
            <a:ext cx="511126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7" y="1435103"/>
            <a:ext cx="300843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1888111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166"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3821326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711125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3620" y="76200"/>
            <a:ext cx="2108688" cy="5994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53164" y="76200"/>
            <a:ext cx="6189785" cy="5994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753324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53163" y="76200"/>
            <a:ext cx="8439150" cy="599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3037295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53163" y="76200"/>
            <a:ext cx="8439150" cy="914400"/>
          </a:xfrm>
        </p:spPr>
        <p:txBody>
          <a:bodyPr/>
          <a:lstStyle/>
          <a:p>
            <a:r>
              <a:rPr lang="en-US"/>
              <a:t>Click to edit Master title style</a:t>
            </a:r>
          </a:p>
        </p:txBody>
      </p:sp>
      <p:sp>
        <p:nvSpPr>
          <p:cNvPr id="3" name="Table Placeholder 2"/>
          <p:cNvSpPr>
            <a:spLocks noGrp="1"/>
          </p:cNvSpPr>
          <p:nvPr>
            <p:ph type="tbl" idx="1"/>
          </p:nvPr>
        </p:nvSpPr>
        <p:spPr>
          <a:xfrm>
            <a:off x="353163" y="1295400"/>
            <a:ext cx="8439150" cy="4775200"/>
          </a:xfrm>
        </p:spPr>
        <p:txBody>
          <a:bodyPr/>
          <a:lstStyle/>
          <a:p>
            <a:pPr lvl="0"/>
            <a:endParaRPr lang="en-US" noProof="0" dirty="0"/>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6593489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53163" y="76200"/>
            <a:ext cx="8439150" cy="914400"/>
          </a:xfrm>
        </p:spPr>
        <p:txBody>
          <a:bodyPr/>
          <a:lstStyle/>
          <a:p>
            <a:r>
              <a:rPr lang="en-US"/>
              <a:t>Click to edit Master title style</a:t>
            </a:r>
          </a:p>
        </p:txBody>
      </p:sp>
      <p:sp>
        <p:nvSpPr>
          <p:cNvPr id="3" name="Content Placeholder 2"/>
          <p:cNvSpPr>
            <a:spLocks noGrp="1"/>
          </p:cNvSpPr>
          <p:nvPr>
            <p:ph sz="half" idx="1"/>
          </p:nvPr>
        </p:nvSpPr>
        <p:spPr>
          <a:xfrm>
            <a:off x="353158" y="1295400"/>
            <a:ext cx="4148503" cy="477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2340" y="1295400"/>
            <a:ext cx="4149969" cy="231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2340" y="3759200"/>
            <a:ext cx="4149969" cy="231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10"/>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9027308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845914433"/>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5" name="Content Placeholder 2"/>
          <p:cNvSpPr>
            <a:spLocks noGrp="1"/>
          </p:cNvSpPr>
          <p:nvPr>
            <p:ph sz="half" idx="1"/>
          </p:nvPr>
        </p:nvSpPr>
        <p:spPr>
          <a:xfrm>
            <a:off x="527051" y="1346200"/>
            <a:ext cx="2667371" cy="49450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
        <p:nvSpPr>
          <p:cNvPr id="6" name="Content Placeholder 3"/>
          <p:cNvSpPr>
            <a:spLocks noGrp="1"/>
          </p:cNvSpPr>
          <p:nvPr>
            <p:ph sz="half" idx="2"/>
          </p:nvPr>
        </p:nvSpPr>
        <p:spPr>
          <a:xfrm>
            <a:off x="6170308" y="1346200"/>
            <a:ext cx="2676809" cy="49450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7" name="Content Placeholder 2"/>
          <p:cNvSpPr>
            <a:spLocks noGrp="1"/>
          </p:cNvSpPr>
          <p:nvPr>
            <p:ph sz="half" idx="12"/>
          </p:nvPr>
        </p:nvSpPr>
        <p:spPr>
          <a:xfrm>
            <a:off x="3339524" y="1357911"/>
            <a:ext cx="2667371" cy="493335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7630503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el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a:t>Click to edit Master title style</a:t>
            </a:r>
            <a:endParaRPr lang="en-US" noProof="0" dirty="0"/>
          </a:p>
        </p:txBody>
      </p:sp>
      <p:sp>
        <p:nvSpPr>
          <p:cNvPr id="10" name="Textplatzhalter 9" descr="Subtitle" title="Subtitle"/>
          <p:cNvSpPr>
            <a:spLocks noGrp="1"/>
          </p:cNvSpPr>
          <p:nvPr>
            <p:ph type="body" sz="quarter" idx="10"/>
          </p:nvPr>
        </p:nvSpPr>
        <p:spPr>
          <a:xfrm>
            <a:off x="540000" y="738554"/>
            <a:ext cx="8311392" cy="367571"/>
          </a:xfrm>
        </p:spPr>
        <p:txBody>
          <a:bodyPr anchor="b">
            <a:noAutofit/>
          </a:bodyPr>
          <a:lstStyle>
            <a:lvl1pPr marL="0" indent="0">
              <a:lnSpc>
                <a:spcPct val="95000"/>
              </a:lnSpc>
              <a:buNone/>
              <a:defRPr sz="2000" b="0" i="1">
                <a:solidFill>
                  <a:schemeClr val="tx1"/>
                </a:solidFill>
              </a:defRPr>
            </a:lvl1pPr>
          </a:lstStyle>
          <a:p>
            <a:pPr lvl="0"/>
            <a:r>
              <a:rPr lang="en-US" noProof="0"/>
              <a:t>Click to edit Master text styles</a:t>
            </a:r>
          </a:p>
        </p:txBody>
      </p:sp>
      <p:sp>
        <p:nvSpPr>
          <p:cNvPr id="9" name="Content Placeholder 2"/>
          <p:cNvSpPr>
            <a:spLocks noGrp="1"/>
          </p:cNvSpPr>
          <p:nvPr>
            <p:ph idx="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4060566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27050" y="1346200"/>
            <a:ext cx="4160838" cy="4945063"/>
          </a:xfrm>
        </p:spPr>
        <p:txBody>
          <a:bodyPr/>
          <a:lstStyle>
            <a:lvl1pPr marL="233363" marR="0" indent="-233363" algn="l" defTabSz="914400" rtl="0" eaLnBrk="1" fontAlgn="base" latinLnBrk="0" hangingPunct="1">
              <a:lnSpc>
                <a:spcPct val="95000"/>
              </a:lnSpc>
              <a:spcBef>
                <a:spcPct val="75000"/>
              </a:spcBef>
              <a:spcAft>
                <a:spcPct val="0"/>
              </a:spcAft>
              <a:buClr>
                <a:srgbClr val="FCAF17"/>
              </a:buClr>
              <a:buSzPct val="110000"/>
              <a:buFont typeface="Wingdings" pitchFamily="2" charset="2"/>
              <a:buChar char="§"/>
              <a:tabLst/>
              <a:defRPr sz="2800"/>
            </a:lvl1pPr>
            <a:lvl2pPr marL="398463" marR="0" indent="-163513" algn="l" defTabSz="914400" rtl="0" eaLnBrk="1" fontAlgn="base" latinLnBrk="0" hangingPunct="1">
              <a:lnSpc>
                <a:spcPct val="95000"/>
              </a:lnSpc>
              <a:spcBef>
                <a:spcPct val="40000"/>
              </a:spcBef>
              <a:spcAft>
                <a:spcPct val="0"/>
              </a:spcAft>
              <a:buClr>
                <a:srgbClr val="917B69"/>
              </a:buClr>
              <a:buSzTx/>
              <a:buFont typeface="Arial" charset="0"/>
              <a:buChar char="•"/>
              <a:tabLst/>
              <a:defRPr sz="2400"/>
            </a:lvl2pPr>
            <a:lvl3pPr marL="577850" marR="0" indent="-177800" algn="l" defTabSz="914400" rtl="0" eaLnBrk="1" fontAlgn="base" latinLnBrk="0" hangingPunct="1">
              <a:lnSpc>
                <a:spcPct val="95000"/>
              </a:lnSpc>
              <a:spcBef>
                <a:spcPct val="30000"/>
              </a:spcBef>
              <a:spcAft>
                <a:spcPct val="0"/>
              </a:spcAft>
              <a:buClrTx/>
              <a:buSzTx/>
              <a:buFont typeface="Arial" charset="0"/>
              <a:buChar char="-"/>
              <a:tabLst/>
              <a:defRPr sz="2000"/>
            </a:lvl3pPr>
            <a:lvl4pPr marL="752475" marR="0" indent="-173038" algn="l" defTabSz="914400" rtl="0" eaLnBrk="1" fontAlgn="base" latinLnBrk="0" hangingPunct="1">
              <a:lnSpc>
                <a:spcPct val="95000"/>
              </a:lnSpc>
              <a:spcBef>
                <a:spcPct val="20000"/>
              </a:spcBef>
              <a:spcAft>
                <a:spcPct val="0"/>
              </a:spcAft>
              <a:buClrTx/>
              <a:buSzTx/>
              <a:buFont typeface="Arial" charset="0"/>
              <a:buChar char="•"/>
              <a:tabLst/>
              <a:defRPr sz="1800"/>
            </a:lvl4pPr>
            <a:lvl5pPr marL="917575" marR="0" indent="-163513" algn="l" defTabSz="914400" rtl="0" eaLnBrk="1" fontAlgn="base" latinLnBrk="0" hangingPunct="1">
              <a:lnSpc>
                <a:spcPct val="100000"/>
              </a:lnSpc>
              <a:spcBef>
                <a:spcPct val="20000"/>
              </a:spcBef>
              <a:spcAft>
                <a:spcPct val="0"/>
              </a:spcAft>
              <a:buClrTx/>
              <a:buSzTx/>
              <a:buFontTx/>
              <a:buChar char="»"/>
              <a:tabLst/>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Content Placeholder 3"/>
          <p:cNvSpPr>
            <a:spLocks noGrp="1"/>
          </p:cNvSpPr>
          <p:nvPr>
            <p:ph sz="half" idx="2"/>
          </p:nvPr>
        </p:nvSpPr>
        <p:spPr>
          <a:xfrm>
            <a:off x="4840289" y="1346200"/>
            <a:ext cx="3998912" cy="4945063"/>
          </a:xfrm>
        </p:spPr>
        <p:txBody>
          <a:bodyPr/>
          <a:lstStyle>
            <a:lvl1pPr marL="233363" marR="0" indent="-233363" algn="l" defTabSz="914400" rtl="0" eaLnBrk="1" fontAlgn="base" latinLnBrk="0" hangingPunct="1">
              <a:lnSpc>
                <a:spcPct val="95000"/>
              </a:lnSpc>
              <a:spcBef>
                <a:spcPct val="75000"/>
              </a:spcBef>
              <a:spcAft>
                <a:spcPct val="0"/>
              </a:spcAft>
              <a:buClr>
                <a:srgbClr val="FCAF17"/>
              </a:buClr>
              <a:buSzPct val="110000"/>
              <a:buFont typeface="Wingdings" pitchFamily="2" charset="2"/>
              <a:buChar char="§"/>
              <a:tabLst/>
              <a:defRPr sz="2800"/>
            </a:lvl1pPr>
            <a:lvl2pPr marL="398463" marR="0" indent="-163513" algn="l" defTabSz="914400" rtl="0" eaLnBrk="1" fontAlgn="base" latinLnBrk="0" hangingPunct="1">
              <a:lnSpc>
                <a:spcPct val="95000"/>
              </a:lnSpc>
              <a:spcBef>
                <a:spcPct val="40000"/>
              </a:spcBef>
              <a:spcAft>
                <a:spcPct val="0"/>
              </a:spcAft>
              <a:buClr>
                <a:srgbClr val="917B69"/>
              </a:buClr>
              <a:buSzTx/>
              <a:buFont typeface="Arial" charset="0"/>
              <a:buChar char="•"/>
              <a:tabLst/>
              <a:defRPr sz="2400"/>
            </a:lvl2pPr>
            <a:lvl3pPr marL="577850" marR="0" indent="-177800" algn="l" defTabSz="914400" rtl="0" eaLnBrk="1" fontAlgn="base" latinLnBrk="0" hangingPunct="1">
              <a:lnSpc>
                <a:spcPct val="95000"/>
              </a:lnSpc>
              <a:spcBef>
                <a:spcPct val="30000"/>
              </a:spcBef>
              <a:spcAft>
                <a:spcPct val="0"/>
              </a:spcAft>
              <a:buClrTx/>
              <a:buSzTx/>
              <a:buFont typeface="Arial" charset="0"/>
              <a:buChar char="-"/>
              <a:tabLst/>
              <a:defRPr sz="2000"/>
            </a:lvl3pPr>
            <a:lvl4pPr marL="752475" marR="0" indent="-173038" algn="l" defTabSz="914400" rtl="0" eaLnBrk="1" fontAlgn="base" latinLnBrk="0" hangingPunct="1">
              <a:lnSpc>
                <a:spcPct val="95000"/>
              </a:lnSpc>
              <a:spcBef>
                <a:spcPct val="20000"/>
              </a:spcBef>
              <a:spcAft>
                <a:spcPct val="0"/>
              </a:spcAft>
              <a:buClrTx/>
              <a:buSzTx/>
              <a:buFont typeface="Arial" charset="0"/>
              <a:buChar char="•"/>
              <a:tabLst/>
              <a:defRPr sz="1800"/>
            </a:lvl4pPr>
            <a:lvl5pPr marL="917575" marR="0" indent="-163513" algn="l" defTabSz="914400" rtl="0" eaLnBrk="1" fontAlgn="base" latinLnBrk="0" hangingPunct="1">
              <a:lnSpc>
                <a:spcPct val="100000"/>
              </a:lnSpc>
              <a:spcBef>
                <a:spcPct val="20000"/>
              </a:spcBef>
              <a:spcAft>
                <a:spcPct val="0"/>
              </a:spcAft>
              <a:buClrTx/>
              <a:buSzTx/>
              <a:buFontTx/>
              <a:buChar char="»"/>
              <a:tabLst/>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platzhalter 9" descr="Subtitle" title="Subtitle"/>
          <p:cNvSpPr>
            <a:spLocks noGrp="1"/>
          </p:cNvSpPr>
          <p:nvPr>
            <p:ph type="body" sz="quarter" idx="10"/>
          </p:nvPr>
        </p:nvSpPr>
        <p:spPr>
          <a:xfrm>
            <a:off x="540000" y="738554"/>
            <a:ext cx="8311392" cy="367571"/>
          </a:xfrm>
        </p:spPr>
        <p:txBody>
          <a:bodyPr anchor="b">
            <a:noAutofit/>
          </a:bodyPr>
          <a:lstStyle>
            <a:lvl1pPr marL="0" indent="0">
              <a:lnSpc>
                <a:spcPct val="95000"/>
              </a:lnSpc>
              <a:buNone/>
              <a:defRPr sz="2000" b="0" i="1">
                <a:solidFill>
                  <a:schemeClr val="tx1"/>
                </a:solidFill>
              </a:defRPr>
            </a:lvl1pPr>
          </a:lstStyle>
          <a:p>
            <a:pPr lvl="0"/>
            <a:r>
              <a:rPr lang="en-US" noProof="0"/>
              <a:t>Click to edit Master text styles</a:t>
            </a:r>
          </a:p>
        </p:txBody>
      </p:sp>
      <p:sp>
        <p:nvSpPr>
          <p:cNvPr id="13" name="Title 1"/>
          <p:cNvSpPr>
            <a:spLocks noGrp="1"/>
          </p:cNvSpPr>
          <p:nvPr>
            <p:ph type="title"/>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a:t>Click to edit Master title style</a:t>
            </a:r>
            <a:endParaRPr lang="en-US" noProof="0" dirty="0"/>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5910486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0" name="Textplatzhalter 9" descr="Subtitle" title="Subtitle"/>
          <p:cNvSpPr>
            <a:spLocks noGrp="1"/>
          </p:cNvSpPr>
          <p:nvPr>
            <p:ph type="body" sz="quarter" idx="10"/>
          </p:nvPr>
        </p:nvSpPr>
        <p:spPr>
          <a:xfrm>
            <a:off x="540000" y="738554"/>
            <a:ext cx="8311392" cy="367571"/>
          </a:xfrm>
        </p:spPr>
        <p:txBody>
          <a:bodyPr anchor="b">
            <a:noAutofit/>
          </a:bodyPr>
          <a:lstStyle>
            <a:lvl1pPr marL="0" indent="0">
              <a:lnSpc>
                <a:spcPct val="95000"/>
              </a:lnSpc>
              <a:buNone/>
              <a:defRPr sz="2000" b="0" i="1">
                <a:solidFill>
                  <a:schemeClr val="tx1"/>
                </a:solidFill>
              </a:defRPr>
            </a:lvl1pPr>
          </a:lstStyle>
          <a:p>
            <a:pPr lvl="0"/>
            <a:r>
              <a:rPr lang="en-US" noProof="0"/>
              <a:t>Click to edit Master text styles</a:t>
            </a:r>
          </a:p>
        </p:txBody>
      </p:sp>
      <p:sp>
        <p:nvSpPr>
          <p:cNvPr id="11" name="Title 1"/>
          <p:cNvSpPr>
            <a:spLocks noGrp="1"/>
          </p:cNvSpPr>
          <p:nvPr>
            <p:ph type="title"/>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a:t>Click to edit Master title style</a:t>
            </a:r>
            <a:endParaRPr lang="en-US" noProof="0" dirty="0"/>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8216694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Titel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0"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9" name="Content Placeholder 2"/>
          <p:cNvSpPr>
            <a:spLocks noGrp="1"/>
          </p:cNvSpPr>
          <p:nvPr>
            <p:ph idx="1" hasCustomPrompt="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73587775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
        <p:nvSpPr>
          <p:cNvPr id="9"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1"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6735914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23875" y="1346200"/>
            <a:ext cx="4162425" cy="4940320"/>
          </a:xfrm>
        </p:spPr>
        <p:txBody>
          <a:bodyPr>
            <a:noAutofit/>
          </a:bodyPr>
          <a:lstStyle>
            <a:lvl1pPr>
              <a:defRPr sz="2400" baseline="0"/>
            </a:lvl1pPr>
            <a:lvl2pPr>
              <a:defRPr sz="2000" baseline="0"/>
            </a:lvl2pPr>
            <a:lvl3pPr>
              <a:defRPr sz="1800" baseline="0"/>
            </a:lvl3pPr>
            <a:lvl4pPr>
              <a:defRPr sz="1600" baseline="0"/>
            </a:lvl4pPr>
            <a:lvl5pPr>
              <a:defRPr sz="1400" baseline="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4" name="Content Placeholder 3"/>
          <p:cNvSpPr>
            <a:spLocks noGrp="1"/>
          </p:cNvSpPr>
          <p:nvPr>
            <p:ph sz="half" idx="2"/>
          </p:nvPr>
        </p:nvSpPr>
        <p:spPr>
          <a:xfrm>
            <a:off x="4838701" y="1346200"/>
            <a:ext cx="4019580" cy="4940320"/>
          </a:xfrm>
        </p:spPr>
        <p:txBody>
          <a:bodyPr>
            <a:noAutofit/>
          </a:bodyPr>
          <a:lstStyle>
            <a:lvl1pPr>
              <a:defRPr sz="2400" baseline="0"/>
            </a:lvl1pPr>
            <a:lvl2pPr>
              <a:defRPr sz="2000" baseline="0"/>
            </a:lvl2pPr>
            <a:lvl3pPr>
              <a:defRPr sz="1800" baseline="0"/>
            </a:lvl3pPr>
            <a:lvl4pPr>
              <a:defRPr sz="1600" baseline="0"/>
            </a:lvl4pPr>
            <a:lvl5pPr>
              <a:defRPr sz="1400" baseline="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7"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0"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11420975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8"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77740727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_Titel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0"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9" name="Content Placeholder 2"/>
          <p:cNvSpPr>
            <a:spLocks noGrp="1"/>
          </p:cNvSpPr>
          <p:nvPr>
            <p:ph idx="1" hasCustomPrompt="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
        <p:nvSpPr>
          <p:cNvPr id="1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1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99520600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and Text over Content">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p:cNvSpPr>
            <a:spLocks noGrp="1"/>
          </p:cNvSpPr>
          <p:nvPr>
            <p:ph type="title"/>
          </p:nvPr>
        </p:nvSpPr>
        <p:spPr>
          <a:xfrm>
            <a:off x="457200" y="274638"/>
            <a:ext cx="8229600" cy="1143000"/>
          </a:xfrm>
          <a:prstGeom prst="rect">
            <a:avLst/>
          </a:prstGeom>
        </p:spPr>
        <p:txBody>
          <a:bodyPr rtlCol="0">
            <a:normAutofit/>
          </a:bodyPr>
          <a:lstStyle/>
          <a:p>
            <a:r>
              <a:rPr lang="en-US"/>
              <a:t>Click to edit Master title style</a:t>
            </a:r>
          </a:p>
        </p:txBody>
      </p:sp>
      <p:sp>
        <p:nvSpPr>
          <p:cNvPr id="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87506884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33600" y="274638"/>
            <a:ext cx="6553200" cy="1143000"/>
          </a:xfrm>
        </p:spPr>
        <p:txBody>
          <a:bodyPr/>
          <a:lstStyle/>
          <a:p>
            <a:r>
              <a:rPr lang="en-US"/>
              <a:t>Click to edit Master title style</a:t>
            </a:r>
          </a:p>
        </p:txBody>
      </p:sp>
      <p:sp>
        <p:nvSpPr>
          <p:cNvPr id="3" name="Text Placeholder 2"/>
          <p:cNvSpPr>
            <a:spLocks noGrp="1"/>
          </p:cNvSpPr>
          <p:nvPr>
            <p:ph type="body" sz="half" idx="1"/>
          </p:nvPr>
        </p:nvSpPr>
        <p:spPr>
          <a:xfrm>
            <a:off x="2133600" y="1600200"/>
            <a:ext cx="32004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86400" y="1600200"/>
            <a:ext cx="32004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833821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slideLayout" Target="../slideLayouts/slideLayout50.xm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slideLayout" Target="../slideLayouts/slideLayout49.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slideLayout" Target="../slideLayouts/slideLayout48.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slideLayout" Target="../slideLayouts/slideLayout47.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53163" y="76200"/>
            <a:ext cx="8439150" cy="914400"/>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4099" name="Rectangle 3"/>
          <p:cNvSpPr>
            <a:spLocks noGrp="1" noChangeArrowheads="1"/>
          </p:cNvSpPr>
          <p:nvPr>
            <p:ph type="body" idx="1"/>
          </p:nvPr>
        </p:nvSpPr>
        <p:spPr bwMode="auto">
          <a:xfrm>
            <a:off x="353163" y="1295400"/>
            <a:ext cx="8439150" cy="4775200"/>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2nd level</a:t>
            </a:r>
          </a:p>
          <a:p>
            <a:pPr lvl="2"/>
            <a:r>
              <a:rPr lang="en-US"/>
              <a:t>3rd level</a:t>
            </a:r>
          </a:p>
          <a:p>
            <a:pPr lvl="0"/>
            <a:endParaRPr lang="en-US"/>
          </a:p>
        </p:txBody>
      </p:sp>
      <p:sp>
        <p:nvSpPr>
          <p:cNvPr id="1030" name="Line 6"/>
          <p:cNvSpPr>
            <a:spLocks noChangeShapeType="1"/>
          </p:cNvSpPr>
          <p:nvPr/>
        </p:nvSpPr>
        <p:spPr bwMode="auto">
          <a:xfrm>
            <a:off x="136281" y="776288"/>
            <a:ext cx="8874369" cy="0"/>
          </a:xfrm>
          <a:prstGeom prst="line">
            <a:avLst/>
          </a:prstGeom>
          <a:noFill/>
          <a:ln w="57150">
            <a:solidFill>
              <a:srgbClr val="923222"/>
            </a:solidFill>
            <a:round/>
            <a:headEnd type="none" w="sm" len="sm"/>
            <a:tailEnd type="none" w="sm" len="sm"/>
          </a:ln>
          <a:effectLst/>
        </p:spPr>
        <p:txBody>
          <a:bodyPr wrap="none" anchor="ctr"/>
          <a:lstStyle/>
          <a:p>
            <a:pPr algn="ctr" eaLnBrk="0" hangingPunct="0">
              <a:defRPr/>
            </a:pPr>
            <a:endParaRPr lang="en-US" sz="2800" b="1" dirty="0">
              <a:solidFill>
                <a:prstClr val="black"/>
              </a:solidFill>
              <a:effectLst>
                <a:outerShdw blurRad="38100" dist="38100" dir="2700000" algn="tl">
                  <a:srgbClr val="000000">
                    <a:alpha val="43137"/>
                  </a:srgbClr>
                </a:outerShdw>
              </a:effectLst>
              <a:latin typeface="News Gothic MT" pitchFamily="34" charset="0"/>
            </a:endParaRPr>
          </a:p>
        </p:txBody>
      </p:sp>
      <p:sp>
        <p:nvSpPr>
          <p:cNvPr id="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285934886"/>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4075" r:id="rId15"/>
    <p:sldLayoutId id="2147484113" r:id="rId16"/>
    <p:sldLayoutId id="2147484119" r:id="rId17"/>
    <p:sldLayoutId id="2147484120" r:id="rId18"/>
    <p:sldLayoutId id="2147484121" r:id="rId19"/>
    <p:sldLayoutId id="2147484135" r:id="rId20"/>
    <p:sldLayoutId id="2147484138" r:id="rId21"/>
    <p:sldLayoutId id="2147484139" r:id="rId22"/>
    <p:sldLayoutId id="2147484140" r:id="rId23"/>
    <p:sldLayoutId id="2147484142" r:id="rId24"/>
  </p:sldLayoutIdLst>
  <p:hf hdr="0" dt="0"/>
  <p:txStyles>
    <p:titleStyle>
      <a:lvl1pPr algn="l" rtl="0" eaLnBrk="0" fontAlgn="base" hangingPunct="0">
        <a:spcBef>
          <a:spcPct val="0"/>
        </a:spcBef>
        <a:spcAft>
          <a:spcPct val="0"/>
        </a:spcAft>
        <a:defRPr sz="2800" b="1">
          <a:solidFill>
            <a:schemeClr val="tx1"/>
          </a:solidFill>
          <a:latin typeface="+mj-lt"/>
          <a:ea typeface="+mj-ea"/>
          <a:cs typeface="+mj-cs"/>
        </a:defRPr>
      </a:lvl1pPr>
      <a:lvl2pPr algn="l" rtl="0" eaLnBrk="0" fontAlgn="base" hangingPunct="0">
        <a:spcBef>
          <a:spcPct val="0"/>
        </a:spcBef>
        <a:spcAft>
          <a:spcPct val="0"/>
        </a:spcAft>
        <a:defRPr sz="2800" b="1">
          <a:solidFill>
            <a:schemeClr val="tx1"/>
          </a:solidFill>
          <a:latin typeface="News Gothic MT" pitchFamily="34" charset="0"/>
        </a:defRPr>
      </a:lvl2pPr>
      <a:lvl3pPr algn="l" rtl="0" eaLnBrk="0" fontAlgn="base" hangingPunct="0">
        <a:spcBef>
          <a:spcPct val="0"/>
        </a:spcBef>
        <a:spcAft>
          <a:spcPct val="0"/>
        </a:spcAft>
        <a:defRPr sz="2800" b="1">
          <a:solidFill>
            <a:schemeClr val="tx1"/>
          </a:solidFill>
          <a:latin typeface="News Gothic MT" pitchFamily="34" charset="0"/>
        </a:defRPr>
      </a:lvl3pPr>
      <a:lvl4pPr algn="l" rtl="0" eaLnBrk="0" fontAlgn="base" hangingPunct="0">
        <a:spcBef>
          <a:spcPct val="0"/>
        </a:spcBef>
        <a:spcAft>
          <a:spcPct val="0"/>
        </a:spcAft>
        <a:defRPr sz="2800" b="1">
          <a:solidFill>
            <a:schemeClr val="tx1"/>
          </a:solidFill>
          <a:latin typeface="News Gothic MT" pitchFamily="34" charset="0"/>
        </a:defRPr>
      </a:lvl4pPr>
      <a:lvl5pPr algn="l" rtl="0" eaLnBrk="0" fontAlgn="base" hangingPunct="0">
        <a:spcBef>
          <a:spcPct val="0"/>
        </a:spcBef>
        <a:spcAft>
          <a:spcPct val="0"/>
        </a:spcAft>
        <a:defRPr sz="2800" b="1">
          <a:solidFill>
            <a:schemeClr val="tx1"/>
          </a:solidFill>
          <a:latin typeface="News Gothic MT" pitchFamily="34" charset="0"/>
        </a:defRPr>
      </a:lvl5pPr>
      <a:lvl6pPr marL="457200" algn="l" rtl="0" eaLnBrk="0" fontAlgn="base" hangingPunct="0">
        <a:spcBef>
          <a:spcPct val="0"/>
        </a:spcBef>
        <a:spcAft>
          <a:spcPct val="0"/>
        </a:spcAft>
        <a:defRPr sz="2800" b="1">
          <a:solidFill>
            <a:schemeClr val="tx1"/>
          </a:solidFill>
          <a:latin typeface="News Gothic MT" pitchFamily="34" charset="0"/>
        </a:defRPr>
      </a:lvl6pPr>
      <a:lvl7pPr marL="914400" algn="l" rtl="0" eaLnBrk="0" fontAlgn="base" hangingPunct="0">
        <a:spcBef>
          <a:spcPct val="0"/>
        </a:spcBef>
        <a:spcAft>
          <a:spcPct val="0"/>
        </a:spcAft>
        <a:defRPr sz="2800" b="1">
          <a:solidFill>
            <a:schemeClr val="tx1"/>
          </a:solidFill>
          <a:latin typeface="News Gothic MT" pitchFamily="34" charset="0"/>
        </a:defRPr>
      </a:lvl7pPr>
      <a:lvl8pPr marL="1371600" algn="l" rtl="0" eaLnBrk="0" fontAlgn="base" hangingPunct="0">
        <a:spcBef>
          <a:spcPct val="0"/>
        </a:spcBef>
        <a:spcAft>
          <a:spcPct val="0"/>
        </a:spcAft>
        <a:defRPr sz="2800" b="1">
          <a:solidFill>
            <a:schemeClr val="tx1"/>
          </a:solidFill>
          <a:latin typeface="News Gothic MT" pitchFamily="34" charset="0"/>
        </a:defRPr>
      </a:lvl8pPr>
      <a:lvl9pPr marL="1828800" algn="l" rtl="0" eaLnBrk="0" fontAlgn="base" hangingPunct="0">
        <a:spcBef>
          <a:spcPct val="0"/>
        </a:spcBef>
        <a:spcAft>
          <a:spcPct val="0"/>
        </a:spcAft>
        <a:defRPr sz="2800" b="1">
          <a:solidFill>
            <a:schemeClr val="tx1"/>
          </a:solidFill>
          <a:latin typeface="News Gothic MT" pitchFamily="34" charset="0"/>
        </a:defRPr>
      </a:lvl9pPr>
    </p:titleStyle>
    <p:bodyStyle>
      <a:lvl1pPr marL="192088" indent="-192088" algn="l" rtl="0" eaLnBrk="0" fontAlgn="base" hangingPunct="0">
        <a:spcBef>
          <a:spcPct val="50000"/>
        </a:spcBef>
        <a:spcAft>
          <a:spcPct val="0"/>
        </a:spcAft>
        <a:buClr>
          <a:schemeClr val="tx1"/>
        </a:buClr>
        <a:buFont typeface="Symbol" pitchFamily="18" charset="2"/>
        <a:buChar char="·"/>
        <a:defRPr sz="2200">
          <a:solidFill>
            <a:schemeClr val="tx1"/>
          </a:solidFill>
          <a:latin typeface="+mn-lt"/>
          <a:ea typeface="+mn-ea"/>
          <a:cs typeface="+mn-cs"/>
        </a:defRPr>
      </a:lvl1pPr>
      <a:lvl2pPr marL="568325" indent="-185738" algn="l" rtl="0" eaLnBrk="0" fontAlgn="base" hangingPunct="0">
        <a:spcBef>
          <a:spcPct val="50000"/>
        </a:spcBef>
        <a:spcAft>
          <a:spcPct val="0"/>
        </a:spcAft>
        <a:buClr>
          <a:schemeClr val="tx1"/>
        </a:buClr>
        <a:buFont typeface="Symbol" pitchFamily="18" charset="2"/>
        <a:buChar char="-"/>
        <a:defRPr>
          <a:solidFill>
            <a:schemeClr val="tx1"/>
          </a:solidFill>
          <a:latin typeface="+mn-lt"/>
        </a:defRPr>
      </a:lvl2pPr>
      <a:lvl3pPr marL="855663" indent="-96838" algn="l" rtl="0" eaLnBrk="0" fontAlgn="base" hangingPunct="0">
        <a:spcBef>
          <a:spcPct val="50000"/>
        </a:spcBef>
        <a:spcAft>
          <a:spcPct val="0"/>
        </a:spcAft>
        <a:buClr>
          <a:schemeClr val="tx1"/>
        </a:buClr>
        <a:buChar char="•"/>
        <a:defRPr>
          <a:solidFill>
            <a:schemeClr val="tx1"/>
          </a:solidFill>
          <a:latin typeface="+mn-lt"/>
        </a:defRPr>
      </a:lvl3pPr>
      <a:lvl4pPr marL="1981200" indent="-228600" algn="l" rtl="0" eaLnBrk="0" fontAlgn="base" hangingPunct="0">
        <a:spcBef>
          <a:spcPct val="50000"/>
        </a:spcBef>
        <a:spcAft>
          <a:spcPct val="0"/>
        </a:spcAft>
        <a:buChar char="–"/>
        <a:defRPr sz="1600">
          <a:solidFill>
            <a:schemeClr val="bg1"/>
          </a:solidFill>
          <a:latin typeface="+mn-lt"/>
        </a:defRPr>
      </a:lvl4pPr>
      <a:lvl5pPr marL="2400300" indent="-228600" algn="l" rtl="0" eaLnBrk="0" fontAlgn="base" hangingPunct="0">
        <a:spcBef>
          <a:spcPct val="50000"/>
        </a:spcBef>
        <a:spcAft>
          <a:spcPct val="0"/>
        </a:spcAft>
        <a:buChar char="•"/>
        <a:defRPr sz="1400">
          <a:solidFill>
            <a:schemeClr val="bg1"/>
          </a:solidFill>
          <a:latin typeface="+mn-lt"/>
        </a:defRPr>
      </a:lvl5pPr>
      <a:lvl6pPr marL="2857500" indent="-228600" algn="l" rtl="0" eaLnBrk="0" fontAlgn="base" hangingPunct="0">
        <a:spcBef>
          <a:spcPct val="50000"/>
        </a:spcBef>
        <a:spcAft>
          <a:spcPct val="0"/>
        </a:spcAft>
        <a:buChar char="•"/>
        <a:defRPr sz="1400">
          <a:solidFill>
            <a:schemeClr val="bg1"/>
          </a:solidFill>
          <a:latin typeface="+mn-lt"/>
        </a:defRPr>
      </a:lvl6pPr>
      <a:lvl7pPr marL="3314700" indent="-228600" algn="l" rtl="0" eaLnBrk="0" fontAlgn="base" hangingPunct="0">
        <a:spcBef>
          <a:spcPct val="50000"/>
        </a:spcBef>
        <a:spcAft>
          <a:spcPct val="0"/>
        </a:spcAft>
        <a:buChar char="•"/>
        <a:defRPr sz="1400">
          <a:solidFill>
            <a:schemeClr val="bg1"/>
          </a:solidFill>
          <a:latin typeface="+mn-lt"/>
        </a:defRPr>
      </a:lvl7pPr>
      <a:lvl8pPr marL="3771900" indent="-228600" algn="l" rtl="0" eaLnBrk="0" fontAlgn="base" hangingPunct="0">
        <a:spcBef>
          <a:spcPct val="50000"/>
        </a:spcBef>
        <a:spcAft>
          <a:spcPct val="0"/>
        </a:spcAft>
        <a:buChar char="•"/>
        <a:defRPr sz="1400">
          <a:solidFill>
            <a:schemeClr val="bg1"/>
          </a:solidFill>
          <a:latin typeface="+mn-lt"/>
        </a:defRPr>
      </a:lvl8pPr>
      <a:lvl9pPr marL="4229100" indent="-228600" algn="l" rtl="0" eaLnBrk="0" fontAlgn="base" hangingPunct="0">
        <a:spcBef>
          <a:spcPct val="50000"/>
        </a:spcBef>
        <a:spcAft>
          <a:spcPct val="0"/>
        </a:spcAft>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53163" y="76200"/>
            <a:ext cx="8439150" cy="914400"/>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4099" name="Rectangle 3"/>
          <p:cNvSpPr>
            <a:spLocks noGrp="1" noChangeArrowheads="1"/>
          </p:cNvSpPr>
          <p:nvPr>
            <p:ph type="body" idx="1"/>
          </p:nvPr>
        </p:nvSpPr>
        <p:spPr bwMode="auto">
          <a:xfrm>
            <a:off x="353163" y="1295400"/>
            <a:ext cx="8439150" cy="4775200"/>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2nd level</a:t>
            </a:r>
          </a:p>
          <a:p>
            <a:pPr lvl="2"/>
            <a:r>
              <a:rPr lang="en-US"/>
              <a:t>3rd level</a:t>
            </a:r>
          </a:p>
          <a:p>
            <a:pPr lvl="0"/>
            <a:endParaRPr lang="en-US"/>
          </a:p>
        </p:txBody>
      </p:sp>
      <p:sp>
        <p:nvSpPr>
          <p:cNvPr id="1030" name="Line 6"/>
          <p:cNvSpPr>
            <a:spLocks noChangeShapeType="1"/>
          </p:cNvSpPr>
          <p:nvPr/>
        </p:nvSpPr>
        <p:spPr bwMode="auto">
          <a:xfrm>
            <a:off x="136281" y="776288"/>
            <a:ext cx="8874369" cy="0"/>
          </a:xfrm>
          <a:prstGeom prst="line">
            <a:avLst/>
          </a:prstGeom>
          <a:noFill/>
          <a:ln w="57150">
            <a:solidFill>
              <a:srgbClr val="923222"/>
            </a:solidFill>
            <a:round/>
            <a:headEnd type="none" w="sm" len="sm"/>
            <a:tailEnd type="none" w="sm" len="sm"/>
          </a:ln>
          <a:effectLst/>
        </p:spPr>
        <p:txBody>
          <a:bodyPr wrap="none" anchor="ctr"/>
          <a:lstStyle/>
          <a:p>
            <a:pPr algn="ctr" eaLnBrk="0" hangingPunct="0">
              <a:defRPr/>
            </a:pPr>
            <a:endParaRPr lang="en-US" sz="2800" b="1" dirty="0">
              <a:solidFill>
                <a:prstClr val="black"/>
              </a:solidFill>
              <a:effectLst>
                <a:outerShdw blurRad="38100" dist="38100" dir="2700000" algn="tl">
                  <a:srgbClr val="000000">
                    <a:alpha val="43137"/>
                  </a:srgbClr>
                </a:outerShdw>
              </a:effectLst>
              <a:latin typeface="News Gothic MT" pitchFamily="34" charset="0"/>
            </a:endParaRPr>
          </a:p>
        </p:txBody>
      </p:sp>
      <p:sp>
        <p:nvSpPr>
          <p:cNvPr id="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694504476"/>
      </p:ext>
    </p:extLst>
  </p:cSld>
  <p:clrMap bg1="lt1" tx1="dk1" bg2="lt2" tx2="dk2" accent1="accent1" accent2="accent2" accent3="accent3" accent4="accent4" accent5="accent5" accent6="accent6" hlink="hlink" folHlink="folHlink"/>
  <p:sldLayoutIdLst>
    <p:sldLayoutId id="2147484288" r:id="rId1"/>
    <p:sldLayoutId id="2147484289" r:id="rId2"/>
    <p:sldLayoutId id="2147484290" r:id="rId3"/>
    <p:sldLayoutId id="2147484291" r:id="rId4"/>
    <p:sldLayoutId id="2147484292" r:id="rId5"/>
    <p:sldLayoutId id="2147484293" r:id="rId6"/>
    <p:sldLayoutId id="2147484294" r:id="rId7"/>
    <p:sldLayoutId id="2147484295" r:id="rId8"/>
    <p:sldLayoutId id="2147484296" r:id="rId9"/>
    <p:sldLayoutId id="2147484297" r:id="rId10"/>
    <p:sldLayoutId id="2147484298" r:id="rId11"/>
    <p:sldLayoutId id="2147484299" r:id="rId12"/>
    <p:sldLayoutId id="2147484300" r:id="rId13"/>
    <p:sldLayoutId id="2147484301" r:id="rId14"/>
    <p:sldLayoutId id="2147484302" r:id="rId15"/>
    <p:sldLayoutId id="2147484303" r:id="rId16"/>
    <p:sldLayoutId id="2147484304" r:id="rId17"/>
    <p:sldLayoutId id="2147484305" r:id="rId18"/>
    <p:sldLayoutId id="2147484306" r:id="rId19"/>
    <p:sldLayoutId id="2147484307" r:id="rId20"/>
    <p:sldLayoutId id="2147484308" r:id="rId21"/>
    <p:sldLayoutId id="2147484309" r:id="rId22"/>
    <p:sldLayoutId id="2147484310" r:id="rId23"/>
    <p:sldLayoutId id="2147484311" r:id="rId24"/>
    <p:sldLayoutId id="2147484312" r:id="rId25"/>
    <p:sldLayoutId id="2147484313" r:id="rId26"/>
  </p:sldLayoutIdLst>
  <p:hf hdr="0" dt="0"/>
  <p:txStyles>
    <p:titleStyle>
      <a:lvl1pPr algn="l" rtl="0" eaLnBrk="0" fontAlgn="base" hangingPunct="0">
        <a:spcBef>
          <a:spcPct val="0"/>
        </a:spcBef>
        <a:spcAft>
          <a:spcPct val="0"/>
        </a:spcAft>
        <a:defRPr sz="2800" b="1">
          <a:solidFill>
            <a:schemeClr val="tx1"/>
          </a:solidFill>
          <a:latin typeface="+mj-lt"/>
          <a:ea typeface="+mj-ea"/>
          <a:cs typeface="+mj-cs"/>
        </a:defRPr>
      </a:lvl1pPr>
      <a:lvl2pPr algn="l" rtl="0" eaLnBrk="0" fontAlgn="base" hangingPunct="0">
        <a:spcBef>
          <a:spcPct val="0"/>
        </a:spcBef>
        <a:spcAft>
          <a:spcPct val="0"/>
        </a:spcAft>
        <a:defRPr sz="2800" b="1">
          <a:solidFill>
            <a:schemeClr val="tx1"/>
          </a:solidFill>
          <a:latin typeface="News Gothic MT" pitchFamily="34" charset="0"/>
        </a:defRPr>
      </a:lvl2pPr>
      <a:lvl3pPr algn="l" rtl="0" eaLnBrk="0" fontAlgn="base" hangingPunct="0">
        <a:spcBef>
          <a:spcPct val="0"/>
        </a:spcBef>
        <a:spcAft>
          <a:spcPct val="0"/>
        </a:spcAft>
        <a:defRPr sz="2800" b="1">
          <a:solidFill>
            <a:schemeClr val="tx1"/>
          </a:solidFill>
          <a:latin typeface="News Gothic MT" pitchFamily="34" charset="0"/>
        </a:defRPr>
      </a:lvl3pPr>
      <a:lvl4pPr algn="l" rtl="0" eaLnBrk="0" fontAlgn="base" hangingPunct="0">
        <a:spcBef>
          <a:spcPct val="0"/>
        </a:spcBef>
        <a:spcAft>
          <a:spcPct val="0"/>
        </a:spcAft>
        <a:defRPr sz="2800" b="1">
          <a:solidFill>
            <a:schemeClr val="tx1"/>
          </a:solidFill>
          <a:latin typeface="News Gothic MT" pitchFamily="34" charset="0"/>
        </a:defRPr>
      </a:lvl4pPr>
      <a:lvl5pPr algn="l" rtl="0" eaLnBrk="0" fontAlgn="base" hangingPunct="0">
        <a:spcBef>
          <a:spcPct val="0"/>
        </a:spcBef>
        <a:spcAft>
          <a:spcPct val="0"/>
        </a:spcAft>
        <a:defRPr sz="2800" b="1">
          <a:solidFill>
            <a:schemeClr val="tx1"/>
          </a:solidFill>
          <a:latin typeface="News Gothic MT" pitchFamily="34" charset="0"/>
        </a:defRPr>
      </a:lvl5pPr>
      <a:lvl6pPr marL="457200" algn="l" rtl="0" eaLnBrk="0" fontAlgn="base" hangingPunct="0">
        <a:spcBef>
          <a:spcPct val="0"/>
        </a:spcBef>
        <a:spcAft>
          <a:spcPct val="0"/>
        </a:spcAft>
        <a:defRPr sz="2800" b="1">
          <a:solidFill>
            <a:schemeClr val="tx1"/>
          </a:solidFill>
          <a:latin typeface="News Gothic MT" pitchFamily="34" charset="0"/>
        </a:defRPr>
      </a:lvl6pPr>
      <a:lvl7pPr marL="914400" algn="l" rtl="0" eaLnBrk="0" fontAlgn="base" hangingPunct="0">
        <a:spcBef>
          <a:spcPct val="0"/>
        </a:spcBef>
        <a:spcAft>
          <a:spcPct val="0"/>
        </a:spcAft>
        <a:defRPr sz="2800" b="1">
          <a:solidFill>
            <a:schemeClr val="tx1"/>
          </a:solidFill>
          <a:latin typeface="News Gothic MT" pitchFamily="34" charset="0"/>
        </a:defRPr>
      </a:lvl7pPr>
      <a:lvl8pPr marL="1371600" algn="l" rtl="0" eaLnBrk="0" fontAlgn="base" hangingPunct="0">
        <a:spcBef>
          <a:spcPct val="0"/>
        </a:spcBef>
        <a:spcAft>
          <a:spcPct val="0"/>
        </a:spcAft>
        <a:defRPr sz="2800" b="1">
          <a:solidFill>
            <a:schemeClr val="tx1"/>
          </a:solidFill>
          <a:latin typeface="News Gothic MT" pitchFamily="34" charset="0"/>
        </a:defRPr>
      </a:lvl8pPr>
      <a:lvl9pPr marL="1828800" algn="l" rtl="0" eaLnBrk="0" fontAlgn="base" hangingPunct="0">
        <a:spcBef>
          <a:spcPct val="0"/>
        </a:spcBef>
        <a:spcAft>
          <a:spcPct val="0"/>
        </a:spcAft>
        <a:defRPr sz="2800" b="1">
          <a:solidFill>
            <a:schemeClr val="tx1"/>
          </a:solidFill>
          <a:latin typeface="News Gothic MT" pitchFamily="34" charset="0"/>
        </a:defRPr>
      </a:lvl9pPr>
    </p:titleStyle>
    <p:bodyStyle>
      <a:lvl1pPr marL="192088" indent="-192088" algn="l" rtl="0" eaLnBrk="0" fontAlgn="base" hangingPunct="0">
        <a:spcBef>
          <a:spcPct val="50000"/>
        </a:spcBef>
        <a:spcAft>
          <a:spcPct val="0"/>
        </a:spcAft>
        <a:buClr>
          <a:schemeClr val="tx1"/>
        </a:buClr>
        <a:buFont typeface="Symbol" pitchFamily="18" charset="2"/>
        <a:buChar char="·"/>
        <a:defRPr sz="2200">
          <a:solidFill>
            <a:schemeClr val="tx1"/>
          </a:solidFill>
          <a:latin typeface="+mn-lt"/>
          <a:ea typeface="+mn-ea"/>
          <a:cs typeface="+mn-cs"/>
        </a:defRPr>
      </a:lvl1pPr>
      <a:lvl2pPr marL="568325" indent="-185738" algn="l" rtl="0" eaLnBrk="0" fontAlgn="base" hangingPunct="0">
        <a:spcBef>
          <a:spcPct val="50000"/>
        </a:spcBef>
        <a:spcAft>
          <a:spcPct val="0"/>
        </a:spcAft>
        <a:buClr>
          <a:schemeClr val="tx1"/>
        </a:buClr>
        <a:buFont typeface="Symbol" pitchFamily="18" charset="2"/>
        <a:buChar char="-"/>
        <a:defRPr>
          <a:solidFill>
            <a:schemeClr val="tx1"/>
          </a:solidFill>
          <a:latin typeface="+mn-lt"/>
        </a:defRPr>
      </a:lvl2pPr>
      <a:lvl3pPr marL="855663" indent="-96838" algn="l" rtl="0" eaLnBrk="0" fontAlgn="base" hangingPunct="0">
        <a:spcBef>
          <a:spcPct val="50000"/>
        </a:spcBef>
        <a:spcAft>
          <a:spcPct val="0"/>
        </a:spcAft>
        <a:buClr>
          <a:schemeClr val="tx1"/>
        </a:buClr>
        <a:buChar char="•"/>
        <a:defRPr>
          <a:solidFill>
            <a:schemeClr val="tx1"/>
          </a:solidFill>
          <a:latin typeface="+mn-lt"/>
        </a:defRPr>
      </a:lvl3pPr>
      <a:lvl4pPr marL="1981200" indent="-228600" algn="l" rtl="0" eaLnBrk="0" fontAlgn="base" hangingPunct="0">
        <a:spcBef>
          <a:spcPct val="50000"/>
        </a:spcBef>
        <a:spcAft>
          <a:spcPct val="0"/>
        </a:spcAft>
        <a:buChar char="–"/>
        <a:defRPr sz="1600">
          <a:solidFill>
            <a:schemeClr val="bg1"/>
          </a:solidFill>
          <a:latin typeface="+mn-lt"/>
        </a:defRPr>
      </a:lvl4pPr>
      <a:lvl5pPr marL="2400300" indent="-228600" algn="l" rtl="0" eaLnBrk="0" fontAlgn="base" hangingPunct="0">
        <a:spcBef>
          <a:spcPct val="50000"/>
        </a:spcBef>
        <a:spcAft>
          <a:spcPct val="0"/>
        </a:spcAft>
        <a:buChar char="•"/>
        <a:defRPr sz="1400">
          <a:solidFill>
            <a:schemeClr val="bg1"/>
          </a:solidFill>
          <a:latin typeface="+mn-lt"/>
        </a:defRPr>
      </a:lvl5pPr>
      <a:lvl6pPr marL="2857500" indent="-228600" algn="l" rtl="0" eaLnBrk="0" fontAlgn="base" hangingPunct="0">
        <a:spcBef>
          <a:spcPct val="50000"/>
        </a:spcBef>
        <a:spcAft>
          <a:spcPct val="0"/>
        </a:spcAft>
        <a:buChar char="•"/>
        <a:defRPr sz="1400">
          <a:solidFill>
            <a:schemeClr val="bg1"/>
          </a:solidFill>
          <a:latin typeface="+mn-lt"/>
        </a:defRPr>
      </a:lvl6pPr>
      <a:lvl7pPr marL="3314700" indent="-228600" algn="l" rtl="0" eaLnBrk="0" fontAlgn="base" hangingPunct="0">
        <a:spcBef>
          <a:spcPct val="50000"/>
        </a:spcBef>
        <a:spcAft>
          <a:spcPct val="0"/>
        </a:spcAft>
        <a:buChar char="•"/>
        <a:defRPr sz="1400">
          <a:solidFill>
            <a:schemeClr val="bg1"/>
          </a:solidFill>
          <a:latin typeface="+mn-lt"/>
        </a:defRPr>
      </a:lvl7pPr>
      <a:lvl8pPr marL="3771900" indent="-228600" algn="l" rtl="0" eaLnBrk="0" fontAlgn="base" hangingPunct="0">
        <a:spcBef>
          <a:spcPct val="50000"/>
        </a:spcBef>
        <a:spcAft>
          <a:spcPct val="0"/>
        </a:spcAft>
        <a:buChar char="•"/>
        <a:defRPr sz="1400">
          <a:solidFill>
            <a:schemeClr val="bg1"/>
          </a:solidFill>
          <a:latin typeface="+mn-lt"/>
        </a:defRPr>
      </a:lvl8pPr>
      <a:lvl9pPr marL="4229100" indent="-228600" algn="l" rtl="0" eaLnBrk="0" fontAlgn="base" hangingPunct="0">
        <a:spcBef>
          <a:spcPct val="50000"/>
        </a:spcBef>
        <a:spcAft>
          <a:spcPct val="0"/>
        </a:spcAft>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hyperlink" Target="https://www.youtube.com/watch?v=WA0LhCxy3r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en.wikipedia.org/wiki/File:Bullwhip_effect.png" TargetMode="External"/><Relationship Id="rId1" Type="http://schemas.openxmlformats.org/officeDocument/2006/relationships/slideLayout" Target="../slideLayouts/slideLayout26.xml"/><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iStock_000006059421Medium"/>
          <p:cNvPicPr>
            <a:picLocks noChangeAspect="1" noChangeArrowheads="1"/>
          </p:cNvPicPr>
          <p:nvPr/>
        </p:nvPicPr>
        <p:blipFill>
          <a:blip r:embed="rId4" cstate="print"/>
          <a:srcRect l="33899" t="40144" r="33737" b="31712"/>
          <a:stretch>
            <a:fillRect/>
          </a:stretch>
        </p:blipFill>
        <p:spPr bwMode="auto">
          <a:xfrm>
            <a:off x="1282700" y="0"/>
            <a:ext cx="7861300" cy="4040188"/>
          </a:xfrm>
          <a:prstGeom prst="rect">
            <a:avLst/>
          </a:prstGeom>
          <a:noFill/>
          <a:ln w="9525">
            <a:noFill/>
            <a:miter lim="800000"/>
            <a:headEnd/>
            <a:tailEnd/>
          </a:ln>
        </p:spPr>
      </p:pic>
      <p:grpSp>
        <p:nvGrpSpPr>
          <p:cNvPr id="2" name="Group 7"/>
          <p:cNvGrpSpPr/>
          <p:nvPr/>
        </p:nvGrpSpPr>
        <p:grpSpPr>
          <a:xfrm>
            <a:off x="3729038" y="799478"/>
            <a:ext cx="3700462" cy="1707853"/>
            <a:chOff x="4039791" y="799457"/>
            <a:chExt cx="4008834" cy="1707853"/>
          </a:xfrm>
        </p:grpSpPr>
        <p:sp>
          <p:nvSpPr>
            <p:cNvPr id="4366341" name="Text Box 5"/>
            <p:cNvSpPr txBox="1">
              <a:spLocks noChangeArrowheads="1"/>
            </p:cNvSpPr>
            <p:nvPr/>
          </p:nvSpPr>
          <p:spPr bwMode="auto">
            <a:xfrm rot="20676510">
              <a:off x="5264283" y="2045645"/>
              <a:ext cx="2784342" cy="461665"/>
            </a:xfrm>
            <a:prstGeom prst="rect">
              <a:avLst/>
            </a:prstGeom>
            <a:noFill/>
            <a:ln w="28575" algn="ctr">
              <a:noFill/>
              <a:miter lim="800000"/>
              <a:headEnd/>
              <a:tailEnd/>
            </a:ln>
            <a:effectLst/>
          </p:spPr>
          <p:txBody>
            <a:bodyPr>
              <a:spAutoFit/>
            </a:bodyPr>
            <a:lstStyle/>
            <a:p>
              <a:pPr algn="ctr" eaLnBrk="0" hangingPunct="0">
                <a:defRPr/>
              </a:pPr>
              <a:r>
                <a:rPr lang="en-US" b="1" dirty="0">
                  <a:solidFill>
                    <a:srgbClr val="923222"/>
                  </a:solidFill>
                  <a:effectLst>
                    <a:outerShdw blurRad="50800" dist="38100" dir="2700000" algn="tl" rotWithShape="0">
                      <a:prstClr val="black">
                        <a:alpha val="40000"/>
                      </a:prstClr>
                    </a:outerShdw>
                  </a:effectLst>
                  <a:latin typeface="News Gothic MT" pitchFamily="34" charset="0"/>
                </a:rPr>
                <a:t>Management</a:t>
              </a:r>
            </a:p>
          </p:txBody>
        </p:sp>
        <p:sp>
          <p:nvSpPr>
            <p:cNvPr id="4366342" name="Text Box 6"/>
            <p:cNvSpPr txBox="1">
              <a:spLocks noChangeArrowheads="1"/>
            </p:cNvSpPr>
            <p:nvPr/>
          </p:nvSpPr>
          <p:spPr bwMode="auto">
            <a:xfrm rot="20734159">
              <a:off x="4039791" y="799457"/>
              <a:ext cx="2942563" cy="461665"/>
            </a:xfrm>
            <a:prstGeom prst="rect">
              <a:avLst/>
            </a:prstGeom>
            <a:noFill/>
            <a:ln w="28575" algn="ctr">
              <a:noFill/>
              <a:miter lim="800000"/>
              <a:headEnd/>
              <a:tailEnd/>
            </a:ln>
            <a:effectLst/>
          </p:spPr>
          <p:txBody>
            <a:bodyPr>
              <a:spAutoFit/>
            </a:bodyPr>
            <a:lstStyle/>
            <a:p>
              <a:pPr algn="ctr" eaLnBrk="0" hangingPunct="0">
                <a:defRPr/>
              </a:pPr>
              <a:r>
                <a:rPr lang="en-US" b="1" dirty="0">
                  <a:solidFill>
                    <a:srgbClr val="923222"/>
                  </a:solidFill>
                  <a:effectLst>
                    <a:outerShdw blurRad="38100" dist="38100" dir="2700000" algn="tl">
                      <a:srgbClr val="C0C0C0"/>
                    </a:outerShdw>
                  </a:effectLst>
                  <a:latin typeface="News Gothic MT" pitchFamily="34" charset="0"/>
                </a:rPr>
                <a:t>Supply Chain</a:t>
              </a:r>
            </a:p>
          </p:txBody>
        </p:sp>
      </p:grpSp>
      <p:sp>
        <p:nvSpPr>
          <p:cNvPr id="3079" name="DividerColorBox"/>
          <p:cNvSpPr>
            <a:spLocks noChangeArrowheads="1"/>
          </p:cNvSpPr>
          <p:nvPr/>
        </p:nvSpPr>
        <p:spPr bwMode="auto">
          <a:xfrm>
            <a:off x="0" y="0"/>
            <a:ext cx="1208088" cy="4046538"/>
          </a:xfrm>
          <a:prstGeom prst="rect">
            <a:avLst/>
          </a:prstGeom>
          <a:solidFill>
            <a:srgbClr val="923222"/>
          </a:solidFill>
          <a:ln w="12700" algn="ctr">
            <a:noFill/>
            <a:miter lim="800000"/>
            <a:headEnd/>
            <a:tailEnd/>
          </a:ln>
        </p:spPr>
        <p:txBody>
          <a:bodyPr wrap="none" anchor="ctr"/>
          <a:lstStyle/>
          <a:p>
            <a:pPr algn="ctr" eaLnBrk="0" hangingPunct="0"/>
            <a:endParaRPr lang="en-US" sz="2800" b="1" dirty="0">
              <a:solidFill>
                <a:prstClr val="black"/>
              </a:solidFill>
              <a:latin typeface="News Gothic MT" pitchFamily="34" charset="0"/>
            </a:endParaRPr>
          </a:p>
        </p:txBody>
      </p:sp>
      <p:sp>
        <p:nvSpPr>
          <p:cNvPr id="9" name="Rectangle 7"/>
          <p:cNvSpPr>
            <a:spLocks noChangeArrowheads="1"/>
          </p:cNvSpPr>
          <p:nvPr/>
        </p:nvSpPr>
        <p:spPr bwMode="auto">
          <a:xfrm>
            <a:off x="1181100" y="4229100"/>
            <a:ext cx="7929562" cy="821265"/>
          </a:xfrm>
          <a:prstGeom prst="rect">
            <a:avLst/>
          </a:prstGeom>
          <a:noFill/>
          <a:ln w="9525">
            <a:noFill/>
            <a:miter lim="800000"/>
            <a:headEnd/>
            <a:tailEnd/>
          </a:ln>
        </p:spPr>
        <p:txBody>
          <a:bodyPr/>
          <a:lstStyle/>
          <a:p>
            <a:pPr eaLnBrk="0" hangingPunct="0">
              <a:lnSpc>
                <a:spcPct val="90000"/>
              </a:lnSpc>
              <a:defRPr/>
            </a:pPr>
            <a:r>
              <a:rPr lang="en-US" sz="4000" b="1" dirty="0">
                <a:solidFill>
                  <a:srgbClr val="923222"/>
                </a:solidFill>
                <a:effectLst>
                  <a:outerShdw blurRad="38100" dist="38100" dir="2700000" algn="tl">
                    <a:srgbClr val="000000">
                      <a:alpha val="43137"/>
                    </a:srgbClr>
                  </a:outerShdw>
                </a:effectLst>
                <a:latin typeface="Calibri" panose="020F0502020204030204" pitchFamily="34" charset="0"/>
              </a:rPr>
              <a:t>Forecasting and Demand Planning</a:t>
            </a:r>
          </a:p>
        </p:txBody>
      </p:sp>
      <p:pic>
        <p:nvPicPr>
          <p:cNvPr id="11" name="Picture 10"/>
          <p:cNvPicPr/>
          <p:nvPr/>
        </p:nvPicPr>
        <p:blipFill rotWithShape="1">
          <a:blip r:embed="rId5">
            <a:extLst>
              <a:ext uri="{28A0092B-C50C-407E-A947-70E740481C1C}">
                <a14:useLocalDpi xmlns:a14="http://schemas.microsoft.com/office/drawing/2010/main" val="0"/>
              </a:ext>
            </a:extLst>
          </a:blip>
          <a:srcRect l="1814" t="77132" r="36128" b="6447"/>
          <a:stretch/>
        </p:blipFill>
        <p:spPr bwMode="auto">
          <a:xfrm>
            <a:off x="5113866" y="6159500"/>
            <a:ext cx="3801534" cy="635000"/>
          </a:xfrm>
          <a:prstGeom prst="rect">
            <a:avLst/>
          </a:prstGeom>
          <a:noFill/>
          <a:ln>
            <a:noFill/>
          </a:ln>
        </p:spPr>
      </p:pic>
    </p:spTree>
    <p:custDataLst>
      <p:tags r:id="rId1"/>
    </p:custDataLst>
    <p:extLst>
      <p:ext uri="{BB962C8B-B14F-4D97-AF65-F5344CB8AC3E}">
        <p14:creationId xmlns:p14="http://schemas.microsoft.com/office/powerpoint/2010/main" val="2413190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CED89-D78F-C7E8-31A7-54D1B89E7D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E90A5E-337C-DAA1-13CC-E15301C9E8D0}"/>
              </a:ext>
            </a:extLst>
          </p:cNvPr>
          <p:cNvSpPr>
            <a:spLocks noGrp="1"/>
          </p:cNvSpPr>
          <p:nvPr>
            <p:ph idx="1"/>
          </p:nvPr>
        </p:nvSpPr>
        <p:spPr/>
        <p:txBody>
          <a:bodyPr/>
          <a:lstStyle/>
          <a:p>
            <a:r>
              <a:rPr lang="en-US" dirty="0">
                <a:hlinkClick r:id="rId2"/>
              </a:rPr>
              <a:t>Mastering the Supply Chain: How Planning Ensures Products Are Always Available - YouTube</a:t>
            </a:r>
            <a:endParaRPr lang="en-US" dirty="0"/>
          </a:p>
        </p:txBody>
      </p:sp>
      <p:sp>
        <p:nvSpPr>
          <p:cNvPr id="4" name="Slide Number Placeholder 3">
            <a:extLst>
              <a:ext uri="{FF2B5EF4-FFF2-40B4-BE49-F238E27FC236}">
                <a16:creationId xmlns:a16="http://schemas.microsoft.com/office/drawing/2014/main" id="{3C645681-E394-63D5-4660-FFA281275931}"/>
              </a:ext>
            </a:extLst>
          </p:cNvPr>
          <p:cNvSpPr>
            <a:spLocks noGrp="1"/>
          </p:cNvSpPr>
          <p:nvPr>
            <p:ph type="sldNum" sz="quarter" idx="4"/>
          </p:nvPr>
        </p:nvSpPr>
        <p:spPr/>
        <p:txBody>
          <a:bodyPr/>
          <a:lstStyle/>
          <a:p>
            <a:fld id="{E66AA3EA-0569-43EF-BBA3-83FDB109D582}" type="slidenum">
              <a:rPr lang="en-US" smtClean="0"/>
              <a:pPr/>
              <a:t>2</a:t>
            </a:fld>
            <a:endParaRPr lang="en-US" dirty="0"/>
          </a:p>
        </p:txBody>
      </p:sp>
      <p:sp>
        <p:nvSpPr>
          <p:cNvPr id="5" name="Footer Placeholder 4">
            <a:extLst>
              <a:ext uri="{FF2B5EF4-FFF2-40B4-BE49-F238E27FC236}">
                <a16:creationId xmlns:a16="http://schemas.microsoft.com/office/drawing/2014/main" id="{939090CC-0B4F-A384-A8FA-6F470F05418C}"/>
              </a:ext>
            </a:extLst>
          </p:cNvPr>
          <p:cNvSpPr>
            <a:spLocks noGrp="1"/>
          </p:cNvSpPr>
          <p:nvPr>
            <p:ph type="ftr" sz="quarter" idx="3"/>
          </p:nvPr>
        </p:nvSpPr>
        <p:spPr/>
        <p:txBody>
          <a:bodyPr/>
          <a:lstStyle/>
          <a:p>
            <a:r>
              <a:rPr lang="en-US"/>
              <a:t>Fundamentals of Supply Chain Management – McLaury/Spiegle</a:t>
            </a:r>
            <a:endParaRPr lang="en-US" dirty="0"/>
          </a:p>
        </p:txBody>
      </p:sp>
    </p:spTree>
    <p:extLst>
      <p:ext uri="{BB962C8B-B14F-4D97-AF65-F5344CB8AC3E}">
        <p14:creationId xmlns:p14="http://schemas.microsoft.com/office/powerpoint/2010/main" val="3428892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686800" cy="4610100"/>
          </a:xfrm>
        </p:spPr>
        <p:txBody>
          <a:bodyPr/>
          <a:lstStyle/>
          <a:p>
            <a:pPr marL="0" indent="0">
              <a:spcBef>
                <a:spcPts val="1200"/>
              </a:spcBef>
              <a:spcAft>
                <a:spcPts val="1200"/>
              </a:spcAft>
              <a:buClr>
                <a:srgbClr val="923222"/>
              </a:buClr>
              <a:buSzPct val="115000"/>
              <a:buNone/>
              <a:defRPr/>
            </a:pPr>
            <a:r>
              <a:rPr lang="en-US" sz="2400" b="1" dirty="0">
                <a:latin typeface="Calibri" panose="020F0502020204030204" pitchFamily="34" charset="0"/>
              </a:rPr>
              <a:t>Forecasting</a:t>
            </a:r>
            <a:r>
              <a:rPr lang="en-US" sz="2400" dirty="0">
                <a:latin typeface="Calibri" panose="020F0502020204030204" pitchFamily="34" charset="0"/>
              </a:rPr>
              <a:t> and </a:t>
            </a:r>
            <a:r>
              <a:rPr lang="en-US" sz="2400" b="1" dirty="0">
                <a:latin typeface="Calibri" panose="020F0502020204030204" pitchFamily="34" charset="0"/>
              </a:rPr>
              <a:t>Demand Planning </a:t>
            </a:r>
            <a:r>
              <a:rPr lang="en-US" sz="2400" dirty="0">
                <a:latin typeface="Calibri" panose="020F0502020204030204" pitchFamily="34" charset="0"/>
              </a:rPr>
              <a:t>are the key building blocks from which all supply chain planning activities are derived. </a:t>
            </a:r>
          </a:p>
          <a:p>
            <a:pPr marL="347663" indent="-347663">
              <a:spcBef>
                <a:spcPts val="1200"/>
              </a:spcBef>
              <a:spcAft>
                <a:spcPts val="1200"/>
              </a:spcAft>
              <a:buClr>
                <a:srgbClr val="923222"/>
              </a:buClr>
              <a:buSzPct val="115000"/>
              <a:buFont typeface="Wingdings" panose="05000000000000000000" pitchFamily="2" charset="2"/>
              <a:buChar char="§"/>
              <a:defRPr/>
            </a:pPr>
            <a:r>
              <a:rPr lang="en-US" sz="2400" dirty="0">
                <a:latin typeface="Calibri" panose="020F0502020204030204" pitchFamily="34" charset="0"/>
              </a:rPr>
              <a:t>The first step is </a:t>
            </a:r>
            <a:r>
              <a:rPr lang="en-US" sz="2400" dirty="0">
                <a:solidFill>
                  <a:srgbClr val="923222"/>
                </a:solidFill>
                <a:effectLst>
                  <a:outerShdw blurRad="38100" dist="38100" dir="2700000" algn="tl">
                    <a:srgbClr val="000000">
                      <a:alpha val="43137"/>
                    </a:srgbClr>
                  </a:outerShdw>
                </a:effectLst>
                <a:latin typeface="Calibri" panose="020F0502020204030204" pitchFamily="34" charset="0"/>
              </a:rPr>
              <a:t>Forecasting</a:t>
            </a:r>
            <a:r>
              <a:rPr lang="en-US" sz="2400" dirty="0">
                <a:latin typeface="Calibri" panose="020F0502020204030204" pitchFamily="34" charset="0"/>
              </a:rPr>
              <a:t>, where the forecast is developed through data analysis and judgement. </a:t>
            </a:r>
          </a:p>
          <a:p>
            <a:pPr marL="723900" lvl="1" indent="-347663">
              <a:spcBef>
                <a:spcPts val="0"/>
              </a:spcBef>
              <a:spcAft>
                <a:spcPts val="0"/>
              </a:spcAft>
              <a:buClr>
                <a:srgbClr val="923222"/>
              </a:buClr>
              <a:buSzPct val="115000"/>
              <a:buFont typeface="Calibri" panose="020F0502020204030204" pitchFamily="34" charset="0"/>
              <a:buChar char="—"/>
              <a:defRPr/>
            </a:pPr>
            <a:r>
              <a:rPr lang="en-US" sz="2000" dirty="0">
                <a:latin typeface="Calibri" panose="020F0502020204030204" pitchFamily="34" charset="0"/>
              </a:rPr>
              <a:t>Organizations must have a formal forecasting process to develop an agreed upon set of numbers that becomes the driver for demand planning.</a:t>
            </a:r>
          </a:p>
          <a:p>
            <a:pPr marL="347663" lvl="1" indent="-347663">
              <a:spcBef>
                <a:spcPts val="1200"/>
              </a:spcBef>
              <a:spcAft>
                <a:spcPts val="1200"/>
              </a:spcAft>
              <a:buClr>
                <a:srgbClr val="923222"/>
              </a:buClr>
              <a:buSzPct val="115000"/>
              <a:buFont typeface="Wingdings" panose="05000000000000000000" pitchFamily="2" charset="2"/>
              <a:buChar char="§"/>
              <a:defRPr/>
            </a:pPr>
            <a:r>
              <a:rPr lang="en-US" sz="2400" dirty="0">
                <a:latin typeface="Calibri" panose="020F0502020204030204" pitchFamily="34" charset="0"/>
                <a:ea typeface="+mn-ea"/>
                <a:cs typeface="+mn-cs"/>
              </a:rPr>
              <a:t>The second step is </a:t>
            </a:r>
            <a:r>
              <a:rPr lang="en-US" sz="2400" dirty="0">
                <a:solidFill>
                  <a:srgbClr val="923222"/>
                </a:solidFill>
                <a:effectLst>
                  <a:outerShdw blurRad="38100" dist="38100" dir="2700000" algn="tl">
                    <a:srgbClr val="000000">
                      <a:alpha val="43137"/>
                    </a:srgbClr>
                  </a:outerShdw>
                </a:effectLst>
                <a:latin typeface="Calibri" panose="020F0502020204030204" pitchFamily="34" charset="0"/>
                <a:ea typeface="+mn-ea"/>
                <a:cs typeface="+mn-cs"/>
              </a:rPr>
              <a:t>Demand Planning </a:t>
            </a:r>
            <a:r>
              <a:rPr lang="en-US" sz="2400" dirty="0">
                <a:latin typeface="Calibri" panose="020F0502020204030204" pitchFamily="34" charset="0"/>
                <a:ea typeface="+mn-ea"/>
                <a:cs typeface="+mn-cs"/>
              </a:rPr>
              <a:t>where management and other experts within the company review the forecast to ensure that it is aligned with the company’s strategy, business policies, and business knowledge, and make adjustments if necessary. </a:t>
            </a:r>
            <a:endParaRPr lang="en-US" sz="2400" dirty="0">
              <a:latin typeface="Calibri" panose="020F0502020204030204" pitchFamily="34" charset="0"/>
            </a:endParaRPr>
          </a:p>
        </p:txBody>
      </p:sp>
      <p:sp>
        <p:nvSpPr>
          <p:cNvPr id="5" name="Rectangle 4"/>
          <p:cNvSpPr/>
          <p:nvPr/>
        </p:nvSpPr>
        <p:spPr>
          <a:xfrm>
            <a:off x="228600" y="134522"/>
            <a:ext cx="6052619" cy="492955"/>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eaLnBrk="0" hangingPunct="0">
              <a:lnSpc>
                <a:spcPct val="80000"/>
              </a:lnSpc>
            </a:pPr>
            <a:r>
              <a:rPr lang="en-US" sz="3200" b="1" dirty="0">
                <a:solidFill>
                  <a:srgbClr val="923222"/>
                </a:solidFill>
                <a:effectLst>
                  <a:outerShdw blurRad="38100" dist="38100" dir="2700000" algn="tl">
                    <a:srgbClr val="C0C0C0"/>
                  </a:outerShdw>
                </a:effectLst>
                <a:latin typeface="Calibri" panose="020F0502020204030204" pitchFamily="34" charset="0"/>
                <a:cs typeface="Arial" charset="0"/>
              </a:rPr>
              <a:t>Forecasting and Demand Planning </a:t>
            </a:r>
          </a:p>
        </p:txBody>
      </p:sp>
      <p:sp>
        <p:nvSpPr>
          <p:cNvPr id="6" name="Rectangle 5"/>
          <p:cNvSpPr/>
          <p:nvPr/>
        </p:nvSpPr>
        <p:spPr>
          <a:xfrm>
            <a:off x="1253066" y="5406367"/>
            <a:ext cx="6637867" cy="1046440"/>
          </a:xfrm>
          <a:prstGeom prst="rect">
            <a:avLst/>
          </a:prstGeom>
          <a:solidFill>
            <a:schemeClr val="accent5">
              <a:lumMod val="20000"/>
              <a:lumOff val="80000"/>
            </a:schemeClr>
          </a:solidFill>
          <a:ln>
            <a:solidFill>
              <a:schemeClr val="tx1"/>
            </a:solidFill>
          </a:ln>
          <a:effectLst>
            <a:outerShdw blurRad="50800" dist="38100" dir="2700000" algn="tl" rotWithShape="0">
              <a:prstClr val="black">
                <a:alpha val="40000"/>
              </a:prstClr>
            </a:outerShdw>
          </a:effectLst>
          <a:scene3d>
            <a:camera prst="orthographicFront"/>
            <a:lightRig rig="threePt" dir="t"/>
          </a:scene3d>
          <a:sp3d>
            <a:bevelT/>
          </a:sp3d>
        </p:spPr>
        <p:txBody>
          <a:bodyPr wrap="square" tIns="91440" bIns="91440" anchor="ctr" anchorCtr="1">
            <a:spAutoFit/>
          </a:bodyPr>
          <a:lstStyle/>
          <a:p>
            <a:pPr algn="ctr">
              <a:spcBef>
                <a:spcPts val="1200"/>
              </a:spcBef>
              <a:spcAft>
                <a:spcPts val="1200"/>
              </a:spcAft>
              <a:buClr>
                <a:srgbClr val="923222"/>
              </a:buClr>
              <a:buSzPct val="115000"/>
              <a:defRPr/>
            </a:pPr>
            <a:r>
              <a:rPr lang="en-US" sz="2800" dirty="0">
                <a:effectLst>
                  <a:outerShdw blurRad="38100" dist="38100" dir="2700000" algn="tl">
                    <a:srgbClr val="000000">
                      <a:alpha val="43137"/>
                    </a:srgbClr>
                  </a:outerShdw>
                </a:effectLst>
                <a:latin typeface="Calibri" panose="020F0502020204030204" pitchFamily="34" charset="0"/>
              </a:rPr>
              <a:t>Forecasting and Demand Planning are crucial components of customer satisfaction.</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7" name="Slide Number Placeholder 6"/>
          <p:cNvSpPr>
            <a:spLocks noGrp="1"/>
          </p:cNvSpPr>
          <p:nvPr>
            <p:ph type="sldNum" sz="quarter" idx="4"/>
          </p:nvPr>
        </p:nvSpPr>
        <p:spPr/>
        <p:txBody>
          <a:bodyPr/>
          <a:lstStyle/>
          <a:p>
            <a:fld id="{E66AA3EA-0569-43EF-BBA3-83FDB109D582}" type="slidenum">
              <a:rPr lang="en-US" smtClean="0"/>
              <a:pPr/>
              <a:t>3</a:t>
            </a:fld>
            <a:endParaRPr lang="en-US" dirty="0"/>
          </a:p>
        </p:txBody>
      </p:sp>
    </p:spTree>
    <p:extLst>
      <p:ext uri="{BB962C8B-B14F-4D97-AF65-F5344CB8AC3E}">
        <p14:creationId xmlns:p14="http://schemas.microsoft.com/office/powerpoint/2010/main" val="2139525767"/>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2088" t="8210" r="1129" b="7217"/>
          <a:stretch/>
        </p:blipFill>
        <p:spPr>
          <a:xfrm>
            <a:off x="4216400" y="4364566"/>
            <a:ext cx="4699000" cy="2417233"/>
          </a:xfrm>
          <a:prstGeom prst="rect">
            <a:avLst/>
          </a:prstGeom>
        </p:spPr>
      </p:pic>
      <p:sp>
        <p:nvSpPr>
          <p:cNvPr id="5" name="Rectangle 4"/>
          <p:cNvSpPr/>
          <p:nvPr/>
        </p:nvSpPr>
        <p:spPr>
          <a:xfrm>
            <a:off x="228600" y="134522"/>
            <a:ext cx="6052619" cy="492955"/>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eaLnBrk="0" hangingPunct="0">
              <a:lnSpc>
                <a:spcPct val="80000"/>
              </a:lnSpc>
            </a:pPr>
            <a:r>
              <a:rPr lang="en-US" sz="3200" b="1" dirty="0">
                <a:solidFill>
                  <a:srgbClr val="923222"/>
                </a:solidFill>
                <a:effectLst>
                  <a:outerShdw blurRad="38100" dist="38100" dir="2700000" algn="tl">
                    <a:srgbClr val="C0C0C0"/>
                  </a:outerShdw>
                </a:effectLst>
                <a:latin typeface="Calibri" panose="020F0502020204030204" pitchFamily="34" charset="0"/>
                <a:cs typeface="Arial" charset="0"/>
              </a:rPr>
              <a:t>Key Terms</a:t>
            </a:r>
          </a:p>
        </p:txBody>
      </p:sp>
      <p:sp>
        <p:nvSpPr>
          <p:cNvPr id="6" name="Rectangle 5"/>
          <p:cNvSpPr/>
          <p:nvPr/>
        </p:nvSpPr>
        <p:spPr>
          <a:xfrm>
            <a:off x="228600" y="914400"/>
            <a:ext cx="8686800" cy="3293209"/>
          </a:xfrm>
          <a:prstGeom prst="rect">
            <a:avLst/>
          </a:prstGeom>
        </p:spPr>
        <p:txBody>
          <a:bodyPr wrap="square">
            <a:spAutoFit/>
          </a:bodyPr>
          <a:lstStyle/>
          <a:p>
            <a:pPr eaLnBrk="0" hangingPunct="0">
              <a:spcBef>
                <a:spcPts val="1200"/>
              </a:spcBef>
              <a:spcAft>
                <a:spcPts val="1200"/>
              </a:spcAft>
            </a:pPr>
            <a:r>
              <a:rPr lang="en-US" b="1" u="sng" dirty="0">
                <a:latin typeface="Calibri" panose="020F0502020204030204" pitchFamily="34" charset="0"/>
                <a:ea typeface="Calibri" panose="020F0502020204030204" pitchFamily="34" charset="0"/>
                <a:cs typeface="Times New Roman" panose="02020603050405020304" pitchFamily="18" charset="0"/>
              </a:rPr>
              <a:t>Forecast</a:t>
            </a:r>
            <a:r>
              <a:rPr lang="en-US" dirty="0">
                <a:latin typeface="Calibri" panose="020F0502020204030204" pitchFamily="34" charset="0"/>
                <a:ea typeface="Calibri" panose="020F0502020204030204" pitchFamily="34" charset="0"/>
                <a:cs typeface="Times New Roman" panose="02020603050405020304" pitchFamily="18" charset="0"/>
              </a:rPr>
              <a:t> is an estimate of future demand. </a:t>
            </a:r>
          </a:p>
          <a:p>
            <a:pPr eaLnBrk="0" hangingPunct="0">
              <a:spcBef>
                <a:spcPts val="1200"/>
              </a:spcBef>
              <a:spcAft>
                <a:spcPts val="1200"/>
              </a:spcAft>
            </a:pPr>
            <a:r>
              <a:rPr lang="en-US" b="1" u="sng" dirty="0">
                <a:latin typeface="Calibri" panose="020F0502020204030204" pitchFamily="34" charset="0"/>
                <a:ea typeface="Calibri" panose="020F0502020204030204" pitchFamily="34" charset="0"/>
                <a:cs typeface="Times New Roman" panose="02020603050405020304" pitchFamily="18" charset="0"/>
              </a:rPr>
              <a:t>Forecasting</a:t>
            </a:r>
            <a:r>
              <a:rPr lang="en-US" dirty="0">
                <a:latin typeface="Calibri" panose="020F0502020204030204" pitchFamily="34" charset="0"/>
                <a:ea typeface="Calibri" panose="020F0502020204030204" pitchFamily="34" charset="0"/>
                <a:cs typeface="Times New Roman" panose="02020603050405020304" pitchFamily="18" charset="0"/>
              </a:rPr>
              <a:t> is the business function that estimates future demand for products so that they can be purchased or manufactured in appropriate quantities in advance of need.</a:t>
            </a:r>
          </a:p>
          <a:p>
            <a:pPr eaLnBrk="0" hangingPunct="0">
              <a:spcBef>
                <a:spcPts val="1200"/>
              </a:spcBef>
              <a:spcAft>
                <a:spcPts val="1200"/>
              </a:spcAft>
            </a:pPr>
            <a:r>
              <a:rPr lang="en-US" b="1" u="sng" dirty="0">
                <a:latin typeface="Calibri" panose="020F0502020204030204" pitchFamily="34" charset="0"/>
                <a:ea typeface="Calibri" panose="020F0502020204030204" pitchFamily="34" charset="0"/>
                <a:cs typeface="Times New Roman" panose="02020603050405020304" pitchFamily="18" charset="0"/>
              </a:rPr>
              <a:t>Demand</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dirty="0">
                <a:latin typeface="Calibri" panose="020F0502020204030204" pitchFamily="34" charset="0"/>
                <a:ea typeface="Calibri" panose="020F0502020204030204" pitchFamily="34" charset="0"/>
                <a:cs typeface="Times New Roman" panose="02020603050405020304" pitchFamily="18" charset="0"/>
              </a:rPr>
              <a:t>is the need for a particular product or component. The demand could come from various sources such as a customer order, a forecast, the manufacturing of another product, etc. </a:t>
            </a:r>
          </a:p>
        </p:txBody>
      </p:sp>
      <p:sp>
        <p:nvSpPr>
          <p:cNvPr id="8" name="Rectangle 7"/>
          <p:cNvSpPr/>
          <p:nvPr/>
        </p:nvSpPr>
        <p:spPr>
          <a:xfrm>
            <a:off x="228599" y="4364566"/>
            <a:ext cx="5867401" cy="1569660"/>
          </a:xfrm>
          <a:prstGeom prst="rect">
            <a:avLst/>
          </a:prstGeom>
        </p:spPr>
        <p:txBody>
          <a:bodyPr wrap="square">
            <a:spAutoFit/>
          </a:bodyPr>
          <a:lstStyle/>
          <a:p>
            <a:pPr eaLnBrk="0" hangingPunct="0">
              <a:spcBef>
                <a:spcPts val="1200"/>
              </a:spcBef>
              <a:spcAft>
                <a:spcPts val="1200"/>
              </a:spcAft>
            </a:pPr>
            <a:r>
              <a:rPr lang="en-US" b="1" u="sng" dirty="0">
                <a:latin typeface="Calibri" panose="020F0502020204030204" pitchFamily="34" charset="0"/>
                <a:ea typeface="Calibri" panose="020F0502020204030204" pitchFamily="34" charset="0"/>
                <a:cs typeface="Times New Roman" panose="02020603050405020304" pitchFamily="18" charset="0"/>
              </a:rPr>
              <a:t>Demand Planning</a:t>
            </a:r>
            <a:r>
              <a:rPr lang="en-US" dirty="0">
                <a:latin typeface="Calibri" panose="020F0502020204030204" pitchFamily="34" charset="0"/>
                <a:ea typeface="Calibri" panose="020F0502020204030204" pitchFamily="34" charset="0"/>
                <a:cs typeface="Times New Roman" panose="02020603050405020304" pitchFamily="18" charset="0"/>
              </a:rPr>
              <a:t> is the process of combining statistical forecasting techniques and judgment to construct demand estimates for products or services. </a:t>
            </a:r>
          </a:p>
        </p:txBody>
      </p:sp>
      <p:sp>
        <p:nvSpPr>
          <p:cNvPr id="3" name="Footer Placeholder 2"/>
          <p:cNvSpPr>
            <a:spLocks noGrp="1"/>
          </p:cNvSpPr>
          <p:nvPr>
            <p:ph type="ftr" sz="quarter" idx="3"/>
          </p:nvPr>
        </p:nvSpPr>
        <p:spPr/>
        <p:txBody>
          <a:bodyPr/>
          <a:lstStyle/>
          <a:p>
            <a:r>
              <a:rPr lang="en-US"/>
              <a:t>Fundamentals of Supply Chain Management – McLaury/Spiegle</a:t>
            </a:r>
            <a:endParaRPr lang="en-US" dirty="0"/>
          </a:p>
        </p:txBody>
      </p:sp>
      <p:sp>
        <p:nvSpPr>
          <p:cNvPr id="7" name="Slide Number Placeholder 6"/>
          <p:cNvSpPr>
            <a:spLocks noGrp="1"/>
          </p:cNvSpPr>
          <p:nvPr>
            <p:ph type="sldNum" sz="quarter" idx="4"/>
          </p:nvPr>
        </p:nvSpPr>
        <p:spPr/>
        <p:txBody>
          <a:bodyPr/>
          <a:lstStyle/>
          <a:p>
            <a:fld id="{E66AA3EA-0569-43EF-BBA3-83FDB109D582}" type="slidenum">
              <a:rPr lang="en-US" smtClean="0"/>
              <a:pPr/>
              <a:t>4</a:t>
            </a:fld>
            <a:endParaRPr lang="en-US" dirty="0"/>
          </a:p>
        </p:txBody>
      </p:sp>
    </p:spTree>
    <p:extLst>
      <p:ext uri="{BB962C8B-B14F-4D97-AF65-F5344CB8AC3E}">
        <p14:creationId xmlns:p14="http://schemas.microsoft.com/office/powerpoint/2010/main" val="3566115711"/>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 calcmode="lin" valueType="num">
                                      <p:cBhvr additive="base">
                                        <p:cTn id="25"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2133600" y="1591733"/>
            <a:ext cx="4876800" cy="364067"/>
          </a:xfrm>
          <a:prstGeom prst="rect">
            <a:avLst/>
          </a:prstGeom>
          <a:solidFill>
            <a:srgbClr val="FFFF00"/>
          </a:solidFill>
          <a:ln w="28575"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outerShdw blurRad="38100" dist="38100" dir="2700000" algn="tl">
                  <a:srgbClr val="000000">
                    <a:alpha val="43137"/>
                  </a:srgbClr>
                </a:outerShdw>
              </a:effectLst>
              <a:latin typeface="News Gothic MT" pitchFamily="34" charset="0"/>
            </a:endParaRPr>
          </a:p>
        </p:txBody>
      </p:sp>
      <p:sp>
        <p:nvSpPr>
          <p:cNvPr id="7" name="Rectangle 6"/>
          <p:cNvSpPr/>
          <p:nvPr/>
        </p:nvSpPr>
        <p:spPr bwMode="auto">
          <a:xfrm>
            <a:off x="4571999" y="2836332"/>
            <a:ext cx="3445933" cy="364067"/>
          </a:xfrm>
          <a:prstGeom prst="rect">
            <a:avLst/>
          </a:prstGeom>
          <a:solidFill>
            <a:srgbClr val="FFFF00"/>
          </a:solidFill>
          <a:ln w="28575"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outerShdw blurRad="38100" dist="38100" dir="2700000" algn="tl">
                  <a:srgbClr val="000000">
                    <a:alpha val="43137"/>
                  </a:srgbClr>
                </a:outerShdw>
              </a:effectLst>
              <a:latin typeface="News Gothic MT" pitchFamily="34" charset="0"/>
            </a:endParaRPr>
          </a:p>
        </p:txBody>
      </p:sp>
      <p:sp>
        <p:nvSpPr>
          <p:cNvPr id="5" name="Rectangle 4"/>
          <p:cNvSpPr/>
          <p:nvPr/>
        </p:nvSpPr>
        <p:spPr>
          <a:xfrm>
            <a:off x="228600" y="134522"/>
            <a:ext cx="6052619" cy="492955"/>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eaLnBrk="0" hangingPunct="0">
              <a:lnSpc>
                <a:spcPct val="80000"/>
              </a:lnSpc>
            </a:pPr>
            <a:r>
              <a:rPr lang="en-US" sz="3200" b="1" dirty="0">
                <a:solidFill>
                  <a:srgbClr val="923222"/>
                </a:solidFill>
                <a:effectLst>
                  <a:outerShdw blurRad="38100" dist="38100" dir="2700000" algn="tl">
                    <a:srgbClr val="C0C0C0"/>
                  </a:outerShdw>
                </a:effectLst>
                <a:latin typeface="Calibri" panose="020F0502020204030204" pitchFamily="34" charset="0"/>
                <a:cs typeface="Arial" charset="0"/>
              </a:rPr>
              <a:t>Key Terms</a:t>
            </a:r>
            <a:r>
              <a:rPr lang="en-US" sz="2000" dirty="0">
                <a:solidFill>
                  <a:srgbClr val="923222"/>
                </a:solidFill>
                <a:latin typeface="Calibri" panose="020F0502020204030204" pitchFamily="34" charset="0"/>
                <a:cs typeface="Arial" charset="0"/>
              </a:rPr>
              <a:t> (continued)</a:t>
            </a:r>
            <a:endParaRPr lang="en-US" sz="3200" b="1" dirty="0">
              <a:solidFill>
                <a:srgbClr val="923222"/>
              </a:solidFill>
              <a:effectLst>
                <a:outerShdw blurRad="38100" dist="38100" dir="2700000" algn="tl">
                  <a:srgbClr val="C0C0C0"/>
                </a:outerShdw>
              </a:effectLst>
              <a:latin typeface="Calibri" panose="020F0502020204030204" pitchFamily="34" charset="0"/>
              <a:cs typeface="Arial" charset="0"/>
            </a:endParaRP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1811" t="23730" r="6514" b="1484"/>
          <a:stretch/>
        </p:blipFill>
        <p:spPr>
          <a:xfrm>
            <a:off x="3551696" y="3500967"/>
            <a:ext cx="5363704" cy="3285065"/>
          </a:xfrm>
          <a:prstGeom prst="rect">
            <a:avLst/>
          </a:prstGeom>
        </p:spPr>
      </p:pic>
      <p:sp>
        <p:nvSpPr>
          <p:cNvPr id="8" name="TextBox 7"/>
          <p:cNvSpPr txBox="1"/>
          <p:nvPr/>
        </p:nvSpPr>
        <p:spPr>
          <a:xfrm>
            <a:off x="228600" y="3782847"/>
            <a:ext cx="3204633" cy="2646878"/>
          </a:xfrm>
          <a:prstGeom prst="rect">
            <a:avLst/>
          </a:prstGeom>
          <a:solidFill>
            <a:srgbClr val="F2F2F2"/>
          </a:solidFill>
          <a:ln w="12700">
            <a:solidFill>
              <a:schemeClr val="tx1"/>
            </a:solidFill>
            <a:prstDash val="dash"/>
          </a:ln>
        </p:spPr>
        <p:txBody>
          <a:bodyPr wrap="square" rtlCol="0">
            <a:spAutoFit/>
          </a:bodyPr>
          <a:lstStyle/>
          <a:p>
            <a:pPr>
              <a:spcBef>
                <a:spcPts val="600"/>
              </a:spcBef>
              <a:spcAft>
                <a:spcPts val="600"/>
              </a:spcAft>
            </a:pPr>
            <a:r>
              <a:rPr lang="en-US" sz="2000" b="1" u="sng" dirty="0">
                <a:latin typeface="Calibri" panose="020F0502020204030204" pitchFamily="34" charset="0"/>
              </a:rPr>
              <a:t>Example</a:t>
            </a:r>
            <a:r>
              <a:rPr lang="en-US" sz="2000" dirty="0">
                <a:latin typeface="Calibri" panose="020F0502020204030204" pitchFamily="34" charset="0"/>
              </a:rPr>
              <a:t>:</a:t>
            </a:r>
          </a:p>
          <a:p>
            <a:pPr>
              <a:spcBef>
                <a:spcPts val="600"/>
              </a:spcBef>
              <a:spcAft>
                <a:spcPts val="600"/>
              </a:spcAft>
            </a:pPr>
            <a:r>
              <a:rPr lang="en-US" sz="2000" dirty="0">
                <a:latin typeface="Calibri" panose="020F0502020204030204" pitchFamily="34" charset="0"/>
              </a:rPr>
              <a:t>Finished Product = Bicycle    </a:t>
            </a:r>
            <a:r>
              <a:rPr lang="en-US" sz="1800" dirty="0">
                <a:solidFill>
                  <a:srgbClr val="923222"/>
                </a:solidFill>
                <a:effectLst>
                  <a:outerShdw blurRad="38100" dist="38100" dir="2700000" algn="tl">
                    <a:srgbClr val="000000">
                      <a:alpha val="43137"/>
                    </a:srgbClr>
                  </a:outerShdw>
                </a:effectLst>
                <a:latin typeface="Calibri" panose="020F0502020204030204" pitchFamily="34" charset="0"/>
              </a:rPr>
              <a:t>[Independent Demand Item]</a:t>
            </a:r>
          </a:p>
          <a:p>
            <a:pPr>
              <a:spcBef>
                <a:spcPts val="1800"/>
              </a:spcBef>
              <a:spcAft>
                <a:spcPts val="600"/>
              </a:spcAft>
            </a:pPr>
            <a:r>
              <a:rPr lang="en-US" sz="2000" dirty="0">
                <a:latin typeface="Calibri" panose="020F0502020204030204" pitchFamily="34" charset="0"/>
              </a:rPr>
              <a:t>Component Parts = Frame, Seat, Handle Bar, Wheels, Tires, Pedals, etc.                  </a:t>
            </a:r>
            <a:r>
              <a:rPr lang="en-US" sz="1800" dirty="0">
                <a:solidFill>
                  <a:srgbClr val="923222"/>
                </a:solidFill>
                <a:effectLst>
                  <a:outerShdw blurRad="38100" dist="38100" dir="2700000" algn="tl">
                    <a:srgbClr val="000000">
                      <a:alpha val="43137"/>
                    </a:srgbClr>
                  </a:outerShdw>
                </a:effectLst>
                <a:latin typeface="Calibri" panose="020F0502020204030204" pitchFamily="34" charset="0"/>
              </a:rPr>
              <a:t>[Dependent Demand Items]</a:t>
            </a:r>
          </a:p>
        </p:txBody>
      </p:sp>
      <p:sp>
        <p:nvSpPr>
          <p:cNvPr id="9" name="Footer Placeholder 8"/>
          <p:cNvSpPr>
            <a:spLocks noGrp="1"/>
          </p:cNvSpPr>
          <p:nvPr>
            <p:ph type="ftr" sz="quarter" idx="3"/>
          </p:nvPr>
        </p:nvSpPr>
        <p:spPr/>
        <p:txBody>
          <a:bodyPr/>
          <a:lstStyle/>
          <a:p>
            <a:r>
              <a:rPr lang="en-US"/>
              <a:t>Fundamentals of Supply Chain Management – McLaury/Spiegle</a:t>
            </a:r>
            <a:endParaRPr lang="en-US" dirty="0"/>
          </a:p>
        </p:txBody>
      </p:sp>
      <p:sp>
        <p:nvSpPr>
          <p:cNvPr id="10" name="Slide Number Placeholder 9"/>
          <p:cNvSpPr>
            <a:spLocks noGrp="1"/>
          </p:cNvSpPr>
          <p:nvPr>
            <p:ph type="sldNum" sz="quarter" idx="4"/>
          </p:nvPr>
        </p:nvSpPr>
        <p:spPr/>
        <p:txBody>
          <a:bodyPr/>
          <a:lstStyle/>
          <a:p>
            <a:fld id="{E66AA3EA-0569-43EF-BBA3-83FDB109D582}" type="slidenum">
              <a:rPr lang="en-US" smtClean="0"/>
              <a:pPr/>
              <a:t>5</a:t>
            </a:fld>
            <a:endParaRPr lang="en-US" dirty="0"/>
          </a:p>
        </p:txBody>
      </p:sp>
      <p:sp>
        <p:nvSpPr>
          <p:cNvPr id="11" name="Rectangle 10"/>
          <p:cNvSpPr/>
          <p:nvPr/>
        </p:nvSpPr>
        <p:spPr bwMode="auto">
          <a:xfrm>
            <a:off x="321734" y="3132666"/>
            <a:ext cx="1422400" cy="364067"/>
          </a:xfrm>
          <a:prstGeom prst="rect">
            <a:avLst/>
          </a:prstGeom>
          <a:solidFill>
            <a:srgbClr val="FFFF00"/>
          </a:solidFill>
          <a:ln w="28575"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outerShdw blurRad="38100" dist="38100" dir="2700000" algn="tl">
                  <a:srgbClr val="000000">
                    <a:alpha val="43137"/>
                  </a:srgbClr>
                </a:outerShdw>
              </a:effectLst>
              <a:latin typeface="News Gothic MT" pitchFamily="34" charset="0"/>
            </a:endParaRPr>
          </a:p>
        </p:txBody>
      </p:sp>
      <p:sp>
        <p:nvSpPr>
          <p:cNvPr id="6" name="Rectangle 5"/>
          <p:cNvSpPr/>
          <p:nvPr/>
        </p:nvSpPr>
        <p:spPr>
          <a:xfrm>
            <a:off x="228600" y="914400"/>
            <a:ext cx="8686800" cy="2649956"/>
          </a:xfrm>
          <a:prstGeom prst="rect">
            <a:avLst/>
          </a:prstGeom>
        </p:spPr>
        <p:txBody>
          <a:bodyPr wrap="square">
            <a:spAutoFit/>
          </a:bodyPr>
          <a:lstStyle/>
          <a:p>
            <a:pPr eaLnBrk="0" hangingPunct="0">
              <a:lnSpc>
                <a:spcPct val="90000"/>
              </a:lnSpc>
              <a:spcBef>
                <a:spcPts val="1200"/>
              </a:spcBef>
              <a:spcAft>
                <a:spcPts val="600"/>
              </a:spcAft>
            </a:pPr>
            <a:r>
              <a:rPr lang="en-US" b="1" u="sng" dirty="0">
                <a:latin typeface="Calibri" panose="020F0502020204030204" pitchFamily="34" charset="0"/>
                <a:ea typeface="Calibri" panose="020F0502020204030204" pitchFamily="34" charset="0"/>
                <a:cs typeface="Times New Roman" panose="02020603050405020304" pitchFamily="18" charset="0"/>
              </a:rPr>
              <a:t>Independent Demand</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dirty="0">
                <a:latin typeface="Calibri" panose="020F0502020204030204" pitchFamily="34" charset="0"/>
                <a:ea typeface="Calibri" panose="020F0502020204030204" pitchFamily="34" charset="0"/>
                <a:cs typeface="Times New Roman" panose="02020603050405020304" pitchFamily="18" charset="0"/>
              </a:rPr>
              <a:t>is demand for an item that is unrelated to the demand for other items, such as a finished product, a spare part, or a service part. </a:t>
            </a:r>
            <a:r>
              <a:rPr lang="en-US"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[Demand for these items is Forecasted]</a:t>
            </a:r>
          </a:p>
          <a:p>
            <a:pPr eaLnBrk="0" hangingPunct="0">
              <a:lnSpc>
                <a:spcPct val="90000"/>
              </a:lnSpc>
              <a:spcBef>
                <a:spcPts val="1200"/>
              </a:spcBef>
              <a:spcAft>
                <a:spcPts val="1200"/>
              </a:spcAft>
            </a:pPr>
            <a:r>
              <a:rPr lang="en-US" b="1" u="sng" dirty="0">
                <a:latin typeface="Calibri" panose="020F0502020204030204" pitchFamily="34" charset="0"/>
                <a:ea typeface="Calibri" panose="020F0502020204030204" pitchFamily="34" charset="0"/>
                <a:cs typeface="Times New Roman" panose="02020603050405020304" pitchFamily="18" charset="0"/>
              </a:rPr>
              <a:t>Dependent Demand</a:t>
            </a:r>
            <a:r>
              <a:rPr lang="en-US" dirty="0">
                <a:latin typeface="Calibri" panose="020F0502020204030204" pitchFamily="34" charset="0"/>
                <a:ea typeface="Calibri" panose="020F0502020204030204" pitchFamily="34" charset="0"/>
                <a:cs typeface="Times New Roman" panose="02020603050405020304" pitchFamily="18" charset="0"/>
              </a:rPr>
              <a:t> is demand for an item that is directly related to other items or finished products, such as a component or material used in making a finished product. </a:t>
            </a:r>
            <a:r>
              <a:rPr lang="en-US"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[Demand for these items is Calculated]</a:t>
            </a:r>
          </a:p>
        </p:txBody>
      </p:sp>
    </p:spTree>
    <p:extLst>
      <p:ext uri="{BB962C8B-B14F-4D97-AF65-F5344CB8AC3E}">
        <p14:creationId xmlns:p14="http://schemas.microsoft.com/office/powerpoint/2010/main" val="4130839835"/>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686800" cy="4631267"/>
          </a:xfrm>
        </p:spPr>
        <p:txBody>
          <a:bodyPr/>
          <a:lstStyle/>
          <a:p>
            <a:pPr marL="0" indent="0">
              <a:buNone/>
            </a:pPr>
            <a:r>
              <a:rPr lang="en-US" sz="2400" dirty="0">
                <a:latin typeface="Calibri" panose="020F0502020204030204" pitchFamily="34" charset="0"/>
              </a:rPr>
              <a:t>There are two important considerations about a forecast:</a:t>
            </a:r>
          </a:p>
          <a:p>
            <a:pPr marL="457200" indent="-457200">
              <a:spcBef>
                <a:spcPts val="1200"/>
              </a:spcBef>
              <a:spcAft>
                <a:spcPts val="1200"/>
              </a:spcAft>
              <a:buClr>
                <a:srgbClr val="923222"/>
              </a:buClr>
              <a:buSzPct val="115000"/>
              <a:buFont typeface="+mj-lt"/>
              <a:buAutoNum type="arabicPeriod"/>
              <a:defRPr/>
            </a:pPr>
            <a:r>
              <a:rPr lang="en-US" sz="2000" dirty="0">
                <a:latin typeface="Calibri" panose="020F0502020204030204" pitchFamily="34" charset="0"/>
              </a:rPr>
              <a:t>Statistically speaking, the forecast </a:t>
            </a:r>
            <a:r>
              <a:rPr lang="en-US" sz="2000" dirty="0">
                <a:solidFill>
                  <a:srgbClr val="923222"/>
                </a:solidFill>
                <a:effectLst>
                  <a:outerShdw blurRad="38100" dist="38100" dir="2700000" algn="tl">
                    <a:srgbClr val="000000">
                      <a:alpha val="43137"/>
                    </a:srgbClr>
                  </a:outerShdw>
                </a:effectLst>
                <a:latin typeface="Calibri" panose="020F0502020204030204" pitchFamily="34" charset="0"/>
              </a:rPr>
              <a:t>will be inaccurate (“wrong”).  </a:t>
            </a:r>
            <a:r>
              <a:rPr lang="en-US" sz="2000" dirty="0">
                <a:latin typeface="Calibri" panose="020F0502020204030204" pitchFamily="34" charset="0"/>
              </a:rPr>
              <a:t>Although it may be inaccurate, </a:t>
            </a:r>
            <a:r>
              <a:rPr lang="en-US" sz="2000" dirty="0">
                <a:solidFill>
                  <a:srgbClr val="923222"/>
                </a:solidFill>
                <a:effectLst>
                  <a:outerShdw blurRad="38100" dist="38100" dir="2700000" algn="tl">
                    <a:srgbClr val="000000">
                      <a:alpha val="43137"/>
                    </a:srgbClr>
                  </a:outerShdw>
                </a:effectLst>
                <a:latin typeface="Calibri" panose="020F0502020204030204" pitchFamily="34" charset="0"/>
              </a:rPr>
              <a:t>it is still useful</a:t>
            </a:r>
            <a:r>
              <a:rPr lang="en-US" sz="2000" dirty="0">
                <a:latin typeface="Calibri" panose="020F0502020204030204" pitchFamily="34" charset="0"/>
              </a:rPr>
              <a:t>.</a:t>
            </a:r>
          </a:p>
          <a:p>
            <a:pPr marL="457200" indent="-457200">
              <a:spcBef>
                <a:spcPts val="1200"/>
              </a:spcBef>
              <a:spcAft>
                <a:spcPts val="1200"/>
              </a:spcAft>
              <a:buClr>
                <a:srgbClr val="923222"/>
              </a:buClr>
              <a:buSzPct val="115000"/>
              <a:buFont typeface="+mj-lt"/>
              <a:buAutoNum type="arabicPeriod"/>
              <a:defRPr/>
            </a:pPr>
            <a:r>
              <a:rPr lang="en-US" sz="2000" dirty="0">
                <a:latin typeface="Calibri" panose="020F0502020204030204" pitchFamily="34" charset="0"/>
              </a:rPr>
              <a:t>The forecast is the </a:t>
            </a:r>
            <a:r>
              <a:rPr lang="en-US" sz="2000" dirty="0">
                <a:solidFill>
                  <a:srgbClr val="923222"/>
                </a:solidFill>
                <a:effectLst>
                  <a:outerShdw blurRad="38100" dist="38100" dir="2700000" algn="tl">
                    <a:srgbClr val="000000">
                      <a:alpha val="43137"/>
                    </a:srgbClr>
                  </a:outerShdw>
                </a:effectLst>
                <a:latin typeface="Calibri" panose="020F0502020204030204" pitchFamily="34" charset="0"/>
              </a:rPr>
              <a:t>basis for most “downstream” supply chain planning decisions</a:t>
            </a:r>
            <a:r>
              <a:rPr lang="en-US" sz="2000" dirty="0">
                <a:latin typeface="Calibri" panose="020F0502020204030204" pitchFamily="34" charset="0"/>
              </a:rPr>
              <a:t>. </a:t>
            </a:r>
          </a:p>
          <a:p>
            <a:pPr marL="914400" lvl="2" indent="0">
              <a:spcBef>
                <a:spcPts val="1200"/>
              </a:spcBef>
              <a:spcAft>
                <a:spcPts val="1200"/>
              </a:spcAft>
              <a:buClr>
                <a:srgbClr val="923222"/>
              </a:buClr>
              <a:buSzPct val="110000"/>
              <a:buNone/>
            </a:pPr>
            <a:r>
              <a:rPr lang="en-US" dirty="0">
                <a:solidFill>
                  <a:srgbClr val="923222"/>
                </a:solidFill>
                <a:effectLst>
                  <a:outerShdw blurRad="38100" dist="38100" dir="2700000" algn="tl">
                    <a:srgbClr val="000000">
                      <a:alpha val="43137"/>
                    </a:srgbClr>
                  </a:outerShdw>
                </a:effectLst>
                <a:latin typeface="Calibri" panose="020F0502020204030204" pitchFamily="34" charset="0"/>
              </a:rPr>
              <a:t>Good forecasting can benefit a company </a:t>
            </a:r>
            <a:r>
              <a:rPr lang="en-US" dirty="0">
                <a:latin typeface="Calibri" panose="020F0502020204030204" pitchFamily="34" charset="0"/>
              </a:rPr>
              <a:t>by facilitating more effective planning, which can lead to reduced inventories, reduced costs, reduced stockouts, and improved customer service. </a:t>
            </a:r>
          </a:p>
          <a:p>
            <a:pPr marL="914400" lvl="2" indent="0">
              <a:spcBef>
                <a:spcPts val="1200"/>
              </a:spcBef>
              <a:spcAft>
                <a:spcPts val="1200"/>
              </a:spcAft>
              <a:buClr>
                <a:srgbClr val="923222"/>
              </a:buClr>
              <a:buSzPct val="110000"/>
              <a:buNone/>
            </a:pPr>
            <a:r>
              <a:rPr lang="en-US" dirty="0">
                <a:solidFill>
                  <a:srgbClr val="923222"/>
                </a:solidFill>
                <a:effectLst>
                  <a:outerShdw blurRad="38100" dist="38100" dir="2700000" algn="tl">
                    <a:srgbClr val="000000">
                      <a:alpha val="43137"/>
                    </a:srgbClr>
                  </a:outerShdw>
                </a:effectLst>
                <a:latin typeface="Calibri" panose="020F0502020204030204" pitchFamily="34" charset="0"/>
              </a:rPr>
              <a:t>Bad forecasting can be the root cause for creating just the opposite</a:t>
            </a:r>
            <a:r>
              <a:rPr lang="en-US" dirty="0">
                <a:latin typeface="Calibri" panose="020F0502020204030204" pitchFamily="34" charset="0"/>
              </a:rPr>
              <a:t>. There is a familiar adage that applies to forecasting: </a:t>
            </a:r>
            <a:r>
              <a:rPr lang="en-US" b="1" dirty="0">
                <a:latin typeface="Calibri" panose="020F0502020204030204" pitchFamily="34" charset="0"/>
              </a:rPr>
              <a:t>“garbage in = garbage out.” </a:t>
            </a:r>
            <a:r>
              <a:rPr lang="en-US" dirty="0">
                <a:latin typeface="Calibri" panose="020F0502020204030204" pitchFamily="34" charset="0"/>
              </a:rPr>
              <a:t>If a forecast is bad, everything else (i.e., the supply plan) based on that forecast will also be bad. </a:t>
            </a:r>
          </a:p>
        </p:txBody>
      </p:sp>
      <p:sp>
        <p:nvSpPr>
          <p:cNvPr id="5" name="Rectangle 2"/>
          <p:cNvSpPr>
            <a:spLocks noGrp="1" noChangeArrowheads="1"/>
          </p:cNvSpPr>
          <p:nvPr>
            <p:ph type="title" idx="4294967295"/>
          </p:nvPr>
        </p:nvSpPr>
        <p:spPr>
          <a:xfrm>
            <a:off x="228600" y="127660"/>
            <a:ext cx="8439150" cy="496804"/>
          </a:xfrm>
          <a:noFill/>
          <a:ln w="9525">
            <a:noFill/>
            <a:miter lim="800000"/>
            <a:headEnd/>
            <a:tailEnd/>
          </a:ln>
          <a:effectLst/>
        </p:spPr>
        <p:txBody>
          <a:bodyPr wrap="square" anchor="b">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Forecasting </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0660" y="3276503"/>
            <a:ext cx="736599" cy="736599"/>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660" y="4590810"/>
            <a:ext cx="743189" cy="743189"/>
          </a:xfrm>
          <a:prstGeom prst="rect">
            <a:avLst/>
          </a:prstGeom>
        </p:spPr>
      </p:pic>
      <p:sp>
        <p:nvSpPr>
          <p:cNvPr id="7" name="Rectangle 6"/>
          <p:cNvSpPr/>
          <p:nvPr/>
        </p:nvSpPr>
        <p:spPr>
          <a:xfrm>
            <a:off x="228600" y="5715000"/>
            <a:ext cx="8686799" cy="646331"/>
          </a:xfrm>
          <a:prstGeom prst="rect">
            <a:avLst/>
          </a:prstGeom>
          <a:solidFill>
            <a:schemeClr val="accent1">
              <a:lumMod val="40000"/>
              <a:lumOff val="60000"/>
            </a:schemeClr>
          </a:solidFill>
          <a:ln>
            <a:solidFill>
              <a:schemeClr val="tx1"/>
            </a:solidFill>
          </a:ln>
          <a:effectLst>
            <a:outerShdw blurRad="50800" dist="38100" dir="2700000" algn="tl" rotWithShape="0">
              <a:prstClr val="black">
                <a:alpha val="40000"/>
              </a:prstClr>
            </a:outerShdw>
          </a:effectLst>
          <a:scene3d>
            <a:camera prst="orthographicFront"/>
            <a:lightRig rig="threePt" dir="t"/>
          </a:scene3d>
          <a:sp3d>
            <a:bevelT/>
          </a:sp3d>
        </p:spPr>
        <p:txBody>
          <a:bodyPr wrap="square">
            <a:spAutoFit/>
          </a:bodyPr>
          <a:lstStyle/>
          <a:p>
            <a:pPr marL="0" indent="0" algn="ctr">
              <a:lnSpc>
                <a:spcPct val="90000"/>
              </a:lnSpc>
              <a:spcBef>
                <a:spcPts val="1200"/>
              </a:spcBef>
              <a:spcAft>
                <a:spcPts val="1200"/>
              </a:spcAft>
              <a:buClr>
                <a:srgbClr val="923222"/>
              </a:buClr>
              <a:buSzPct val="115000"/>
              <a:buNone/>
              <a:defRPr/>
            </a:pPr>
            <a:r>
              <a:rPr lang="en-US" sz="2000" dirty="0">
                <a:latin typeface="Calibri" panose="020F0502020204030204" pitchFamily="34" charset="0"/>
              </a:rPr>
              <a:t>Companies spend a lot of time and effort trying to figure out how they can best forecast because that will make everything else downstream flow more smoothly.</a:t>
            </a:r>
          </a:p>
        </p:txBody>
      </p:sp>
      <p:sp>
        <p:nvSpPr>
          <p:cNvPr id="8" name="Footer Placeholder 7"/>
          <p:cNvSpPr>
            <a:spLocks noGrp="1"/>
          </p:cNvSpPr>
          <p:nvPr>
            <p:ph type="ftr" sz="quarter" idx="3"/>
          </p:nvPr>
        </p:nvSpPr>
        <p:spPr/>
        <p:txBody>
          <a:bodyPr/>
          <a:lstStyle/>
          <a:p>
            <a:r>
              <a:rPr lang="en-US"/>
              <a:t>Fundamentals of Supply Chain Management – McLaury/Spiegle</a:t>
            </a:r>
            <a:endParaRPr lang="en-US" dirty="0"/>
          </a:p>
        </p:txBody>
      </p:sp>
      <p:sp>
        <p:nvSpPr>
          <p:cNvPr id="9" name="Slide Number Placeholder 8"/>
          <p:cNvSpPr>
            <a:spLocks noGrp="1"/>
          </p:cNvSpPr>
          <p:nvPr>
            <p:ph type="sldNum" sz="quarter" idx="4"/>
          </p:nvPr>
        </p:nvSpPr>
        <p:spPr/>
        <p:txBody>
          <a:bodyPr/>
          <a:lstStyle/>
          <a:p>
            <a:fld id="{E66AA3EA-0569-43EF-BBA3-83FDB109D582}" type="slidenum">
              <a:rPr lang="en-US" smtClean="0"/>
              <a:pPr/>
              <a:t>6</a:t>
            </a:fld>
            <a:endParaRPr lang="en-US" dirty="0"/>
          </a:p>
        </p:txBody>
      </p:sp>
    </p:spTree>
    <p:extLst>
      <p:ext uri="{BB962C8B-B14F-4D97-AF65-F5344CB8AC3E}">
        <p14:creationId xmlns:p14="http://schemas.microsoft.com/office/powerpoint/2010/main" val="2614701854"/>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34533"/>
            <a:ext cx="8686800" cy="1075267"/>
          </a:xfrm>
        </p:spPr>
        <p:txBody>
          <a:bodyPr/>
          <a:lstStyle/>
          <a:p>
            <a:pPr marL="0" indent="0">
              <a:spcBef>
                <a:spcPts val="1200"/>
              </a:spcBef>
              <a:spcAft>
                <a:spcPts val="1200"/>
              </a:spcAft>
              <a:buNone/>
            </a:pPr>
            <a:r>
              <a:rPr lang="en-US" altLang="en-US" sz="2800" dirty="0">
                <a:latin typeface="Calibri" panose="020F0502020204030204" pitchFamily="34" charset="0"/>
                <a:ea typeface="ＭＳ Ｐゴシック" panose="020B0600070205080204" pitchFamily="34" charset="-128"/>
              </a:rPr>
              <a:t>There are two basic forecasting techniques used in most businesses today.</a:t>
            </a:r>
          </a:p>
        </p:txBody>
      </p:sp>
      <p:sp>
        <p:nvSpPr>
          <p:cNvPr id="6" name="Rectangle 2"/>
          <p:cNvSpPr>
            <a:spLocks noGrp="1" noChangeArrowheads="1"/>
          </p:cNvSpPr>
          <p:nvPr>
            <p:ph type="title" idx="4294967295"/>
          </p:nvPr>
        </p:nvSpPr>
        <p:spPr>
          <a:xfrm>
            <a:off x="228600" y="127660"/>
            <a:ext cx="8439150" cy="496804"/>
          </a:xfrm>
          <a:noFill/>
          <a:ln w="9525">
            <a:noFill/>
            <a:miter lim="800000"/>
            <a:headEnd/>
            <a:tailEnd/>
          </a:ln>
          <a:effectLst/>
        </p:spPr>
        <p:txBody>
          <a:bodyPr wrap="square" anchor="b">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Forecasting Techniques </a:t>
            </a: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7333" t="4815" r="6223" b="12963"/>
          <a:stretch/>
        </p:blipFill>
        <p:spPr>
          <a:xfrm flipH="1">
            <a:off x="4292600" y="3484045"/>
            <a:ext cx="4622800" cy="3297756"/>
          </a:xfrm>
          <a:prstGeom prst="rect">
            <a:avLst/>
          </a:prstGeom>
        </p:spPr>
      </p:pic>
      <p:sp>
        <p:nvSpPr>
          <p:cNvPr id="8" name="Content Placeholder 2"/>
          <p:cNvSpPr txBox="1">
            <a:spLocks/>
          </p:cNvSpPr>
          <p:nvPr/>
        </p:nvSpPr>
        <p:spPr bwMode="auto">
          <a:xfrm>
            <a:off x="228599" y="2347383"/>
            <a:ext cx="6747934" cy="3077633"/>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lvl1pPr marL="192088" indent="-192088" algn="l" rtl="0" eaLnBrk="0" fontAlgn="base" hangingPunct="0">
              <a:spcBef>
                <a:spcPct val="50000"/>
              </a:spcBef>
              <a:spcAft>
                <a:spcPct val="0"/>
              </a:spcAft>
              <a:buClr>
                <a:schemeClr val="tx1"/>
              </a:buClr>
              <a:buFont typeface="Symbol" pitchFamily="18" charset="2"/>
              <a:buChar char="·"/>
              <a:defRPr sz="2200">
                <a:solidFill>
                  <a:schemeClr val="tx1"/>
                </a:solidFill>
                <a:latin typeface="+mn-lt"/>
                <a:ea typeface="+mn-ea"/>
                <a:cs typeface="+mn-cs"/>
              </a:defRPr>
            </a:lvl1pPr>
            <a:lvl2pPr marL="568325" indent="-185738" algn="l" rtl="0" eaLnBrk="0" fontAlgn="base" hangingPunct="0">
              <a:spcBef>
                <a:spcPct val="50000"/>
              </a:spcBef>
              <a:spcAft>
                <a:spcPct val="0"/>
              </a:spcAft>
              <a:buClr>
                <a:schemeClr val="tx1"/>
              </a:buClr>
              <a:buFont typeface="Symbol" pitchFamily="18" charset="2"/>
              <a:buChar char="-"/>
              <a:defRPr>
                <a:solidFill>
                  <a:schemeClr val="tx1"/>
                </a:solidFill>
                <a:latin typeface="+mn-lt"/>
              </a:defRPr>
            </a:lvl2pPr>
            <a:lvl3pPr marL="855663" indent="-96838" algn="l" rtl="0" eaLnBrk="0" fontAlgn="base" hangingPunct="0">
              <a:spcBef>
                <a:spcPct val="50000"/>
              </a:spcBef>
              <a:spcAft>
                <a:spcPct val="0"/>
              </a:spcAft>
              <a:buClr>
                <a:schemeClr val="tx1"/>
              </a:buClr>
              <a:buChar char="•"/>
              <a:defRPr>
                <a:solidFill>
                  <a:schemeClr val="tx1"/>
                </a:solidFill>
                <a:latin typeface="+mn-lt"/>
              </a:defRPr>
            </a:lvl3pPr>
            <a:lvl4pPr marL="1981200" indent="-228600" algn="l" rtl="0" eaLnBrk="0" fontAlgn="base" hangingPunct="0">
              <a:spcBef>
                <a:spcPct val="50000"/>
              </a:spcBef>
              <a:spcAft>
                <a:spcPct val="0"/>
              </a:spcAft>
              <a:buChar char="–"/>
              <a:defRPr sz="1600">
                <a:solidFill>
                  <a:schemeClr val="bg1"/>
                </a:solidFill>
                <a:latin typeface="+mn-lt"/>
              </a:defRPr>
            </a:lvl4pPr>
            <a:lvl5pPr marL="2400300" indent="-228600" algn="l" rtl="0" eaLnBrk="0" fontAlgn="base" hangingPunct="0">
              <a:spcBef>
                <a:spcPct val="50000"/>
              </a:spcBef>
              <a:spcAft>
                <a:spcPct val="0"/>
              </a:spcAft>
              <a:buChar char="•"/>
              <a:defRPr sz="1400">
                <a:solidFill>
                  <a:schemeClr val="bg1"/>
                </a:solidFill>
                <a:latin typeface="+mn-lt"/>
              </a:defRPr>
            </a:lvl5pPr>
            <a:lvl6pPr marL="2857500" indent="-228600" algn="l" rtl="0" eaLnBrk="0" fontAlgn="base" hangingPunct="0">
              <a:spcBef>
                <a:spcPct val="50000"/>
              </a:spcBef>
              <a:spcAft>
                <a:spcPct val="0"/>
              </a:spcAft>
              <a:buChar char="•"/>
              <a:defRPr sz="1400">
                <a:solidFill>
                  <a:schemeClr val="bg1"/>
                </a:solidFill>
                <a:latin typeface="+mn-lt"/>
              </a:defRPr>
            </a:lvl6pPr>
            <a:lvl7pPr marL="3314700" indent="-228600" algn="l" rtl="0" eaLnBrk="0" fontAlgn="base" hangingPunct="0">
              <a:spcBef>
                <a:spcPct val="50000"/>
              </a:spcBef>
              <a:spcAft>
                <a:spcPct val="0"/>
              </a:spcAft>
              <a:buChar char="•"/>
              <a:defRPr sz="1400">
                <a:solidFill>
                  <a:schemeClr val="bg1"/>
                </a:solidFill>
                <a:latin typeface="+mn-lt"/>
              </a:defRPr>
            </a:lvl7pPr>
            <a:lvl8pPr marL="3771900" indent="-228600" algn="l" rtl="0" eaLnBrk="0" fontAlgn="base" hangingPunct="0">
              <a:spcBef>
                <a:spcPct val="50000"/>
              </a:spcBef>
              <a:spcAft>
                <a:spcPct val="0"/>
              </a:spcAft>
              <a:buChar char="•"/>
              <a:defRPr sz="1400">
                <a:solidFill>
                  <a:schemeClr val="bg1"/>
                </a:solidFill>
                <a:latin typeface="+mn-lt"/>
              </a:defRPr>
            </a:lvl8pPr>
            <a:lvl9pPr marL="4229100" indent="-228600" algn="l" rtl="0" eaLnBrk="0" fontAlgn="base" hangingPunct="0">
              <a:spcBef>
                <a:spcPct val="50000"/>
              </a:spcBef>
              <a:spcAft>
                <a:spcPct val="0"/>
              </a:spcAft>
              <a:buChar char="•"/>
              <a:defRPr sz="1400">
                <a:solidFill>
                  <a:schemeClr val="bg1"/>
                </a:solidFill>
                <a:latin typeface="+mn-lt"/>
              </a:defRPr>
            </a:lvl9pPr>
          </a:lstStyle>
          <a:p>
            <a:pPr marL="514350" indent="-514350">
              <a:spcBef>
                <a:spcPts val="1200"/>
              </a:spcBef>
              <a:spcAft>
                <a:spcPts val="1200"/>
              </a:spcAft>
              <a:buClr>
                <a:srgbClr val="923222"/>
              </a:buClr>
              <a:buSzPct val="115000"/>
              <a:buFont typeface="+mj-lt"/>
              <a:buAutoNum type="arabicPeriod"/>
            </a:pPr>
            <a:r>
              <a:rPr lang="en-US" altLang="en-US" sz="2800" b="1" kern="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Qualitative</a:t>
            </a:r>
            <a:r>
              <a:rPr lang="en-US" altLang="en-US" sz="2800" b="1" kern="0" dirty="0">
                <a:solidFill>
                  <a:srgbClr val="FF6600"/>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 </a:t>
            </a:r>
            <a:r>
              <a:rPr lang="en-US" altLang="en-US" sz="2800" kern="0" dirty="0">
                <a:latin typeface="Calibri" panose="020F0502020204030204" pitchFamily="34" charset="0"/>
                <a:ea typeface="ＭＳ Ｐゴシック" panose="020B0600070205080204" pitchFamily="34" charset="-128"/>
              </a:rPr>
              <a:t>forecasting which is based on </a:t>
            </a:r>
            <a:r>
              <a:rPr lang="en-US" altLang="en-US" sz="2800" u="sng" kern="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opinion</a:t>
            </a:r>
            <a:r>
              <a:rPr lang="en-US" altLang="en-US" sz="2800" kern="0" dirty="0">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 </a:t>
            </a:r>
            <a:r>
              <a:rPr lang="en-US" altLang="en-US" sz="2800" kern="0" dirty="0">
                <a:latin typeface="Calibri" panose="020F0502020204030204" pitchFamily="34" charset="0"/>
                <a:ea typeface="ＭＳ Ｐゴシック" panose="020B0600070205080204" pitchFamily="34" charset="-128"/>
              </a:rPr>
              <a:t>and </a:t>
            </a:r>
            <a:r>
              <a:rPr lang="en-US" altLang="en-US" sz="2800" u="sng" kern="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intuition</a:t>
            </a:r>
            <a:r>
              <a:rPr lang="en-US" altLang="en-US" sz="2800" kern="0" dirty="0">
                <a:latin typeface="Calibri" panose="020F0502020204030204" pitchFamily="34" charset="0"/>
                <a:ea typeface="ＭＳ Ｐゴシック" panose="020B0600070205080204" pitchFamily="34" charset="-128"/>
              </a:rPr>
              <a:t>.</a:t>
            </a:r>
          </a:p>
          <a:p>
            <a:pPr marL="514350" indent="-514350">
              <a:spcBef>
                <a:spcPts val="1200"/>
              </a:spcBef>
              <a:spcAft>
                <a:spcPts val="1200"/>
              </a:spcAft>
              <a:buClr>
                <a:srgbClr val="923222"/>
              </a:buClr>
              <a:buSzPct val="115000"/>
              <a:buFont typeface="+mj-lt"/>
              <a:buAutoNum type="arabicPeriod"/>
            </a:pPr>
            <a:r>
              <a:rPr lang="en-US" altLang="en-US" sz="2800" b="1" kern="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Quantitative</a:t>
            </a:r>
            <a:r>
              <a:rPr lang="en-US" altLang="en-US" sz="2800" b="1" kern="0" dirty="0">
                <a:solidFill>
                  <a:srgbClr val="FF6600"/>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 </a:t>
            </a:r>
            <a:r>
              <a:rPr lang="en-US" altLang="en-US" sz="2800" kern="0" dirty="0">
                <a:latin typeface="Calibri" panose="020F0502020204030204" pitchFamily="34" charset="0"/>
                <a:ea typeface="ＭＳ Ｐゴシック" panose="020B0600070205080204" pitchFamily="34" charset="-128"/>
              </a:rPr>
              <a:t>forecasting which uses </a:t>
            </a:r>
            <a:r>
              <a:rPr lang="en-US" altLang="en-US" sz="2800" kern="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mathematical models </a:t>
            </a:r>
            <a:r>
              <a:rPr lang="en-US" altLang="en-US" sz="2800" kern="0" dirty="0">
                <a:latin typeface="Calibri" panose="020F0502020204030204" pitchFamily="34" charset="0"/>
                <a:ea typeface="ＭＳ Ｐゴシック" panose="020B0600070205080204" pitchFamily="34" charset="-128"/>
              </a:rPr>
              <a:t>and </a:t>
            </a:r>
            <a:r>
              <a:rPr lang="en-US" altLang="en-US" sz="2800" kern="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historical data</a:t>
            </a:r>
            <a:r>
              <a:rPr lang="en-US" altLang="en-US" sz="2800" kern="0" dirty="0">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 </a:t>
            </a:r>
            <a:r>
              <a:rPr lang="en-US" altLang="en-US" sz="2800" kern="0" dirty="0">
                <a:latin typeface="Calibri" panose="020F0502020204030204" pitchFamily="34" charset="0"/>
                <a:ea typeface="ＭＳ Ｐゴシック" panose="020B0600070205080204" pitchFamily="34" charset="-128"/>
              </a:rPr>
              <a:t>to make forecasts. </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5" name="Slide Number Placeholder 4"/>
          <p:cNvSpPr>
            <a:spLocks noGrp="1"/>
          </p:cNvSpPr>
          <p:nvPr>
            <p:ph type="sldNum" sz="quarter" idx="4"/>
          </p:nvPr>
        </p:nvSpPr>
        <p:spPr/>
        <p:txBody>
          <a:bodyPr/>
          <a:lstStyle/>
          <a:p>
            <a:fld id="{E66AA3EA-0569-43EF-BBA3-83FDB109D582}" type="slidenum">
              <a:rPr lang="en-US" smtClean="0"/>
              <a:pPr/>
              <a:t>7</a:t>
            </a:fld>
            <a:endParaRPr lang="en-US" dirty="0"/>
          </a:p>
        </p:txBody>
      </p:sp>
    </p:spTree>
    <p:extLst>
      <p:ext uri="{BB962C8B-B14F-4D97-AF65-F5344CB8AC3E}">
        <p14:creationId xmlns:p14="http://schemas.microsoft.com/office/powerpoint/2010/main" val="2559199464"/>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 y="914400"/>
            <a:ext cx="8401050" cy="1323439"/>
          </a:xfrm>
          <a:prstGeom prst="rect">
            <a:avLst/>
          </a:prstGeom>
        </p:spPr>
        <p:txBody>
          <a:bodyPr wrap="square">
            <a:spAutoFit/>
          </a:bodyPr>
          <a:lstStyle/>
          <a:p>
            <a:pPr marR="0" lvl="0">
              <a:spcBef>
                <a:spcPts val="0"/>
              </a:spcBef>
              <a:spcAft>
                <a:spcPts val="1200"/>
              </a:spcAft>
              <a:tabLst>
                <a:tab pos="457200" algn="l"/>
              </a:tabLst>
            </a:pPr>
            <a:r>
              <a:rPr lang="en-US" sz="4000" dirty="0">
                <a:latin typeface="Calibri" panose="020F0502020204030204" pitchFamily="34" charset="0"/>
                <a:ea typeface="Times New Roman" panose="02020603050405020304" pitchFamily="18" charset="0"/>
                <a:cs typeface="Times New Roman" panose="02020603050405020304" pitchFamily="18" charset="0"/>
              </a:rPr>
              <a:t>There are two theories to getting an accurate forecast.</a:t>
            </a:r>
          </a:p>
        </p:txBody>
      </p:sp>
      <p:sp>
        <p:nvSpPr>
          <p:cNvPr id="9" name="Rectangle 8"/>
          <p:cNvSpPr/>
          <p:nvPr/>
        </p:nvSpPr>
        <p:spPr>
          <a:xfrm>
            <a:off x="2171700" y="2541656"/>
            <a:ext cx="4343400" cy="707886"/>
          </a:xfrm>
          <a:prstGeom prst="rect">
            <a:avLst/>
          </a:prstGeom>
        </p:spPr>
        <p:txBody>
          <a:bodyPr wrap="square">
            <a:spAutoFit/>
          </a:bodyPr>
          <a:lstStyle/>
          <a:p>
            <a:pPr marR="0" lvl="0">
              <a:spcBef>
                <a:spcPts val="0"/>
              </a:spcBef>
              <a:spcAft>
                <a:spcPts val="1200"/>
              </a:spcAft>
              <a:tabLst>
                <a:tab pos="457200" algn="l"/>
              </a:tabLst>
            </a:pPr>
            <a:r>
              <a:rPr lang="en-US" sz="4000" dirty="0">
                <a:solidFill>
                  <a:srgbClr val="923222"/>
                </a:solidFill>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cs typeface="Times New Roman" panose="02020603050405020304" pitchFamily="18" charset="0"/>
              </a:rPr>
              <a:t>Neither one works.</a:t>
            </a: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5100" y="1920875"/>
            <a:ext cx="1731433" cy="1949449"/>
          </a:xfrm>
          <a:prstGeom prst="rect">
            <a:avLst/>
          </a:prstGeom>
        </p:spPr>
      </p:pic>
      <p:sp>
        <p:nvSpPr>
          <p:cNvPr id="14" name="Rectangle 3"/>
          <p:cNvSpPr txBox="1">
            <a:spLocks noChangeArrowheads="1"/>
          </p:cNvSpPr>
          <p:nvPr/>
        </p:nvSpPr>
        <p:spPr bwMode="auto">
          <a:xfrm>
            <a:off x="228600" y="4000500"/>
            <a:ext cx="8697913" cy="2552700"/>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lvl1pPr marL="192088" indent="-192088" algn="l" rtl="0" eaLnBrk="0" fontAlgn="base" hangingPunct="0">
              <a:spcBef>
                <a:spcPct val="50000"/>
              </a:spcBef>
              <a:spcAft>
                <a:spcPct val="0"/>
              </a:spcAft>
              <a:buClr>
                <a:schemeClr val="tx1"/>
              </a:buClr>
              <a:buFont typeface="Symbol" pitchFamily="18" charset="2"/>
              <a:buChar char="·"/>
              <a:defRPr sz="2200">
                <a:solidFill>
                  <a:schemeClr val="tx1"/>
                </a:solidFill>
                <a:latin typeface="+mn-lt"/>
                <a:ea typeface="+mn-ea"/>
                <a:cs typeface="+mn-cs"/>
              </a:defRPr>
            </a:lvl1pPr>
            <a:lvl2pPr marL="568325" indent="-185738" algn="l" rtl="0" eaLnBrk="0" fontAlgn="base" hangingPunct="0">
              <a:spcBef>
                <a:spcPct val="50000"/>
              </a:spcBef>
              <a:spcAft>
                <a:spcPct val="0"/>
              </a:spcAft>
              <a:buClr>
                <a:schemeClr val="tx1"/>
              </a:buClr>
              <a:buFont typeface="Symbol" pitchFamily="18" charset="2"/>
              <a:buChar char="-"/>
              <a:defRPr>
                <a:solidFill>
                  <a:schemeClr val="tx1"/>
                </a:solidFill>
                <a:latin typeface="+mn-lt"/>
              </a:defRPr>
            </a:lvl2pPr>
            <a:lvl3pPr marL="855663" indent="-96838" algn="l" rtl="0" eaLnBrk="0" fontAlgn="base" hangingPunct="0">
              <a:spcBef>
                <a:spcPct val="50000"/>
              </a:spcBef>
              <a:spcAft>
                <a:spcPct val="0"/>
              </a:spcAft>
              <a:buClr>
                <a:schemeClr val="tx1"/>
              </a:buClr>
              <a:buChar char="•"/>
              <a:defRPr>
                <a:solidFill>
                  <a:schemeClr val="tx1"/>
                </a:solidFill>
                <a:latin typeface="+mn-lt"/>
              </a:defRPr>
            </a:lvl3pPr>
            <a:lvl4pPr marL="1981200" indent="-228600" algn="l" rtl="0" eaLnBrk="0" fontAlgn="base" hangingPunct="0">
              <a:spcBef>
                <a:spcPct val="50000"/>
              </a:spcBef>
              <a:spcAft>
                <a:spcPct val="0"/>
              </a:spcAft>
              <a:buChar char="–"/>
              <a:defRPr sz="1600">
                <a:solidFill>
                  <a:schemeClr val="bg1"/>
                </a:solidFill>
                <a:latin typeface="+mn-lt"/>
              </a:defRPr>
            </a:lvl4pPr>
            <a:lvl5pPr marL="2400300" indent="-228600" algn="l" rtl="0" eaLnBrk="0" fontAlgn="base" hangingPunct="0">
              <a:spcBef>
                <a:spcPct val="50000"/>
              </a:spcBef>
              <a:spcAft>
                <a:spcPct val="0"/>
              </a:spcAft>
              <a:buChar char="•"/>
              <a:defRPr sz="1400">
                <a:solidFill>
                  <a:schemeClr val="bg1"/>
                </a:solidFill>
                <a:latin typeface="+mn-lt"/>
              </a:defRPr>
            </a:lvl5pPr>
            <a:lvl6pPr marL="2857500" indent="-228600" algn="l" rtl="0" eaLnBrk="0" fontAlgn="base" hangingPunct="0">
              <a:spcBef>
                <a:spcPct val="50000"/>
              </a:spcBef>
              <a:spcAft>
                <a:spcPct val="0"/>
              </a:spcAft>
              <a:buChar char="•"/>
              <a:defRPr sz="1400">
                <a:solidFill>
                  <a:schemeClr val="bg1"/>
                </a:solidFill>
                <a:latin typeface="+mn-lt"/>
              </a:defRPr>
            </a:lvl6pPr>
            <a:lvl7pPr marL="3314700" indent="-228600" algn="l" rtl="0" eaLnBrk="0" fontAlgn="base" hangingPunct="0">
              <a:spcBef>
                <a:spcPct val="50000"/>
              </a:spcBef>
              <a:spcAft>
                <a:spcPct val="0"/>
              </a:spcAft>
              <a:buChar char="•"/>
              <a:defRPr sz="1400">
                <a:solidFill>
                  <a:schemeClr val="bg1"/>
                </a:solidFill>
                <a:latin typeface="+mn-lt"/>
              </a:defRPr>
            </a:lvl7pPr>
            <a:lvl8pPr marL="3771900" indent="-228600" algn="l" rtl="0" eaLnBrk="0" fontAlgn="base" hangingPunct="0">
              <a:spcBef>
                <a:spcPct val="50000"/>
              </a:spcBef>
              <a:spcAft>
                <a:spcPct val="0"/>
              </a:spcAft>
              <a:buChar char="•"/>
              <a:defRPr sz="1400">
                <a:solidFill>
                  <a:schemeClr val="bg1"/>
                </a:solidFill>
                <a:latin typeface="+mn-lt"/>
              </a:defRPr>
            </a:lvl8pPr>
            <a:lvl9pPr marL="4229100" indent="-228600" algn="l" rtl="0" eaLnBrk="0" fontAlgn="base" hangingPunct="0">
              <a:spcBef>
                <a:spcPct val="50000"/>
              </a:spcBef>
              <a:spcAft>
                <a:spcPct val="0"/>
              </a:spcAft>
              <a:buChar char="•"/>
              <a:defRPr sz="1400">
                <a:solidFill>
                  <a:schemeClr val="bg1"/>
                </a:solidFill>
                <a:latin typeface="+mn-lt"/>
              </a:defRPr>
            </a:lvl9pPr>
          </a:lstStyle>
          <a:p>
            <a:pPr marL="347663" indent="-347663">
              <a:lnSpc>
                <a:spcPct val="90000"/>
              </a:lnSpc>
              <a:spcBef>
                <a:spcPts val="1200"/>
              </a:spcBef>
              <a:spcAft>
                <a:spcPts val="1200"/>
              </a:spcAft>
              <a:buClr>
                <a:srgbClr val="923222"/>
              </a:buClr>
              <a:buSzPct val="115000"/>
              <a:buFont typeface="Wingdings" panose="05000000000000000000" pitchFamily="2" charset="2"/>
              <a:buChar char="§"/>
              <a:defRPr/>
            </a:pPr>
            <a:r>
              <a:rPr lang="en-US" altLang="en-US" sz="2400" kern="0" dirty="0">
                <a:latin typeface="Calibri" panose="020F0502020204030204" pitchFamily="34" charset="0"/>
              </a:rPr>
              <a:t>Since a forecast is an </a:t>
            </a:r>
            <a:r>
              <a:rPr lang="en-US" altLang="en-US" sz="2400" u="sng" kern="0" dirty="0">
                <a:latin typeface="Calibri" panose="020F0502020204030204" pitchFamily="34" charset="0"/>
              </a:rPr>
              <a:t>estimate</a:t>
            </a:r>
            <a:r>
              <a:rPr lang="en-US" altLang="en-US" sz="2400" kern="0" dirty="0">
                <a:latin typeface="Calibri" panose="020F0502020204030204" pitchFamily="34" charset="0"/>
              </a:rPr>
              <a:t> of future demand, and is likely to be inaccurate, the goal of the forecasting and demand planning process is to </a:t>
            </a:r>
            <a:r>
              <a:rPr lang="en-US" altLang="en-US" sz="2400" u="sng" kern="0" dirty="0">
                <a:solidFill>
                  <a:srgbClr val="923222"/>
                </a:solidFill>
                <a:effectLst>
                  <a:outerShdw blurRad="38100" dist="38100" dir="2700000" algn="tl">
                    <a:srgbClr val="000000">
                      <a:alpha val="43137"/>
                    </a:srgbClr>
                  </a:outerShdw>
                </a:effectLst>
                <a:latin typeface="Calibri" panose="020F0502020204030204" pitchFamily="34" charset="0"/>
              </a:rPr>
              <a:t>minimize</a:t>
            </a:r>
            <a:r>
              <a:rPr lang="en-US" altLang="en-US" sz="2400" kern="0" dirty="0">
                <a:solidFill>
                  <a:srgbClr val="923222"/>
                </a:solidFill>
                <a:effectLst>
                  <a:outerShdw blurRad="38100" dist="38100" dir="2700000" algn="tl">
                    <a:srgbClr val="000000">
                      <a:alpha val="43137"/>
                    </a:srgbClr>
                  </a:outerShdw>
                </a:effectLst>
                <a:latin typeface="Calibri" panose="020F0502020204030204" pitchFamily="34" charset="0"/>
              </a:rPr>
              <a:t> forecast error  </a:t>
            </a:r>
          </a:p>
          <a:p>
            <a:pPr marL="347663" indent="-347663">
              <a:lnSpc>
                <a:spcPct val="90000"/>
              </a:lnSpc>
              <a:spcBef>
                <a:spcPts val="1200"/>
              </a:spcBef>
              <a:spcAft>
                <a:spcPts val="1200"/>
              </a:spcAft>
              <a:buClr>
                <a:srgbClr val="923222"/>
              </a:buClr>
              <a:buSzPct val="115000"/>
              <a:buFont typeface="Wingdings" panose="05000000000000000000" pitchFamily="2" charset="2"/>
              <a:buChar char="§"/>
              <a:defRPr/>
            </a:pPr>
            <a:r>
              <a:rPr lang="en-US" altLang="en-US" sz="2400" kern="0" dirty="0">
                <a:latin typeface="Calibri" panose="020F0502020204030204" pitchFamily="34" charset="0"/>
              </a:rPr>
              <a:t>The </a:t>
            </a:r>
            <a:r>
              <a:rPr lang="en-US" altLang="en-US" sz="2400" kern="0" dirty="0">
                <a:solidFill>
                  <a:srgbClr val="923222"/>
                </a:solidFill>
                <a:effectLst>
                  <a:outerShdw blurRad="38100" dist="38100" dir="2700000" algn="tl">
                    <a:srgbClr val="000000">
                      <a:alpha val="43137"/>
                    </a:srgbClr>
                  </a:outerShdw>
                </a:effectLst>
                <a:latin typeface="Calibri" panose="020F0502020204030204" pitchFamily="34" charset="0"/>
              </a:rPr>
              <a:t>factors that influence demand </a:t>
            </a:r>
            <a:r>
              <a:rPr lang="en-US" altLang="en-US" sz="2400" kern="0" dirty="0">
                <a:latin typeface="Calibri" panose="020F0502020204030204" pitchFamily="34" charset="0"/>
              </a:rPr>
              <a:t>must also be considered when forecasting, e.g., market changes, seasonality, competitive activity, etc.</a:t>
            </a:r>
          </a:p>
        </p:txBody>
      </p:sp>
      <p:sp>
        <p:nvSpPr>
          <p:cNvPr id="15" name="Rectangle 2"/>
          <p:cNvSpPr>
            <a:spLocks noGrp="1" noChangeArrowheads="1"/>
          </p:cNvSpPr>
          <p:nvPr>
            <p:ph type="title" idx="4294967295"/>
          </p:nvPr>
        </p:nvSpPr>
        <p:spPr>
          <a:xfrm>
            <a:off x="228600" y="127660"/>
            <a:ext cx="8439150" cy="496804"/>
          </a:xfrm>
          <a:noFill/>
          <a:ln w="9525">
            <a:noFill/>
            <a:miter lim="800000"/>
            <a:headEnd/>
            <a:tailEnd/>
          </a:ln>
          <a:effectLst/>
        </p:spPr>
        <p:txBody>
          <a:bodyPr wrap="square" anchor="b">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Forecasting Techniques</a:t>
            </a:r>
            <a:r>
              <a:rPr lang="en-US" altLang="en-US" sz="2000" b="0" kern="1200" dirty="0">
                <a:solidFill>
                  <a:srgbClr val="923222"/>
                </a:solidFill>
                <a:latin typeface="Calibri" panose="020F0502020204030204" pitchFamily="34" charset="0"/>
                <a:ea typeface="+mn-ea"/>
                <a:cs typeface="Arial" charset="0"/>
              </a:rPr>
              <a:t> (continued)</a:t>
            </a: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 </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8</a:t>
            </a:fld>
            <a:endParaRPr lang="en-US" dirty="0"/>
          </a:p>
        </p:txBody>
      </p:sp>
    </p:spTree>
    <p:extLst>
      <p:ext uri="{BB962C8B-B14F-4D97-AF65-F5344CB8AC3E}">
        <p14:creationId xmlns:p14="http://schemas.microsoft.com/office/powerpoint/2010/main" val="2302737830"/>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100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1000"/>
                            </p:stCondLst>
                            <p:childTnLst>
                              <p:par>
                                <p:cTn id="8" presetID="2" presetClass="entr" presetSubtype="8" fill="hold" grpId="0" nodeType="afterEffect">
                                  <p:stCondLst>
                                    <p:cond delay="2000"/>
                                  </p:stCondLst>
                                  <p:childTnLst>
                                    <p:set>
                                      <p:cBhvr>
                                        <p:cTn id="9" dur="1" fill="hold">
                                          <p:stCondLst>
                                            <p:cond delay="0"/>
                                          </p:stCondLst>
                                        </p:cTn>
                                        <p:tgtEl>
                                          <p:spTgt spid="9"/>
                                        </p:tgtEl>
                                        <p:attrNameLst>
                                          <p:attrName>style.visibility</p:attrName>
                                        </p:attrNameLst>
                                      </p:cBhvr>
                                      <p:to>
                                        <p:strVal val="visible"/>
                                      </p:to>
                                    </p:set>
                                    <p:anim calcmode="lin" valueType="num">
                                      <p:cBhvr additive="base">
                                        <p:cTn id="10" dur="500" fill="hold"/>
                                        <p:tgtEl>
                                          <p:spTgt spid="9"/>
                                        </p:tgtEl>
                                        <p:attrNameLst>
                                          <p:attrName>ppt_x</p:attrName>
                                        </p:attrNameLst>
                                      </p:cBhvr>
                                      <p:tavLst>
                                        <p:tav tm="0">
                                          <p:val>
                                            <p:strVal val="0-#ppt_w/2"/>
                                          </p:val>
                                        </p:tav>
                                        <p:tav tm="100000">
                                          <p:val>
                                            <p:strVal val="#ppt_x"/>
                                          </p:val>
                                        </p:tav>
                                      </p:tavLst>
                                    </p:anim>
                                    <p:anim calcmode="lin" valueType="num">
                                      <p:cBhvr additive="base">
                                        <p:cTn id="11" dur="500" fill="hold"/>
                                        <p:tgtEl>
                                          <p:spTgt spid="9"/>
                                        </p:tgtEl>
                                        <p:attrNameLst>
                                          <p:attrName>ppt_y</p:attrName>
                                        </p:attrNameLst>
                                      </p:cBhvr>
                                      <p:tavLst>
                                        <p:tav tm="0">
                                          <p:val>
                                            <p:strVal val="#ppt_y"/>
                                          </p:val>
                                        </p:tav>
                                        <p:tav tm="100000">
                                          <p:val>
                                            <p:strVal val="#ppt_y"/>
                                          </p:val>
                                        </p:tav>
                                      </p:tavLst>
                                    </p:anim>
                                  </p:childTnLst>
                                </p:cTn>
                              </p:par>
                              <p:par>
                                <p:cTn id="12" presetID="2" presetClass="entr" presetSubtype="2" fill="hold" nodeType="withEffect">
                                  <p:stCondLst>
                                    <p:cond delay="200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1+#ppt_w/2"/>
                                          </p:val>
                                        </p:tav>
                                        <p:tav tm="100000">
                                          <p:val>
                                            <p:strVal val="#ppt_x"/>
                                          </p:val>
                                        </p:tav>
                                      </p:tavLst>
                                    </p:anim>
                                    <p:anim calcmode="lin" valueType="num">
                                      <p:cBhvr additive="base">
                                        <p:cTn id="15" dur="500" fill="hold"/>
                                        <p:tgtEl>
                                          <p:spTgt spid="11"/>
                                        </p:tgtEl>
                                        <p:attrNameLst>
                                          <p:attrName>ppt_y</p:attrName>
                                        </p:attrNameLst>
                                      </p:cBhvr>
                                      <p:tavLst>
                                        <p:tav tm="0">
                                          <p:val>
                                            <p:strVal val="#ppt_y"/>
                                          </p:val>
                                        </p:tav>
                                        <p:tav tm="100000">
                                          <p:val>
                                            <p:strVal val="#ppt_y"/>
                                          </p:val>
                                        </p:tav>
                                      </p:tavLst>
                                    </p:anim>
                                  </p:childTnLst>
                                </p:cTn>
                              </p:par>
                            </p:childTnLst>
                          </p:cTn>
                        </p:par>
                        <p:par>
                          <p:cTn id="16" fill="hold">
                            <p:stCondLst>
                              <p:cond delay="3500"/>
                            </p:stCondLst>
                            <p:childTnLst>
                              <p:par>
                                <p:cTn id="17" presetID="42" presetClass="entr" presetSubtype="0" fill="hold" grpId="0" nodeType="afterEffect">
                                  <p:stCondLst>
                                    <p:cond delay="20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9">
                                            <p:txEl>
                                              <p:pRg st="0" end="0"/>
                                            </p:txEl>
                                          </p:spTgt>
                                        </p:tgtEl>
                                        <p:attrNameLst>
                                          <p:attrName>style.visibility</p:attrName>
                                        </p:attrNameLst>
                                      </p:cBhvr>
                                      <p:to>
                                        <p:strVal val="visible"/>
                                      </p:to>
                                    </p:set>
                                    <p:anim calcmode="lin" valueType="num">
                                      <p:cBhvr additive="base">
                                        <p:cTn id="26"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4">
                                            <p:txEl>
                                              <p:pRg st="0" end="0"/>
                                            </p:txEl>
                                          </p:spTgt>
                                        </p:tgtEl>
                                        <p:attrNameLst>
                                          <p:attrName>style.visibility</p:attrName>
                                        </p:attrNameLst>
                                      </p:cBhvr>
                                      <p:to>
                                        <p:strVal val="visible"/>
                                      </p:to>
                                    </p:set>
                                    <p:anim calcmode="lin" valueType="num">
                                      <p:cBhvr additive="base">
                                        <p:cTn id="32"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4">
                                            <p:txEl>
                                              <p:pRg st="1" end="1"/>
                                            </p:txEl>
                                          </p:spTgt>
                                        </p:tgtEl>
                                        <p:attrNameLst>
                                          <p:attrName>style.visibility</p:attrName>
                                        </p:attrNameLst>
                                      </p:cBhvr>
                                      <p:to>
                                        <p:strVal val="visible"/>
                                      </p:to>
                                    </p:set>
                                    <p:anim calcmode="lin" valueType="num">
                                      <p:cBhvr additive="base">
                                        <p:cTn id="38"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idx="4294967295"/>
          </p:nvPr>
        </p:nvSpPr>
        <p:spPr>
          <a:xfrm>
            <a:off x="228600" y="127660"/>
            <a:ext cx="8439150" cy="496804"/>
          </a:xfrm>
          <a:noFill/>
          <a:ln w="9525">
            <a:noFill/>
            <a:miter lim="800000"/>
            <a:headEnd/>
            <a:tailEnd/>
          </a:ln>
          <a:effectLst/>
        </p:spPr>
        <p:txBody>
          <a:bodyPr wrap="square" anchor="b">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Forecasting Techniques</a:t>
            </a:r>
            <a:r>
              <a:rPr lang="en-US" altLang="en-US" sz="2000" b="0" kern="1200" dirty="0">
                <a:solidFill>
                  <a:srgbClr val="923222"/>
                </a:solidFill>
                <a:latin typeface="Calibri" panose="020F0502020204030204" pitchFamily="34" charset="0"/>
                <a:ea typeface="+mn-ea"/>
                <a:cs typeface="Arial" charset="0"/>
              </a:rPr>
              <a:t> (continued)</a:t>
            </a: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 </a:t>
            </a:r>
          </a:p>
        </p:txBody>
      </p:sp>
      <p:pic>
        <p:nvPicPr>
          <p:cNvPr id="2" name="Picture 1"/>
          <p:cNvPicPr>
            <a:picLocks noChangeAspect="1"/>
          </p:cNvPicPr>
          <p:nvPr/>
        </p:nvPicPr>
        <p:blipFill rotWithShape="1">
          <a:blip r:embed="rId2"/>
          <a:srcRect l="1" r="-2534"/>
          <a:stretch/>
        </p:blipFill>
        <p:spPr>
          <a:xfrm>
            <a:off x="228599" y="1066800"/>
            <a:ext cx="8686801" cy="5638800"/>
          </a:xfrm>
          <a:prstGeom prst="rect">
            <a:avLst/>
          </a:prstGeom>
        </p:spPr>
      </p:pic>
      <p:sp>
        <p:nvSpPr>
          <p:cNvPr id="3" name="Footer Placeholder 2"/>
          <p:cNvSpPr>
            <a:spLocks noGrp="1"/>
          </p:cNvSpPr>
          <p:nvPr>
            <p:ph type="ftr" sz="quarter" idx="3"/>
          </p:nvPr>
        </p:nvSpPr>
        <p:spPr/>
        <p:txBody>
          <a:bodyPr/>
          <a:lstStyle/>
          <a:p>
            <a:r>
              <a:rPr lang="en-US"/>
              <a:t>Fundamentals of Supply Chain Management – McLaury/Spiegle</a:t>
            </a:r>
            <a:endParaRPr lang="en-US" dirty="0"/>
          </a:p>
        </p:txBody>
      </p:sp>
      <p:sp>
        <p:nvSpPr>
          <p:cNvPr id="6" name="Slide Number Placeholder 5"/>
          <p:cNvSpPr>
            <a:spLocks noGrp="1"/>
          </p:cNvSpPr>
          <p:nvPr>
            <p:ph type="sldNum" sz="quarter" idx="4"/>
          </p:nvPr>
        </p:nvSpPr>
        <p:spPr/>
        <p:txBody>
          <a:bodyPr/>
          <a:lstStyle/>
          <a:p>
            <a:fld id="{E66AA3EA-0569-43EF-BBA3-83FDB109D582}" type="slidenum">
              <a:rPr lang="en-US" smtClean="0"/>
              <a:pPr/>
              <a:t>9</a:t>
            </a:fld>
            <a:endParaRPr lang="en-US" dirty="0"/>
          </a:p>
        </p:txBody>
      </p:sp>
    </p:spTree>
    <p:extLst>
      <p:ext uri="{BB962C8B-B14F-4D97-AF65-F5344CB8AC3E}">
        <p14:creationId xmlns:p14="http://schemas.microsoft.com/office/powerpoint/2010/main" val="212889780"/>
      </p:ext>
    </p:extLst>
  </p:cSld>
  <p:clrMapOvr>
    <a:masterClrMapping/>
  </p:clrMapOvr>
  <p:transition spd="slow">
    <p:pull dir="l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Qualitative Forecasting Techniques</a:t>
            </a:r>
          </a:p>
        </p:txBody>
      </p:sp>
      <p:sp>
        <p:nvSpPr>
          <p:cNvPr id="22531" name="Rectangle 3"/>
          <p:cNvSpPr>
            <a:spLocks noGrp="1" noChangeArrowheads="1"/>
          </p:cNvSpPr>
          <p:nvPr>
            <p:ph type="body" idx="4294967295"/>
          </p:nvPr>
        </p:nvSpPr>
        <p:spPr>
          <a:xfrm>
            <a:off x="228600" y="866247"/>
            <a:ext cx="8669338" cy="5526087"/>
          </a:xfrm>
        </p:spPr>
        <p:txBody>
          <a:bodyPr/>
          <a:lstStyle/>
          <a:p>
            <a:pPr marL="533400" indent="-533400">
              <a:spcBef>
                <a:spcPts val="1200"/>
              </a:spcBef>
              <a:spcAft>
                <a:spcPts val="1200"/>
              </a:spcAft>
              <a:buFont typeface="+mj-lt"/>
              <a:buAutoNum type="arabicPeriod"/>
            </a:pPr>
            <a:r>
              <a:rPr lang="en-US" altLang="en-US" sz="32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Qualitative</a:t>
            </a:r>
            <a:r>
              <a:rPr lang="en-US" altLang="en-US" sz="3200" b="1" dirty="0">
                <a:solidFill>
                  <a:srgbClr val="FF6600"/>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 </a:t>
            </a:r>
            <a:r>
              <a:rPr lang="en-US" altLang="en-US" sz="2400" dirty="0">
                <a:latin typeface="Calibri" panose="020F0502020204030204" pitchFamily="34" charset="0"/>
                <a:ea typeface="ＭＳ Ｐゴシック" panose="020B0600070205080204" pitchFamily="34" charset="-128"/>
              </a:rPr>
              <a:t>forecasting - based on </a:t>
            </a:r>
            <a:r>
              <a:rPr lang="en-US" altLang="en-US" sz="2400" u="sng"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opinion</a:t>
            </a:r>
            <a:r>
              <a:rPr lang="en-US" altLang="en-US" sz="2400" dirty="0">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 </a:t>
            </a:r>
            <a:r>
              <a:rPr lang="en-US" altLang="en-US" sz="2400" dirty="0">
                <a:latin typeface="Calibri" panose="020F0502020204030204" pitchFamily="34" charset="0"/>
                <a:ea typeface="ＭＳ Ｐゴシック" panose="020B0600070205080204" pitchFamily="34" charset="-128"/>
              </a:rPr>
              <a:t>and </a:t>
            </a:r>
            <a:r>
              <a:rPr lang="en-US" altLang="en-US" sz="2400" u="sng"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intuition</a:t>
            </a:r>
            <a:r>
              <a:rPr lang="en-US" altLang="en-US" sz="2400" dirty="0">
                <a:latin typeface="Calibri" panose="020F0502020204030204" pitchFamily="34" charset="0"/>
                <a:ea typeface="ＭＳ Ｐゴシック" panose="020B0600070205080204" pitchFamily="34" charset="-128"/>
              </a:rPr>
              <a:t>.</a:t>
            </a:r>
          </a:p>
          <a:p>
            <a:pPr marL="914400" lvl="1" indent="-347663">
              <a:spcBef>
                <a:spcPts val="600"/>
              </a:spcBef>
              <a:spcAft>
                <a:spcPts val="1200"/>
              </a:spcAft>
              <a:buClr>
                <a:srgbClr val="923222"/>
              </a:buClr>
              <a:buSzPct val="115000"/>
              <a:buFont typeface="Wingdings" panose="05000000000000000000" pitchFamily="2" charset="2"/>
              <a:buChar char="§"/>
              <a:defRPr/>
            </a:pPr>
            <a:r>
              <a:rPr lang="en-US" altLang="en-US" sz="2400" dirty="0">
                <a:latin typeface="Calibri" panose="020F0502020204030204" pitchFamily="34" charset="0"/>
              </a:rPr>
              <a:t>Generally used when data are </a:t>
            </a:r>
            <a:r>
              <a:rPr lang="en-US" altLang="en-US" sz="2400" dirty="0">
                <a:solidFill>
                  <a:srgbClr val="923222"/>
                </a:solidFill>
                <a:effectLst>
                  <a:outerShdw blurRad="38100" dist="38100" dir="2700000" algn="tl">
                    <a:srgbClr val="000000">
                      <a:alpha val="43137"/>
                    </a:srgbClr>
                  </a:outerShdw>
                </a:effectLst>
                <a:latin typeface="Calibri" panose="020F0502020204030204" pitchFamily="34" charset="0"/>
              </a:rPr>
              <a:t>limited, unavailable, or not currently relevant.</a:t>
            </a:r>
            <a:r>
              <a:rPr lang="en-US" altLang="en-US" sz="2400" dirty="0">
                <a:latin typeface="Calibri" panose="020F0502020204030204" pitchFamily="34" charset="0"/>
              </a:rPr>
              <a:t>  </a:t>
            </a:r>
            <a:r>
              <a:rPr lang="en-US" altLang="en-US" sz="2000" i="1" dirty="0">
                <a:latin typeface="Calibri" panose="020F0502020204030204" pitchFamily="34" charset="0"/>
              </a:rPr>
              <a:t>Examples: new product, new market segment</a:t>
            </a:r>
            <a:endParaRPr lang="en-US" altLang="en-US" sz="2400" i="1" dirty="0">
              <a:latin typeface="Calibri" panose="020F0502020204030204" pitchFamily="34" charset="0"/>
            </a:endParaRPr>
          </a:p>
          <a:p>
            <a:pPr marL="914400" lvl="1" indent="-347663">
              <a:spcBef>
                <a:spcPts val="600"/>
              </a:spcBef>
              <a:spcAft>
                <a:spcPts val="1200"/>
              </a:spcAft>
              <a:buClr>
                <a:srgbClr val="923222"/>
              </a:buClr>
              <a:buSzPct val="115000"/>
              <a:buFont typeface="Wingdings" panose="05000000000000000000" pitchFamily="2" charset="2"/>
              <a:buChar char="§"/>
              <a:defRPr/>
            </a:pPr>
            <a:r>
              <a:rPr lang="en-US" altLang="en-US" sz="2400" dirty="0">
                <a:latin typeface="Calibri" panose="020F0502020204030204" pitchFamily="34" charset="0"/>
              </a:rPr>
              <a:t>Forecast depends on </a:t>
            </a:r>
            <a:r>
              <a:rPr lang="en-US" altLang="en-US" sz="2400" dirty="0">
                <a:solidFill>
                  <a:srgbClr val="923222"/>
                </a:solidFill>
                <a:effectLst>
                  <a:outerShdw blurRad="38100" dist="38100" dir="2700000" algn="tl">
                    <a:srgbClr val="000000">
                      <a:alpha val="43137"/>
                    </a:srgbClr>
                  </a:outerShdw>
                </a:effectLst>
                <a:latin typeface="Calibri" panose="020F0502020204030204" pitchFamily="34" charset="0"/>
              </a:rPr>
              <a:t>skill and experience </a:t>
            </a:r>
            <a:r>
              <a:rPr lang="en-US" altLang="en-US" sz="2400" dirty="0">
                <a:latin typeface="Calibri" panose="020F0502020204030204" pitchFamily="34" charset="0"/>
              </a:rPr>
              <a:t>of forecaster(s) and available information</a:t>
            </a:r>
          </a:p>
          <a:p>
            <a:pPr marL="914400" lvl="1" indent="-347663">
              <a:spcBef>
                <a:spcPts val="600"/>
              </a:spcBef>
              <a:spcAft>
                <a:spcPts val="1200"/>
              </a:spcAft>
              <a:buClr>
                <a:srgbClr val="923222"/>
              </a:buClr>
              <a:buSzPct val="115000"/>
              <a:buFont typeface="Wingdings" panose="05000000000000000000" pitchFamily="2" charset="2"/>
              <a:buChar char="§"/>
              <a:defRPr/>
            </a:pPr>
            <a:r>
              <a:rPr lang="en-US" altLang="en-US" sz="2400" dirty="0">
                <a:latin typeface="Calibri" panose="020F0502020204030204" pitchFamily="34" charset="0"/>
              </a:rPr>
              <a:t>The five qualitative models used are: </a:t>
            </a:r>
          </a:p>
          <a:p>
            <a:pPr marL="1371600" lvl="1" indent="-338138">
              <a:spcBef>
                <a:spcPts val="600"/>
              </a:spcBef>
              <a:spcAft>
                <a:spcPts val="600"/>
              </a:spcAft>
              <a:buClr>
                <a:srgbClr val="923222"/>
              </a:buClr>
              <a:buFontTx/>
              <a:buAutoNum type="arabicPeriod"/>
            </a:pPr>
            <a:r>
              <a:rPr lang="en-US" altLang="en-US" sz="2000" dirty="0">
                <a:latin typeface="Calibri" panose="020F0502020204030204" pitchFamily="34" charset="0"/>
                <a:ea typeface="ＭＳ Ｐゴシック" panose="020B0600070205080204" pitchFamily="34" charset="-128"/>
              </a:rPr>
              <a:t>Personal Insight</a:t>
            </a:r>
          </a:p>
          <a:p>
            <a:pPr marL="1371600" lvl="1" indent="-338138">
              <a:spcBef>
                <a:spcPts val="600"/>
              </a:spcBef>
              <a:spcAft>
                <a:spcPts val="600"/>
              </a:spcAft>
              <a:buClr>
                <a:srgbClr val="923222"/>
              </a:buClr>
              <a:buFontTx/>
              <a:buAutoNum type="arabicPeriod"/>
            </a:pPr>
            <a:r>
              <a:rPr lang="en-US" altLang="en-US" sz="2000" dirty="0">
                <a:latin typeface="Calibri" panose="020F0502020204030204" pitchFamily="34" charset="0"/>
                <a:ea typeface="ＭＳ Ｐゴシック" panose="020B0600070205080204" pitchFamily="34" charset="-128"/>
              </a:rPr>
              <a:t>Jury of Executive Opinion</a:t>
            </a:r>
          </a:p>
          <a:p>
            <a:pPr marL="1371600" lvl="1" indent="-338138">
              <a:spcBef>
                <a:spcPts val="600"/>
              </a:spcBef>
              <a:spcAft>
                <a:spcPts val="600"/>
              </a:spcAft>
              <a:buClr>
                <a:srgbClr val="923222"/>
              </a:buClr>
              <a:buFontTx/>
              <a:buAutoNum type="arabicPeriod"/>
            </a:pPr>
            <a:r>
              <a:rPr lang="en-US" altLang="en-US" sz="2000" dirty="0">
                <a:latin typeface="Calibri" panose="020F0502020204030204" pitchFamily="34" charset="0"/>
                <a:ea typeface="ＭＳ Ｐゴシック" panose="020B0600070205080204" pitchFamily="34" charset="-128"/>
              </a:rPr>
              <a:t>Delphi Method</a:t>
            </a:r>
          </a:p>
          <a:p>
            <a:pPr marL="1371600" lvl="1" indent="-338138">
              <a:spcBef>
                <a:spcPts val="600"/>
              </a:spcBef>
              <a:spcAft>
                <a:spcPts val="600"/>
              </a:spcAft>
              <a:buClr>
                <a:srgbClr val="923222"/>
              </a:buClr>
              <a:buFontTx/>
              <a:buAutoNum type="arabicPeriod"/>
            </a:pPr>
            <a:r>
              <a:rPr lang="en-US" altLang="en-US" sz="2000" dirty="0">
                <a:latin typeface="Calibri" panose="020F0502020204030204" pitchFamily="34" charset="0"/>
                <a:ea typeface="ＭＳ Ｐゴシック" panose="020B0600070205080204" pitchFamily="34" charset="-128"/>
              </a:rPr>
              <a:t>Sales Force Estimation</a:t>
            </a:r>
          </a:p>
          <a:p>
            <a:pPr marL="1371600" lvl="1" indent="-338138">
              <a:spcBef>
                <a:spcPts val="600"/>
              </a:spcBef>
              <a:spcAft>
                <a:spcPts val="600"/>
              </a:spcAft>
              <a:buClr>
                <a:srgbClr val="923222"/>
              </a:buClr>
              <a:buFontTx/>
              <a:buAutoNum type="arabicPeriod"/>
            </a:pPr>
            <a:r>
              <a:rPr lang="en-US" altLang="en-US" sz="2000" dirty="0">
                <a:latin typeface="Calibri" panose="020F0502020204030204" pitchFamily="34" charset="0"/>
                <a:ea typeface="ＭＳ Ｐゴシック" panose="020B0600070205080204" pitchFamily="34" charset="-128"/>
              </a:rPr>
              <a:t>Customer Survey</a:t>
            </a:r>
          </a:p>
        </p:txBody>
      </p:sp>
      <p:pic>
        <p:nvPicPr>
          <p:cNvPr id="3" name="Picture 2"/>
          <p:cNvPicPr>
            <a:picLocks noChangeAspect="1"/>
          </p:cNvPicPr>
          <p:nvPr/>
        </p:nvPicPr>
        <p:blipFill rotWithShape="1">
          <a:blip r:embed="rId3"/>
          <a:srcRect l="3118" t="14764" r="20809" b="14248"/>
          <a:stretch/>
        </p:blipFill>
        <p:spPr>
          <a:xfrm>
            <a:off x="5855623" y="3377914"/>
            <a:ext cx="2919153" cy="3111500"/>
          </a:xfrm>
          <a:prstGeom prst="rect">
            <a:avLst/>
          </a:prstGeom>
        </p:spPr>
      </p:pic>
      <p:sp>
        <p:nvSpPr>
          <p:cNvPr id="4" name="Footer Placeholder 3"/>
          <p:cNvSpPr>
            <a:spLocks noGrp="1"/>
          </p:cNvSpPr>
          <p:nvPr>
            <p:ph type="ftr" sz="quarter" idx="3"/>
          </p:nvPr>
        </p:nvSpPr>
        <p:spPr/>
        <p:txBody>
          <a:bodyPr/>
          <a:lstStyle/>
          <a:p>
            <a:r>
              <a:rPr lang="en-US"/>
              <a:t>Fundamentals of Supply Chain Management – McLaury/Spiegle</a:t>
            </a:r>
            <a:endParaRPr lang="en-US" dirty="0"/>
          </a:p>
        </p:txBody>
      </p:sp>
      <p:sp>
        <p:nvSpPr>
          <p:cNvPr id="5" name="Slide Number Placeholder 4"/>
          <p:cNvSpPr>
            <a:spLocks noGrp="1"/>
          </p:cNvSpPr>
          <p:nvPr>
            <p:ph type="sldNum" sz="quarter" idx="4"/>
          </p:nvPr>
        </p:nvSpPr>
        <p:spPr/>
        <p:txBody>
          <a:bodyPr/>
          <a:lstStyle/>
          <a:p>
            <a:fld id="{E66AA3EA-0569-43EF-BBA3-83FDB109D582}" type="slidenum">
              <a:rPr lang="en-US" smtClean="0"/>
              <a:pPr/>
              <a:t>10</a:t>
            </a:fld>
            <a:endParaRPr lang="en-US" dirty="0"/>
          </a:p>
        </p:txBody>
      </p:sp>
    </p:spTree>
    <p:extLst>
      <p:ext uri="{BB962C8B-B14F-4D97-AF65-F5344CB8AC3E}">
        <p14:creationId xmlns:p14="http://schemas.microsoft.com/office/powerpoint/2010/main" val="1679791238"/>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531">
                                            <p:txEl>
                                              <p:pRg st="1" end="1"/>
                                            </p:txEl>
                                          </p:spTgt>
                                        </p:tgtEl>
                                        <p:attrNameLst>
                                          <p:attrName>style.visibility</p:attrName>
                                        </p:attrNameLst>
                                      </p:cBhvr>
                                      <p:to>
                                        <p:strVal val="visible"/>
                                      </p:to>
                                    </p:set>
                                    <p:anim calcmode="lin" valueType="num">
                                      <p:cBhvr additive="base">
                                        <p:cTn id="13" dur="500" fill="hold"/>
                                        <p:tgtEl>
                                          <p:spTgt spid="225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531">
                                            <p:txEl>
                                              <p:pRg st="2" end="2"/>
                                            </p:txEl>
                                          </p:spTgt>
                                        </p:tgtEl>
                                        <p:attrNameLst>
                                          <p:attrName>style.visibility</p:attrName>
                                        </p:attrNameLst>
                                      </p:cBhvr>
                                      <p:to>
                                        <p:strVal val="visible"/>
                                      </p:to>
                                    </p:set>
                                    <p:anim calcmode="lin" valueType="num">
                                      <p:cBhvr additive="base">
                                        <p:cTn id="19" dur="5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2531">
                                            <p:txEl>
                                              <p:pRg st="3" end="3"/>
                                            </p:txEl>
                                          </p:spTgt>
                                        </p:tgtEl>
                                        <p:attrNameLst>
                                          <p:attrName>style.visibility</p:attrName>
                                        </p:attrNameLst>
                                      </p:cBhvr>
                                      <p:to>
                                        <p:strVal val="visible"/>
                                      </p:to>
                                    </p:set>
                                    <p:anim calcmode="lin" valueType="num">
                                      <p:cBhvr additive="base">
                                        <p:cTn id="31" dur="5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531">
                                            <p:txEl>
                                              <p:pRg st="3" end="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2531">
                                            <p:txEl>
                                              <p:pRg st="4" end="4"/>
                                            </p:txEl>
                                          </p:spTgt>
                                        </p:tgtEl>
                                        <p:attrNameLst>
                                          <p:attrName>style.visibility</p:attrName>
                                        </p:attrNameLst>
                                      </p:cBhvr>
                                      <p:to>
                                        <p:strVal val="visible"/>
                                      </p:to>
                                    </p:set>
                                    <p:anim calcmode="lin" valueType="num">
                                      <p:cBhvr additive="base">
                                        <p:cTn id="35" dur="500" fill="hold"/>
                                        <p:tgtEl>
                                          <p:spTgt spid="22531">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2531">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2531">
                                            <p:txEl>
                                              <p:pRg st="5" end="5"/>
                                            </p:txEl>
                                          </p:spTgt>
                                        </p:tgtEl>
                                        <p:attrNameLst>
                                          <p:attrName>style.visibility</p:attrName>
                                        </p:attrNameLst>
                                      </p:cBhvr>
                                      <p:to>
                                        <p:strVal val="visible"/>
                                      </p:to>
                                    </p:set>
                                    <p:anim calcmode="lin" valueType="num">
                                      <p:cBhvr additive="base">
                                        <p:cTn id="39" dur="500" fill="hold"/>
                                        <p:tgtEl>
                                          <p:spTgt spid="22531">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2531">
                                            <p:txEl>
                                              <p:pRg st="5" end="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2531">
                                            <p:txEl>
                                              <p:pRg st="6" end="6"/>
                                            </p:txEl>
                                          </p:spTgt>
                                        </p:tgtEl>
                                        <p:attrNameLst>
                                          <p:attrName>style.visibility</p:attrName>
                                        </p:attrNameLst>
                                      </p:cBhvr>
                                      <p:to>
                                        <p:strVal val="visible"/>
                                      </p:to>
                                    </p:set>
                                    <p:anim calcmode="lin" valueType="num">
                                      <p:cBhvr additive="base">
                                        <p:cTn id="43" dur="500" fill="hold"/>
                                        <p:tgtEl>
                                          <p:spTgt spid="2253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2531">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2531">
                                            <p:txEl>
                                              <p:pRg st="7" end="7"/>
                                            </p:txEl>
                                          </p:spTgt>
                                        </p:tgtEl>
                                        <p:attrNameLst>
                                          <p:attrName>style.visibility</p:attrName>
                                        </p:attrNameLst>
                                      </p:cBhvr>
                                      <p:to>
                                        <p:strVal val="visible"/>
                                      </p:to>
                                    </p:set>
                                    <p:anim calcmode="lin" valueType="num">
                                      <p:cBhvr additive="base">
                                        <p:cTn id="47" dur="500" fill="hold"/>
                                        <p:tgtEl>
                                          <p:spTgt spid="22531">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2531">
                                            <p:txEl>
                                              <p:pRg st="7" end="7"/>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2531">
                                            <p:txEl>
                                              <p:pRg st="8" end="8"/>
                                            </p:txEl>
                                          </p:spTgt>
                                        </p:tgtEl>
                                        <p:attrNameLst>
                                          <p:attrName>style.visibility</p:attrName>
                                        </p:attrNameLst>
                                      </p:cBhvr>
                                      <p:to>
                                        <p:strVal val="visible"/>
                                      </p:to>
                                    </p:set>
                                    <p:anim calcmode="lin" valueType="num">
                                      <p:cBhvr additive="base">
                                        <p:cTn id="51" dur="500" fill="hold"/>
                                        <p:tgtEl>
                                          <p:spTgt spid="22531">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253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171267" y="5130800"/>
            <a:ext cx="1983115" cy="1482129"/>
          </a:xfrm>
          <a:prstGeom prst="rect">
            <a:avLst/>
          </a:prstGeom>
        </p:spPr>
      </p:pic>
      <p:sp>
        <p:nvSpPr>
          <p:cNvPr id="3" name="Content Placeholder 2"/>
          <p:cNvSpPr>
            <a:spLocks noGrp="1"/>
          </p:cNvSpPr>
          <p:nvPr>
            <p:ph idx="1"/>
          </p:nvPr>
        </p:nvSpPr>
        <p:spPr>
          <a:xfrm>
            <a:off x="228600" y="914401"/>
            <a:ext cx="8686800" cy="4449632"/>
          </a:xfrm>
        </p:spPr>
        <p:txBody>
          <a:bodyPr/>
          <a:lstStyle/>
          <a:p>
            <a:pPr marL="0" indent="0">
              <a:buNone/>
            </a:pPr>
            <a:r>
              <a:rPr lang="en-US" sz="2400" b="1" dirty="0">
                <a:solidFill>
                  <a:srgbClr val="923222"/>
                </a:solidFill>
                <a:effectLst>
                  <a:outerShdw blurRad="38100" dist="38100" dir="2700000" algn="tl">
                    <a:srgbClr val="000000">
                      <a:alpha val="43137"/>
                    </a:srgbClr>
                  </a:outerShdw>
                </a:effectLst>
                <a:latin typeface="Calibri" panose="020F0502020204030204" pitchFamily="34" charset="0"/>
              </a:rPr>
              <a:t>Personal Insight</a:t>
            </a:r>
            <a:r>
              <a:rPr lang="en-US" sz="2400" dirty="0">
                <a:latin typeface="Calibri" panose="020F0502020204030204" pitchFamily="34" charset="0"/>
              </a:rPr>
              <a:t>: The forecast is based on the insight of the most experienced, most knowledgeable, or most senior person available. </a:t>
            </a:r>
          </a:p>
          <a:p>
            <a:pPr marL="457200" lvl="1" indent="-228600">
              <a:buClr>
                <a:srgbClr val="923222"/>
              </a:buClr>
              <a:buSzPct val="110000"/>
              <a:buFont typeface="Wingdings" panose="05000000000000000000" pitchFamily="2" charset="2"/>
              <a:buChar char="§"/>
            </a:pPr>
            <a:r>
              <a:rPr lang="en-US" sz="2000" dirty="0">
                <a:latin typeface="Calibri" panose="020F0502020204030204" pitchFamily="34" charset="0"/>
              </a:rPr>
              <a:t>Sometimes, this approach is the only option, but methods that include more people are generally more reliable.</a:t>
            </a:r>
          </a:p>
          <a:p>
            <a:pPr marL="457200" lvl="2" indent="0">
              <a:spcBef>
                <a:spcPts val="600"/>
              </a:spcBef>
              <a:spcAft>
                <a:spcPts val="1200"/>
              </a:spcAft>
              <a:buNone/>
            </a:pPr>
            <a:r>
              <a:rPr lang="en-US" sz="2000" b="1" u="sng" dirty="0">
                <a:latin typeface="Calibri" panose="020F0502020204030204" pitchFamily="34" charset="0"/>
              </a:rPr>
              <a:t>Advantages</a:t>
            </a:r>
            <a:r>
              <a:rPr lang="en-US" sz="2000" u="sng" dirty="0">
                <a:latin typeface="Calibri" panose="020F0502020204030204" pitchFamily="34" charset="0"/>
              </a:rPr>
              <a:t>:</a:t>
            </a:r>
          </a:p>
          <a:p>
            <a:pPr marL="973138" lvl="2" indent="-346075">
              <a:spcBef>
                <a:spcPts val="600"/>
              </a:spcBef>
              <a:spcAft>
                <a:spcPts val="1200"/>
              </a:spcAft>
              <a:buFont typeface="Wingdings" panose="05000000000000000000" pitchFamily="2" charset="2"/>
              <a:buChar char="ü"/>
            </a:pPr>
            <a:r>
              <a:rPr lang="en-US" sz="2000" dirty="0">
                <a:latin typeface="Calibri" panose="020F0502020204030204" pitchFamily="34" charset="0"/>
              </a:rPr>
              <a:t>It is the fastest and cheapest forecasting technique. </a:t>
            </a:r>
          </a:p>
          <a:p>
            <a:pPr marL="973138" lvl="2" indent="-346075">
              <a:spcBef>
                <a:spcPts val="600"/>
              </a:spcBef>
              <a:spcAft>
                <a:spcPts val="1200"/>
              </a:spcAft>
              <a:buFont typeface="Wingdings" panose="05000000000000000000" pitchFamily="2" charset="2"/>
              <a:buChar char="ü"/>
            </a:pPr>
            <a:r>
              <a:rPr lang="en-US" sz="2000" dirty="0">
                <a:latin typeface="Calibri" panose="020F0502020204030204" pitchFamily="34" charset="0"/>
              </a:rPr>
              <a:t>It can provide a good forecast.</a:t>
            </a:r>
          </a:p>
          <a:p>
            <a:pPr marL="457200" lvl="2" indent="0">
              <a:spcBef>
                <a:spcPts val="600"/>
              </a:spcBef>
              <a:spcAft>
                <a:spcPts val="1200"/>
              </a:spcAft>
              <a:buNone/>
            </a:pPr>
            <a:r>
              <a:rPr lang="en-US" sz="2000" b="1" u="sng" dirty="0">
                <a:latin typeface="Calibri" panose="020F0502020204030204" pitchFamily="34" charset="0"/>
              </a:rPr>
              <a:t>Disadvantages</a:t>
            </a:r>
            <a:r>
              <a:rPr lang="en-US" sz="2000" u="sng" dirty="0">
                <a:latin typeface="Calibri" panose="020F0502020204030204" pitchFamily="34" charset="0"/>
              </a:rPr>
              <a:t>:</a:t>
            </a:r>
          </a:p>
          <a:p>
            <a:pPr marL="973138" lvl="2" indent="-346075">
              <a:spcBef>
                <a:spcPts val="600"/>
              </a:spcBef>
              <a:spcAft>
                <a:spcPts val="1200"/>
              </a:spcAft>
              <a:buFont typeface="Wingdings" panose="05000000000000000000" pitchFamily="2" charset="2"/>
              <a:buChar char="ü"/>
            </a:pPr>
            <a:r>
              <a:rPr lang="en-US" sz="2000" dirty="0">
                <a:latin typeface="Calibri" panose="020F0502020204030204" pitchFamily="34" charset="0"/>
              </a:rPr>
              <a:t>It relies on one person’s judgement and opinions, but also on their prejudices and ignorance.</a:t>
            </a:r>
          </a:p>
        </p:txBody>
      </p:sp>
      <p:sp>
        <p:nvSpPr>
          <p:cNvPr id="5"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Qualitative Forecasting - Personal Insight</a:t>
            </a:r>
          </a:p>
        </p:txBody>
      </p:sp>
      <p:sp>
        <p:nvSpPr>
          <p:cNvPr id="6" name="Rectangle 5"/>
          <p:cNvSpPr/>
          <p:nvPr/>
        </p:nvSpPr>
        <p:spPr>
          <a:xfrm>
            <a:off x="228600" y="5364032"/>
            <a:ext cx="7501467" cy="1015663"/>
          </a:xfrm>
          <a:prstGeom prst="rect">
            <a:avLst/>
          </a:prstGeom>
        </p:spPr>
        <p:txBody>
          <a:bodyPr wrap="square">
            <a:spAutoFit/>
          </a:bodyPr>
          <a:lstStyle/>
          <a:p>
            <a:pPr marL="973138" lvl="2" indent="-346075">
              <a:spcBef>
                <a:spcPts val="600"/>
              </a:spcBef>
              <a:spcAft>
                <a:spcPts val="1200"/>
              </a:spcAft>
              <a:buFont typeface="Wingdings" panose="05000000000000000000" pitchFamily="2" charset="2"/>
              <a:buChar char="ü"/>
            </a:pPr>
            <a:r>
              <a:rPr lang="en-US" sz="2000" dirty="0">
                <a:latin typeface="Calibri" panose="020F0502020204030204" pitchFamily="34" charset="0"/>
              </a:rPr>
              <a:t>The major weakness is unreliability; someone who is familiar with the situation often provides a worse forecast than someone who knows nothing.</a:t>
            </a:r>
          </a:p>
        </p:txBody>
      </p:sp>
      <p:sp>
        <p:nvSpPr>
          <p:cNvPr id="7" name="Footer Placeholder 6"/>
          <p:cNvSpPr>
            <a:spLocks noGrp="1"/>
          </p:cNvSpPr>
          <p:nvPr>
            <p:ph type="ftr" sz="quarter" idx="3"/>
          </p:nvPr>
        </p:nvSpPr>
        <p:spPr/>
        <p:txBody>
          <a:bodyPr/>
          <a:lstStyle/>
          <a:p>
            <a:r>
              <a:rPr lang="en-US"/>
              <a:t>Fundamentals of Supply Chain Management – McLaury/Spiegle</a:t>
            </a:r>
            <a:endParaRPr lang="en-US" dirty="0"/>
          </a:p>
        </p:txBody>
      </p:sp>
      <p:sp>
        <p:nvSpPr>
          <p:cNvPr id="8" name="Slide Number Placeholder 7"/>
          <p:cNvSpPr>
            <a:spLocks noGrp="1"/>
          </p:cNvSpPr>
          <p:nvPr>
            <p:ph type="sldNum" sz="quarter" idx="4"/>
          </p:nvPr>
        </p:nvSpPr>
        <p:spPr/>
        <p:txBody>
          <a:bodyPr/>
          <a:lstStyle/>
          <a:p>
            <a:fld id="{E66AA3EA-0569-43EF-BBA3-83FDB109D582}" type="slidenum">
              <a:rPr lang="en-US" smtClean="0"/>
              <a:pPr/>
              <a:t>11</a:t>
            </a:fld>
            <a:endParaRPr lang="en-US" dirty="0"/>
          </a:p>
        </p:txBody>
      </p:sp>
    </p:spTree>
    <p:extLst>
      <p:ext uri="{BB962C8B-B14F-4D97-AF65-F5344CB8AC3E}">
        <p14:creationId xmlns:p14="http://schemas.microsoft.com/office/powerpoint/2010/main" val="1134738669"/>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
                                            <p:txEl>
                                              <p:pRg st="0" end="0"/>
                                            </p:txEl>
                                          </p:spTgt>
                                        </p:tgtEl>
                                        <p:attrNameLst>
                                          <p:attrName>style.visibility</p:attrName>
                                        </p:attrNameLst>
                                      </p:cBhvr>
                                      <p:to>
                                        <p:strVal val="visible"/>
                                      </p:to>
                                    </p:set>
                                    <p:anim calcmode="lin" valueType="num">
                                      <p:cBhvr additive="base">
                                        <p:cTn id="4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162801" y="5150373"/>
            <a:ext cx="1981200" cy="1462556"/>
          </a:xfrm>
          <a:prstGeom prst="rect">
            <a:avLst/>
          </a:prstGeom>
        </p:spPr>
      </p:pic>
      <p:sp>
        <p:nvSpPr>
          <p:cNvPr id="3" name="Content Placeholder 2"/>
          <p:cNvSpPr>
            <a:spLocks noGrp="1"/>
          </p:cNvSpPr>
          <p:nvPr>
            <p:ph idx="1"/>
          </p:nvPr>
        </p:nvSpPr>
        <p:spPr>
          <a:xfrm>
            <a:off x="228600" y="914400"/>
            <a:ext cx="8686800" cy="5867400"/>
          </a:xfrm>
        </p:spPr>
        <p:txBody>
          <a:bodyPr/>
          <a:lstStyle/>
          <a:p>
            <a:pPr marL="0" indent="0">
              <a:spcBef>
                <a:spcPts val="1200"/>
              </a:spcBef>
              <a:spcAft>
                <a:spcPts val="1200"/>
              </a:spcAft>
              <a:buNone/>
            </a:pPr>
            <a:r>
              <a:rPr lang="en-US" sz="2400" b="1" dirty="0">
                <a:solidFill>
                  <a:srgbClr val="923222"/>
                </a:solidFill>
                <a:effectLst>
                  <a:outerShdw blurRad="38100" dist="38100" dir="2700000" algn="tl">
                    <a:srgbClr val="000000">
                      <a:alpha val="43137"/>
                    </a:srgbClr>
                  </a:outerShdw>
                </a:effectLst>
                <a:latin typeface="Calibri" panose="020F0502020204030204" pitchFamily="34" charset="0"/>
              </a:rPr>
              <a:t>Jury of Executive Opinion</a:t>
            </a:r>
            <a:r>
              <a:rPr lang="en-US" sz="2400" dirty="0">
                <a:latin typeface="Calibri" panose="020F0502020204030204" pitchFamily="34" charset="0"/>
              </a:rPr>
              <a:t>: People who know the most about the product and the marketplace would likely form a jury </a:t>
            </a:r>
            <a:r>
              <a:rPr lang="en-US" sz="1800" dirty="0">
                <a:latin typeface="Calibri" panose="020F0502020204030204" pitchFamily="34" charset="0"/>
              </a:rPr>
              <a:t>(i.e., management panel) </a:t>
            </a:r>
            <a:r>
              <a:rPr lang="en-US" sz="2400" dirty="0">
                <a:latin typeface="Calibri" panose="020F0502020204030204" pitchFamily="34" charset="0"/>
              </a:rPr>
              <a:t>to discuss and determine the forecast.</a:t>
            </a:r>
          </a:p>
          <a:p>
            <a:pPr marL="228600" indent="-228600">
              <a:spcBef>
                <a:spcPts val="600"/>
              </a:spcBef>
              <a:spcAft>
                <a:spcPts val="1000"/>
              </a:spcAft>
              <a:buClr>
                <a:srgbClr val="923222"/>
              </a:buClr>
              <a:buSzPct val="110000"/>
              <a:buFont typeface="Wingdings" panose="05000000000000000000" pitchFamily="2" charset="2"/>
              <a:buChar char="§"/>
            </a:pPr>
            <a:r>
              <a:rPr lang="en-US" sz="2000" dirty="0">
                <a:latin typeface="Calibri" panose="020F0502020204030204" pitchFamily="34" charset="0"/>
              </a:rPr>
              <a:t>Generally, the panel conducts a series of forecasting meetings to discuss the forecast until the panel reaches a consensus agreement. </a:t>
            </a:r>
          </a:p>
          <a:p>
            <a:pPr marL="228600" lvl="1" indent="0">
              <a:spcBef>
                <a:spcPts val="600"/>
              </a:spcBef>
              <a:spcAft>
                <a:spcPts val="1000"/>
              </a:spcAft>
              <a:buNone/>
            </a:pPr>
            <a:r>
              <a:rPr lang="en-US" sz="2000" b="1" u="sng" dirty="0">
                <a:latin typeface="Calibri" panose="020F0502020204030204" pitchFamily="34" charset="0"/>
              </a:rPr>
              <a:t>Advantages</a:t>
            </a:r>
            <a:r>
              <a:rPr lang="en-US" sz="2000" u="sng" dirty="0">
                <a:latin typeface="Calibri" panose="020F0502020204030204" pitchFamily="34" charset="0"/>
              </a:rPr>
              <a:t>:</a:t>
            </a:r>
          </a:p>
          <a:p>
            <a:pPr marL="685800" lvl="1" indent="-346075">
              <a:spcBef>
                <a:spcPts val="600"/>
              </a:spcBef>
              <a:spcAft>
                <a:spcPts val="1000"/>
              </a:spcAft>
              <a:buFont typeface="Wingdings" panose="05000000000000000000" pitchFamily="2" charset="2"/>
              <a:buChar char="ü"/>
            </a:pPr>
            <a:r>
              <a:rPr lang="en-US" sz="2000" dirty="0">
                <a:latin typeface="Calibri" panose="020F0502020204030204" pitchFamily="34" charset="0"/>
              </a:rPr>
              <a:t>Decisions are enriched by the experience of competent experts.</a:t>
            </a:r>
          </a:p>
          <a:p>
            <a:pPr marL="685800" lvl="1" indent="-346075">
              <a:spcBef>
                <a:spcPts val="600"/>
              </a:spcBef>
              <a:spcAft>
                <a:spcPts val="1000"/>
              </a:spcAft>
              <a:buFont typeface="Wingdings" panose="05000000000000000000" pitchFamily="2" charset="2"/>
              <a:buChar char="ü"/>
            </a:pPr>
            <a:r>
              <a:rPr lang="en-US" sz="2000" dirty="0">
                <a:latin typeface="Calibri" panose="020F0502020204030204" pitchFamily="34" charset="0"/>
              </a:rPr>
              <a:t>Companies don’t have to spend time and resources collecting data by survey.</a:t>
            </a:r>
          </a:p>
          <a:p>
            <a:pPr marL="228600" lvl="1" indent="0">
              <a:spcBef>
                <a:spcPts val="600"/>
              </a:spcBef>
              <a:spcAft>
                <a:spcPts val="1000"/>
              </a:spcAft>
              <a:buNone/>
            </a:pPr>
            <a:r>
              <a:rPr lang="en-US" sz="2000" b="1" u="sng" dirty="0">
                <a:latin typeface="Calibri" panose="020F0502020204030204" pitchFamily="34" charset="0"/>
              </a:rPr>
              <a:t>Disadvantages</a:t>
            </a:r>
            <a:r>
              <a:rPr lang="en-US" sz="2000" u="sng" dirty="0">
                <a:latin typeface="Calibri" panose="020F0502020204030204" pitchFamily="34" charset="0"/>
              </a:rPr>
              <a:t>:</a:t>
            </a:r>
          </a:p>
          <a:p>
            <a:pPr marL="685800" lvl="1" indent="-346075">
              <a:spcBef>
                <a:spcPts val="600"/>
              </a:spcBef>
              <a:spcAft>
                <a:spcPts val="1000"/>
              </a:spcAft>
              <a:buFont typeface="Wingdings" panose="05000000000000000000" pitchFamily="2" charset="2"/>
              <a:buChar char="ü"/>
            </a:pPr>
            <a:r>
              <a:rPr lang="en-US" sz="2000" dirty="0">
                <a:latin typeface="Calibri" panose="020F0502020204030204" pitchFamily="34" charset="0"/>
              </a:rPr>
              <a:t>Experts may introduce some bias.</a:t>
            </a:r>
          </a:p>
          <a:p>
            <a:pPr marL="685800" lvl="1" indent="-346075">
              <a:spcBef>
                <a:spcPts val="600"/>
              </a:spcBef>
              <a:spcAft>
                <a:spcPts val="1000"/>
              </a:spcAft>
              <a:buFont typeface="Wingdings" panose="05000000000000000000" pitchFamily="2" charset="2"/>
              <a:buChar char="ü"/>
            </a:pPr>
            <a:r>
              <a:rPr lang="en-US" sz="2000" dirty="0">
                <a:latin typeface="Calibri" panose="020F0502020204030204" pitchFamily="34" charset="0"/>
              </a:rPr>
              <a:t>Experts may become biased by their colleagues or a                                                  strongly opinionated leader.</a:t>
            </a:r>
          </a:p>
        </p:txBody>
      </p:sp>
      <p:sp>
        <p:nvSpPr>
          <p:cNvPr id="5" name="Rectangle 2"/>
          <p:cNvSpPr>
            <a:spLocks noGrp="1" noChangeArrowheads="1"/>
          </p:cNvSpPr>
          <p:nvPr>
            <p:ph type="title" idx="4294967295"/>
          </p:nvPr>
        </p:nvSpPr>
        <p:spPr>
          <a:xfrm>
            <a:off x="228600" y="132598"/>
            <a:ext cx="89154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Qualitative Forecasting - Jury of Executive Opinion</a:t>
            </a:r>
          </a:p>
        </p:txBody>
      </p:sp>
      <p:sp>
        <p:nvSpPr>
          <p:cNvPr id="6" name="Footer Placeholder 5"/>
          <p:cNvSpPr>
            <a:spLocks noGrp="1"/>
          </p:cNvSpPr>
          <p:nvPr>
            <p:ph type="ftr" sz="quarter" idx="3"/>
          </p:nvPr>
        </p:nvSpPr>
        <p:spPr/>
        <p:txBody>
          <a:bodyPr/>
          <a:lstStyle/>
          <a:p>
            <a:r>
              <a:rPr lang="en-US"/>
              <a:t>Fundamentals of Supply Chain Management – McLaury/Spiegle</a:t>
            </a:r>
            <a:endParaRPr lang="en-US" dirty="0"/>
          </a:p>
        </p:txBody>
      </p:sp>
      <p:sp>
        <p:nvSpPr>
          <p:cNvPr id="7" name="Slide Number Placeholder 6"/>
          <p:cNvSpPr>
            <a:spLocks noGrp="1"/>
          </p:cNvSpPr>
          <p:nvPr>
            <p:ph type="sldNum" sz="quarter" idx="4"/>
          </p:nvPr>
        </p:nvSpPr>
        <p:spPr/>
        <p:txBody>
          <a:bodyPr/>
          <a:lstStyle/>
          <a:p>
            <a:fld id="{E66AA3EA-0569-43EF-BBA3-83FDB109D582}" type="slidenum">
              <a:rPr lang="en-US" smtClean="0"/>
              <a:pPr/>
              <a:t>12</a:t>
            </a:fld>
            <a:endParaRPr lang="en-US" dirty="0"/>
          </a:p>
        </p:txBody>
      </p:sp>
    </p:spTree>
    <p:extLst>
      <p:ext uri="{BB962C8B-B14F-4D97-AF65-F5344CB8AC3E}">
        <p14:creationId xmlns:p14="http://schemas.microsoft.com/office/powerpoint/2010/main" val="788965598"/>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686800" cy="4351867"/>
          </a:xfrm>
        </p:spPr>
        <p:txBody>
          <a:bodyPr/>
          <a:lstStyle/>
          <a:p>
            <a:pPr marL="0" lvl="0" indent="0">
              <a:spcBef>
                <a:spcPts val="600"/>
              </a:spcBef>
              <a:spcAft>
                <a:spcPts val="600"/>
              </a:spcAft>
              <a:buNone/>
            </a:pPr>
            <a:r>
              <a:rPr lang="en-US" sz="2400" b="1" dirty="0">
                <a:solidFill>
                  <a:srgbClr val="923222"/>
                </a:solidFill>
                <a:effectLst>
                  <a:outerShdw blurRad="38100" dist="38100" dir="2700000" algn="tl">
                    <a:srgbClr val="000000">
                      <a:alpha val="43137"/>
                    </a:srgbClr>
                  </a:outerShdw>
                </a:effectLst>
                <a:latin typeface="Calibri" panose="020F0502020204030204" pitchFamily="34" charset="0"/>
              </a:rPr>
              <a:t>Delphi Method</a:t>
            </a:r>
            <a:r>
              <a:rPr lang="en-US" sz="2400" dirty="0">
                <a:latin typeface="Calibri" panose="020F0502020204030204" pitchFamily="34" charset="0"/>
              </a:rPr>
              <a:t>: Basically the same as the Jury of Executive Opinion except that the input of each of the participants is collected separately so that people are not influenced by one another. </a:t>
            </a:r>
          </a:p>
          <a:p>
            <a:pPr marL="80963" indent="-228600">
              <a:spcBef>
                <a:spcPts val="600"/>
              </a:spcBef>
              <a:spcAft>
                <a:spcPts val="600"/>
              </a:spcAft>
              <a:buClr>
                <a:srgbClr val="923222"/>
              </a:buClr>
              <a:buSzPct val="110000"/>
              <a:buFont typeface="Wingdings" panose="05000000000000000000" pitchFamily="2" charset="2"/>
              <a:buChar char="§"/>
            </a:pPr>
            <a:r>
              <a:rPr lang="en-US" sz="2000" dirty="0">
                <a:latin typeface="Calibri" panose="020F0502020204030204" pitchFamily="34" charset="0"/>
              </a:rPr>
              <a:t>This is done in several rounds until a consensus forecast is achieved. </a:t>
            </a:r>
          </a:p>
          <a:p>
            <a:pPr marL="169862" lvl="1" indent="0">
              <a:spcBef>
                <a:spcPts val="0"/>
              </a:spcBef>
              <a:spcAft>
                <a:spcPts val="600"/>
              </a:spcAft>
              <a:buNone/>
            </a:pPr>
            <a:r>
              <a:rPr lang="en-US" sz="2000" b="1" u="sng" dirty="0">
                <a:latin typeface="Calibri" panose="020F0502020204030204" pitchFamily="34" charset="0"/>
              </a:rPr>
              <a:t>Advantages</a:t>
            </a:r>
            <a:r>
              <a:rPr lang="en-US" sz="2000" u="sng" dirty="0">
                <a:latin typeface="Calibri" panose="020F0502020204030204" pitchFamily="34" charset="0"/>
              </a:rPr>
              <a:t>:</a:t>
            </a:r>
          </a:p>
          <a:p>
            <a:pPr marL="685800" lvl="1" indent="-346075">
              <a:spcBef>
                <a:spcPts val="300"/>
              </a:spcBef>
              <a:spcAft>
                <a:spcPts val="300"/>
              </a:spcAft>
              <a:buFont typeface="Wingdings" panose="05000000000000000000" pitchFamily="2" charset="2"/>
              <a:buChar char="ü"/>
            </a:pPr>
            <a:r>
              <a:rPr lang="en-US" sz="2000" dirty="0">
                <a:latin typeface="Calibri" panose="020F0502020204030204" pitchFamily="34" charset="0"/>
              </a:rPr>
              <a:t>Decisions are enriched by the experience of competent experts.</a:t>
            </a:r>
          </a:p>
          <a:p>
            <a:pPr marL="685800" lvl="1" indent="-346075">
              <a:spcBef>
                <a:spcPts val="300"/>
              </a:spcBef>
              <a:spcAft>
                <a:spcPts val="300"/>
              </a:spcAft>
              <a:buFont typeface="Wingdings" panose="05000000000000000000" pitchFamily="2" charset="2"/>
              <a:buChar char="ü"/>
            </a:pPr>
            <a:r>
              <a:rPr lang="en-US" sz="2000" dirty="0">
                <a:latin typeface="Calibri" panose="020F0502020204030204" pitchFamily="34" charset="0"/>
              </a:rPr>
              <a:t>Decisions are not likely a product of groupthink.</a:t>
            </a:r>
          </a:p>
          <a:p>
            <a:pPr marL="685800" lvl="1" indent="-346075">
              <a:spcBef>
                <a:spcPts val="300"/>
              </a:spcBef>
              <a:spcAft>
                <a:spcPts val="300"/>
              </a:spcAft>
              <a:buFont typeface="Wingdings" panose="05000000000000000000" pitchFamily="2" charset="2"/>
              <a:buChar char="ü"/>
            </a:pPr>
            <a:r>
              <a:rPr lang="en-US" sz="2000" dirty="0">
                <a:latin typeface="Calibri" panose="020F0502020204030204" pitchFamily="34" charset="0"/>
              </a:rPr>
              <a:t>Very useful for new products</a:t>
            </a:r>
          </a:p>
          <a:p>
            <a:pPr marL="169862" lvl="1" indent="0">
              <a:spcBef>
                <a:spcPts val="0"/>
              </a:spcBef>
              <a:spcAft>
                <a:spcPts val="600"/>
              </a:spcAft>
              <a:buNone/>
            </a:pPr>
            <a:r>
              <a:rPr lang="en-US" sz="2000" b="1" u="sng" dirty="0">
                <a:latin typeface="Calibri" panose="020F0502020204030204" pitchFamily="34" charset="0"/>
              </a:rPr>
              <a:t>Disadvantages</a:t>
            </a:r>
            <a:r>
              <a:rPr lang="en-US" sz="2000" u="sng" dirty="0">
                <a:latin typeface="Calibri" panose="020F0502020204030204" pitchFamily="34" charset="0"/>
              </a:rPr>
              <a:t>:</a:t>
            </a:r>
          </a:p>
          <a:p>
            <a:pPr marL="685800" lvl="1" indent="-346075">
              <a:spcBef>
                <a:spcPts val="300"/>
              </a:spcBef>
              <a:spcAft>
                <a:spcPts val="300"/>
              </a:spcAft>
              <a:buFont typeface="Wingdings" panose="05000000000000000000" pitchFamily="2" charset="2"/>
              <a:buChar char="ü"/>
            </a:pPr>
            <a:r>
              <a:rPr lang="en-US" sz="2000" dirty="0">
                <a:latin typeface="Calibri" panose="020F0502020204030204" pitchFamily="34" charset="0"/>
              </a:rPr>
              <a:t>Experts may introduce some bias.</a:t>
            </a:r>
          </a:p>
          <a:p>
            <a:pPr marL="685800" lvl="1" indent="-346075">
              <a:spcBef>
                <a:spcPts val="300"/>
              </a:spcBef>
              <a:spcAft>
                <a:spcPts val="300"/>
              </a:spcAft>
              <a:buFont typeface="Wingdings" panose="05000000000000000000" pitchFamily="2" charset="2"/>
              <a:buChar char="ü"/>
            </a:pPr>
            <a:r>
              <a:rPr lang="en-US" sz="2000" dirty="0">
                <a:latin typeface="Calibri" panose="020F0502020204030204" pitchFamily="34" charset="0"/>
              </a:rPr>
              <a:t>Companies must spend time &amp; resources collecting data by survey.</a:t>
            </a:r>
          </a:p>
        </p:txBody>
      </p:sp>
      <p:sp>
        <p:nvSpPr>
          <p:cNvPr id="5"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Qualitative Forecasting - Delphi Method</a:t>
            </a:r>
          </a:p>
        </p:txBody>
      </p:sp>
      <p:pic>
        <p:nvPicPr>
          <p:cNvPr id="2" name="Picture 1"/>
          <p:cNvPicPr>
            <a:picLocks noChangeAspect="1"/>
          </p:cNvPicPr>
          <p:nvPr/>
        </p:nvPicPr>
        <p:blipFill>
          <a:blip r:embed="rId2"/>
          <a:stretch>
            <a:fillRect/>
          </a:stretch>
        </p:blipFill>
        <p:spPr>
          <a:xfrm>
            <a:off x="7230717" y="5143500"/>
            <a:ext cx="1913283" cy="1521484"/>
          </a:xfrm>
          <a:prstGeom prst="rect">
            <a:avLst/>
          </a:prstGeom>
        </p:spPr>
      </p:pic>
      <p:sp>
        <p:nvSpPr>
          <p:cNvPr id="7" name="Rectangle 6"/>
          <p:cNvSpPr/>
          <p:nvPr/>
        </p:nvSpPr>
        <p:spPr>
          <a:xfrm>
            <a:off x="228600" y="5219700"/>
            <a:ext cx="7408333" cy="1400383"/>
          </a:xfrm>
          <a:prstGeom prst="rect">
            <a:avLst/>
          </a:prstGeom>
        </p:spPr>
        <p:txBody>
          <a:bodyPr wrap="square">
            <a:spAutoFit/>
          </a:bodyPr>
          <a:lstStyle/>
          <a:p>
            <a:pPr marL="685800" lvl="1" indent="-338138">
              <a:spcBef>
                <a:spcPts val="300"/>
              </a:spcBef>
              <a:spcAft>
                <a:spcPts val="300"/>
              </a:spcAft>
              <a:buFont typeface="Wingdings" panose="05000000000000000000" pitchFamily="2" charset="2"/>
              <a:buChar char="ü"/>
            </a:pPr>
            <a:r>
              <a:rPr lang="en-US" sz="2000" dirty="0">
                <a:latin typeface="Calibri" panose="020F0502020204030204" pitchFamily="34" charset="0"/>
              </a:rPr>
              <a:t>If external experts are used there is a risk of loss of confidential information.</a:t>
            </a:r>
          </a:p>
          <a:p>
            <a:pPr marL="685800" lvl="1" indent="-338138">
              <a:spcBef>
                <a:spcPts val="300"/>
              </a:spcBef>
              <a:spcAft>
                <a:spcPts val="300"/>
              </a:spcAft>
              <a:buFont typeface="Wingdings" panose="05000000000000000000" pitchFamily="2" charset="2"/>
              <a:buChar char="ü"/>
            </a:pPr>
            <a:r>
              <a:rPr lang="en-US" sz="2000" dirty="0">
                <a:latin typeface="Calibri" panose="020F0502020204030204" pitchFamily="34" charset="0"/>
              </a:rPr>
              <a:t>The Delphi Method can be time-consuming and is therefore best for long-term forecasts.</a:t>
            </a:r>
          </a:p>
        </p:txBody>
      </p:sp>
      <p:sp>
        <p:nvSpPr>
          <p:cNvPr id="6" name="Footer Placeholder 5"/>
          <p:cNvSpPr>
            <a:spLocks noGrp="1"/>
          </p:cNvSpPr>
          <p:nvPr>
            <p:ph type="ftr" sz="quarter" idx="3"/>
          </p:nvPr>
        </p:nvSpPr>
        <p:spPr/>
        <p:txBody>
          <a:bodyPr/>
          <a:lstStyle/>
          <a:p>
            <a:r>
              <a:rPr lang="en-US"/>
              <a:t>Fundamentals of Supply Chain Management – McLaury/Spiegle</a:t>
            </a:r>
            <a:endParaRPr lang="en-US" dirty="0"/>
          </a:p>
        </p:txBody>
      </p:sp>
      <p:sp>
        <p:nvSpPr>
          <p:cNvPr id="8" name="Slide Number Placeholder 7"/>
          <p:cNvSpPr>
            <a:spLocks noGrp="1"/>
          </p:cNvSpPr>
          <p:nvPr>
            <p:ph type="sldNum" sz="quarter" idx="4"/>
          </p:nvPr>
        </p:nvSpPr>
        <p:spPr/>
        <p:txBody>
          <a:bodyPr/>
          <a:lstStyle/>
          <a:p>
            <a:fld id="{E66AA3EA-0569-43EF-BBA3-83FDB109D582}" type="slidenum">
              <a:rPr lang="en-US" smtClean="0"/>
              <a:pPr/>
              <a:t>13</a:t>
            </a:fld>
            <a:endParaRPr lang="en-US" dirty="0"/>
          </a:p>
        </p:txBody>
      </p:sp>
    </p:spTree>
    <p:extLst>
      <p:ext uri="{BB962C8B-B14F-4D97-AF65-F5344CB8AC3E}">
        <p14:creationId xmlns:p14="http://schemas.microsoft.com/office/powerpoint/2010/main" val="3706626461"/>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
                                            <p:txEl>
                                              <p:pRg st="0" end="0"/>
                                            </p:txEl>
                                          </p:spTgt>
                                        </p:tgtEl>
                                        <p:attrNameLst>
                                          <p:attrName>style.visibility</p:attrName>
                                        </p:attrNameLst>
                                      </p:cBhvr>
                                      <p:to>
                                        <p:strVal val="visible"/>
                                      </p:to>
                                    </p:set>
                                    <p:anim calcmode="lin" valueType="num">
                                      <p:cBhvr additive="base">
                                        <p:cTn id="49"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
                                            <p:txEl>
                                              <p:pRg st="0" end="0"/>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7">
                                            <p:txEl>
                                              <p:pRg st="1" end="1"/>
                                            </p:txEl>
                                          </p:spTgt>
                                        </p:tgtEl>
                                        <p:attrNameLst>
                                          <p:attrName>style.visibility</p:attrName>
                                        </p:attrNameLst>
                                      </p:cBhvr>
                                      <p:to>
                                        <p:strVal val="visible"/>
                                      </p:to>
                                    </p:set>
                                    <p:anim calcmode="lin" valueType="num">
                                      <p:cBhvr additive="base">
                                        <p:cTn id="5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686800" cy="5867400"/>
          </a:xfrm>
        </p:spPr>
        <p:txBody>
          <a:bodyPr/>
          <a:lstStyle/>
          <a:p>
            <a:pPr marL="0" indent="0">
              <a:buNone/>
            </a:pPr>
            <a:r>
              <a:rPr lang="en-US" sz="2400" b="1" dirty="0">
                <a:solidFill>
                  <a:srgbClr val="923222"/>
                </a:solidFill>
                <a:effectLst>
                  <a:outerShdw blurRad="38100" dist="38100" dir="2700000" algn="tl">
                    <a:srgbClr val="000000">
                      <a:alpha val="43137"/>
                    </a:srgbClr>
                  </a:outerShdw>
                </a:effectLst>
                <a:latin typeface="Calibri" panose="020F0502020204030204" pitchFamily="34" charset="0"/>
              </a:rPr>
              <a:t>Sales Force Estimation</a:t>
            </a:r>
            <a:r>
              <a:rPr lang="en-US" sz="2400" dirty="0">
                <a:latin typeface="Calibri" panose="020F0502020204030204" pitchFamily="34" charset="0"/>
              </a:rPr>
              <a:t>:</a:t>
            </a:r>
            <a:r>
              <a:rPr lang="en-US" sz="2400" dirty="0">
                <a:solidFill>
                  <a:srgbClr val="923222"/>
                </a:solidFill>
                <a:effectLst>
                  <a:outerShdw blurRad="38100" dist="38100" dir="2700000" algn="tl">
                    <a:srgbClr val="000000">
                      <a:alpha val="43137"/>
                    </a:srgbClr>
                  </a:outerShdw>
                </a:effectLst>
                <a:latin typeface="Calibri" panose="020F0502020204030204" pitchFamily="34" charset="0"/>
              </a:rPr>
              <a:t> </a:t>
            </a:r>
            <a:r>
              <a:rPr lang="en-US" sz="2400" dirty="0">
                <a:latin typeface="Calibri" panose="020F0502020204030204" pitchFamily="34" charset="0"/>
              </a:rPr>
              <a:t>Basically the same as the Jury of Executive Opinion except that it is performed specifically with a group of sales people. </a:t>
            </a:r>
          </a:p>
          <a:p>
            <a:pPr marL="228600" indent="-228600">
              <a:spcAft>
                <a:spcPts val="1200"/>
              </a:spcAft>
              <a:buClr>
                <a:srgbClr val="923222"/>
              </a:buClr>
              <a:buSzPct val="110000"/>
              <a:buFont typeface="Wingdings" panose="05000000000000000000" pitchFamily="2" charset="2"/>
              <a:buChar char="§"/>
            </a:pPr>
            <a:r>
              <a:rPr lang="en-US" sz="2000" dirty="0">
                <a:latin typeface="Calibri" panose="020F0502020204030204" pitchFamily="34" charset="0"/>
              </a:rPr>
              <a:t>Individuals working in the sales function bring special expertise to forecasting because they maintain the closest contact with customers. </a:t>
            </a:r>
          </a:p>
          <a:p>
            <a:pPr marL="228600" lvl="1" indent="0">
              <a:spcBef>
                <a:spcPts val="600"/>
              </a:spcBef>
              <a:spcAft>
                <a:spcPts val="600"/>
              </a:spcAft>
              <a:buNone/>
            </a:pPr>
            <a:r>
              <a:rPr lang="en-US" sz="2000" b="1" u="sng" dirty="0">
                <a:latin typeface="Calibri" panose="020F0502020204030204" pitchFamily="34" charset="0"/>
              </a:rPr>
              <a:t>Advantages</a:t>
            </a:r>
            <a:r>
              <a:rPr lang="en-US" sz="2000" u="sng" dirty="0">
                <a:latin typeface="Calibri" panose="020F0502020204030204" pitchFamily="34" charset="0"/>
              </a:rPr>
              <a:t>:</a:t>
            </a:r>
          </a:p>
          <a:p>
            <a:pPr marL="685800" lvl="1" indent="-346075">
              <a:spcBef>
                <a:spcPts val="600"/>
              </a:spcBef>
              <a:spcAft>
                <a:spcPts val="600"/>
              </a:spcAft>
              <a:buFont typeface="Wingdings" panose="05000000000000000000" pitchFamily="2" charset="2"/>
              <a:buChar char="ü"/>
            </a:pPr>
            <a:r>
              <a:rPr lang="en-US" sz="2000" dirty="0">
                <a:latin typeface="Calibri" panose="020F0502020204030204" pitchFamily="34" charset="0"/>
              </a:rPr>
              <a:t>No additional cost to collect data because internal sales people are used.</a:t>
            </a:r>
          </a:p>
          <a:p>
            <a:pPr marL="685800" lvl="1" indent="-346075">
              <a:spcBef>
                <a:spcPts val="600"/>
              </a:spcBef>
              <a:spcAft>
                <a:spcPts val="600"/>
              </a:spcAft>
              <a:buFont typeface="Wingdings" panose="05000000000000000000" pitchFamily="2" charset="2"/>
              <a:buChar char="ü"/>
            </a:pPr>
            <a:r>
              <a:rPr lang="en-US" sz="2000" dirty="0">
                <a:latin typeface="Calibri" panose="020F0502020204030204" pitchFamily="34" charset="0"/>
              </a:rPr>
              <a:t>More reliable forecast as it is based on the opinions of salespersons in direct contact with the customer.</a:t>
            </a:r>
          </a:p>
          <a:p>
            <a:pPr marL="228600" lvl="1" indent="0">
              <a:spcBef>
                <a:spcPts val="600"/>
              </a:spcBef>
              <a:spcAft>
                <a:spcPts val="600"/>
              </a:spcAft>
              <a:buNone/>
            </a:pPr>
            <a:r>
              <a:rPr lang="en-US" sz="2000" b="1" u="sng" dirty="0">
                <a:latin typeface="Calibri" panose="020F0502020204030204" pitchFamily="34" charset="0"/>
              </a:rPr>
              <a:t>Disadvantages</a:t>
            </a:r>
            <a:r>
              <a:rPr lang="en-US" sz="2000" u="sng" dirty="0">
                <a:latin typeface="Calibri" panose="020F0502020204030204" pitchFamily="34" charset="0"/>
              </a:rPr>
              <a:t>:</a:t>
            </a:r>
          </a:p>
          <a:p>
            <a:pPr marL="685800" lvl="1" indent="-346075">
              <a:spcBef>
                <a:spcPts val="600"/>
              </a:spcBef>
              <a:spcAft>
                <a:spcPts val="600"/>
              </a:spcAft>
              <a:buFont typeface="Wingdings" panose="05000000000000000000" pitchFamily="2" charset="2"/>
              <a:buChar char="ü"/>
            </a:pPr>
            <a:r>
              <a:rPr lang="en-US" sz="2000" dirty="0">
                <a:latin typeface="Calibri" panose="020F0502020204030204" pitchFamily="34" charset="0"/>
              </a:rPr>
              <a:t>Not ideal for long term forecasting</a:t>
            </a:r>
          </a:p>
          <a:p>
            <a:pPr marL="685800" lvl="1" indent="-346075">
              <a:spcBef>
                <a:spcPts val="600"/>
              </a:spcBef>
              <a:spcAft>
                <a:spcPts val="600"/>
              </a:spcAft>
              <a:buFont typeface="Wingdings" panose="05000000000000000000" pitchFamily="2" charset="2"/>
              <a:buChar char="ü"/>
            </a:pPr>
            <a:r>
              <a:rPr lang="en-US" sz="2000" dirty="0">
                <a:latin typeface="Calibri" panose="020F0502020204030204" pitchFamily="34" charset="0"/>
              </a:rPr>
              <a:t>Salespersons may introduce some bias</a:t>
            </a:r>
          </a:p>
        </p:txBody>
      </p:sp>
      <p:sp>
        <p:nvSpPr>
          <p:cNvPr id="5"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Qualitative Forecasting - Sales Force Estimation</a:t>
            </a:r>
          </a:p>
        </p:txBody>
      </p:sp>
      <p:pic>
        <p:nvPicPr>
          <p:cNvPr id="6" name="Picture 5"/>
          <p:cNvPicPr>
            <a:picLocks noChangeAspect="1"/>
          </p:cNvPicPr>
          <p:nvPr/>
        </p:nvPicPr>
        <p:blipFill>
          <a:blip r:embed="rId2"/>
          <a:stretch>
            <a:fillRect/>
          </a:stretch>
        </p:blipFill>
        <p:spPr>
          <a:xfrm>
            <a:off x="7230717" y="5091445"/>
            <a:ext cx="1913283" cy="1521484"/>
          </a:xfrm>
          <a:prstGeom prst="rect">
            <a:avLst/>
          </a:prstGeom>
        </p:spPr>
      </p:pic>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7" name="Slide Number Placeholder 6"/>
          <p:cNvSpPr>
            <a:spLocks noGrp="1"/>
          </p:cNvSpPr>
          <p:nvPr>
            <p:ph type="sldNum" sz="quarter" idx="4"/>
          </p:nvPr>
        </p:nvSpPr>
        <p:spPr/>
        <p:txBody>
          <a:bodyPr/>
          <a:lstStyle/>
          <a:p>
            <a:fld id="{E66AA3EA-0569-43EF-BBA3-83FDB109D582}" type="slidenum">
              <a:rPr lang="en-US" smtClean="0"/>
              <a:pPr/>
              <a:t>14</a:t>
            </a:fld>
            <a:endParaRPr lang="en-US" dirty="0"/>
          </a:p>
        </p:txBody>
      </p:sp>
    </p:spTree>
    <p:extLst>
      <p:ext uri="{BB962C8B-B14F-4D97-AF65-F5344CB8AC3E}">
        <p14:creationId xmlns:p14="http://schemas.microsoft.com/office/powerpoint/2010/main" val="2167114794"/>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7248271" y="5041900"/>
            <a:ext cx="1895729" cy="1507525"/>
          </a:xfrm>
          <a:prstGeom prst="rect">
            <a:avLst/>
          </a:prstGeom>
        </p:spPr>
      </p:pic>
      <p:sp>
        <p:nvSpPr>
          <p:cNvPr id="3" name="Content Placeholder 2"/>
          <p:cNvSpPr>
            <a:spLocks noGrp="1"/>
          </p:cNvSpPr>
          <p:nvPr>
            <p:ph idx="1"/>
          </p:nvPr>
        </p:nvSpPr>
        <p:spPr>
          <a:xfrm>
            <a:off x="228600" y="914400"/>
            <a:ext cx="8686800" cy="5867400"/>
          </a:xfrm>
        </p:spPr>
        <p:txBody>
          <a:bodyPr/>
          <a:lstStyle/>
          <a:p>
            <a:pPr marL="0" lvl="0" indent="0">
              <a:spcBef>
                <a:spcPts val="1200"/>
              </a:spcBef>
              <a:spcAft>
                <a:spcPts val="1200"/>
              </a:spcAft>
              <a:buNone/>
            </a:pPr>
            <a:r>
              <a:rPr lang="en-US" sz="2400" b="1" dirty="0">
                <a:solidFill>
                  <a:srgbClr val="923222"/>
                </a:solidFill>
                <a:effectLst>
                  <a:outerShdw blurRad="38100" dist="38100" dir="2700000" algn="tl">
                    <a:srgbClr val="000000">
                      <a:alpha val="43137"/>
                    </a:srgbClr>
                  </a:outerShdw>
                </a:effectLst>
                <a:latin typeface="Calibri" panose="020F0502020204030204" pitchFamily="34" charset="0"/>
              </a:rPr>
              <a:t>Customer Survey</a:t>
            </a:r>
            <a:r>
              <a:rPr lang="en-US" sz="2400" dirty="0">
                <a:latin typeface="Calibri" panose="020F0502020204030204" pitchFamily="34" charset="0"/>
              </a:rPr>
              <a:t>:</a:t>
            </a:r>
            <a:r>
              <a:rPr lang="en-US" sz="2400" dirty="0">
                <a:solidFill>
                  <a:srgbClr val="923222"/>
                </a:solidFill>
                <a:effectLst>
                  <a:outerShdw blurRad="38100" dist="38100" dir="2700000" algn="tl">
                    <a:srgbClr val="000000">
                      <a:alpha val="43137"/>
                    </a:srgbClr>
                  </a:outerShdw>
                </a:effectLst>
                <a:latin typeface="Calibri" panose="020F0502020204030204" pitchFamily="34" charset="0"/>
              </a:rPr>
              <a:t> </a:t>
            </a:r>
            <a:r>
              <a:rPr lang="en-US" sz="2400" dirty="0">
                <a:latin typeface="Calibri" panose="020F0502020204030204" pitchFamily="34" charset="0"/>
              </a:rPr>
              <a:t>Customers are directly approached and asked to give their opinions about the particular product. </a:t>
            </a:r>
          </a:p>
          <a:p>
            <a:pPr marL="228600" indent="-228600">
              <a:spcBef>
                <a:spcPts val="1200"/>
              </a:spcBef>
              <a:spcAft>
                <a:spcPts val="1200"/>
              </a:spcAft>
              <a:buClr>
                <a:srgbClr val="923222"/>
              </a:buClr>
              <a:buSzPct val="110000"/>
              <a:buFont typeface="Wingdings" panose="05000000000000000000" pitchFamily="2" charset="2"/>
              <a:buChar char="§"/>
            </a:pPr>
            <a:r>
              <a:rPr lang="en-US" sz="2000" dirty="0">
                <a:latin typeface="Calibri" panose="020F0502020204030204" pitchFamily="34" charset="0"/>
              </a:rPr>
              <a:t>Customer surveys can be done in person (e.g., one-on-one, focus group), over the phone, by mail, email, or online. </a:t>
            </a:r>
          </a:p>
          <a:p>
            <a:pPr marL="228600" lvl="1" indent="0">
              <a:spcBef>
                <a:spcPts val="0"/>
              </a:spcBef>
              <a:spcAft>
                <a:spcPts val="600"/>
              </a:spcAft>
              <a:buNone/>
            </a:pPr>
            <a:r>
              <a:rPr lang="en-US" sz="2000" b="1" u="sng" dirty="0">
                <a:latin typeface="Calibri" panose="020F0502020204030204" pitchFamily="34" charset="0"/>
              </a:rPr>
              <a:t>Advantages</a:t>
            </a:r>
            <a:r>
              <a:rPr lang="en-US" sz="2000" u="sng" dirty="0">
                <a:latin typeface="Calibri" panose="020F0502020204030204" pitchFamily="34" charset="0"/>
              </a:rPr>
              <a:t>:</a:t>
            </a:r>
          </a:p>
          <a:p>
            <a:pPr marL="685800" lvl="1" indent="-346075">
              <a:spcBef>
                <a:spcPts val="600"/>
              </a:spcBef>
              <a:spcAft>
                <a:spcPts val="600"/>
              </a:spcAft>
              <a:buFont typeface="Wingdings" panose="05000000000000000000" pitchFamily="2" charset="2"/>
              <a:buChar char="ü"/>
            </a:pPr>
            <a:r>
              <a:rPr lang="en-US" sz="2000" dirty="0">
                <a:latin typeface="Calibri" panose="020F0502020204030204" pitchFamily="34" charset="0"/>
              </a:rPr>
              <a:t>It is a direct method of assessing information from the primary sources.</a:t>
            </a:r>
          </a:p>
          <a:p>
            <a:pPr marL="685800" lvl="1" indent="-346075">
              <a:spcBef>
                <a:spcPts val="600"/>
              </a:spcBef>
              <a:spcAft>
                <a:spcPts val="600"/>
              </a:spcAft>
              <a:buFont typeface="Wingdings" panose="05000000000000000000" pitchFamily="2" charset="2"/>
              <a:buChar char="ü"/>
            </a:pPr>
            <a:r>
              <a:rPr lang="en-US" sz="2000" dirty="0">
                <a:latin typeface="Calibri" panose="020F0502020204030204" pitchFamily="34" charset="0"/>
              </a:rPr>
              <a:t>Simple to administer and comprehend.</a:t>
            </a:r>
          </a:p>
          <a:p>
            <a:pPr marL="685800" lvl="1" indent="-346075">
              <a:spcBef>
                <a:spcPts val="600"/>
              </a:spcBef>
              <a:spcAft>
                <a:spcPts val="600"/>
              </a:spcAft>
              <a:buFont typeface="Wingdings" panose="05000000000000000000" pitchFamily="2" charset="2"/>
              <a:buChar char="ü"/>
            </a:pPr>
            <a:r>
              <a:rPr lang="en-US" sz="2000" dirty="0">
                <a:latin typeface="Calibri" panose="020F0502020204030204" pitchFamily="34" charset="0"/>
              </a:rPr>
              <a:t>It does not introduce any bias or value judgment particularly in the census method if the questions are constructed carefully. </a:t>
            </a:r>
          </a:p>
          <a:p>
            <a:pPr marL="228600" lvl="1" indent="-1588">
              <a:spcBef>
                <a:spcPts val="0"/>
              </a:spcBef>
              <a:spcAft>
                <a:spcPts val="600"/>
              </a:spcAft>
              <a:buNone/>
            </a:pPr>
            <a:r>
              <a:rPr lang="en-US" sz="2000" b="1" u="sng" dirty="0">
                <a:latin typeface="Calibri" panose="020F0502020204030204" pitchFamily="34" charset="0"/>
              </a:rPr>
              <a:t>Disadvantages</a:t>
            </a:r>
            <a:r>
              <a:rPr lang="en-US" sz="2000" u="sng" dirty="0">
                <a:latin typeface="Calibri" panose="020F0502020204030204" pitchFamily="34" charset="0"/>
              </a:rPr>
              <a:t>:</a:t>
            </a:r>
          </a:p>
          <a:p>
            <a:pPr marL="685800" lvl="1" indent="-346075">
              <a:spcBef>
                <a:spcPts val="600"/>
              </a:spcBef>
              <a:spcAft>
                <a:spcPts val="600"/>
              </a:spcAft>
              <a:buFont typeface="Wingdings" panose="05000000000000000000" pitchFamily="2" charset="2"/>
              <a:buChar char="ü"/>
            </a:pPr>
            <a:r>
              <a:rPr lang="en-US" sz="2000" dirty="0">
                <a:latin typeface="Calibri" panose="020F0502020204030204" pitchFamily="34" charset="0"/>
              </a:rPr>
              <a:t>Poorly formed questions may lead to unreliable information.</a:t>
            </a:r>
          </a:p>
          <a:p>
            <a:pPr marL="685800" lvl="1" indent="-346075">
              <a:spcBef>
                <a:spcPts val="600"/>
              </a:spcBef>
              <a:spcAft>
                <a:spcPts val="600"/>
              </a:spcAft>
              <a:buFont typeface="Wingdings" panose="05000000000000000000" pitchFamily="2" charset="2"/>
              <a:buChar char="ü"/>
            </a:pPr>
            <a:r>
              <a:rPr lang="en-US" sz="2000" dirty="0">
                <a:latin typeface="Calibri" panose="020F0502020204030204" pitchFamily="34" charset="0"/>
              </a:rPr>
              <a:t>Customers do not always answer the questionnaire. </a:t>
            </a:r>
          </a:p>
          <a:p>
            <a:pPr marL="685800" lvl="1" indent="-346075">
              <a:spcBef>
                <a:spcPts val="600"/>
              </a:spcBef>
              <a:spcAft>
                <a:spcPts val="600"/>
              </a:spcAft>
              <a:buFont typeface="Wingdings" panose="05000000000000000000" pitchFamily="2" charset="2"/>
              <a:buChar char="ü"/>
            </a:pPr>
            <a:r>
              <a:rPr lang="en-US" sz="2000" dirty="0">
                <a:latin typeface="Calibri" panose="020F0502020204030204" pitchFamily="34" charset="0"/>
              </a:rPr>
              <a:t>It is time consuming and costly to survey a large population.</a:t>
            </a:r>
          </a:p>
        </p:txBody>
      </p:sp>
      <p:sp>
        <p:nvSpPr>
          <p:cNvPr id="5"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Qualitative Forecasting - Customer Survey</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6" name="Slide Number Placeholder 5"/>
          <p:cNvSpPr>
            <a:spLocks noGrp="1"/>
          </p:cNvSpPr>
          <p:nvPr>
            <p:ph type="sldNum" sz="quarter" idx="4"/>
          </p:nvPr>
        </p:nvSpPr>
        <p:spPr/>
        <p:txBody>
          <a:bodyPr/>
          <a:lstStyle/>
          <a:p>
            <a:fld id="{E66AA3EA-0569-43EF-BBA3-83FDB109D582}" type="slidenum">
              <a:rPr lang="en-US" smtClean="0"/>
              <a:pPr/>
              <a:t>15</a:t>
            </a:fld>
            <a:endParaRPr lang="en-US" dirty="0"/>
          </a:p>
        </p:txBody>
      </p:sp>
    </p:spTree>
    <p:extLst>
      <p:ext uri="{BB962C8B-B14F-4D97-AF65-F5344CB8AC3E}">
        <p14:creationId xmlns:p14="http://schemas.microsoft.com/office/powerpoint/2010/main" val="2330232230"/>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calcmode="lin" valueType="num">
                                      <p:cBhvr additive="base">
                                        <p:cTn id="4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Quantitative Forecasting Techniques</a:t>
            </a:r>
          </a:p>
        </p:txBody>
      </p:sp>
      <p:sp>
        <p:nvSpPr>
          <p:cNvPr id="23555" name="Rectangle 3"/>
          <p:cNvSpPr>
            <a:spLocks noGrp="1" noChangeArrowheads="1"/>
          </p:cNvSpPr>
          <p:nvPr>
            <p:ph type="body" idx="4294967295"/>
          </p:nvPr>
        </p:nvSpPr>
        <p:spPr>
          <a:xfrm>
            <a:off x="228600" y="931334"/>
            <a:ext cx="8686800" cy="939800"/>
          </a:xfrm>
        </p:spPr>
        <p:txBody>
          <a:bodyPr/>
          <a:lstStyle/>
          <a:p>
            <a:pPr marL="514350" indent="-514350">
              <a:spcBef>
                <a:spcPts val="1200"/>
              </a:spcBef>
              <a:spcAft>
                <a:spcPts val="1200"/>
              </a:spcAft>
              <a:buFont typeface="+mj-lt"/>
              <a:buAutoNum type="arabicPeriod" startAt="2"/>
            </a:pPr>
            <a:r>
              <a:rPr lang="en-US" altLang="en-US" sz="32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Quantitative</a:t>
            </a:r>
            <a:r>
              <a:rPr lang="en-US" altLang="en-US" sz="3200" b="1" dirty="0">
                <a:solidFill>
                  <a:srgbClr val="FF6600"/>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 </a:t>
            </a:r>
            <a:r>
              <a:rPr lang="en-US" altLang="en-US" sz="2400" dirty="0">
                <a:latin typeface="Calibri" panose="020F0502020204030204" pitchFamily="34" charset="0"/>
                <a:ea typeface="ＭＳ Ｐゴシック" panose="020B0600070205080204" pitchFamily="34" charset="-128"/>
              </a:rPr>
              <a:t>forecasting uses </a:t>
            </a:r>
            <a:r>
              <a:rPr lang="en-US" altLang="en-US" sz="240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mathematical models </a:t>
            </a:r>
            <a:r>
              <a:rPr lang="en-US" altLang="en-US" sz="2400" dirty="0">
                <a:latin typeface="Calibri" panose="020F0502020204030204" pitchFamily="34" charset="0"/>
                <a:ea typeface="ＭＳ Ｐゴシック" panose="020B0600070205080204" pitchFamily="34" charset="-128"/>
              </a:rPr>
              <a:t>and </a:t>
            </a:r>
            <a:r>
              <a:rPr lang="en-US" altLang="en-US" sz="240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historical data</a:t>
            </a:r>
            <a:r>
              <a:rPr lang="en-US" altLang="en-US" sz="2400" dirty="0">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 </a:t>
            </a:r>
            <a:r>
              <a:rPr lang="en-US" altLang="en-US" sz="2400" dirty="0">
                <a:latin typeface="Calibri" panose="020F0502020204030204" pitchFamily="34" charset="0"/>
                <a:ea typeface="ＭＳ Ｐゴシック" panose="020B0600070205080204" pitchFamily="34" charset="-128"/>
              </a:rPr>
              <a:t>to make forecasts</a:t>
            </a:r>
            <a:endParaRPr lang="en-US" altLang="en-US" sz="2400" i="1" dirty="0">
              <a:latin typeface="Calibri" panose="020F0502020204030204" pitchFamily="34" charset="0"/>
            </a:endParaRPr>
          </a:p>
        </p:txBody>
      </p:sp>
      <p:sp>
        <p:nvSpPr>
          <p:cNvPr id="2" name="Rectangle 1"/>
          <p:cNvSpPr/>
          <p:nvPr/>
        </p:nvSpPr>
        <p:spPr>
          <a:xfrm>
            <a:off x="5846233" y="5816600"/>
            <a:ext cx="2633133" cy="830997"/>
          </a:xfrm>
          <a:prstGeom prst="rect">
            <a:avLst/>
          </a:prstGeom>
          <a:solidFill>
            <a:srgbClr val="FFFF99"/>
          </a:solidFill>
          <a:ln>
            <a:solidFill>
              <a:schemeClr val="tx1"/>
            </a:solidFill>
          </a:ln>
          <a:effectLst>
            <a:outerShdw blurRad="50800" dist="38100" dir="2700000" algn="tl" rotWithShape="0">
              <a:prstClr val="black">
                <a:alpha val="40000"/>
              </a:prstClr>
            </a:outerShdw>
          </a:effectLst>
          <a:scene3d>
            <a:camera prst="orthographicFront"/>
            <a:lightRig rig="threePt" dir="t"/>
          </a:scene3d>
          <a:sp3d>
            <a:bevelT/>
          </a:sp3d>
        </p:spPr>
        <p:txBody>
          <a:bodyPr wrap="square" tIns="91440" bIns="91440">
            <a:spAutoFit/>
          </a:bodyPr>
          <a:lstStyle/>
          <a:p>
            <a:pPr marL="0" indent="0" algn="ctr">
              <a:buFontTx/>
              <a:buNone/>
            </a:pPr>
            <a:r>
              <a:rPr lang="en-US" altLang="en-US" sz="1400" i="1" dirty="0">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It is generally recommended to use a combination of quantitative and qualitative techniques</a:t>
            </a:r>
            <a:endParaRPr lang="en-US" altLang="en-US" sz="1400" dirty="0">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endParaRPr>
          </a:p>
        </p:txBody>
      </p:sp>
      <p:pic>
        <p:nvPicPr>
          <p:cNvPr id="4" name="Picture 3"/>
          <p:cNvPicPr>
            <a:picLocks noChangeAspect="1"/>
          </p:cNvPicPr>
          <p:nvPr/>
        </p:nvPicPr>
        <p:blipFill rotWithShape="1">
          <a:blip r:embed="rId3"/>
          <a:srcRect l="8248" t="4222" r="2607" b="3899"/>
          <a:stretch/>
        </p:blipFill>
        <p:spPr>
          <a:xfrm>
            <a:off x="5105400" y="1701800"/>
            <a:ext cx="3810000" cy="3869266"/>
          </a:xfrm>
          <a:prstGeom prst="rect">
            <a:avLst/>
          </a:prstGeom>
        </p:spPr>
      </p:pic>
      <p:sp>
        <p:nvSpPr>
          <p:cNvPr id="7" name="Rectangle 3"/>
          <p:cNvSpPr txBox="1">
            <a:spLocks noChangeArrowheads="1"/>
          </p:cNvSpPr>
          <p:nvPr/>
        </p:nvSpPr>
        <p:spPr bwMode="auto">
          <a:xfrm>
            <a:off x="228600" y="2040467"/>
            <a:ext cx="5232400" cy="4741333"/>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lvl1pPr marL="192088" indent="-192088" algn="l" rtl="0" eaLnBrk="0" fontAlgn="base" hangingPunct="0">
              <a:spcBef>
                <a:spcPct val="50000"/>
              </a:spcBef>
              <a:spcAft>
                <a:spcPct val="0"/>
              </a:spcAft>
              <a:buClr>
                <a:schemeClr val="tx1"/>
              </a:buClr>
              <a:buFont typeface="Symbol" pitchFamily="18" charset="2"/>
              <a:buChar char="·"/>
              <a:defRPr sz="2200">
                <a:solidFill>
                  <a:schemeClr val="tx1"/>
                </a:solidFill>
                <a:latin typeface="+mn-lt"/>
                <a:ea typeface="+mn-ea"/>
                <a:cs typeface="+mn-cs"/>
              </a:defRPr>
            </a:lvl1pPr>
            <a:lvl2pPr marL="568325" indent="-185738" algn="l" rtl="0" eaLnBrk="0" fontAlgn="base" hangingPunct="0">
              <a:spcBef>
                <a:spcPct val="50000"/>
              </a:spcBef>
              <a:spcAft>
                <a:spcPct val="0"/>
              </a:spcAft>
              <a:buClr>
                <a:schemeClr val="tx1"/>
              </a:buClr>
              <a:buFont typeface="Symbol" pitchFamily="18" charset="2"/>
              <a:buChar char="-"/>
              <a:defRPr>
                <a:solidFill>
                  <a:schemeClr val="tx1"/>
                </a:solidFill>
                <a:latin typeface="+mn-lt"/>
              </a:defRPr>
            </a:lvl2pPr>
            <a:lvl3pPr marL="855663" indent="-96838" algn="l" rtl="0" eaLnBrk="0" fontAlgn="base" hangingPunct="0">
              <a:spcBef>
                <a:spcPct val="50000"/>
              </a:spcBef>
              <a:spcAft>
                <a:spcPct val="0"/>
              </a:spcAft>
              <a:buClr>
                <a:schemeClr val="tx1"/>
              </a:buClr>
              <a:buChar char="•"/>
              <a:defRPr>
                <a:solidFill>
                  <a:schemeClr val="tx1"/>
                </a:solidFill>
                <a:latin typeface="+mn-lt"/>
              </a:defRPr>
            </a:lvl3pPr>
            <a:lvl4pPr marL="1981200" indent="-228600" algn="l" rtl="0" eaLnBrk="0" fontAlgn="base" hangingPunct="0">
              <a:spcBef>
                <a:spcPct val="50000"/>
              </a:spcBef>
              <a:spcAft>
                <a:spcPct val="0"/>
              </a:spcAft>
              <a:buChar char="–"/>
              <a:defRPr sz="1600">
                <a:solidFill>
                  <a:schemeClr val="bg1"/>
                </a:solidFill>
                <a:latin typeface="+mn-lt"/>
              </a:defRPr>
            </a:lvl4pPr>
            <a:lvl5pPr marL="2400300" indent="-228600" algn="l" rtl="0" eaLnBrk="0" fontAlgn="base" hangingPunct="0">
              <a:spcBef>
                <a:spcPct val="50000"/>
              </a:spcBef>
              <a:spcAft>
                <a:spcPct val="0"/>
              </a:spcAft>
              <a:buChar char="•"/>
              <a:defRPr sz="1400">
                <a:solidFill>
                  <a:schemeClr val="bg1"/>
                </a:solidFill>
                <a:latin typeface="+mn-lt"/>
              </a:defRPr>
            </a:lvl5pPr>
            <a:lvl6pPr marL="2857500" indent="-228600" algn="l" rtl="0" eaLnBrk="0" fontAlgn="base" hangingPunct="0">
              <a:spcBef>
                <a:spcPct val="50000"/>
              </a:spcBef>
              <a:spcAft>
                <a:spcPct val="0"/>
              </a:spcAft>
              <a:buChar char="•"/>
              <a:defRPr sz="1400">
                <a:solidFill>
                  <a:schemeClr val="bg1"/>
                </a:solidFill>
                <a:latin typeface="+mn-lt"/>
              </a:defRPr>
            </a:lvl6pPr>
            <a:lvl7pPr marL="3314700" indent="-228600" algn="l" rtl="0" eaLnBrk="0" fontAlgn="base" hangingPunct="0">
              <a:spcBef>
                <a:spcPct val="50000"/>
              </a:spcBef>
              <a:spcAft>
                <a:spcPct val="0"/>
              </a:spcAft>
              <a:buChar char="•"/>
              <a:defRPr sz="1400">
                <a:solidFill>
                  <a:schemeClr val="bg1"/>
                </a:solidFill>
                <a:latin typeface="+mn-lt"/>
              </a:defRPr>
            </a:lvl7pPr>
            <a:lvl8pPr marL="3771900" indent="-228600" algn="l" rtl="0" eaLnBrk="0" fontAlgn="base" hangingPunct="0">
              <a:spcBef>
                <a:spcPct val="50000"/>
              </a:spcBef>
              <a:spcAft>
                <a:spcPct val="0"/>
              </a:spcAft>
              <a:buChar char="•"/>
              <a:defRPr sz="1400">
                <a:solidFill>
                  <a:schemeClr val="bg1"/>
                </a:solidFill>
                <a:latin typeface="+mn-lt"/>
              </a:defRPr>
            </a:lvl8pPr>
            <a:lvl9pPr marL="4229100" indent="-228600" algn="l" rtl="0" eaLnBrk="0" fontAlgn="base" hangingPunct="0">
              <a:spcBef>
                <a:spcPct val="50000"/>
              </a:spcBef>
              <a:spcAft>
                <a:spcPct val="0"/>
              </a:spcAft>
              <a:buChar char="•"/>
              <a:defRPr sz="1400">
                <a:solidFill>
                  <a:schemeClr val="bg1"/>
                </a:solidFill>
                <a:latin typeface="+mn-lt"/>
              </a:defRPr>
            </a:lvl9pPr>
          </a:lstStyle>
          <a:p>
            <a:pPr marL="914400" lvl="1" indent="-347663">
              <a:spcBef>
                <a:spcPts val="1200"/>
              </a:spcBef>
              <a:spcAft>
                <a:spcPts val="600"/>
              </a:spcAft>
              <a:buClr>
                <a:srgbClr val="923222"/>
              </a:buClr>
              <a:buSzPct val="115000"/>
              <a:buFont typeface="Wingdings" panose="05000000000000000000" pitchFamily="2" charset="2"/>
              <a:buChar char="§"/>
              <a:defRPr/>
            </a:pPr>
            <a:r>
              <a:rPr lang="en-US" altLang="en-US" sz="2400" u="sng" kern="0" dirty="0">
                <a:solidFill>
                  <a:srgbClr val="923222"/>
                </a:solidFill>
                <a:effectLst>
                  <a:outerShdw blurRad="38100" dist="38100" dir="2700000" algn="tl">
                    <a:srgbClr val="000000">
                      <a:alpha val="43137"/>
                    </a:srgbClr>
                  </a:outerShdw>
                </a:effectLst>
                <a:latin typeface="Calibri" panose="020F0502020204030204" pitchFamily="34" charset="0"/>
              </a:rPr>
              <a:t>Time Series</a:t>
            </a:r>
            <a:r>
              <a:rPr lang="en-US" altLang="en-US" sz="2400" kern="0" dirty="0">
                <a:solidFill>
                  <a:srgbClr val="923222"/>
                </a:solidFill>
                <a:effectLst>
                  <a:outerShdw blurRad="38100" dist="38100" dir="2700000" algn="tl">
                    <a:srgbClr val="000000">
                      <a:alpha val="43137"/>
                    </a:srgbClr>
                  </a:outerShdw>
                </a:effectLst>
                <a:latin typeface="Calibri" panose="020F0502020204030204" pitchFamily="34" charset="0"/>
              </a:rPr>
              <a:t> </a:t>
            </a:r>
            <a:r>
              <a:rPr lang="en-US" altLang="en-US" sz="2400" kern="0" dirty="0">
                <a:effectLst>
                  <a:outerShdw blurRad="38100" dist="38100" dir="2700000" algn="tl">
                    <a:srgbClr val="000000">
                      <a:alpha val="43137"/>
                    </a:srgbClr>
                  </a:outerShdw>
                </a:effectLst>
                <a:latin typeface="Calibri" panose="020F0502020204030204" pitchFamily="34" charset="0"/>
              </a:rPr>
              <a:t> </a:t>
            </a:r>
            <a:r>
              <a:rPr lang="en-US" altLang="en-US" sz="2400" kern="0" dirty="0">
                <a:latin typeface="Calibri" panose="020F0502020204030204" pitchFamily="34" charset="0"/>
              </a:rPr>
              <a:t>–  based on the assumption that the future is an extension of the past.  Historical data is used to predict future demand</a:t>
            </a:r>
          </a:p>
          <a:p>
            <a:pPr marL="1143000" lvl="2" indent="-228600">
              <a:spcBef>
                <a:spcPts val="600"/>
              </a:spcBef>
              <a:spcAft>
                <a:spcPts val="1200"/>
              </a:spcAft>
              <a:buClr>
                <a:srgbClr val="923222"/>
              </a:buClr>
              <a:buSzPct val="115000"/>
              <a:buFont typeface="Calibri" panose="020F0502020204030204" pitchFamily="34" charset="0"/>
              <a:buChar char="─"/>
              <a:defRPr/>
            </a:pPr>
            <a:r>
              <a:rPr lang="en-US" altLang="en-US" sz="2000" kern="0" dirty="0">
                <a:latin typeface="Calibri" panose="020F0502020204030204" pitchFamily="34" charset="0"/>
                <a:ea typeface="ＭＳ Ｐゴシック" panose="020B0600070205080204" pitchFamily="34" charset="-128"/>
              </a:rPr>
              <a:t>The most frequently used among              all the forecasting models.</a:t>
            </a:r>
          </a:p>
          <a:p>
            <a:pPr marL="914400" lvl="1" indent="-347663">
              <a:spcBef>
                <a:spcPts val="1200"/>
              </a:spcBef>
              <a:spcAft>
                <a:spcPts val="1200"/>
              </a:spcAft>
              <a:buClr>
                <a:srgbClr val="923222"/>
              </a:buClr>
              <a:buSzPct val="115000"/>
              <a:buFont typeface="Wingdings" panose="05000000000000000000" pitchFamily="2" charset="2"/>
              <a:buChar char="§"/>
              <a:defRPr/>
            </a:pPr>
            <a:r>
              <a:rPr lang="en-US" altLang="en-US" sz="2400" u="sng" kern="0" dirty="0">
                <a:solidFill>
                  <a:srgbClr val="923222"/>
                </a:solidFill>
                <a:effectLst>
                  <a:outerShdw blurRad="38100" dist="38100" dir="2700000" algn="tl">
                    <a:srgbClr val="000000">
                      <a:alpha val="43137"/>
                    </a:srgbClr>
                  </a:outerShdw>
                </a:effectLst>
                <a:latin typeface="Calibri" panose="020F0502020204030204" pitchFamily="34" charset="0"/>
              </a:rPr>
              <a:t>Cause and Effect</a:t>
            </a:r>
            <a:r>
              <a:rPr lang="en-US" altLang="en-US" sz="2400" kern="0" dirty="0">
                <a:solidFill>
                  <a:srgbClr val="923222"/>
                </a:solidFill>
                <a:effectLst>
                  <a:outerShdw blurRad="38100" dist="38100" dir="2700000" algn="tl">
                    <a:srgbClr val="000000">
                      <a:alpha val="43137"/>
                    </a:srgbClr>
                  </a:outerShdw>
                </a:effectLst>
                <a:latin typeface="Calibri" panose="020F0502020204030204" pitchFamily="34" charset="0"/>
              </a:rPr>
              <a:t> </a:t>
            </a:r>
            <a:r>
              <a:rPr lang="en-US" altLang="en-US" sz="2400" kern="0" dirty="0">
                <a:effectLst>
                  <a:outerShdw blurRad="38100" dist="38100" dir="2700000" algn="tl">
                    <a:srgbClr val="000000">
                      <a:alpha val="43137"/>
                    </a:srgbClr>
                  </a:outerShdw>
                </a:effectLst>
                <a:latin typeface="Calibri" panose="020F0502020204030204" pitchFamily="34" charset="0"/>
              </a:rPr>
              <a:t> </a:t>
            </a:r>
            <a:r>
              <a:rPr lang="en-US" altLang="en-US" sz="2400" kern="0" dirty="0">
                <a:latin typeface="Calibri" panose="020F0502020204030204" pitchFamily="34" charset="0"/>
              </a:rPr>
              <a:t>–  assumes that one or more factors </a:t>
            </a:r>
            <a:r>
              <a:rPr lang="en-US" altLang="en-US" sz="2000" i="1" kern="0" dirty="0">
                <a:latin typeface="Calibri" panose="020F0502020204030204" pitchFamily="34" charset="0"/>
              </a:rPr>
              <a:t>(independent variables) </a:t>
            </a:r>
            <a:r>
              <a:rPr lang="en-US" altLang="en-US" sz="2400" kern="0" dirty="0">
                <a:latin typeface="Calibri" panose="020F0502020204030204" pitchFamily="34" charset="0"/>
              </a:rPr>
              <a:t>predict future demand </a:t>
            </a:r>
            <a:r>
              <a:rPr lang="en-US" altLang="en-US" sz="2000" i="1" kern="0" dirty="0">
                <a:latin typeface="Calibri" panose="020F0502020204030204" pitchFamily="34" charset="0"/>
              </a:rPr>
              <a:t>(e.g., seasonality in retail markets)</a:t>
            </a:r>
            <a:endParaRPr lang="en-US" altLang="en-US" sz="2400" i="1" kern="0" dirty="0">
              <a:latin typeface="Calibri" panose="020F0502020204030204" pitchFamily="34" charset="0"/>
            </a:endParaRPr>
          </a:p>
        </p:txBody>
      </p:sp>
      <p:sp>
        <p:nvSpPr>
          <p:cNvPr id="5" name="Footer Placeholder 4"/>
          <p:cNvSpPr>
            <a:spLocks noGrp="1"/>
          </p:cNvSpPr>
          <p:nvPr>
            <p:ph type="ftr" sz="quarter" idx="3"/>
          </p:nvPr>
        </p:nvSpPr>
        <p:spPr/>
        <p:txBody>
          <a:bodyPr/>
          <a:lstStyle/>
          <a:p>
            <a:r>
              <a:rPr lang="en-US"/>
              <a:t>Fundamentals of Supply Chain Management – McLaury/Spiegle</a:t>
            </a:r>
            <a:endParaRPr lang="en-US" dirty="0"/>
          </a:p>
        </p:txBody>
      </p:sp>
      <p:sp>
        <p:nvSpPr>
          <p:cNvPr id="6" name="Slide Number Placeholder 5"/>
          <p:cNvSpPr>
            <a:spLocks noGrp="1"/>
          </p:cNvSpPr>
          <p:nvPr>
            <p:ph type="sldNum" sz="quarter" idx="4"/>
          </p:nvPr>
        </p:nvSpPr>
        <p:spPr/>
        <p:txBody>
          <a:bodyPr/>
          <a:lstStyle/>
          <a:p>
            <a:fld id="{E66AA3EA-0569-43EF-BBA3-83FDB109D582}" type="slidenum">
              <a:rPr lang="en-US" smtClean="0"/>
              <a:pPr/>
              <a:t>16</a:t>
            </a:fld>
            <a:endParaRPr lang="en-US" dirty="0"/>
          </a:p>
        </p:txBody>
      </p:sp>
    </p:spTree>
    <p:extLst>
      <p:ext uri="{BB962C8B-B14F-4D97-AF65-F5344CB8AC3E}">
        <p14:creationId xmlns:p14="http://schemas.microsoft.com/office/powerpoint/2010/main" val="4259779429"/>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 calcmode="lin" valueType="num">
                                      <p:cBhvr additive="base">
                                        <p:cTn id="1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228600" y="127660"/>
            <a:ext cx="8824703"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Variations in Quantitative Forecasting</a:t>
            </a:r>
          </a:p>
        </p:txBody>
      </p:sp>
      <p:sp>
        <p:nvSpPr>
          <p:cNvPr id="24579" name="Rectangle 3"/>
          <p:cNvSpPr>
            <a:spLocks noGrp="1" noChangeArrowheads="1"/>
          </p:cNvSpPr>
          <p:nvPr>
            <p:ph type="body" idx="4294967295"/>
          </p:nvPr>
        </p:nvSpPr>
        <p:spPr>
          <a:xfrm>
            <a:off x="228600" y="914400"/>
            <a:ext cx="8686800" cy="5739871"/>
          </a:xfrm>
        </p:spPr>
        <p:txBody>
          <a:bodyPr/>
          <a:lstStyle/>
          <a:p>
            <a:pPr marL="0" indent="0">
              <a:spcBef>
                <a:spcPts val="600"/>
              </a:spcBef>
              <a:spcAft>
                <a:spcPts val="600"/>
              </a:spcAft>
              <a:buFontTx/>
              <a:buNone/>
            </a:pPr>
            <a:r>
              <a:rPr lang="en-US" altLang="en-US" sz="2000" dirty="0">
                <a:latin typeface="Calibri" panose="020F0502020204030204" pitchFamily="34" charset="0"/>
                <a:ea typeface="ＭＳ Ｐゴシック" panose="020B0600070205080204" pitchFamily="34" charset="-128"/>
              </a:rPr>
              <a:t>When creating a quantitative forecast, data should be evaluated to detect for the following components:</a:t>
            </a:r>
          </a:p>
          <a:p>
            <a:pPr marL="398463" lvl="1" indent="-279400">
              <a:spcBef>
                <a:spcPts val="600"/>
              </a:spcBef>
              <a:spcAft>
                <a:spcPts val="1000"/>
              </a:spcAft>
              <a:buClr>
                <a:srgbClr val="923222"/>
              </a:buClr>
              <a:buSzPct val="115000"/>
              <a:buFont typeface="Wingdings" panose="05000000000000000000" pitchFamily="2" charset="2"/>
              <a:buChar char="§"/>
              <a:defRPr/>
            </a:pPr>
            <a:r>
              <a:rPr lang="en-US" altLang="en-US" sz="2000" u="sng" dirty="0">
                <a:solidFill>
                  <a:srgbClr val="923222"/>
                </a:solidFill>
                <a:effectLst>
                  <a:outerShdw blurRad="38100" dist="38100" dir="2700000" algn="tl">
                    <a:srgbClr val="000000">
                      <a:alpha val="43137"/>
                    </a:srgbClr>
                  </a:outerShdw>
                </a:effectLst>
                <a:latin typeface="Calibri" panose="020F0502020204030204" pitchFamily="34" charset="0"/>
              </a:rPr>
              <a:t>Trend Variations</a:t>
            </a:r>
            <a:r>
              <a:rPr lang="en-US" altLang="en-US" sz="2000" dirty="0">
                <a:latin typeface="Calibri" panose="020F0502020204030204" pitchFamily="34" charset="0"/>
              </a:rPr>
              <a:t>: Movement of a variable over time. Might be more easily observed by plotting actual demand on a graph over time to see whether there is an increase or decrease. (</a:t>
            </a:r>
            <a:r>
              <a:rPr lang="en-US" altLang="en-US" dirty="0">
                <a:latin typeface="Calibri" panose="020F0502020204030204" pitchFamily="34" charset="0"/>
              </a:rPr>
              <a:t>e.g., laptops, cell phones, fashion products, toys) </a:t>
            </a:r>
          </a:p>
          <a:p>
            <a:pPr marL="398463" lvl="1" indent="-279400">
              <a:spcBef>
                <a:spcPts val="600"/>
              </a:spcBef>
              <a:spcAft>
                <a:spcPts val="1000"/>
              </a:spcAft>
              <a:buClr>
                <a:srgbClr val="923222"/>
              </a:buClr>
              <a:buSzPct val="115000"/>
              <a:buFont typeface="Wingdings" panose="05000000000000000000" pitchFamily="2" charset="2"/>
              <a:buChar char="§"/>
              <a:defRPr/>
            </a:pPr>
            <a:r>
              <a:rPr lang="en-US" altLang="en-US" sz="2000" u="sng" dirty="0">
                <a:solidFill>
                  <a:srgbClr val="923222"/>
                </a:solidFill>
                <a:effectLst>
                  <a:outerShdw blurRad="38100" dist="38100" dir="2700000" algn="tl">
                    <a:srgbClr val="000000">
                      <a:alpha val="43137"/>
                    </a:srgbClr>
                  </a:outerShdw>
                </a:effectLst>
                <a:latin typeface="Calibri" panose="020F0502020204030204" pitchFamily="34" charset="0"/>
              </a:rPr>
              <a:t>Random Variations</a:t>
            </a:r>
            <a:r>
              <a:rPr lang="en-US" altLang="en-US" sz="2000" dirty="0">
                <a:latin typeface="Calibri" panose="020F0502020204030204" pitchFamily="34" charset="0"/>
              </a:rPr>
              <a:t>: Instability in the data caused by random occurrences. These random changes are generally very short-term, and can be caused by unexpected or unpredictable events such as weather emergencies, natural disasters, etc. </a:t>
            </a:r>
            <a:r>
              <a:rPr lang="en-US" altLang="en-US" dirty="0">
                <a:latin typeface="Calibri" panose="020F0502020204030204" pitchFamily="34" charset="0"/>
              </a:rPr>
              <a:t>(e.g., hurricane = wood for roof repair, tree clean up, water damage)</a:t>
            </a:r>
          </a:p>
          <a:p>
            <a:pPr marL="398463" lvl="1" indent="-279400">
              <a:spcBef>
                <a:spcPts val="600"/>
              </a:spcBef>
              <a:spcAft>
                <a:spcPts val="1000"/>
              </a:spcAft>
              <a:buClr>
                <a:srgbClr val="923222"/>
              </a:buClr>
              <a:buSzPct val="115000"/>
              <a:buFont typeface="Wingdings" panose="05000000000000000000" pitchFamily="2" charset="2"/>
              <a:buChar char="§"/>
              <a:defRPr/>
            </a:pPr>
            <a:r>
              <a:rPr lang="en-US" altLang="en-US" sz="2000" u="sng" dirty="0">
                <a:solidFill>
                  <a:srgbClr val="923222"/>
                </a:solidFill>
                <a:effectLst>
                  <a:outerShdw blurRad="38100" dist="38100" dir="2700000" algn="tl">
                    <a:srgbClr val="000000">
                      <a:alpha val="43137"/>
                    </a:srgbClr>
                  </a:outerShdw>
                </a:effectLst>
                <a:latin typeface="Calibri" panose="020F0502020204030204" pitchFamily="34" charset="0"/>
              </a:rPr>
              <a:t>Seasonal Variations</a:t>
            </a:r>
            <a:r>
              <a:rPr lang="en-US" altLang="en-US" sz="2000" dirty="0">
                <a:latin typeface="Calibri" panose="020F0502020204030204" pitchFamily="34" charset="0"/>
              </a:rPr>
              <a:t>: Repeating pattern of demand from year to year, or over some other time interval, with some periods of considerably higher demand than others </a:t>
            </a:r>
            <a:r>
              <a:rPr lang="en-US" altLang="en-US" dirty="0">
                <a:latin typeface="Calibri" panose="020F0502020204030204" pitchFamily="34" charset="0"/>
              </a:rPr>
              <a:t>(e.g., holiday shopping, restaurant customers, swim suits sales by region, building construction slowing in winter by region)</a:t>
            </a:r>
          </a:p>
          <a:p>
            <a:pPr marL="398463" lvl="1" indent="-279400">
              <a:spcBef>
                <a:spcPts val="600"/>
              </a:spcBef>
              <a:spcAft>
                <a:spcPts val="1000"/>
              </a:spcAft>
              <a:buClr>
                <a:srgbClr val="923222"/>
              </a:buClr>
              <a:buSzPct val="115000"/>
              <a:buFont typeface="Wingdings" panose="05000000000000000000" pitchFamily="2" charset="2"/>
              <a:buChar char="§"/>
              <a:defRPr/>
            </a:pPr>
            <a:r>
              <a:rPr lang="en-US" altLang="en-US" sz="2000" u="sng" dirty="0">
                <a:solidFill>
                  <a:srgbClr val="923222"/>
                </a:solidFill>
                <a:effectLst>
                  <a:outerShdw blurRad="38100" dist="38100" dir="2700000" algn="tl">
                    <a:srgbClr val="000000">
                      <a:alpha val="43137"/>
                    </a:srgbClr>
                  </a:outerShdw>
                </a:effectLst>
                <a:latin typeface="Calibri" panose="020F0502020204030204" pitchFamily="34" charset="0"/>
              </a:rPr>
              <a:t>Cyclical Variations</a:t>
            </a:r>
            <a:r>
              <a:rPr lang="en-US" altLang="en-US" sz="2000" dirty="0">
                <a:latin typeface="Calibri" panose="020F0502020204030204" pitchFamily="34" charset="0"/>
              </a:rPr>
              <a:t>: a wavelike pattern that can extend over multiple years, and therefore, cannot be easily predicted. </a:t>
            </a:r>
            <a:r>
              <a:rPr lang="en-US" altLang="en-US" dirty="0">
                <a:latin typeface="Calibri" panose="020F0502020204030204" pitchFamily="34" charset="0"/>
              </a:rPr>
              <a:t>(e.g., business cycle, China growth, GDP, bull or bear markets)</a:t>
            </a:r>
          </a:p>
        </p:txBody>
      </p:sp>
      <p:sp>
        <p:nvSpPr>
          <p:cNvPr id="3" name="Footer Placeholder 2"/>
          <p:cNvSpPr>
            <a:spLocks noGrp="1"/>
          </p:cNvSpPr>
          <p:nvPr>
            <p:ph type="ftr" sz="quarter" idx="3"/>
          </p:nvPr>
        </p:nvSpPr>
        <p:spPr/>
        <p:txBody>
          <a:bodyPr/>
          <a:lstStyle/>
          <a:p>
            <a:r>
              <a:rPr lang="en-US"/>
              <a:t>Fundamentals of Supply Chain Management – McLaury/Spiegle</a:t>
            </a:r>
            <a:endParaRPr lang="en-US" dirty="0"/>
          </a:p>
        </p:txBody>
      </p:sp>
      <p:sp>
        <p:nvSpPr>
          <p:cNvPr id="4" name="Slide Number Placeholder 3"/>
          <p:cNvSpPr>
            <a:spLocks noGrp="1"/>
          </p:cNvSpPr>
          <p:nvPr>
            <p:ph type="sldNum" sz="quarter" idx="4"/>
          </p:nvPr>
        </p:nvSpPr>
        <p:spPr/>
        <p:txBody>
          <a:bodyPr/>
          <a:lstStyle/>
          <a:p>
            <a:fld id="{E66AA3EA-0569-43EF-BBA3-83FDB109D582}" type="slidenum">
              <a:rPr lang="en-US" smtClean="0"/>
              <a:pPr/>
              <a:t>17</a:t>
            </a:fld>
            <a:endParaRPr lang="en-US" dirty="0"/>
          </a:p>
        </p:txBody>
      </p:sp>
    </p:spTree>
    <p:extLst>
      <p:ext uri="{BB962C8B-B14F-4D97-AF65-F5344CB8AC3E}">
        <p14:creationId xmlns:p14="http://schemas.microsoft.com/office/powerpoint/2010/main" val="657036300"/>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anim calcmode="lin" valueType="num">
                                      <p:cBhvr additive="base">
                                        <p:cTn id="7"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579">
                                            <p:txEl>
                                              <p:pRg st="2" end="2"/>
                                            </p:txEl>
                                          </p:spTgt>
                                        </p:tgtEl>
                                        <p:attrNameLst>
                                          <p:attrName>style.visibility</p:attrName>
                                        </p:attrNameLst>
                                      </p:cBhvr>
                                      <p:to>
                                        <p:strVal val="visible"/>
                                      </p:to>
                                    </p:set>
                                    <p:anim calcmode="lin" valueType="num">
                                      <p:cBhvr additive="base">
                                        <p:cTn id="13"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4579">
                                            <p:txEl>
                                              <p:pRg st="3" end="3"/>
                                            </p:txEl>
                                          </p:spTgt>
                                        </p:tgtEl>
                                        <p:attrNameLst>
                                          <p:attrName>style.visibility</p:attrName>
                                        </p:attrNameLst>
                                      </p:cBhvr>
                                      <p:to>
                                        <p:strVal val="visible"/>
                                      </p:to>
                                    </p:set>
                                    <p:anim calcmode="lin" valueType="num">
                                      <p:cBhvr additive="base">
                                        <p:cTn id="19" dur="500" fill="hold"/>
                                        <p:tgtEl>
                                          <p:spTgt spid="2457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5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4579">
                                            <p:txEl>
                                              <p:pRg st="4" end="4"/>
                                            </p:txEl>
                                          </p:spTgt>
                                        </p:tgtEl>
                                        <p:attrNameLst>
                                          <p:attrName>style.visibility</p:attrName>
                                        </p:attrNameLst>
                                      </p:cBhvr>
                                      <p:to>
                                        <p:strVal val="visible"/>
                                      </p:to>
                                    </p:set>
                                    <p:anim calcmode="lin" valueType="num">
                                      <p:cBhvr additive="base">
                                        <p:cTn id="25" dur="500" fill="hold"/>
                                        <p:tgtEl>
                                          <p:spTgt spid="2457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57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Time Series Forecasting</a:t>
            </a:r>
          </a:p>
        </p:txBody>
      </p:sp>
      <p:sp>
        <p:nvSpPr>
          <p:cNvPr id="6" name="Rectangle 5"/>
          <p:cNvSpPr/>
          <p:nvPr/>
        </p:nvSpPr>
        <p:spPr>
          <a:xfrm>
            <a:off x="228600" y="914400"/>
            <a:ext cx="8686800" cy="1200329"/>
          </a:xfrm>
          <a:prstGeom prst="rect">
            <a:avLst/>
          </a:prstGeom>
        </p:spPr>
        <p:txBody>
          <a:bodyPr wrap="square">
            <a:spAutoFit/>
          </a:bodyPr>
          <a:lstStyle/>
          <a:p>
            <a:pPr>
              <a:spcBef>
                <a:spcPts val="1200"/>
              </a:spcBef>
              <a:spcAft>
                <a:spcPts val="1200"/>
              </a:spcAft>
            </a:pPr>
            <a:r>
              <a:rPr lang="en-US" dirty="0">
                <a:latin typeface="Calibri" panose="020F0502020204030204" pitchFamily="34" charset="0"/>
                <a:ea typeface="Calibri" panose="020F0502020204030204" pitchFamily="34" charset="0"/>
              </a:rPr>
              <a:t>The main purpose of a time series model is to collect and study the past data of a given time series in order to generate probable future values for the series. </a:t>
            </a:r>
          </a:p>
        </p:txBody>
      </p:sp>
      <p:pic>
        <p:nvPicPr>
          <p:cNvPr id="8" name="Picture 7"/>
          <p:cNvPicPr>
            <a:picLocks noChangeAspect="1"/>
          </p:cNvPicPr>
          <p:nvPr/>
        </p:nvPicPr>
        <p:blipFill>
          <a:blip r:embed="rId2"/>
          <a:stretch>
            <a:fillRect/>
          </a:stretch>
        </p:blipFill>
        <p:spPr>
          <a:xfrm>
            <a:off x="4758082" y="2250381"/>
            <a:ext cx="4267570" cy="4590686"/>
          </a:xfrm>
          <a:prstGeom prst="rect">
            <a:avLst/>
          </a:prstGeom>
        </p:spPr>
      </p:pic>
      <p:sp>
        <p:nvSpPr>
          <p:cNvPr id="9" name="Rectangle 8"/>
          <p:cNvSpPr/>
          <p:nvPr/>
        </p:nvSpPr>
        <p:spPr>
          <a:xfrm>
            <a:off x="237067" y="2077015"/>
            <a:ext cx="6282267" cy="2246769"/>
          </a:xfrm>
          <a:prstGeom prst="rect">
            <a:avLst/>
          </a:prstGeom>
        </p:spPr>
        <p:txBody>
          <a:bodyPr wrap="square">
            <a:spAutoFit/>
          </a:bodyPr>
          <a:lstStyle/>
          <a:p>
            <a:pPr marL="457200" indent="-338138">
              <a:spcBef>
                <a:spcPts val="1200"/>
              </a:spcBef>
              <a:spcAft>
                <a:spcPts val="1200"/>
              </a:spcAft>
              <a:buClr>
                <a:srgbClr val="923222"/>
              </a:buClr>
              <a:buSzPct val="115000"/>
              <a:buFont typeface="Wingdings" panose="05000000000000000000" pitchFamily="2" charset="2"/>
              <a:buChar char="§"/>
            </a:pPr>
            <a:r>
              <a:rPr lang="en-US" dirty="0">
                <a:latin typeface="Calibri" panose="020F0502020204030204" pitchFamily="34" charset="0"/>
                <a:ea typeface="Calibri" panose="020F0502020204030204" pitchFamily="34" charset="0"/>
              </a:rPr>
              <a:t>In other words, </a:t>
            </a:r>
            <a:r>
              <a:rPr lang="en-US" u="sng" dirty="0">
                <a:solidFill>
                  <a:srgbClr val="923222"/>
                </a:solidFill>
                <a:latin typeface="Calibri" panose="020F0502020204030204" pitchFamily="34" charset="0"/>
                <a:ea typeface="Calibri" panose="020F0502020204030204" pitchFamily="34" charset="0"/>
              </a:rPr>
              <a:t>forecasts for future demand rely on understanding past demand</a:t>
            </a:r>
            <a:r>
              <a:rPr lang="en-US" u="sng" dirty="0">
                <a:latin typeface="Calibri" panose="020F0502020204030204" pitchFamily="34" charset="0"/>
                <a:ea typeface="Calibri" panose="020F0502020204030204" pitchFamily="34" charset="0"/>
              </a:rPr>
              <a:t>. </a:t>
            </a:r>
          </a:p>
          <a:p>
            <a:pPr marL="457200" indent="-338138">
              <a:spcBef>
                <a:spcPts val="1200"/>
              </a:spcBef>
              <a:spcAft>
                <a:spcPts val="1200"/>
              </a:spcAft>
              <a:buClr>
                <a:srgbClr val="923222"/>
              </a:buClr>
              <a:buSzPct val="115000"/>
              <a:buFont typeface="Wingdings" panose="05000000000000000000" pitchFamily="2" charset="2"/>
              <a:buChar char="§"/>
            </a:pPr>
            <a:r>
              <a:rPr lang="en-US" dirty="0">
                <a:latin typeface="Calibri" panose="020F0502020204030204" pitchFamily="34" charset="0"/>
                <a:ea typeface="Calibri" panose="020F0502020204030204" pitchFamily="34" charset="0"/>
              </a:rPr>
              <a:t>Accordingly, time series forecasting can be characterized as the act of </a:t>
            </a:r>
            <a:r>
              <a:rPr lang="en-US" u="sng" dirty="0">
                <a:solidFill>
                  <a:srgbClr val="923222"/>
                </a:solidFill>
                <a:latin typeface="Calibri" panose="020F0502020204030204" pitchFamily="34" charset="0"/>
                <a:ea typeface="Calibri" panose="020F0502020204030204" pitchFamily="34" charset="0"/>
              </a:rPr>
              <a:t>predicting the future by understanding the past</a:t>
            </a:r>
            <a:endParaRPr lang="en-US" u="sng" dirty="0">
              <a:solidFill>
                <a:srgbClr val="923222"/>
              </a:solidFill>
              <a:latin typeface="Calibri" panose="020F0502020204030204" pitchFamily="34" charset="0"/>
            </a:endParaRPr>
          </a:p>
        </p:txBody>
      </p:sp>
      <p:pic>
        <p:nvPicPr>
          <p:cNvPr id="10" name="Picture 9"/>
          <p:cNvPicPr/>
          <p:nvPr/>
        </p:nvPicPr>
        <p:blipFill rotWithShape="1">
          <a:blip r:embed="rId3">
            <a:extLst>
              <a:ext uri="{28A0092B-C50C-407E-A947-70E740481C1C}">
                <a14:useLocalDpi xmlns:a14="http://schemas.microsoft.com/office/drawing/2010/main" val="0"/>
              </a:ext>
            </a:extLst>
          </a:blip>
          <a:srcRect l="-1798" r="-2490" b="-3340"/>
          <a:stretch/>
        </p:blipFill>
        <p:spPr bwMode="auto">
          <a:xfrm>
            <a:off x="1170622" y="4343972"/>
            <a:ext cx="3145155" cy="2145665"/>
          </a:xfrm>
          <a:prstGeom prst="rect">
            <a:avLst/>
          </a:prstGeom>
          <a:ln>
            <a:solidFill>
              <a:schemeClr val="tx1"/>
            </a:solidFill>
          </a:ln>
          <a:extLst>
            <a:ext uri="{53640926-AAD7-44D8-BBD7-CCE9431645EC}">
              <a14:shadowObscured xmlns:a14="http://schemas.microsoft.com/office/drawing/2010/main"/>
            </a:ext>
          </a:extLst>
        </p:spPr>
      </p:pic>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18</a:t>
            </a:fld>
            <a:endParaRPr lang="en-US" dirty="0"/>
          </a:p>
        </p:txBody>
      </p:sp>
    </p:spTree>
    <p:extLst>
      <p:ext uri="{BB962C8B-B14F-4D97-AF65-F5344CB8AC3E}">
        <p14:creationId xmlns:p14="http://schemas.microsoft.com/office/powerpoint/2010/main" val="2330450204"/>
      </p:ext>
    </p:extLst>
  </p:cSld>
  <p:clrMapOvr>
    <a:masterClrMapping/>
  </p:clrMapOvr>
  <p:transition spd="slow">
    <p:pull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Time Series - Naïve Forecasting</a:t>
            </a:r>
          </a:p>
        </p:txBody>
      </p:sp>
      <p:sp>
        <p:nvSpPr>
          <p:cNvPr id="25603" name="Rectangle 3"/>
          <p:cNvSpPr>
            <a:spLocks noGrp="1" noChangeArrowheads="1"/>
          </p:cNvSpPr>
          <p:nvPr>
            <p:ph type="body" sz="half" idx="4294967295"/>
          </p:nvPr>
        </p:nvSpPr>
        <p:spPr>
          <a:xfrm>
            <a:off x="228600" y="914401"/>
            <a:ext cx="8686800" cy="2057400"/>
          </a:xfrm>
        </p:spPr>
        <p:txBody>
          <a:bodyPr/>
          <a:lstStyle/>
          <a:p>
            <a:pPr marL="0" lvl="1" indent="0">
              <a:spcBef>
                <a:spcPts val="600"/>
              </a:spcBef>
              <a:spcAft>
                <a:spcPts val="600"/>
              </a:spcAft>
              <a:buClr>
                <a:srgbClr val="923222"/>
              </a:buClr>
              <a:buSzPct val="115000"/>
              <a:buNone/>
              <a:tabLst>
                <a:tab pos="1606550" algn="l"/>
                <a:tab pos="2286000" algn="l"/>
              </a:tabLst>
              <a:defRPr/>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rPr>
              <a:t>Naïve</a:t>
            </a:r>
            <a:r>
              <a:rPr lang="en-US" altLang="en-US" sz="2400" b="1" dirty="0">
                <a:solidFill>
                  <a:srgbClr val="923222"/>
                </a:solidFill>
                <a:latin typeface="Calibri" panose="020F0502020204030204" pitchFamily="34" charset="0"/>
              </a:rPr>
              <a:t> </a:t>
            </a: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rPr>
              <a:t>Forecasting</a:t>
            </a:r>
            <a:r>
              <a:rPr lang="en-US" altLang="en-US" sz="2400" b="1" dirty="0">
                <a:latin typeface="Calibri" panose="020F0502020204030204" pitchFamily="34" charset="0"/>
              </a:rPr>
              <a:t> </a:t>
            </a:r>
            <a:r>
              <a:rPr lang="en-US" altLang="en-US" sz="2400" dirty="0">
                <a:latin typeface="Calibri" panose="020F0502020204030204" pitchFamily="34" charset="0"/>
              </a:rPr>
              <a:t>– Sets the demand for the next time period to be exactly the same as the demand in the last time period. </a:t>
            </a:r>
          </a:p>
          <a:p>
            <a:pPr marL="457200" lvl="1" indent="0">
              <a:spcBef>
                <a:spcPts val="600"/>
              </a:spcBef>
              <a:spcAft>
                <a:spcPts val="600"/>
              </a:spcAft>
              <a:buNone/>
            </a:pPr>
            <a:r>
              <a:rPr lang="en-US" sz="2000" b="1" u="sng" dirty="0">
                <a:latin typeface="Calibri" panose="020F0502020204030204" pitchFamily="34" charset="0"/>
              </a:rPr>
              <a:t>Advantages</a:t>
            </a:r>
            <a:r>
              <a:rPr lang="en-US" sz="2000" dirty="0">
                <a:latin typeface="Calibri" panose="020F0502020204030204" pitchFamily="34" charset="0"/>
              </a:rPr>
              <a:t>: Works well for mature products and is very easy to determine.</a:t>
            </a:r>
          </a:p>
          <a:p>
            <a:pPr marL="457200" lvl="1" indent="0">
              <a:spcBef>
                <a:spcPts val="600"/>
              </a:spcBef>
              <a:spcAft>
                <a:spcPts val="600"/>
              </a:spcAft>
              <a:buNone/>
            </a:pPr>
            <a:r>
              <a:rPr lang="en-US" sz="2000" b="1" u="sng" dirty="0">
                <a:latin typeface="Calibri" panose="020F0502020204030204" pitchFamily="34" charset="0"/>
              </a:rPr>
              <a:t>Disadvantages</a:t>
            </a:r>
            <a:r>
              <a:rPr lang="en-US" sz="2000" dirty="0">
                <a:latin typeface="Calibri" panose="020F0502020204030204" pitchFamily="34" charset="0"/>
              </a:rPr>
              <a:t>: Works for mature products </a:t>
            </a:r>
            <a:r>
              <a:rPr lang="en-US" sz="2000" u="sng" dirty="0">
                <a:latin typeface="Calibri" panose="020F0502020204030204" pitchFamily="34" charset="0"/>
              </a:rPr>
              <a:t>only</a:t>
            </a:r>
            <a:r>
              <a:rPr lang="en-US" sz="2000" dirty="0">
                <a:latin typeface="Calibri" panose="020F0502020204030204" pitchFamily="34" charset="0"/>
              </a:rPr>
              <a:t>.  Any variations in demand will create inventory issues.</a:t>
            </a:r>
          </a:p>
        </p:txBody>
      </p:sp>
      <p:pic>
        <p:nvPicPr>
          <p:cNvPr id="5" name="Picture 4"/>
          <p:cNvPicPr>
            <a:picLocks noChangeAspect="1"/>
          </p:cNvPicPr>
          <p:nvPr/>
        </p:nvPicPr>
        <p:blipFill>
          <a:blip r:embed="rId3"/>
          <a:stretch>
            <a:fillRect/>
          </a:stretch>
        </p:blipFill>
        <p:spPr>
          <a:xfrm>
            <a:off x="7324104" y="4863404"/>
            <a:ext cx="1623046" cy="1918396"/>
          </a:xfrm>
          <a:prstGeom prst="rect">
            <a:avLst/>
          </a:prstGeom>
        </p:spPr>
      </p:pic>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4301" t="18638" r="6112" b="14555"/>
          <a:stretch/>
        </p:blipFill>
        <p:spPr>
          <a:xfrm>
            <a:off x="773627" y="3339404"/>
            <a:ext cx="5444067" cy="3048000"/>
          </a:xfrm>
          <a:prstGeom prst="rect">
            <a:avLst/>
          </a:prstGeom>
        </p:spPr>
      </p:pic>
      <p:sp>
        <p:nvSpPr>
          <p:cNvPr id="4" name="Footer Placeholder 3"/>
          <p:cNvSpPr>
            <a:spLocks noGrp="1"/>
          </p:cNvSpPr>
          <p:nvPr>
            <p:ph type="ftr" sz="quarter" idx="3"/>
          </p:nvPr>
        </p:nvSpPr>
        <p:spPr/>
        <p:txBody>
          <a:bodyPr/>
          <a:lstStyle/>
          <a:p>
            <a:r>
              <a:rPr lang="en-US"/>
              <a:t>Fundamentals of Supply Chain Management – McLaury/Spiegle</a:t>
            </a:r>
            <a:endParaRPr lang="en-US" dirty="0"/>
          </a:p>
        </p:txBody>
      </p:sp>
      <p:sp>
        <p:nvSpPr>
          <p:cNvPr id="6" name="Slide Number Placeholder 5"/>
          <p:cNvSpPr>
            <a:spLocks noGrp="1"/>
          </p:cNvSpPr>
          <p:nvPr>
            <p:ph type="sldNum" sz="quarter" idx="4"/>
          </p:nvPr>
        </p:nvSpPr>
        <p:spPr/>
        <p:txBody>
          <a:bodyPr/>
          <a:lstStyle/>
          <a:p>
            <a:fld id="{E66AA3EA-0569-43EF-BBA3-83FDB109D582}" type="slidenum">
              <a:rPr lang="en-US" smtClean="0"/>
              <a:pPr/>
              <a:t>19</a:t>
            </a:fld>
            <a:endParaRPr lang="en-US" dirty="0"/>
          </a:p>
        </p:txBody>
      </p:sp>
    </p:spTree>
    <p:extLst>
      <p:ext uri="{BB962C8B-B14F-4D97-AF65-F5344CB8AC3E}">
        <p14:creationId xmlns:p14="http://schemas.microsoft.com/office/powerpoint/2010/main" val="627615352"/>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 calcmode="lin" valueType="num">
                                      <p:cBhvr additive="base">
                                        <p:cTn id="13" dur="5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60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 calcmode="lin" valueType="num">
                                      <p:cBhvr additive="base">
                                        <p:cTn id="17" dur="5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56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7324104" y="4838004"/>
            <a:ext cx="1621459" cy="1916521"/>
          </a:xfrm>
          <a:prstGeom prst="rect">
            <a:avLst/>
          </a:prstGeom>
        </p:spPr>
      </p:pic>
      <p:sp>
        <p:nvSpPr>
          <p:cNvPr id="25602" name="Rectangle 2"/>
          <p:cNvSpPr>
            <a:spLocks noGrp="1" noChangeArrowheads="1"/>
          </p:cNvSpPr>
          <p:nvPr>
            <p:ph type="title" idx="4294967295"/>
          </p:nvPr>
        </p:nvSpPr>
        <p:spPr>
          <a:xfrm>
            <a:off x="228600" y="132598"/>
            <a:ext cx="89154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Time Series - Simple Moving Average Forecasting</a:t>
            </a:r>
          </a:p>
        </p:txBody>
      </p:sp>
      <p:sp>
        <p:nvSpPr>
          <p:cNvPr id="25603" name="Rectangle 3"/>
          <p:cNvSpPr>
            <a:spLocks noGrp="1" noChangeArrowheads="1"/>
          </p:cNvSpPr>
          <p:nvPr>
            <p:ph type="body" sz="half" idx="4294967295"/>
          </p:nvPr>
        </p:nvSpPr>
        <p:spPr>
          <a:xfrm>
            <a:off x="228600" y="914400"/>
            <a:ext cx="8686800" cy="1236133"/>
          </a:xfrm>
        </p:spPr>
        <p:txBody>
          <a:bodyPr/>
          <a:lstStyle/>
          <a:p>
            <a:pPr marL="0" lvl="1" indent="0">
              <a:spcBef>
                <a:spcPts val="1200"/>
              </a:spcBef>
              <a:spcAft>
                <a:spcPts val="1200"/>
              </a:spcAft>
              <a:buClr>
                <a:srgbClr val="923222"/>
              </a:buClr>
              <a:buSzPct val="115000"/>
              <a:buNone/>
              <a:tabLst>
                <a:tab pos="1606550" algn="l"/>
                <a:tab pos="2286000" algn="l"/>
              </a:tabLst>
              <a:defRPr/>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rPr>
              <a:t>Simple Moving Average </a:t>
            </a:r>
            <a:r>
              <a:rPr lang="en-US" altLang="en-US" sz="2400" dirty="0">
                <a:latin typeface="Calibri" panose="020F0502020204030204" pitchFamily="34" charset="0"/>
              </a:rPr>
              <a:t>– Uses a calculated average of historical demand during a specified number of the most recent time periods to generate the forecast. </a:t>
            </a:r>
          </a:p>
        </p:txBody>
      </p:sp>
      <p:sp>
        <p:nvSpPr>
          <p:cNvPr id="4" name="Rectangle 3"/>
          <p:cNvSpPr/>
          <p:nvPr/>
        </p:nvSpPr>
        <p:spPr>
          <a:xfrm>
            <a:off x="4448175" y="1960019"/>
            <a:ext cx="4495800" cy="3170099"/>
          </a:xfrm>
          <a:prstGeom prst="rect">
            <a:avLst/>
          </a:prstGeom>
        </p:spPr>
        <p:txBody>
          <a:bodyPr wrap="square">
            <a:spAutoFit/>
          </a:bodyPr>
          <a:lstStyle/>
          <a:p>
            <a:pPr marL="0" lvl="1">
              <a:spcBef>
                <a:spcPts val="1200"/>
              </a:spcBef>
              <a:spcAft>
                <a:spcPts val="1200"/>
              </a:spcAft>
            </a:pPr>
            <a:r>
              <a:rPr lang="en-US" sz="2000" b="1" u="sng" dirty="0">
                <a:latin typeface="Calibri" panose="020F0502020204030204" pitchFamily="34" charset="0"/>
              </a:rPr>
              <a:t>Advantage</a:t>
            </a:r>
            <a:r>
              <a:rPr lang="en-US" sz="2000" dirty="0">
                <a:latin typeface="Calibri" panose="020F0502020204030204" pitchFamily="34" charset="0"/>
              </a:rPr>
              <a:t>: Provides a very consistent demand over long periods of time and smooths out random variations. </a:t>
            </a:r>
          </a:p>
          <a:p>
            <a:pPr marL="0" lvl="1">
              <a:spcBef>
                <a:spcPts val="1200"/>
              </a:spcBef>
              <a:spcAft>
                <a:spcPts val="1200"/>
              </a:spcAft>
            </a:pPr>
            <a:r>
              <a:rPr lang="en-US" sz="2000" b="1" u="sng" dirty="0">
                <a:latin typeface="Calibri" panose="020F0502020204030204" pitchFamily="34" charset="0"/>
              </a:rPr>
              <a:t>Disadvantage</a:t>
            </a:r>
            <a:r>
              <a:rPr lang="en-US" sz="2000" dirty="0">
                <a:latin typeface="Calibri" panose="020F0502020204030204" pitchFamily="34" charset="0"/>
              </a:rPr>
              <a:t>: Fails to identify trends or seasonal effects. </a:t>
            </a:r>
          </a:p>
          <a:p>
            <a:pPr marL="0" lvl="1">
              <a:spcBef>
                <a:spcPts val="1200"/>
              </a:spcBef>
              <a:spcAft>
                <a:spcPts val="1200"/>
              </a:spcAft>
            </a:pPr>
            <a:r>
              <a:rPr lang="en-US" sz="2000" dirty="0">
                <a:latin typeface="Calibri" panose="020F0502020204030204" pitchFamily="34" charset="0"/>
              </a:rPr>
              <a:t>It will also create shortages when demand is increasing because                             it lags behind actual demand. </a:t>
            </a:r>
            <a:endParaRPr lang="en-US" altLang="en-US" sz="2800" i="1" dirty="0">
              <a:ea typeface="ＭＳ Ｐゴシック" panose="020B0600070205080204" pitchFamily="34" charset="-128"/>
            </a:endParaRPr>
          </a:p>
        </p:txBody>
      </p:sp>
      <p:pic>
        <p:nvPicPr>
          <p:cNvPr id="5" name="Picture 4"/>
          <p:cNvPicPr>
            <a:picLocks noChangeAspect="1"/>
          </p:cNvPicPr>
          <p:nvPr/>
        </p:nvPicPr>
        <p:blipFill rotWithShape="1">
          <a:blip r:embed="rId4"/>
          <a:srcRect l="6550" r="35778" b="2856"/>
          <a:stretch/>
        </p:blipFill>
        <p:spPr>
          <a:xfrm>
            <a:off x="592667" y="2191550"/>
            <a:ext cx="3429000" cy="4256846"/>
          </a:xfrm>
          <a:prstGeom prst="rect">
            <a:avLst/>
          </a:prstGeom>
          <a:ln>
            <a:solidFill>
              <a:schemeClr val="tx1"/>
            </a:solidFill>
          </a:ln>
        </p:spPr>
      </p:pic>
      <p:sp>
        <p:nvSpPr>
          <p:cNvPr id="3" name="Footer Placeholder 2"/>
          <p:cNvSpPr>
            <a:spLocks noGrp="1"/>
          </p:cNvSpPr>
          <p:nvPr>
            <p:ph type="ftr" sz="quarter" idx="3"/>
          </p:nvPr>
        </p:nvSpPr>
        <p:spPr/>
        <p:txBody>
          <a:bodyPr/>
          <a:lstStyle/>
          <a:p>
            <a:r>
              <a:rPr lang="en-US"/>
              <a:t>Fundamentals of Supply Chain Management – McLaury/Spiegle</a:t>
            </a:r>
            <a:endParaRPr lang="en-US" dirty="0"/>
          </a:p>
        </p:txBody>
      </p:sp>
      <p:sp>
        <p:nvSpPr>
          <p:cNvPr id="6" name="Slide Number Placeholder 5"/>
          <p:cNvSpPr>
            <a:spLocks noGrp="1"/>
          </p:cNvSpPr>
          <p:nvPr>
            <p:ph type="sldNum" sz="quarter" idx="4"/>
          </p:nvPr>
        </p:nvSpPr>
        <p:spPr/>
        <p:txBody>
          <a:bodyPr/>
          <a:lstStyle/>
          <a:p>
            <a:fld id="{E66AA3EA-0569-43EF-BBA3-83FDB109D582}" type="slidenum">
              <a:rPr lang="en-US" smtClean="0"/>
              <a:pPr/>
              <a:t>20</a:t>
            </a:fld>
            <a:endParaRPr lang="en-US" dirty="0"/>
          </a:p>
        </p:txBody>
      </p:sp>
      <p:sp>
        <p:nvSpPr>
          <p:cNvPr id="2" name="TextBox 1"/>
          <p:cNvSpPr txBox="1"/>
          <p:nvPr/>
        </p:nvSpPr>
        <p:spPr>
          <a:xfrm rot="16200000">
            <a:off x="-1190557" y="4105245"/>
            <a:ext cx="3086038" cy="400110"/>
          </a:xfrm>
          <a:prstGeom prst="rect">
            <a:avLst/>
          </a:prstGeom>
          <a:noFill/>
        </p:spPr>
        <p:txBody>
          <a:bodyPr wrap="none" rtlCol="0">
            <a:spAutoFit/>
          </a:bodyPr>
          <a:lstStyle/>
          <a:p>
            <a:r>
              <a:rPr lang="en-US" sz="2000" b="1" dirty="0">
                <a:latin typeface="Calibri" panose="020F0502020204030204" pitchFamily="34" charset="0"/>
              </a:rPr>
              <a:t>EXAMPLE: </a:t>
            </a:r>
            <a:r>
              <a:rPr lang="en-US" sz="2000" dirty="0">
                <a:latin typeface="Calibri" panose="020F0502020204030204" pitchFamily="34" charset="0"/>
              </a:rPr>
              <a:t>4 months history</a:t>
            </a:r>
          </a:p>
        </p:txBody>
      </p:sp>
    </p:spTree>
    <p:extLst>
      <p:ext uri="{BB962C8B-B14F-4D97-AF65-F5344CB8AC3E}">
        <p14:creationId xmlns:p14="http://schemas.microsoft.com/office/powerpoint/2010/main" val="1776288691"/>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additive="base">
                                        <p:cTn id="1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 calcmode="lin" valueType="num">
                                      <p:cBhvr additive="base">
                                        <p:cTn id="2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 calcmode="lin" valueType="num">
                                      <p:cBhvr additive="base">
                                        <p:cTn id="3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7324104" y="4838004"/>
            <a:ext cx="1619872" cy="1943796"/>
          </a:xfrm>
          <a:prstGeom prst="rect">
            <a:avLst/>
          </a:prstGeom>
        </p:spPr>
      </p:pic>
      <p:sp>
        <p:nvSpPr>
          <p:cNvPr id="25602" name="Rectangle 2"/>
          <p:cNvSpPr>
            <a:spLocks noGrp="1" noChangeArrowheads="1"/>
          </p:cNvSpPr>
          <p:nvPr>
            <p:ph type="title" idx="4294967295"/>
          </p:nvPr>
        </p:nvSpPr>
        <p:spPr>
          <a:xfrm>
            <a:off x="228600" y="132598"/>
            <a:ext cx="89154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Time Series - Weighted Moving Average Forecasting</a:t>
            </a:r>
          </a:p>
        </p:txBody>
      </p:sp>
      <p:sp>
        <p:nvSpPr>
          <p:cNvPr id="25603" name="Rectangle 3"/>
          <p:cNvSpPr>
            <a:spLocks noGrp="1" noChangeArrowheads="1"/>
          </p:cNvSpPr>
          <p:nvPr>
            <p:ph type="body" sz="half" idx="4294967295"/>
          </p:nvPr>
        </p:nvSpPr>
        <p:spPr>
          <a:xfrm>
            <a:off x="228600" y="914400"/>
            <a:ext cx="8686800" cy="1236133"/>
          </a:xfrm>
        </p:spPr>
        <p:txBody>
          <a:bodyPr/>
          <a:lstStyle/>
          <a:p>
            <a:pPr marL="0" lvl="1" indent="0">
              <a:spcBef>
                <a:spcPts val="1200"/>
              </a:spcBef>
              <a:spcAft>
                <a:spcPts val="1200"/>
              </a:spcAft>
              <a:buClr>
                <a:srgbClr val="923222"/>
              </a:buClr>
              <a:buSzPct val="115000"/>
              <a:buNone/>
              <a:tabLst>
                <a:tab pos="1606550" algn="l"/>
                <a:tab pos="2286000" algn="l"/>
              </a:tabLst>
              <a:defRPr/>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rPr>
              <a:t>Weighted Moving Average </a:t>
            </a:r>
            <a:r>
              <a:rPr lang="en-US" altLang="en-US" sz="2400" dirty="0">
                <a:latin typeface="Calibri" panose="020F0502020204030204" pitchFamily="34" charset="0"/>
              </a:rPr>
              <a:t>– similar to a simple moving average except that not all historical time periods are valued equally. </a:t>
            </a:r>
          </a:p>
        </p:txBody>
      </p:sp>
      <p:sp>
        <p:nvSpPr>
          <p:cNvPr id="4" name="Rectangle 3"/>
          <p:cNvSpPr/>
          <p:nvPr/>
        </p:nvSpPr>
        <p:spPr>
          <a:xfrm>
            <a:off x="4572000" y="1862178"/>
            <a:ext cx="4495800" cy="2554545"/>
          </a:xfrm>
          <a:prstGeom prst="rect">
            <a:avLst/>
          </a:prstGeom>
        </p:spPr>
        <p:txBody>
          <a:bodyPr wrap="square">
            <a:spAutoFit/>
          </a:bodyPr>
          <a:lstStyle/>
          <a:p>
            <a:pPr marL="0" lvl="1">
              <a:spcBef>
                <a:spcPts val="1200"/>
              </a:spcBef>
              <a:spcAft>
                <a:spcPts val="1200"/>
              </a:spcAft>
            </a:pPr>
            <a:r>
              <a:rPr lang="en-US" sz="2000" b="1" u="sng" dirty="0">
                <a:latin typeface="Calibri" panose="020F0502020204030204" pitchFamily="34" charset="0"/>
              </a:rPr>
              <a:t>Advantage</a:t>
            </a:r>
            <a:r>
              <a:rPr lang="en-US" sz="2000" dirty="0">
                <a:latin typeface="Calibri" panose="020F0502020204030204" pitchFamily="34" charset="0"/>
              </a:rPr>
              <a:t>: More accurate than a simple moving average if actual demand is increasing or decreasing. </a:t>
            </a:r>
          </a:p>
          <a:p>
            <a:pPr marL="0" lvl="1">
              <a:spcBef>
                <a:spcPts val="1200"/>
              </a:spcBef>
              <a:spcAft>
                <a:spcPts val="1200"/>
              </a:spcAft>
            </a:pPr>
            <a:r>
              <a:rPr lang="en-US" sz="2000" b="1" u="sng" dirty="0">
                <a:latin typeface="Calibri" panose="020F0502020204030204" pitchFamily="34" charset="0"/>
              </a:rPr>
              <a:t>Disadvantage</a:t>
            </a:r>
            <a:r>
              <a:rPr lang="en-US" sz="2000" dirty="0">
                <a:latin typeface="Calibri" panose="020F0502020204030204" pitchFamily="34" charset="0"/>
              </a:rPr>
              <a:t>: Though better than a simple moving average, this technique will still lag behind actual demand to some degree. </a:t>
            </a:r>
          </a:p>
        </p:txBody>
      </p:sp>
      <p:pic>
        <p:nvPicPr>
          <p:cNvPr id="6" name="Picture 5"/>
          <p:cNvPicPr>
            <a:picLocks noChangeAspect="1"/>
          </p:cNvPicPr>
          <p:nvPr/>
        </p:nvPicPr>
        <p:blipFill rotWithShape="1">
          <a:blip r:embed="rId4"/>
          <a:srcRect l="7512" r="9043" b="3550"/>
          <a:stretch/>
        </p:blipFill>
        <p:spPr>
          <a:xfrm>
            <a:off x="521542" y="1733315"/>
            <a:ext cx="3958912" cy="4756099"/>
          </a:xfrm>
          <a:prstGeom prst="rect">
            <a:avLst/>
          </a:prstGeom>
          <a:ln>
            <a:solidFill>
              <a:schemeClr val="tx1"/>
            </a:solidFill>
          </a:ln>
        </p:spPr>
      </p:pic>
      <p:sp>
        <p:nvSpPr>
          <p:cNvPr id="8" name="Rectangle 7"/>
          <p:cNvSpPr/>
          <p:nvPr/>
        </p:nvSpPr>
        <p:spPr>
          <a:xfrm>
            <a:off x="4572000" y="4548893"/>
            <a:ext cx="2843650" cy="1631216"/>
          </a:xfrm>
          <a:prstGeom prst="rect">
            <a:avLst/>
          </a:prstGeom>
        </p:spPr>
        <p:txBody>
          <a:bodyPr wrap="square">
            <a:spAutoFit/>
          </a:bodyPr>
          <a:lstStyle/>
          <a:p>
            <a:pPr marL="0" lvl="1">
              <a:spcBef>
                <a:spcPts val="1200"/>
              </a:spcBef>
              <a:spcAft>
                <a:spcPts val="1200"/>
              </a:spcAft>
            </a:pPr>
            <a:r>
              <a:rPr lang="en-US" sz="2000" dirty="0">
                <a:latin typeface="Calibri" panose="020F0502020204030204" pitchFamily="34" charset="0"/>
              </a:rPr>
              <a:t>The challenging part of using a weighted moving average is deciding on the weight for each time period. </a:t>
            </a:r>
          </a:p>
        </p:txBody>
      </p:sp>
      <p:sp>
        <p:nvSpPr>
          <p:cNvPr id="5" name="Footer Placeholder 4"/>
          <p:cNvSpPr>
            <a:spLocks noGrp="1"/>
          </p:cNvSpPr>
          <p:nvPr>
            <p:ph type="ftr" sz="quarter" idx="3"/>
          </p:nvPr>
        </p:nvSpPr>
        <p:spPr/>
        <p:txBody>
          <a:bodyPr/>
          <a:lstStyle/>
          <a:p>
            <a:r>
              <a:rPr lang="en-US"/>
              <a:t>Fundamentals of Supply Chain Management – McLaury/Spiegle</a:t>
            </a:r>
            <a:endParaRPr lang="en-US" dirty="0"/>
          </a:p>
        </p:txBody>
      </p:sp>
      <p:sp>
        <p:nvSpPr>
          <p:cNvPr id="7" name="Slide Number Placeholder 6"/>
          <p:cNvSpPr>
            <a:spLocks noGrp="1"/>
          </p:cNvSpPr>
          <p:nvPr>
            <p:ph type="sldNum" sz="quarter" idx="4"/>
          </p:nvPr>
        </p:nvSpPr>
        <p:spPr/>
        <p:txBody>
          <a:bodyPr/>
          <a:lstStyle/>
          <a:p>
            <a:fld id="{E66AA3EA-0569-43EF-BBA3-83FDB109D582}" type="slidenum">
              <a:rPr lang="en-US" smtClean="0"/>
              <a:pPr/>
              <a:t>21</a:t>
            </a:fld>
            <a:endParaRPr lang="en-US" dirty="0"/>
          </a:p>
        </p:txBody>
      </p:sp>
      <p:sp>
        <p:nvSpPr>
          <p:cNvPr id="10" name="TextBox 9"/>
          <p:cNvSpPr txBox="1"/>
          <p:nvPr/>
        </p:nvSpPr>
        <p:spPr>
          <a:xfrm rot="16200000">
            <a:off x="-1207490" y="3914745"/>
            <a:ext cx="3086038" cy="400110"/>
          </a:xfrm>
          <a:prstGeom prst="rect">
            <a:avLst/>
          </a:prstGeom>
          <a:noFill/>
        </p:spPr>
        <p:txBody>
          <a:bodyPr wrap="none" rtlCol="0">
            <a:spAutoFit/>
          </a:bodyPr>
          <a:lstStyle/>
          <a:p>
            <a:r>
              <a:rPr lang="en-US" sz="2000" b="1" dirty="0">
                <a:latin typeface="Calibri" panose="020F0502020204030204" pitchFamily="34" charset="0"/>
              </a:rPr>
              <a:t>EXAMPLE: </a:t>
            </a:r>
            <a:r>
              <a:rPr lang="en-US" sz="2000" dirty="0">
                <a:latin typeface="Calibri" panose="020F0502020204030204" pitchFamily="34" charset="0"/>
              </a:rPr>
              <a:t>4 months history</a:t>
            </a:r>
          </a:p>
        </p:txBody>
      </p:sp>
    </p:spTree>
    <p:extLst>
      <p:ext uri="{BB962C8B-B14F-4D97-AF65-F5344CB8AC3E}">
        <p14:creationId xmlns:p14="http://schemas.microsoft.com/office/powerpoint/2010/main" val="1310043091"/>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additive="base">
                                        <p:cTn id="1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 calcmode="lin" valueType="num">
                                      <p:cBhvr additive="base">
                                        <p:cTn id="2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anim calcmode="lin" valueType="num">
                                      <p:cBhvr additive="base">
                                        <p:cTn id="3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a:fillRect/>
          </a:stretch>
        </p:blipFill>
        <p:spPr>
          <a:xfrm>
            <a:off x="7332057" y="4838004"/>
            <a:ext cx="1591810" cy="1943796"/>
          </a:xfrm>
          <a:prstGeom prst="rect">
            <a:avLst/>
          </a:prstGeom>
        </p:spPr>
      </p:pic>
      <p:sp>
        <p:nvSpPr>
          <p:cNvPr id="25602" name="Rectangle 2"/>
          <p:cNvSpPr>
            <a:spLocks noGrp="1" noChangeArrowheads="1"/>
          </p:cNvSpPr>
          <p:nvPr>
            <p:ph type="title" idx="4294967295"/>
          </p:nvPr>
        </p:nvSpPr>
        <p:spPr>
          <a:xfrm>
            <a:off x="228600" y="132598"/>
            <a:ext cx="89154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Time Series - Exponential Smoothing</a:t>
            </a:r>
          </a:p>
        </p:txBody>
      </p:sp>
      <p:sp>
        <p:nvSpPr>
          <p:cNvPr id="25603" name="Rectangle 3"/>
          <p:cNvSpPr>
            <a:spLocks noGrp="1" noChangeArrowheads="1"/>
          </p:cNvSpPr>
          <p:nvPr>
            <p:ph type="body" sz="half" idx="4294967295"/>
          </p:nvPr>
        </p:nvSpPr>
        <p:spPr>
          <a:xfrm>
            <a:off x="237067" y="867538"/>
            <a:ext cx="8686800" cy="1350729"/>
          </a:xfrm>
        </p:spPr>
        <p:txBody>
          <a:bodyPr/>
          <a:lstStyle/>
          <a:p>
            <a:pPr marL="0" lvl="1" indent="0">
              <a:lnSpc>
                <a:spcPct val="90000"/>
              </a:lnSpc>
              <a:spcBef>
                <a:spcPts val="0"/>
              </a:spcBef>
              <a:spcAft>
                <a:spcPts val="0"/>
              </a:spcAft>
              <a:buClr>
                <a:srgbClr val="923222"/>
              </a:buClr>
              <a:buSzPct val="115000"/>
              <a:buNone/>
              <a:tabLst>
                <a:tab pos="1606550" algn="l"/>
                <a:tab pos="2286000" algn="l"/>
              </a:tabLst>
              <a:defRPr/>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rPr>
              <a:t>Exponential Smoothing </a:t>
            </a:r>
            <a:r>
              <a:rPr lang="en-US" altLang="en-US" sz="2400" dirty="0">
                <a:latin typeface="Calibri" panose="020F0502020204030204" pitchFamily="34" charset="0"/>
              </a:rPr>
              <a:t>– is a more sophisticated version of the weighted moving average. Requires 3 basic elements: last period’s forecast, last period’s actual demand, and a smoothing factor, which is a number greater than 0 and less than 1 </a:t>
            </a:r>
            <a:r>
              <a:rPr lang="en-US" altLang="en-US" dirty="0">
                <a:latin typeface="Calibri" panose="020F0502020204030204" pitchFamily="34" charset="0"/>
              </a:rPr>
              <a:t>(used as a weighting percentage).</a:t>
            </a:r>
            <a:r>
              <a:rPr lang="en-US" altLang="en-US" sz="2400" dirty="0">
                <a:latin typeface="Calibri" panose="020F0502020204030204" pitchFamily="34" charset="0"/>
              </a:rPr>
              <a:t> </a:t>
            </a:r>
          </a:p>
        </p:txBody>
      </p:sp>
      <p:sp>
        <p:nvSpPr>
          <p:cNvPr id="4" name="Rectangle 3"/>
          <p:cNvSpPr/>
          <p:nvPr/>
        </p:nvSpPr>
        <p:spPr>
          <a:xfrm>
            <a:off x="4572000" y="2326323"/>
            <a:ext cx="4495800" cy="2862322"/>
          </a:xfrm>
          <a:prstGeom prst="rect">
            <a:avLst/>
          </a:prstGeom>
        </p:spPr>
        <p:txBody>
          <a:bodyPr wrap="square">
            <a:spAutoFit/>
          </a:bodyPr>
          <a:lstStyle/>
          <a:p>
            <a:pPr marL="0" lvl="1">
              <a:spcBef>
                <a:spcPts val="1200"/>
              </a:spcBef>
              <a:spcAft>
                <a:spcPts val="1200"/>
              </a:spcAft>
            </a:pPr>
            <a:r>
              <a:rPr lang="en-US" sz="2000" b="1" u="sng" dirty="0">
                <a:latin typeface="Calibri" panose="020F0502020204030204" pitchFamily="34" charset="0"/>
              </a:rPr>
              <a:t>Advantage</a:t>
            </a:r>
            <a:r>
              <a:rPr lang="en-US" sz="2000" dirty="0">
                <a:latin typeface="Calibri" panose="020F0502020204030204" pitchFamily="34" charset="0"/>
              </a:rPr>
              <a:t>: Exponential smoothing will create a forecast more responsive to trends than previous methods. </a:t>
            </a:r>
          </a:p>
          <a:p>
            <a:pPr marL="0" lvl="1">
              <a:spcBef>
                <a:spcPts val="1200"/>
              </a:spcBef>
              <a:spcAft>
                <a:spcPts val="1200"/>
              </a:spcAft>
            </a:pPr>
            <a:r>
              <a:rPr lang="en-US" sz="2000" b="1" u="sng" dirty="0">
                <a:latin typeface="Calibri" panose="020F0502020204030204" pitchFamily="34" charset="0"/>
              </a:rPr>
              <a:t>Disadvantage</a:t>
            </a:r>
            <a:r>
              <a:rPr lang="en-US" sz="2000" dirty="0">
                <a:latin typeface="Calibri" panose="020F0502020204030204" pitchFamily="34" charset="0"/>
              </a:rPr>
              <a:t>: Exponential smoothing will still lag behind trends, especially upward trends since the smoothing factor would need to be greater than 1.0 to approach an accurate forecast. </a:t>
            </a:r>
          </a:p>
        </p:txBody>
      </p:sp>
      <p:pic>
        <p:nvPicPr>
          <p:cNvPr id="5" name="Picture 4"/>
          <p:cNvPicPr>
            <a:picLocks noChangeAspect="1"/>
          </p:cNvPicPr>
          <p:nvPr/>
        </p:nvPicPr>
        <p:blipFill rotWithShape="1">
          <a:blip r:embed="rId4"/>
          <a:srcRect l="7084" r="22428" b="2494"/>
          <a:stretch/>
        </p:blipFill>
        <p:spPr>
          <a:xfrm>
            <a:off x="497409" y="2252132"/>
            <a:ext cx="3801533" cy="4284135"/>
          </a:xfrm>
          <a:prstGeom prst="rect">
            <a:avLst/>
          </a:prstGeom>
          <a:ln>
            <a:solidFill>
              <a:schemeClr val="tx1"/>
            </a:solidFill>
          </a:ln>
        </p:spPr>
      </p:pic>
      <p:sp>
        <p:nvSpPr>
          <p:cNvPr id="7" name="Rectangle 6"/>
          <p:cNvSpPr/>
          <p:nvPr/>
        </p:nvSpPr>
        <p:spPr>
          <a:xfrm>
            <a:off x="4572000" y="5226784"/>
            <a:ext cx="2752104" cy="1631216"/>
          </a:xfrm>
          <a:prstGeom prst="rect">
            <a:avLst/>
          </a:prstGeom>
        </p:spPr>
        <p:txBody>
          <a:bodyPr wrap="square">
            <a:spAutoFit/>
          </a:bodyPr>
          <a:lstStyle/>
          <a:p>
            <a:r>
              <a:rPr lang="en-US" sz="2000" dirty="0">
                <a:latin typeface="Calibri" panose="020F0502020204030204" pitchFamily="34" charset="0"/>
              </a:rPr>
              <a:t>The smoothing constant is not a given. It has to be determined based on the best judgment of a company’s experts. </a:t>
            </a:r>
          </a:p>
        </p:txBody>
      </p:sp>
      <p:sp>
        <p:nvSpPr>
          <p:cNvPr id="3" name="Footer Placeholder 2"/>
          <p:cNvSpPr>
            <a:spLocks noGrp="1"/>
          </p:cNvSpPr>
          <p:nvPr>
            <p:ph type="ftr" sz="quarter" idx="3"/>
          </p:nvPr>
        </p:nvSpPr>
        <p:spPr/>
        <p:txBody>
          <a:bodyPr/>
          <a:lstStyle/>
          <a:p>
            <a:r>
              <a:rPr lang="en-US"/>
              <a:t>Fundamentals of Supply Chain Management – McLaury/Spiegle</a:t>
            </a:r>
            <a:endParaRPr lang="en-US" dirty="0"/>
          </a:p>
        </p:txBody>
      </p:sp>
      <p:sp>
        <p:nvSpPr>
          <p:cNvPr id="6" name="Slide Number Placeholder 5"/>
          <p:cNvSpPr>
            <a:spLocks noGrp="1"/>
          </p:cNvSpPr>
          <p:nvPr>
            <p:ph type="sldNum" sz="quarter" idx="4"/>
          </p:nvPr>
        </p:nvSpPr>
        <p:spPr/>
        <p:txBody>
          <a:bodyPr/>
          <a:lstStyle/>
          <a:p>
            <a:fld id="{E66AA3EA-0569-43EF-BBA3-83FDB109D582}" type="slidenum">
              <a:rPr lang="en-US" smtClean="0"/>
              <a:pPr/>
              <a:t>22</a:t>
            </a:fld>
            <a:endParaRPr lang="en-US" dirty="0"/>
          </a:p>
        </p:txBody>
      </p:sp>
    </p:spTree>
    <p:extLst>
      <p:ext uri="{BB962C8B-B14F-4D97-AF65-F5344CB8AC3E}">
        <p14:creationId xmlns:p14="http://schemas.microsoft.com/office/powerpoint/2010/main" val="3486815263"/>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additive="base">
                                        <p:cTn id="1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 calcmode="lin" valueType="num">
                                      <p:cBhvr additive="base">
                                        <p:cTn id="2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 calcmode="lin" valueType="num">
                                      <p:cBhvr additive="base">
                                        <p:cTn id="3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a:fillRect/>
          </a:stretch>
        </p:blipFill>
        <p:spPr>
          <a:xfrm>
            <a:off x="7315200" y="4838004"/>
            <a:ext cx="1600200" cy="1948967"/>
          </a:xfrm>
          <a:prstGeom prst="rect">
            <a:avLst/>
          </a:prstGeom>
        </p:spPr>
      </p:pic>
      <p:sp>
        <p:nvSpPr>
          <p:cNvPr id="25602" name="Rectangle 2"/>
          <p:cNvSpPr>
            <a:spLocks noGrp="1" noChangeArrowheads="1"/>
          </p:cNvSpPr>
          <p:nvPr>
            <p:ph type="title" idx="4294967295"/>
          </p:nvPr>
        </p:nvSpPr>
        <p:spPr>
          <a:xfrm>
            <a:off x="228600" y="132598"/>
            <a:ext cx="89154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Time Series - Linear Trend Forecasting</a:t>
            </a:r>
          </a:p>
        </p:txBody>
      </p:sp>
      <p:sp>
        <p:nvSpPr>
          <p:cNvPr id="25603" name="Rectangle 3"/>
          <p:cNvSpPr>
            <a:spLocks noGrp="1" noChangeArrowheads="1"/>
          </p:cNvSpPr>
          <p:nvPr>
            <p:ph type="body" sz="half" idx="4294967295"/>
          </p:nvPr>
        </p:nvSpPr>
        <p:spPr>
          <a:xfrm>
            <a:off x="228600" y="914400"/>
            <a:ext cx="8686800" cy="1549400"/>
          </a:xfrm>
        </p:spPr>
        <p:txBody>
          <a:bodyPr/>
          <a:lstStyle/>
          <a:p>
            <a:pPr marL="0" lvl="1" indent="0">
              <a:spcBef>
                <a:spcPts val="1200"/>
              </a:spcBef>
              <a:spcAft>
                <a:spcPts val="1200"/>
              </a:spcAft>
              <a:buClr>
                <a:srgbClr val="923222"/>
              </a:buClr>
              <a:buSzPct val="115000"/>
              <a:buNone/>
              <a:tabLst>
                <a:tab pos="1606550" algn="l"/>
                <a:tab pos="2286000" algn="l"/>
              </a:tabLst>
              <a:defRPr/>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rPr>
              <a:t>Linear Trend Forecasting </a:t>
            </a:r>
            <a:r>
              <a:rPr lang="en-US" altLang="en-US" sz="2400" dirty="0">
                <a:latin typeface="Calibri" panose="020F0502020204030204" pitchFamily="34" charset="0"/>
              </a:rPr>
              <a:t>– is imposing a best fit line across the demand data of an entire time series.  Used as the basis for forecasting future values by extending the line past the existing data and out into the future while maintaining the slope of the line.  </a:t>
            </a:r>
          </a:p>
        </p:txBody>
      </p:sp>
      <p:sp>
        <p:nvSpPr>
          <p:cNvPr id="4" name="Rectangle 3"/>
          <p:cNvSpPr/>
          <p:nvPr/>
        </p:nvSpPr>
        <p:spPr>
          <a:xfrm>
            <a:off x="4572000" y="2608927"/>
            <a:ext cx="4495800" cy="2554545"/>
          </a:xfrm>
          <a:prstGeom prst="rect">
            <a:avLst/>
          </a:prstGeom>
        </p:spPr>
        <p:txBody>
          <a:bodyPr wrap="square">
            <a:spAutoFit/>
          </a:bodyPr>
          <a:lstStyle/>
          <a:p>
            <a:pPr marL="0" lvl="1">
              <a:spcBef>
                <a:spcPts val="1200"/>
              </a:spcBef>
              <a:spcAft>
                <a:spcPts val="1200"/>
              </a:spcAft>
            </a:pPr>
            <a:r>
              <a:rPr lang="en-US" sz="2000" u="sng" dirty="0">
                <a:latin typeface="Calibri" panose="020F0502020204030204" pitchFamily="34" charset="0"/>
              </a:rPr>
              <a:t>Advantage</a:t>
            </a:r>
            <a:r>
              <a:rPr lang="en-US" sz="2000" dirty="0">
                <a:latin typeface="Calibri" panose="020F0502020204030204" pitchFamily="34" charset="0"/>
              </a:rPr>
              <a:t>: can provide an accurate forecast into the future even if there is random variation. </a:t>
            </a:r>
          </a:p>
          <a:p>
            <a:pPr marL="0" lvl="1">
              <a:spcBef>
                <a:spcPts val="1200"/>
              </a:spcBef>
              <a:spcAft>
                <a:spcPts val="1200"/>
              </a:spcAft>
            </a:pPr>
            <a:r>
              <a:rPr lang="en-US" sz="2000" u="sng" dirty="0">
                <a:latin typeface="Calibri" panose="020F0502020204030204" pitchFamily="34" charset="0"/>
              </a:rPr>
              <a:t>Disadvantage</a:t>
            </a:r>
            <a:r>
              <a:rPr lang="en-US" sz="2000" dirty="0">
                <a:latin typeface="Calibri" panose="020F0502020204030204" pitchFamily="34" charset="0"/>
              </a:rPr>
              <a:t>: seasonal and cyclical variations are softened, making this method more useful for annual forecasts than for monthly forecasts. </a:t>
            </a:r>
          </a:p>
        </p:txBody>
      </p:sp>
      <p:pic>
        <p:nvPicPr>
          <p:cNvPr id="9" name="Picture 8"/>
          <p:cNvPicPr>
            <a:picLocks noChangeAspect="1"/>
          </p:cNvPicPr>
          <p:nvPr/>
        </p:nvPicPr>
        <p:blipFill>
          <a:blip r:embed="rId4"/>
          <a:stretch>
            <a:fillRect/>
          </a:stretch>
        </p:blipFill>
        <p:spPr>
          <a:xfrm>
            <a:off x="163224" y="2505940"/>
            <a:ext cx="4408776" cy="4003622"/>
          </a:xfrm>
          <a:prstGeom prst="rect">
            <a:avLst/>
          </a:prstGeom>
        </p:spPr>
      </p:pic>
      <p:sp>
        <p:nvSpPr>
          <p:cNvPr id="3" name="Footer Placeholder 2"/>
          <p:cNvSpPr>
            <a:spLocks noGrp="1"/>
          </p:cNvSpPr>
          <p:nvPr>
            <p:ph type="ftr" sz="quarter" idx="3"/>
          </p:nvPr>
        </p:nvSpPr>
        <p:spPr/>
        <p:txBody>
          <a:bodyPr/>
          <a:lstStyle/>
          <a:p>
            <a:r>
              <a:rPr lang="en-US"/>
              <a:t>Fundamentals of Supply Chain Management – McLaury/Spiegle</a:t>
            </a:r>
            <a:endParaRPr lang="en-US" dirty="0"/>
          </a:p>
        </p:txBody>
      </p:sp>
      <p:sp>
        <p:nvSpPr>
          <p:cNvPr id="5" name="Slide Number Placeholder 4"/>
          <p:cNvSpPr>
            <a:spLocks noGrp="1"/>
          </p:cNvSpPr>
          <p:nvPr>
            <p:ph type="sldNum" sz="quarter" idx="4"/>
          </p:nvPr>
        </p:nvSpPr>
        <p:spPr/>
        <p:txBody>
          <a:bodyPr/>
          <a:lstStyle/>
          <a:p>
            <a:fld id="{E66AA3EA-0569-43EF-BBA3-83FDB109D582}" type="slidenum">
              <a:rPr lang="en-US" smtClean="0"/>
              <a:pPr/>
              <a:t>23</a:t>
            </a:fld>
            <a:endParaRPr lang="en-US" dirty="0"/>
          </a:p>
        </p:txBody>
      </p:sp>
    </p:spTree>
    <p:extLst>
      <p:ext uri="{BB962C8B-B14F-4D97-AF65-F5344CB8AC3E}">
        <p14:creationId xmlns:p14="http://schemas.microsoft.com/office/powerpoint/2010/main" val="2082705989"/>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additive="base">
                                        <p:cTn id="1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 calcmode="lin" valueType="num">
                                      <p:cBhvr additive="base">
                                        <p:cTn id="2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idx="4294967295"/>
          </p:nvPr>
        </p:nvSpPr>
        <p:spPr>
          <a:xfrm>
            <a:off x="228600" y="127660"/>
            <a:ext cx="8439150" cy="496804"/>
          </a:xfrm>
          <a:noFill/>
          <a:ln w="9525">
            <a:noFill/>
            <a:miter lim="800000"/>
            <a:headEnd/>
            <a:tailEnd/>
          </a:ln>
          <a:effectLst/>
        </p:spPr>
        <p:txBody>
          <a:bodyPr wrap="square" anchor="b">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Forecasting Techniques</a:t>
            </a:r>
            <a:r>
              <a:rPr lang="en-US" altLang="en-US" sz="2000" b="0" kern="1200" dirty="0">
                <a:solidFill>
                  <a:srgbClr val="923222"/>
                </a:solidFill>
                <a:latin typeface="Calibri" panose="020F0502020204030204" pitchFamily="34" charset="0"/>
                <a:ea typeface="+mn-ea"/>
                <a:cs typeface="Arial" charset="0"/>
              </a:rPr>
              <a:t> (continued)</a:t>
            </a: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 </a:t>
            </a:r>
          </a:p>
        </p:txBody>
      </p:sp>
      <p:pic>
        <p:nvPicPr>
          <p:cNvPr id="2" name="Picture 1"/>
          <p:cNvPicPr>
            <a:picLocks noChangeAspect="1"/>
          </p:cNvPicPr>
          <p:nvPr/>
        </p:nvPicPr>
        <p:blipFill rotWithShape="1">
          <a:blip r:embed="rId2"/>
          <a:srcRect l="1" r="-2534"/>
          <a:stretch/>
        </p:blipFill>
        <p:spPr>
          <a:xfrm>
            <a:off x="228599" y="1066800"/>
            <a:ext cx="8686801" cy="5638800"/>
          </a:xfrm>
          <a:prstGeom prst="rect">
            <a:avLst/>
          </a:prstGeom>
        </p:spPr>
      </p:pic>
      <p:sp>
        <p:nvSpPr>
          <p:cNvPr id="3" name="Footer Placeholder 2"/>
          <p:cNvSpPr>
            <a:spLocks noGrp="1"/>
          </p:cNvSpPr>
          <p:nvPr>
            <p:ph type="ftr" sz="quarter" idx="3"/>
          </p:nvPr>
        </p:nvSpPr>
        <p:spPr/>
        <p:txBody>
          <a:bodyPr/>
          <a:lstStyle/>
          <a:p>
            <a:r>
              <a:rPr lang="en-US"/>
              <a:t>Fundamentals of Supply Chain Management – McLaury/Spiegle</a:t>
            </a:r>
            <a:endParaRPr lang="en-US" dirty="0"/>
          </a:p>
        </p:txBody>
      </p:sp>
      <p:sp>
        <p:nvSpPr>
          <p:cNvPr id="6" name="Slide Number Placeholder 5"/>
          <p:cNvSpPr>
            <a:spLocks noGrp="1"/>
          </p:cNvSpPr>
          <p:nvPr>
            <p:ph type="sldNum" sz="quarter" idx="4"/>
          </p:nvPr>
        </p:nvSpPr>
        <p:spPr/>
        <p:txBody>
          <a:bodyPr/>
          <a:lstStyle/>
          <a:p>
            <a:fld id="{E66AA3EA-0569-43EF-BBA3-83FDB109D582}" type="slidenum">
              <a:rPr lang="en-US" smtClean="0"/>
              <a:pPr/>
              <a:t>24</a:t>
            </a:fld>
            <a:endParaRPr lang="en-US" dirty="0"/>
          </a:p>
        </p:txBody>
      </p:sp>
    </p:spTree>
    <p:extLst>
      <p:ext uri="{BB962C8B-B14F-4D97-AF65-F5344CB8AC3E}">
        <p14:creationId xmlns:p14="http://schemas.microsoft.com/office/powerpoint/2010/main" val="24576440"/>
      </p:ext>
    </p:extLst>
  </p:cSld>
  <p:clrMapOvr>
    <a:masterClrMapping/>
  </p:clrMapOvr>
  <p:transition spd="slow">
    <p:pull dir="l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body" idx="4294967295"/>
          </p:nvPr>
        </p:nvSpPr>
        <p:spPr>
          <a:xfrm>
            <a:off x="228600" y="914400"/>
            <a:ext cx="8686800" cy="1905000"/>
          </a:xfrm>
        </p:spPr>
        <p:txBody>
          <a:bodyPr/>
          <a:lstStyle/>
          <a:p>
            <a:pPr marL="0" indent="0">
              <a:spcBef>
                <a:spcPts val="1200"/>
              </a:spcBef>
              <a:spcAft>
                <a:spcPts val="1200"/>
              </a:spcAft>
              <a:buFontTx/>
              <a:buNone/>
              <a:tabLst>
                <a:tab pos="2341563" algn="l"/>
              </a:tabLst>
            </a:pPr>
            <a:r>
              <a:rPr lang="en-US" altLang="en-US" sz="2400" dirty="0">
                <a:latin typeface="Calibri" panose="020F0502020204030204" pitchFamily="34" charset="0"/>
                <a:ea typeface="ＭＳ Ｐゴシック" panose="020B0600070205080204" pitchFamily="34" charset="-128"/>
              </a:rPr>
              <a:t>There are two basic cause-and-effect models: </a:t>
            </a:r>
          </a:p>
          <a:p>
            <a:pPr marL="457200" indent="-287338">
              <a:spcBef>
                <a:spcPts val="600"/>
              </a:spcBef>
              <a:spcAft>
                <a:spcPts val="1200"/>
              </a:spcAft>
              <a:buClr>
                <a:srgbClr val="923222"/>
              </a:buClr>
              <a:buSzPct val="115000"/>
              <a:buFont typeface="Wingdings" panose="05000000000000000000" pitchFamily="2" charset="2"/>
              <a:buChar char="§"/>
              <a:tabLst>
                <a:tab pos="2341563" algn="l"/>
              </a:tabLst>
            </a:pPr>
            <a:r>
              <a:rPr lang="en-US" altLang="en-US" sz="2400" dirty="0">
                <a:latin typeface="Calibri" panose="020F0502020204030204" pitchFamily="34" charset="0"/>
                <a:ea typeface="ＭＳ Ｐゴシック" panose="020B0600070205080204" pitchFamily="34" charset="-128"/>
              </a:rPr>
              <a:t>Simple Linear Regression </a:t>
            </a:r>
          </a:p>
          <a:p>
            <a:pPr marL="457200" indent="-287338">
              <a:spcBef>
                <a:spcPts val="600"/>
              </a:spcBef>
              <a:spcAft>
                <a:spcPts val="1200"/>
              </a:spcAft>
              <a:buClr>
                <a:srgbClr val="923222"/>
              </a:buClr>
              <a:buSzPct val="115000"/>
              <a:buFont typeface="Wingdings" panose="05000000000000000000" pitchFamily="2" charset="2"/>
              <a:buChar char="§"/>
              <a:tabLst>
                <a:tab pos="2341563" algn="l"/>
              </a:tabLst>
            </a:pPr>
            <a:r>
              <a:rPr lang="en-US" altLang="en-US" sz="2400" dirty="0">
                <a:latin typeface="Calibri" panose="020F0502020204030204" pitchFamily="34" charset="0"/>
                <a:ea typeface="ＭＳ Ｐゴシック" panose="020B0600070205080204" pitchFamily="34" charset="-128"/>
              </a:rPr>
              <a:t>Multiple Linear Regression</a:t>
            </a:r>
          </a:p>
        </p:txBody>
      </p:sp>
      <p:sp>
        <p:nvSpPr>
          <p:cNvPr id="4"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Cause and Effect Forecasting</a:t>
            </a:r>
          </a:p>
        </p:txBody>
      </p:sp>
      <p:pic>
        <p:nvPicPr>
          <p:cNvPr id="6" name="Picture 5"/>
          <p:cNvPicPr/>
          <p:nvPr/>
        </p:nvPicPr>
        <p:blipFill rotWithShape="1">
          <a:blip r:embed="rId3" cstate="print">
            <a:extLst>
              <a:ext uri="{28A0092B-C50C-407E-A947-70E740481C1C}">
                <a14:useLocalDpi xmlns:a14="http://schemas.microsoft.com/office/drawing/2010/main" val="0"/>
              </a:ext>
            </a:extLst>
          </a:blip>
          <a:srcRect l="2154" t="2612" r="1859" b="14101"/>
          <a:stretch/>
        </p:blipFill>
        <p:spPr bwMode="auto">
          <a:xfrm>
            <a:off x="1036320" y="4524527"/>
            <a:ext cx="2621280" cy="2030095"/>
          </a:xfrm>
          <a:prstGeom prst="rect">
            <a:avLst/>
          </a:prstGeom>
          <a:ln>
            <a:noFill/>
          </a:ln>
          <a:extLst>
            <a:ext uri="{53640926-AAD7-44D8-BBD7-CCE9431645EC}">
              <a14:shadowObscured xmlns:a14="http://schemas.microsoft.com/office/drawing/2010/main"/>
            </a:ext>
          </a:extLst>
        </p:spPr>
      </p:pic>
      <p:pic>
        <p:nvPicPr>
          <p:cNvPr id="7" name="Picture 6"/>
          <p:cNvPicPr>
            <a:picLocks noChangeAspect="1"/>
          </p:cNvPicPr>
          <p:nvPr/>
        </p:nvPicPr>
        <p:blipFill>
          <a:blip r:embed="rId4"/>
          <a:stretch>
            <a:fillRect/>
          </a:stretch>
        </p:blipFill>
        <p:spPr>
          <a:xfrm>
            <a:off x="4572000" y="2147900"/>
            <a:ext cx="4343400" cy="4594112"/>
          </a:xfrm>
          <a:prstGeom prst="rect">
            <a:avLst/>
          </a:prstGeom>
        </p:spPr>
      </p:pic>
      <p:sp>
        <p:nvSpPr>
          <p:cNvPr id="8" name="Rectangle 7"/>
          <p:cNvSpPr/>
          <p:nvPr/>
        </p:nvSpPr>
        <p:spPr>
          <a:xfrm>
            <a:off x="228600" y="2802467"/>
            <a:ext cx="6172200" cy="1569660"/>
          </a:xfrm>
          <a:prstGeom prst="rect">
            <a:avLst/>
          </a:prstGeom>
        </p:spPr>
        <p:txBody>
          <a:bodyPr wrap="square">
            <a:spAutoFit/>
          </a:bodyPr>
          <a:lstStyle/>
          <a:p>
            <a:pPr marL="0" indent="0">
              <a:spcBef>
                <a:spcPts val="1200"/>
              </a:spcBef>
              <a:spcAft>
                <a:spcPts val="1200"/>
              </a:spcAft>
              <a:buFontTx/>
              <a:buNone/>
              <a:tabLst>
                <a:tab pos="2341563" algn="l"/>
              </a:tabLst>
            </a:pPr>
            <a:r>
              <a:rPr lang="en-US" altLang="en-US" dirty="0">
                <a:latin typeface="Calibri" panose="020F0502020204030204" pitchFamily="34" charset="0"/>
                <a:ea typeface="ＭＳ Ｐゴシック" panose="020B0600070205080204" pitchFamily="34" charset="-128"/>
              </a:rPr>
              <a:t>Regression uses the historical relationship between an independent and a dependent variable to predict the future values of the dependent variable, i.e., demand</a:t>
            </a:r>
          </a:p>
        </p:txBody>
      </p:sp>
      <p:sp>
        <p:nvSpPr>
          <p:cNvPr id="3" name="Footer Placeholder 2"/>
          <p:cNvSpPr>
            <a:spLocks noGrp="1"/>
          </p:cNvSpPr>
          <p:nvPr>
            <p:ph type="ftr" sz="quarter" idx="3"/>
          </p:nvPr>
        </p:nvSpPr>
        <p:spPr/>
        <p:txBody>
          <a:bodyPr/>
          <a:lstStyle/>
          <a:p>
            <a:r>
              <a:rPr lang="en-US"/>
              <a:t>Fundamentals of Supply Chain Management – McLaury/Spiegle</a:t>
            </a:r>
            <a:endParaRPr lang="en-US" dirty="0"/>
          </a:p>
        </p:txBody>
      </p:sp>
      <p:sp>
        <p:nvSpPr>
          <p:cNvPr id="5" name="Slide Number Placeholder 4"/>
          <p:cNvSpPr>
            <a:spLocks noGrp="1"/>
          </p:cNvSpPr>
          <p:nvPr>
            <p:ph type="sldNum" sz="quarter" idx="4"/>
          </p:nvPr>
        </p:nvSpPr>
        <p:spPr/>
        <p:txBody>
          <a:bodyPr/>
          <a:lstStyle/>
          <a:p>
            <a:fld id="{E66AA3EA-0569-43EF-BBA3-83FDB109D582}" type="slidenum">
              <a:rPr lang="en-US" smtClean="0"/>
              <a:pPr/>
              <a:t>25</a:t>
            </a:fld>
            <a:endParaRPr lang="en-US" dirty="0"/>
          </a:p>
        </p:txBody>
      </p:sp>
    </p:spTree>
    <p:extLst>
      <p:ext uri="{BB962C8B-B14F-4D97-AF65-F5344CB8AC3E}">
        <p14:creationId xmlns:p14="http://schemas.microsoft.com/office/powerpoint/2010/main" val="2676472896"/>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 calcmode="lin" valueType="num">
                                      <p:cBhvr additive="base">
                                        <p:cTn id="7" dur="500" fill="hold"/>
                                        <p:tgtEl>
                                          <p:spTgt spid="348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81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819">
                                            <p:txEl>
                                              <p:pRg st="1" end="1"/>
                                            </p:txEl>
                                          </p:spTgt>
                                        </p:tgtEl>
                                        <p:attrNameLst>
                                          <p:attrName>style.visibility</p:attrName>
                                        </p:attrNameLst>
                                      </p:cBhvr>
                                      <p:to>
                                        <p:strVal val="visible"/>
                                      </p:to>
                                    </p:set>
                                    <p:anim calcmode="lin" valueType="num">
                                      <p:cBhvr additive="base">
                                        <p:cTn id="11" dur="500" fill="hold"/>
                                        <p:tgtEl>
                                          <p:spTgt spid="3481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81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4819">
                                            <p:txEl>
                                              <p:pRg st="2" end="2"/>
                                            </p:txEl>
                                          </p:spTgt>
                                        </p:tgtEl>
                                        <p:attrNameLst>
                                          <p:attrName>style.visibility</p:attrName>
                                        </p:attrNameLst>
                                      </p:cBhvr>
                                      <p:to>
                                        <p:strVal val="visible"/>
                                      </p:to>
                                    </p:set>
                                    <p:anim calcmode="lin" valueType="num">
                                      <p:cBhvr additive="base">
                                        <p:cTn id="15" dur="500" fill="hold"/>
                                        <p:tgtEl>
                                          <p:spTgt spid="3481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48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 calcmode="lin" valueType="num">
                                      <p:cBhvr additive="base">
                                        <p:cTn id="2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body" idx="4294967295"/>
          </p:nvPr>
        </p:nvSpPr>
        <p:spPr>
          <a:xfrm>
            <a:off x="228600" y="914400"/>
            <a:ext cx="8686800" cy="2116667"/>
          </a:xfrm>
        </p:spPr>
        <p:txBody>
          <a:bodyPr/>
          <a:lstStyle/>
          <a:p>
            <a:pPr marL="0" lvl="1" indent="0">
              <a:spcBef>
                <a:spcPts val="1200"/>
              </a:spcBef>
              <a:spcAft>
                <a:spcPts val="1200"/>
              </a:spcAft>
              <a:buClr>
                <a:srgbClr val="923222"/>
              </a:buClr>
              <a:buSzPct val="115000"/>
              <a:buNone/>
              <a:tabLst>
                <a:tab pos="1606550" algn="l"/>
                <a:tab pos="2286000" algn="l"/>
              </a:tabLst>
              <a:defRPr/>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rPr>
              <a:t>Simple Linear Regression </a:t>
            </a:r>
            <a:r>
              <a:rPr lang="en-US" altLang="en-US" sz="2400" dirty="0">
                <a:latin typeface="Calibri" panose="020F0502020204030204" pitchFamily="34" charset="0"/>
              </a:rPr>
              <a:t>attempts to model the relationship between a </a:t>
            </a:r>
            <a:r>
              <a:rPr lang="en-US" altLang="en-US" sz="2400" b="1" dirty="0">
                <a:latin typeface="Calibri" panose="020F0502020204030204" pitchFamily="34" charset="0"/>
              </a:rPr>
              <a:t>single</a:t>
            </a:r>
            <a:r>
              <a:rPr lang="en-US" altLang="en-US" sz="2400" dirty="0">
                <a:latin typeface="Calibri" panose="020F0502020204030204" pitchFamily="34" charset="0"/>
              </a:rPr>
              <a:t> independent variable and a dependent variable (demand) by fitting a linear equation to the observed data.  </a:t>
            </a:r>
          </a:p>
          <a:p>
            <a:pPr marL="0" lvl="1" indent="0">
              <a:spcBef>
                <a:spcPts val="600"/>
              </a:spcBef>
              <a:spcAft>
                <a:spcPts val="1200"/>
              </a:spcAft>
              <a:buClr>
                <a:srgbClr val="923222"/>
              </a:buClr>
              <a:buSzPct val="115000"/>
              <a:buNone/>
              <a:tabLst>
                <a:tab pos="1606550" algn="l"/>
                <a:tab pos="2286000" algn="l"/>
              </a:tabLst>
              <a:defRPr/>
            </a:pPr>
            <a:r>
              <a:rPr lang="en-US" altLang="en-US" sz="2400" dirty="0">
                <a:latin typeface="Calibri" panose="020F0502020204030204" pitchFamily="34" charset="0"/>
              </a:rPr>
              <a:t>The equation describes the relationship between the independent variable and dependent variable as a straight line.</a:t>
            </a:r>
          </a:p>
        </p:txBody>
      </p:sp>
      <p:sp>
        <p:nvSpPr>
          <p:cNvPr id="4" name="Rectangle 2"/>
          <p:cNvSpPr>
            <a:spLocks noGrp="1" noChangeArrowheads="1"/>
          </p:cNvSpPr>
          <p:nvPr>
            <p:ph type="title" idx="4294967295"/>
          </p:nvPr>
        </p:nvSpPr>
        <p:spPr>
          <a:xfrm>
            <a:off x="228600" y="142473"/>
            <a:ext cx="8915400" cy="486929"/>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Cause and Effect - Simple Linear Regression</a:t>
            </a:r>
          </a:p>
        </p:txBody>
      </p:sp>
      <p:sp>
        <p:nvSpPr>
          <p:cNvPr id="3" name="Rectangle 2"/>
          <p:cNvSpPr/>
          <p:nvPr/>
        </p:nvSpPr>
        <p:spPr>
          <a:xfrm>
            <a:off x="646626" y="3136542"/>
            <a:ext cx="5894340" cy="3323987"/>
          </a:xfrm>
          <a:prstGeom prst="rect">
            <a:avLst/>
          </a:prstGeom>
          <a:solidFill>
            <a:schemeClr val="accent1">
              <a:lumMod val="20000"/>
              <a:lumOff val="80000"/>
            </a:schemeClr>
          </a:solidFill>
          <a:ln>
            <a:solidFill>
              <a:schemeClr val="tx1"/>
            </a:solidFill>
          </a:ln>
        </p:spPr>
        <p:txBody>
          <a:bodyPr wrap="square">
            <a:spAutoFit/>
          </a:bodyPr>
          <a:lstStyle/>
          <a:p>
            <a:pPr marL="0" lvl="1" indent="0">
              <a:spcBef>
                <a:spcPts val="600"/>
              </a:spcBef>
              <a:spcAft>
                <a:spcPts val="1200"/>
              </a:spcAft>
              <a:buClr>
                <a:srgbClr val="923222"/>
              </a:buClr>
              <a:buSzPct val="115000"/>
              <a:buNone/>
              <a:tabLst>
                <a:tab pos="1606550" algn="l"/>
                <a:tab pos="2286000" algn="l"/>
              </a:tabLst>
              <a:defRPr/>
            </a:pPr>
            <a:r>
              <a:rPr lang="en-US" altLang="en-US" sz="2000" b="1" dirty="0">
                <a:latin typeface="Calibri" panose="020F0502020204030204" pitchFamily="34" charset="0"/>
              </a:rPr>
              <a:t>For example</a:t>
            </a:r>
            <a:r>
              <a:rPr lang="en-US" altLang="en-US" sz="2000" dirty="0">
                <a:latin typeface="Calibri" panose="020F0502020204030204" pitchFamily="34" charset="0"/>
              </a:rPr>
              <a:t>, the demand might be dependent on how much money is spent on advertising and promotion: </a:t>
            </a:r>
            <a:r>
              <a:rPr lang="en-US" altLang="en-US" sz="2000" dirty="0">
                <a:solidFill>
                  <a:srgbClr val="923222"/>
                </a:solidFill>
                <a:effectLst>
                  <a:outerShdw blurRad="38100" dist="38100" dir="2700000" algn="tl">
                    <a:srgbClr val="000000">
                      <a:alpha val="43137"/>
                    </a:srgbClr>
                  </a:outerShdw>
                </a:effectLst>
                <a:latin typeface="Calibri" panose="020F0502020204030204" pitchFamily="34" charset="0"/>
              </a:rPr>
              <a:t>the more money spent, the higher the demand. </a:t>
            </a:r>
          </a:p>
          <a:p>
            <a:pPr marL="342900" lvl="1" indent="-223838">
              <a:spcBef>
                <a:spcPts val="600"/>
              </a:spcBef>
              <a:spcAft>
                <a:spcPts val="1200"/>
              </a:spcAft>
              <a:buClr>
                <a:srgbClr val="923222"/>
              </a:buClr>
              <a:buSzPct val="115000"/>
              <a:buFont typeface="Wingdings" panose="05000000000000000000" pitchFamily="2" charset="2"/>
              <a:buChar char="§"/>
              <a:tabLst>
                <a:tab pos="1606550" algn="l"/>
                <a:tab pos="2286000" algn="l"/>
              </a:tabLst>
              <a:defRPr/>
            </a:pPr>
            <a:r>
              <a:rPr lang="en-US" altLang="en-US" sz="2000" dirty="0">
                <a:latin typeface="Calibri" panose="020F0502020204030204" pitchFamily="34" charset="0"/>
              </a:rPr>
              <a:t>The line that represents this relationship can be used to forecast demand with consideration of future values of the independent variable. </a:t>
            </a:r>
          </a:p>
          <a:p>
            <a:pPr marL="342900" lvl="1" indent="-223838">
              <a:spcBef>
                <a:spcPts val="600"/>
              </a:spcBef>
              <a:spcAft>
                <a:spcPts val="1200"/>
              </a:spcAft>
              <a:buClr>
                <a:srgbClr val="923222"/>
              </a:buClr>
              <a:buSzPct val="115000"/>
              <a:buFont typeface="Wingdings" panose="05000000000000000000" pitchFamily="2" charset="2"/>
              <a:buChar char="§"/>
              <a:tabLst>
                <a:tab pos="1606550" algn="l"/>
                <a:tab pos="2286000" algn="l"/>
              </a:tabLst>
              <a:defRPr/>
            </a:pPr>
            <a:r>
              <a:rPr lang="en-US" altLang="en-US" sz="2000" dirty="0">
                <a:latin typeface="Calibri" panose="020F0502020204030204" pitchFamily="34" charset="0"/>
              </a:rPr>
              <a:t>In other words, if a company plans on investing more in advertising, it might be necessary to increase the forecast, or vice versa. </a:t>
            </a:r>
            <a:endParaRPr lang="en-US" altLang="en-US" sz="2000" dirty="0">
              <a:latin typeface="Calibri" panose="020F0502020204030204" pitchFamily="34" charset="0"/>
              <a:ea typeface="ＭＳ Ｐゴシック" panose="020B0600070205080204" pitchFamily="34" charset="-128"/>
            </a:endParaRPr>
          </a:p>
        </p:txBody>
      </p:sp>
      <p:pic>
        <p:nvPicPr>
          <p:cNvPr id="5" name="Picture 4"/>
          <p:cNvPicPr>
            <a:picLocks noChangeAspect="1"/>
          </p:cNvPicPr>
          <p:nvPr/>
        </p:nvPicPr>
        <p:blipFill>
          <a:blip r:embed="rId3"/>
          <a:stretch>
            <a:fillRect/>
          </a:stretch>
        </p:blipFill>
        <p:spPr>
          <a:xfrm>
            <a:off x="6808740" y="5784816"/>
            <a:ext cx="2106660" cy="951629"/>
          </a:xfrm>
          <a:prstGeom prst="rect">
            <a:avLst/>
          </a:prstGeom>
        </p:spPr>
      </p:pic>
      <p:sp>
        <p:nvSpPr>
          <p:cNvPr id="6" name="Footer Placeholder 5"/>
          <p:cNvSpPr>
            <a:spLocks noGrp="1"/>
          </p:cNvSpPr>
          <p:nvPr>
            <p:ph type="ftr" sz="quarter" idx="3"/>
          </p:nvPr>
        </p:nvSpPr>
        <p:spPr/>
        <p:txBody>
          <a:bodyPr/>
          <a:lstStyle/>
          <a:p>
            <a:r>
              <a:rPr lang="en-US"/>
              <a:t>Fundamentals of Supply Chain Management – McLaury/Spiegle</a:t>
            </a:r>
            <a:endParaRPr lang="en-US" dirty="0"/>
          </a:p>
        </p:txBody>
      </p:sp>
      <p:sp>
        <p:nvSpPr>
          <p:cNvPr id="7" name="Slide Number Placeholder 6"/>
          <p:cNvSpPr>
            <a:spLocks noGrp="1"/>
          </p:cNvSpPr>
          <p:nvPr>
            <p:ph type="sldNum" sz="quarter" idx="4"/>
          </p:nvPr>
        </p:nvSpPr>
        <p:spPr/>
        <p:txBody>
          <a:bodyPr/>
          <a:lstStyle/>
          <a:p>
            <a:fld id="{E66AA3EA-0569-43EF-BBA3-83FDB109D582}" type="slidenum">
              <a:rPr lang="en-US" smtClean="0"/>
              <a:pPr/>
              <a:t>26</a:t>
            </a:fld>
            <a:endParaRPr lang="en-US" dirty="0"/>
          </a:p>
        </p:txBody>
      </p:sp>
    </p:spTree>
    <p:extLst>
      <p:ext uri="{BB962C8B-B14F-4D97-AF65-F5344CB8AC3E}">
        <p14:creationId xmlns:p14="http://schemas.microsoft.com/office/powerpoint/2010/main" val="2028352586"/>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 calcmode="lin" valueType="num">
                                      <p:cBhvr additive="base">
                                        <p:cTn id="7" dur="500" fill="hold"/>
                                        <p:tgtEl>
                                          <p:spTgt spid="348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8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819">
                                            <p:txEl>
                                              <p:pRg st="1" end="1"/>
                                            </p:txEl>
                                          </p:spTgt>
                                        </p:tgtEl>
                                        <p:attrNameLst>
                                          <p:attrName>style.visibility</p:attrName>
                                        </p:attrNameLst>
                                      </p:cBhvr>
                                      <p:to>
                                        <p:strVal val="visible"/>
                                      </p:to>
                                    </p:set>
                                    <p:anim calcmode="lin" valueType="num">
                                      <p:cBhvr additive="base">
                                        <p:cTn id="13" dur="500" fill="hold"/>
                                        <p:tgtEl>
                                          <p:spTgt spid="348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8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6787573" y="5765693"/>
            <a:ext cx="2148993" cy="970752"/>
          </a:xfrm>
          <a:prstGeom prst="rect">
            <a:avLst/>
          </a:prstGeom>
        </p:spPr>
      </p:pic>
      <p:sp>
        <p:nvSpPr>
          <p:cNvPr id="34819" name="Rectangle 3"/>
          <p:cNvSpPr>
            <a:spLocks noGrp="1" noChangeArrowheads="1"/>
          </p:cNvSpPr>
          <p:nvPr>
            <p:ph type="body" idx="4294967295"/>
          </p:nvPr>
        </p:nvSpPr>
        <p:spPr>
          <a:xfrm>
            <a:off x="228600" y="914400"/>
            <a:ext cx="8610600" cy="2150533"/>
          </a:xfrm>
        </p:spPr>
        <p:txBody>
          <a:bodyPr/>
          <a:lstStyle/>
          <a:p>
            <a:pPr marL="0" lvl="1" indent="0">
              <a:spcBef>
                <a:spcPts val="1200"/>
              </a:spcBef>
              <a:spcAft>
                <a:spcPts val="1200"/>
              </a:spcAft>
              <a:buClr>
                <a:srgbClr val="923222"/>
              </a:buClr>
              <a:buSzPct val="115000"/>
              <a:buNone/>
              <a:tabLst>
                <a:tab pos="1606550" algn="l"/>
                <a:tab pos="2286000" algn="l"/>
              </a:tabLst>
              <a:defRPr/>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rPr>
              <a:t>Multiple Linear Regression </a:t>
            </a:r>
            <a:r>
              <a:rPr lang="en-US" altLang="en-US" sz="2400" dirty="0">
                <a:latin typeface="Calibri" panose="020F0502020204030204" pitchFamily="34" charset="0"/>
              </a:rPr>
              <a:t>attempts to model the relationship between </a:t>
            </a:r>
            <a:r>
              <a:rPr lang="en-US" altLang="en-US" sz="2400" b="1" dirty="0">
                <a:latin typeface="Calibri" panose="020F0502020204030204" pitchFamily="34" charset="0"/>
              </a:rPr>
              <a:t>two or more </a:t>
            </a:r>
            <a:r>
              <a:rPr lang="en-US" altLang="en-US" sz="2400" dirty="0">
                <a:latin typeface="Calibri" panose="020F0502020204030204" pitchFamily="34" charset="0"/>
              </a:rPr>
              <a:t>independent variables and a dependent variable (demand) by fitting a linear equation to the observed data.  </a:t>
            </a:r>
          </a:p>
          <a:p>
            <a:pPr marL="0" lvl="1" indent="0">
              <a:spcBef>
                <a:spcPts val="600"/>
              </a:spcBef>
              <a:spcAft>
                <a:spcPts val="1200"/>
              </a:spcAft>
              <a:buClr>
                <a:srgbClr val="923222"/>
              </a:buClr>
              <a:buSzPct val="115000"/>
              <a:buNone/>
              <a:tabLst>
                <a:tab pos="1606550" algn="l"/>
                <a:tab pos="2286000" algn="l"/>
              </a:tabLst>
              <a:defRPr/>
            </a:pPr>
            <a:r>
              <a:rPr lang="en-US" altLang="en-US" sz="2400" dirty="0">
                <a:latin typeface="Calibri" panose="020F0502020204030204" pitchFamily="34" charset="0"/>
              </a:rPr>
              <a:t>Depending on the data and the number of independent variables, the mathematics involved can be complex.</a:t>
            </a:r>
          </a:p>
        </p:txBody>
      </p:sp>
      <p:sp>
        <p:nvSpPr>
          <p:cNvPr id="4" name="Rectangle 2"/>
          <p:cNvSpPr>
            <a:spLocks noGrp="1" noChangeArrowheads="1"/>
          </p:cNvSpPr>
          <p:nvPr>
            <p:ph type="title" idx="4294967295"/>
          </p:nvPr>
        </p:nvSpPr>
        <p:spPr>
          <a:xfrm>
            <a:off x="228600" y="132598"/>
            <a:ext cx="89154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Cause and Effect – Multiple Linear Regression</a:t>
            </a:r>
          </a:p>
        </p:txBody>
      </p:sp>
      <p:sp>
        <p:nvSpPr>
          <p:cNvPr id="3" name="Rectangle 2"/>
          <p:cNvSpPr/>
          <p:nvPr/>
        </p:nvSpPr>
        <p:spPr>
          <a:xfrm>
            <a:off x="638160" y="3200400"/>
            <a:ext cx="5894340" cy="3323987"/>
          </a:xfrm>
          <a:prstGeom prst="rect">
            <a:avLst/>
          </a:prstGeom>
          <a:solidFill>
            <a:schemeClr val="accent1">
              <a:lumMod val="20000"/>
              <a:lumOff val="80000"/>
            </a:schemeClr>
          </a:solidFill>
          <a:ln>
            <a:solidFill>
              <a:schemeClr val="tx1"/>
            </a:solidFill>
          </a:ln>
        </p:spPr>
        <p:txBody>
          <a:bodyPr wrap="square">
            <a:spAutoFit/>
          </a:bodyPr>
          <a:lstStyle/>
          <a:p>
            <a:pPr marL="0" lvl="1" indent="0">
              <a:spcBef>
                <a:spcPts val="600"/>
              </a:spcBef>
              <a:spcAft>
                <a:spcPts val="1200"/>
              </a:spcAft>
              <a:buClr>
                <a:srgbClr val="923222"/>
              </a:buClr>
              <a:buSzPct val="115000"/>
              <a:buNone/>
              <a:tabLst>
                <a:tab pos="1606550" algn="l"/>
                <a:tab pos="2286000" algn="l"/>
              </a:tabLst>
              <a:defRPr/>
            </a:pPr>
            <a:r>
              <a:rPr lang="en-US" altLang="en-US" sz="2000" b="1" dirty="0">
                <a:latin typeface="Calibri" panose="020F0502020204030204" pitchFamily="34" charset="0"/>
              </a:rPr>
              <a:t>For example</a:t>
            </a:r>
            <a:r>
              <a:rPr lang="en-US" altLang="en-US" sz="2000" dirty="0">
                <a:latin typeface="Calibri" panose="020F0502020204030204" pitchFamily="34" charset="0"/>
              </a:rPr>
              <a:t>, the demand might be dependent on how much money is spent on advertising and promotion </a:t>
            </a:r>
            <a:r>
              <a:rPr lang="en-US" altLang="en-US" sz="2000" b="1" u="sng" dirty="0">
                <a:latin typeface="Calibri" panose="020F0502020204030204" pitchFamily="34" charset="0"/>
              </a:rPr>
              <a:t>and also</a:t>
            </a:r>
            <a:r>
              <a:rPr lang="en-US" altLang="en-US" sz="2000" b="1" dirty="0">
                <a:latin typeface="Calibri" panose="020F0502020204030204" pitchFamily="34" charset="0"/>
              </a:rPr>
              <a:t> </a:t>
            </a:r>
            <a:r>
              <a:rPr lang="en-US" altLang="en-US" sz="2000" dirty="0">
                <a:latin typeface="Calibri" panose="020F0502020204030204" pitchFamily="34" charset="0"/>
              </a:rPr>
              <a:t>on the selling price charged for the product: </a:t>
            </a:r>
          </a:p>
          <a:p>
            <a:pPr marL="342900" lvl="1" indent="-223838">
              <a:spcBef>
                <a:spcPts val="600"/>
              </a:spcBef>
              <a:spcAft>
                <a:spcPts val="1200"/>
              </a:spcAft>
              <a:buClr>
                <a:srgbClr val="923222"/>
              </a:buClr>
              <a:buSzPct val="115000"/>
              <a:buFont typeface="Wingdings" panose="05000000000000000000" pitchFamily="2" charset="2"/>
              <a:buChar char="§"/>
              <a:tabLst>
                <a:tab pos="1606550" algn="l"/>
                <a:tab pos="2286000" algn="l"/>
              </a:tabLst>
              <a:defRPr/>
            </a:pPr>
            <a:r>
              <a:rPr lang="en-US" altLang="en-US" sz="2000" dirty="0">
                <a:latin typeface="Calibri" panose="020F0502020204030204" pitchFamily="34" charset="0"/>
              </a:rPr>
              <a:t>If advertising is increased and the price is lowered, it is likely that demand will go up. </a:t>
            </a:r>
          </a:p>
          <a:p>
            <a:pPr marL="342900" lvl="1" indent="-223838">
              <a:spcBef>
                <a:spcPts val="600"/>
              </a:spcBef>
              <a:spcAft>
                <a:spcPts val="1200"/>
              </a:spcAft>
              <a:buClr>
                <a:srgbClr val="923222"/>
              </a:buClr>
              <a:buSzPct val="115000"/>
              <a:buFont typeface="Wingdings" panose="05000000000000000000" pitchFamily="2" charset="2"/>
              <a:buChar char="§"/>
              <a:tabLst>
                <a:tab pos="1606550" algn="l"/>
                <a:tab pos="2286000" algn="l"/>
              </a:tabLst>
              <a:defRPr/>
            </a:pPr>
            <a:r>
              <a:rPr lang="en-US" altLang="en-US" sz="2000" dirty="0">
                <a:latin typeface="Calibri" panose="020F0502020204030204" pitchFamily="34" charset="0"/>
              </a:rPr>
              <a:t>If advertising is increased and the price is also increased, the impact on demand is not as obvious. The mathematics of multiple regression can help predict the impact on demand.</a:t>
            </a:r>
            <a:endParaRPr lang="en-US" altLang="en-US" sz="2000" dirty="0">
              <a:latin typeface="Calibri" panose="020F0502020204030204" pitchFamily="34" charset="0"/>
              <a:ea typeface="ＭＳ Ｐゴシック" panose="020B0600070205080204" pitchFamily="34" charset="-128"/>
            </a:endParaRPr>
          </a:p>
        </p:txBody>
      </p:sp>
      <p:sp>
        <p:nvSpPr>
          <p:cNvPr id="5" name="Footer Placeholder 4"/>
          <p:cNvSpPr>
            <a:spLocks noGrp="1"/>
          </p:cNvSpPr>
          <p:nvPr>
            <p:ph type="ftr" sz="quarter" idx="3"/>
          </p:nvPr>
        </p:nvSpPr>
        <p:spPr/>
        <p:txBody>
          <a:bodyPr/>
          <a:lstStyle/>
          <a:p>
            <a:r>
              <a:rPr lang="en-US"/>
              <a:t>Fundamentals of Supply Chain Management – McLaury/Spiegle</a:t>
            </a:r>
            <a:endParaRPr lang="en-US" dirty="0"/>
          </a:p>
        </p:txBody>
      </p:sp>
      <p:sp>
        <p:nvSpPr>
          <p:cNvPr id="6" name="Slide Number Placeholder 5"/>
          <p:cNvSpPr>
            <a:spLocks noGrp="1"/>
          </p:cNvSpPr>
          <p:nvPr>
            <p:ph type="sldNum" sz="quarter" idx="4"/>
          </p:nvPr>
        </p:nvSpPr>
        <p:spPr/>
        <p:txBody>
          <a:bodyPr/>
          <a:lstStyle/>
          <a:p>
            <a:fld id="{E66AA3EA-0569-43EF-BBA3-83FDB109D582}" type="slidenum">
              <a:rPr lang="en-US" smtClean="0"/>
              <a:pPr/>
              <a:t>27</a:t>
            </a:fld>
            <a:endParaRPr lang="en-US" dirty="0"/>
          </a:p>
        </p:txBody>
      </p:sp>
    </p:spTree>
    <p:extLst>
      <p:ext uri="{BB962C8B-B14F-4D97-AF65-F5344CB8AC3E}">
        <p14:creationId xmlns:p14="http://schemas.microsoft.com/office/powerpoint/2010/main" val="2809725358"/>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 calcmode="lin" valueType="num">
                                      <p:cBhvr additive="base">
                                        <p:cTn id="7" dur="500" fill="hold"/>
                                        <p:tgtEl>
                                          <p:spTgt spid="348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8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819">
                                            <p:txEl>
                                              <p:pRg st="1" end="1"/>
                                            </p:txEl>
                                          </p:spTgt>
                                        </p:tgtEl>
                                        <p:attrNameLst>
                                          <p:attrName>style.visibility</p:attrName>
                                        </p:attrNameLst>
                                      </p:cBhvr>
                                      <p:to>
                                        <p:strVal val="visible"/>
                                      </p:to>
                                    </p:set>
                                    <p:anim calcmode="lin" valueType="num">
                                      <p:cBhvr additive="base">
                                        <p:cTn id="13" dur="500" fill="hold"/>
                                        <p:tgtEl>
                                          <p:spTgt spid="348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8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37535"/>
            <a:ext cx="8439150" cy="486929"/>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Fundamentals of Forecasting </a:t>
            </a:r>
          </a:p>
        </p:txBody>
      </p:sp>
      <p:sp>
        <p:nvSpPr>
          <p:cNvPr id="3" name="Content Placeholder 2"/>
          <p:cNvSpPr>
            <a:spLocks noGrp="1"/>
          </p:cNvSpPr>
          <p:nvPr>
            <p:ph idx="1"/>
          </p:nvPr>
        </p:nvSpPr>
        <p:spPr>
          <a:xfrm>
            <a:off x="228600" y="1769534"/>
            <a:ext cx="8686800" cy="1579032"/>
          </a:xfrm>
        </p:spPr>
        <p:txBody>
          <a:bodyPr/>
          <a:lstStyle/>
          <a:p>
            <a:pPr marL="347663" indent="-347663">
              <a:spcBef>
                <a:spcPts val="600"/>
              </a:spcBef>
              <a:spcAft>
                <a:spcPts val="600"/>
              </a:spcAft>
              <a:buClr>
                <a:srgbClr val="923222"/>
              </a:buClr>
              <a:buSzPct val="110000"/>
              <a:buFont typeface="+mj-lt"/>
              <a:buAutoNum type="arabicPeriod"/>
            </a:pPr>
            <a:r>
              <a:rPr lang="en-US" sz="2400" b="1" dirty="0">
                <a:latin typeface="Calibri" panose="020F0502020204030204" pitchFamily="34" charset="0"/>
              </a:rPr>
              <a:t>Your forecast is most likely wrong</a:t>
            </a:r>
          </a:p>
          <a:p>
            <a:pPr marL="690563" lvl="1" indent="-342900">
              <a:spcBef>
                <a:spcPts val="600"/>
              </a:spcBef>
              <a:spcAft>
                <a:spcPts val="600"/>
              </a:spcAft>
              <a:buClr>
                <a:srgbClr val="923222"/>
              </a:buClr>
              <a:buSzPct val="115000"/>
              <a:tabLst>
                <a:tab pos="1606550" algn="l"/>
                <a:tab pos="2286000" algn="l"/>
              </a:tabLst>
              <a:defRPr/>
            </a:pPr>
            <a:r>
              <a:rPr lang="en-US" sz="2000" kern="1200" dirty="0">
                <a:latin typeface="Calibri" panose="020F0502020204030204" pitchFamily="34" charset="0"/>
                <a:ea typeface="+mn-ea"/>
                <a:cs typeface="+mn-cs"/>
              </a:rPr>
              <a:t>The question you should be asking is “How wrong is the forecast?”</a:t>
            </a:r>
          </a:p>
          <a:p>
            <a:pPr marL="690563" lvl="1" indent="-342900">
              <a:spcBef>
                <a:spcPts val="600"/>
              </a:spcBef>
              <a:spcAft>
                <a:spcPts val="600"/>
              </a:spcAft>
              <a:buClr>
                <a:srgbClr val="923222"/>
              </a:buClr>
              <a:buSzPct val="115000"/>
              <a:tabLst>
                <a:tab pos="1606550" algn="l"/>
                <a:tab pos="2286000" algn="l"/>
              </a:tabLst>
              <a:defRPr/>
            </a:pPr>
            <a:r>
              <a:rPr lang="en-US" sz="2000" kern="1200" dirty="0">
                <a:latin typeface="Calibri" panose="020F0502020204030204" pitchFamily="34" charset="0"/>
              </a:rPr>
              <a:t>Forecasting is difficult mainly because people know it is likely to be wrong and nobody likes to be publicly and visibly wrong. </a:t>
            </a:r>
          </a:p>
          <a:p>
            <a:pPr marL="690563" lvl="1" indent="-342900">
              <a:spcBef>
                <a:spcPts val="600"/>
              </a:spcBef>
              <a:spcAft>
                <a:spcPts val="600"/>
              </a:spcAft>
              <a:buClr>
                <a:srgbClr val="923222"/>
              </a:buClr>
              <a:buSzPct val="115000"/>
              <a:tabLst>
                <a:tab pos="1606550" algn="l"/>
                <a:tab pos="2286000" algn="l"/>
              </a:tabLst>
              <a:defRPr/>
            </a:pPr>
            <a:endParaRPr lang="en-US" dirty="0">
              <a:latin typeface="Calibri" panose="020F0502020204030204" pitchFamily="34" charset="0"/>
            </a:endParaRP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3827" t="15226" r="3827" b="2675"/>
          <a:stretch/>
        </p:blipFill>
        <p:spPr>
          <a:xfrm>
            <a:off x="5308600" y="3417782"/>
            <a:ext cx="3606800" cy="3364018"/>
          </a:xfrm>
          <a:prstGeom prst="rect">
            <a:avLst/>
          </a:prstGeom>
        </p:spPr>
      </p:pic>
      <p:sp>
        <p:nvSpPr>
          <p:cNvPr id="6" name="Content Placeholder 2"/>
          <p:cNvSpPr txBox="1">
            <a:spLocks/>
          </p:cNvSpPr>
          <p:nvPr/>
        </p:nvSpPr>
        <p:spPr bwMode="auto">
          <a:xfrm>
            <a:off x="228600" y="901700"/>
            <a:ext cx="8686800" cy="1045633"/>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lvl1pPr marL="192088" indent="-192088" algn="l" rtl="0" eaLnBrk="0" fontAlgn="base" hangingPunct="0">
              <a:spcBef>
                <a:spcPct val="50000"/>
              </a:spcBef>
              <a:spcAft>
                <a:spcPct val="0"/>
              </a:spcAft>
              <a:buClr>
                <a:schemeClr val="tx1"/>
              </a:buClr>
              <a:buFont typeface="Symbol" pitchFamily="18" charset="2"/>
              <a:buChar char="·"/>
              <a:defRPr sz="2200">
                <a:solidFill>
                  <a:schemeClr val="tx1"/>
                </a:solidFill>
                <a:latin typeface="+mn-lt"/>
                <a:ea typeface="+mn-ea"/>
                <a:cs typeface="+mn-cs"/>
              </a:defRPr>
            </a:lvl1pPr>
            <a:lvl2pPr marL="568325" indent="-185738" algn="l" rtl="0" eaLnBrk="0" fontAlgn="base" hangingPunct="0">
              <a:spcBef>
                <a:spcPct val="50000"/>
              </a:spcBef>
              <a:spcAft>
                <a:spcPct val="0"/>
              </a:spcAft>
              <a:buClr>
                <a:schemeClr val="tx1"/>
              </a:buClr>
              <a:buFont typeface="Symbol" pitchFamily="18" charset="2"/>
              <a:buChar char="-"/>
              <a:defRPr>
                <a:solidFill>
                  <a:schemeClr val="tx1"/>
                </a:solidFill>
                <a:latin typeface="+mn-lt"/>
              </a:defRPr>
            </a:lvl2pPr>
            <a:lvl3pPr marL="855663" indent="-96838" algn="l" rtl="0" eaLnBrk="0" fontAlgn="base" hangingPunct="0">
              <a:spcBef>
                <a:spcPct val="50000"/>
              </a:spcBef>
              <a:spcAft>
                <a:spcPct val="0"/>
              </a:spcAft>
              <a:buClr>
                <a:schemeClr val="tx1"/>
              </a:buClr>
              <a:buChar char="•"/>
              <a:defRPr>
                <a:solidFill>
                  <a:schemeClr val="tx1"/>
                </a:solidFill>
                <a:latin typeface="+mn-lt"/>
              </a:defRPr>
            </a:lvl3pPr>
            <a:lvl4pPr marL="1981200" indent="-228600" algn="l" rtl="0" eaLnBrk="0" fontAlgn="base" hangingPunct="0">
              <a:spcBef>
                <a:spcPct val="50000"/>
              </a:spcBef>
              <a:spcAft>
                <a:spcPct val="0"/>
              </a:spcAft>
              <a:buChar char="–"/>
              <a:defRPr sz="1600">
                <a:solidFill>
                  <a:schemeClr val="bg1"/>
                </a:solidFill>
                <a:latin typeface="+mn-lt"/>
              </a:defRPr>
            </a:lvl4pPr>
            <a:lvl5pPr marL="2400300" indent="-228600" algn="l" rtl="0" eaLnBrk="0" fontAlgn="base" hangingPunct="0">
              <a:spcBef>
                <a:spcPct val="50000"/>
              </a:spcBef>
              <a:spcAft>
                <a:spcPct val="0"/>
              </a:spcAft>
              <a:buChar char="•"/>
              <a:defRPr sz="1400">
                <a:solidFill>
                  <a:schemeClr val="bg1"/>
                </a:solidFill>
                <a:latin typeface="+mn-lt"/>
              </a:defRPr>
            </a:lvl5pPr>
            <a:lvl6pPr marL="2857500" indent="-228600" algn="l" rtl="0" eaLnBrk="0" fontAlgn="base" hangingPunct="0">
              <a:spcBef>
                <a:spcPct val="50000"/>
              </a:spcBef>
              <a:spcAft>
                <a:spcPct val="0"/>
              </a:spcAft>
              <a:buChar char="•"/>
              <a:defRPr sz="1400">
                <a:solidFill>
                  <a:schemeClr val="bg1"/>
                </a:solidFill>
                <a:latin typeface="+mn-lt"/>
              </a:defRPr>
            </a:lvl6pPr>
            <a:lvl7pPr marL="3314700" indent="-228600" algn="l" rtl="0" eaLnBrk="0" fontAlgn="base" hangingPunct="0">
              <a:spcBef>
                <a:spcPct val="50000"/>
              </a:spcBef>
              <a:spcAft>
                <a:spcPct val="0"/>
              </a:spcAft>
              <a:buChar char="•"/>
              <a:defRPr sz="1400">
                <a:solidFill>
                  <a:schemeClr val="bg1"/>
                </a:solidFill>
                <a:latin typeface="+mn-lt"/>
              </a:defRPr>
            </a:lvl7pPr>
            <a:lvl8pPr marL="3771900" indent="-228600" algn="l" rtl="0" eaLnBrk="0" fontAlgn="base" hangingPunct="0">
              <a:spcBef>
                <a:spcPct val="50000"/>
              </a:spcBef>
              <a:spcAft>
                <a:spcPct val="0"/>
              </a:spcAft>
              <a:buChar char="•"/>
              <a:defRPr sz="1400">
                <a:solidFill>
                  <a:schemeClr val="bg1"/>
                </a:solidFill>
                <a:latin typeface="+mn-lt"/>
              </a:defRPr>
            </a:lvl8pPr>
            <a:lvl9pPr marL="4229100" indent="-228600" algn="l" rtl="0" eaLnBrk="0" fontAlgn="base" hangingPunct="0">
              <a:spcBef>
                <a:spcPct val="50000"/>
              </a:spcBef>
              <a:spcAft>
                <a:spcPct val="0"/>
              </a:spcAft>
              <a:buChar char="•"/>
              <a:defRPr sz="1400">
                <a:solidFill>
                  <a:schemeClr val="bg1"/>
                </a:solidFill>
                <a:latin typeface="+mn-lt"/>
              </a:defRPr>
            </a:lvl9pPr>
          </a:lstStyle>
          <a:p>
            <a:pPr marL="0" indent="0">
              <a:lnSpc>
                <a:spcPct val="90000"/>
              </a:lnSpc>
              <a:spcBef>
                <a:spcPts val="600"/>
              </a:spcBef>
              <a:spcAft>
                <a:spcPts val="1800"/>
              </a:spcAft>
              <a:buClr>
                <a:srgbClr val="923222"/>
              </a:buClr>
              <a:buSzPct val="110000"/>
              <a:buFont typeface="Symbol" pitchFamily="18" charset="2"/>
              <a:buNone/>
            </a:pPr>
            <a:r>
              <a:rPr lang="en-US" kern="0" dirty="0">
                <a:latin typeface="Calibri" panose="020F0502020204030204" pitchFamily="34" charset="0"/>
              </a:rPr>
              <a:t>These fundamentals of forecasting in business can be easily forgotten at times, to the detriment of the quality and accuracy of your forecasts.</a:t>
            </a:r>
          </a:p>
        </p:txBody>
      </p:sp>
      <p:sp>
        <p:nvSpPr>
          <p:cNvPr id="7" name="Content Placeholder 2"/>
          <p:cNvSpPr txBox="1">
            <a:spLocks/>
          </p:cNvSpPr>
          <p:nvPr/>
        </p:nvSpPr>
        <p:spPr bwMode="auto">
          <a:xfrm>
            <a:off x="228600" y="3530599"/>
            <a:ext cx="5080000" cy="2463801"/>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lvl1pPr marL="192088" indent="-192088" algn="l" rtl="0" eaLnBrk="0" fontAlgn="base" hangingPunct="0">
              <a:spcBef>
                <a:spcPct val="50000"/>
              </a:spcBef>
              <a:spcAft>
                <a:spcPct val="0"/>
              </a:spcAft>
              <a:buClr>
                <a:schemeClr val="tx1"/>
              </a:buClr>
              <a:buFont typeface="Symbol" pitchFamily="18" charset="2"/>
              <a:buChar char="·"/>
              <a:defRPr sz="2200">
                <a:solidFill>
                  <a:schemeClr val="tx1"/>
                </a:solidFill>
                <a:latin typeface="+mn-lt"/>
                <a:ea typeface="+mn-ea"/>
                <a:cs typeface="+mn-cs"/>
              </a:defRPr>
            </a:lvl1pPr>
            <a:lvl2pPr marL="568325" indent="-185738" algn="l" rtl="0" eaLnBrk="0" fontAlgn="base" hangingPunct="0">
              <a:spcBef>
                <a:spcPct val="50000"/>
              </a:spcBef>
              <a:spcAft>
                <a:spcPct val="0"/>
              </a:spcAft>
              <a:buClr>
                <a:schemeClr val="tx1"/>
              </a:buClr>
              <a:buFont typeface="Symbol" pitchFamily="18" charset="2"/>
              <a:buChar char="-"/>
              <a:defRPr>
                <a:solidFill>
                  <a:schemeClr val="tx1"/>
                </a:solidFill>
                <a:latin typeface="+mn-lt"/>
              </a:defRPr>
            </a:lvl2pPr>
            <a:lvl3pPr marL="855663" indent="-96838" algn="l" rtl="0" eaLnBrk="0" fontAlgn="base" hangingPunct="0">
              <a:spcBef>
                <a:spcPct val="50000"/>
              </a:spcBef>
              <a:spcAft>
                <a:spcPct val="0"/>
              </a:spcAft>
              <a:buClr>
                <a:schemeClr val="tx1"/>
              </a:buClr>
              <a:buChar char="•"/>
              <a:defRPr>
                <a:solidFill>
                  <a:schemeClr val="tx1"/>
                </a:solidFill>
                <a:latin typeface="+mn-lt"/>
              </a:defRPr>
            </a:lvl3pPr>
            <a:lvl4pPr marL="1981200" indent="-228600" algn="l" rtl="0" eaLnBrk="0" fontAlgn="base" hangingPunct="0">
              <a:spcBef>
                <a:spcPct val="50000"/>
              </a:spcBef>
              <a:spcAft>
                <a:spcPct val="0"/>
              </a:spcAft>
              <a:buChar char="–"/>
              <a:defRPr sz="1600">
                <a:solidFill>
                  <a:schemeClr val="bg1"/>
                </a:solidFill>
                <a:latin typeface="+mn-lt"/>
              </a:defRPr>
            </a:lvl4pPr>
            <a:lvl5pPr marL="2400300" indent="-228600" algn="l" rtl="0" eaLnBrk="0" fontAlgn="base" hangingPunct="0">
              <a:spcBef>
                <a:spcPct val="50000"/>
              </a:spcBef>
              <a:spcAft>
                <a:spcPct val="0"/>
              </a:spcAft>
              <a:buChar char="•"/>
              <a:defRPr sz="1400">
                <a:solidFill>
                  <a:schemeClr val="bg1"/>
                </a:solidFill>
                <a:latin typeface="+mn-lt"/>
              </a:defRPr>
            </a:lvl5pPr>
            <a:lvl6pPr marL="2857500" indent="-228600" algn="l" rtl="0" eaLnBrk="0" fontAlgn="base" hangingPunct="0">
              <a:spcBef>
                <a:spcPct val="50000"/>
              </a:spcBef>
              <a:spcAft>
                <a:spcPct val="0"/>
              </a:spcAft>
              <a:buChar char="•"/>
              <a:defRPr sz="1400">
                <a:solidFill>
                  <a:schemeClr val="bg1"/>
                </a:solidFill>
                <a:latin typeface="+mn-lt"/>
              </a:defRPr>
            </a:lvl6pPr>
            <a:lvl7pPr marL="3314700" indent="-228600" algn="l" rtl="0" eaLnBrk="0" fontAlgn="base" hangingPunct="0">
              <a:spcBef>
                <a:spcPct val="50000"/>
              </a:spcBef>
              <a:spcAft>
                <a:spcPct val="0"/>
              </a:spcAft>
              <a:buChar char="•"/>
              <a:defRPr sz="1400">
                <a:solidFill>
                  <a:schemeClr val="bg1"/>
                </a:solidFill>
                <a:latin typeface="+mn-lt"/>
              </a:defRPr>
            </a:lvl7pPr>
            <a:lvl8pPr marL="3771900" indent="-228600" algn="l" rtl="0" eaLnBrk="0" fontAlgn="base" hangingPunct="0">
              <a:spcBef>
                <a:spcPct val="50000"/>
              </a:spcBef>
              <a:spcAft>
                <a:spcPct val="0"/>
              </a:spcAft>
              <a:buChar char="•"/>
              <a:defRPr sz="1400">
                <a:solidFill>
                  <a:schemeClr val="bg1"/>
                </a:solidFill>
                <a:latin typeface="+mn-lt"/>
              </a:defRPr>
            </a:lvl8pPr>
            <a:lvl9pPr marL="4229100" indent="-228600" algn="l" rtl="0" eaLnBrk="0" fontAlgn="base" hangingPunct="0">
              <a:spcBef>
                <a:spcPct val="50000"/>
              </a:spcBef>
              <a:spcAft>
                <a:spcPct val="0"/>
              </a:spcAft>
              <a:buChar char="•"/>
              <a:defRPr sz="1400">
                <a:solidFill>
                  <a:schemeClr val="bg1"/>
                </a:solidFill>
                <a:latin typeface="+mn-lt"/>
              </a:defRPr>
            </a:lvl9pPr>
          </a:lstStyle>
          <a:p>
            <a:pPr marL="690563" lvl="1" indent="-342900">
              <a:spcBef>
                <a:spcPts val="600"/>
              </a:spcBef>
              <a:spcAft>
                <a:spcPts val="1200"/>
              </a:spcAft>
              <a:buClr>
                <a:srgbClr val="923222"/>
              </a:buClr>
              <a:buSzPct val="115000"/>
              <a:tabLst>
                <a:tab pos="1606550" algn="l"/>
                <a:tab pos="2286000" algn="l"/>
              </a:tabLst>
              <a:defRPr/>
            </a:pPr>
            <a:r>
              <a:rPr lang="en-US" sz="2000" dirty="0">
                <a:latin typeface="Calibri" panose="020F0502020204030204" pitchFamily="34" charset="0"/>
              </a:rPr>
              <a:t>You must be willing to recognize and adapt to changing conditions — don’t fall in love with your forecast and ignore evidence that it may be wrong. </a:t>
            </a:r>
          </a:p>
          <a:p>
            <a:pPr marL="690563" lvl="1" indent="-342900">
              <a:spcBef>
                <a:spcPts val="600"/>
              </a:spcBef>
              <a:spcAft>
                <a:spcPts val="1200"/>
              </a:spcAft>
              <a:buClr>
                <a:srgbClr val="923222"/>
              </a:buClr>
              <a:buSzPct val="115000"/>
              <a:tabLst>
                <a:tab pos="1606550" algn="l"/>
                <a:tab pos="2286000" algn="l"/>
              </a:tabLst>
              <a:defRPr/>
            </a:pPr>
            <a:r>
              <a:rPr lang="en-US" sz="2000" kern="1200" dirty="0">
                <a:latin typeface="Calibri" panose="020F0502020204030204" pitchFamily="34" charset="0"/>
              </a:rPr>
              <a:t>Just be open to the first signs of change and be prepared to react quickly and decisively.</a:t>
            </a:r>
          </a:p>
        </p:txBody>
      </p:sp>
      <p:sp>
        <p:nvSpPr>
          <p:cNvPr id="8" name="Footer Placeholder 7"/>
          <p:cNvSpPr>
            <a:spLocks noGrp="1"/>
          </p:cNvSpPr>
          <p:nvPr>
            <p:ph type="ftr" sz="quarter" idx="3"/>
          </p:nvPr>
        </p:nvSpPr>
        <p:spPr/>
        <p:txBody>
          <a:bodyPr/>
          <a:lstStyle/>
          <a:p>
            <a:r>
              <a:rPr lang="en-US"/>
              <a:t>Fundamentals of Supply Chain Management – McLaury/Spiegle</a:t>
            </a:r>
            <a:endParaRPr lang="en-US" dirty="0"/>
          </a:p>
        </p:txBody>
      </p:sp>
      <p:sp>
        <p:nvSpPr>
          <p:cNvPr id="9" name="Slide Number Placeholder 8"/>
          <p:cNvSpPr>
            <a:spLocks noGrp="1"/>
          </p:cNvSpPr>
          <p:nvPr>
            <p:ph type="sldNum" sz="quarter" idx="4"/>
          </p:nvPr>
        </p:nvSpPr>
        <p:spPr/>
        <p:txBody>
          <a:bodyPr/>
          <a:lstStyle/>
          <a:p>
            <a:fld id="{E66AA3EA-0569-43EF-BBA3-83FDB109D582}" type="slidenum">
              <a:rPr lang="en-US" smtClean="0"/>
              <a:pPr/>
              <a:t>28</a:t>
            </a:fld>
            <a:endParaRPr lang="en-US" dirty="0"/>
          </a:p>
        </p:txBody>
      </p:sp>
    </p:spTree>
    <p:extLst>
      <p:ext uri="{BB962C8B-B14F-4D97-AF65-F5344CB8AC3E}">
        <p14:creationId xmlns:p14="http://schemas.microsoft.com/office/powerpoint/2010/main" val="2429224134"/>
      </p:ext>
    </p:extLst>
  </p:cSld>
  <p:clrMapOvr>
    <a:masterClrMapping/>
  </p:clrMapOvr>
  <p:transition spd="slow">
    <p:pull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37535"/>
            <a:ext cx="8439150" cy="486929"/>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Fundamentals of </a:t>
            </a:r>
            <a:r>
              <a:rPr lang="en-US" sz="3200" kern="1200" dirty="0">
                <a:solidFill>
                  <a:srgbClr val="923222"/>
                </a:solidFill>
                <a:effectLst>
                  <a:outerShdw blurRad="38100" dist="38100" dir="2700000" algn="tl">
                    <a:srgbClr val="C0C0C0"/>
                  </a:outerShdw>
                </a:effectLst>
                <a:latin typeface="Calibri" panose="020F0502020204030204" pitchFamily="34" charset="0"/>
                <a:cs typeface="Arial" charset="0"/>
              </a:rPr>
              <a:t>Forecasting </a:t>
            </a:r>
            <a:r>
              <a:rPr lang="en-US" sz="2000" b="0" i="1" kern="1200" dirty="0">
                <a:solidFill>
                  <a:srgbClr val="923222"/>
                </a:solidFill>
                <a:latin typeface="Calibri" panose="020F0502020204030204" pitchFamily="34" charset="0"/>
                <a:cs typeface="Arial" charset="0"/>
              </a:rPr>
              <a:t>(continued)</a:t>
            </a:r>
            <a:r>
              <a:rPr lang="en-US" sz="3200" kern="1200" dirty="0">
                <a:solidFill>
                  <a:srgbClr val="923222"/>
                </a:solidFill>
                <a:effectLst>
                  <a:outerShdw blurRad="38100" dist="38100" dir="2700000" algn="tl">
                    <a:srgbClr val="C0C0C0"/>
                  </a:outerShdw>
                </a:effectLst>
                <a:latin typeface="Calibri" panose="020F0502020204030204" pitchFamily="34" charset="0"/>
                <a:cs typeface="Arial" charset="0"/>
              </a:rPr>
              <a:t> </a:t>
            </a:r>
            <a:endPar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endParaRPr>
          </a:p>
        </p:txBody>
      </p:sp>
      <p:sp>
        <p:nvSpPr>
          <p:cNvPr id="3" name="Content Placeholder 2"/>
          <p:cNvSpPr>
            <a:spLocks noGrp="1"/>
          </p:cNvSpPr>
          <p:nvPr>
            <p:ph idx="1"/>
          </p:nvPr>
        </p:nvSpPr>
        <p:spPr>
          <a:xfrm>
            <a:off x="228600" y="1066800"/>
            <a:ext cx="8686800" cy="5740400"/>
          </a:xfrm>
        </p:spPr>
        <p:txBody>
          <a:bodyPr/>
          <a:lstStyle/>
          <a:p>
            <a:pPr marL="347663" indent="-347663">
              <a:spcBef>
                <a:spcPts val="600"/>
              </a:spcBef>
              <a:spcAft>
                <a:spcPts val="1200"/>
              </a:spcAft>
              <a:buClr>
                <a:srgbClr val="923222"/>
              </a:buClr>
              <a:buSzPct val="110000"/>
              <a:buFont typeface="+mj-lt"/>
              <a:buAutoNum type="arabicPeriod" startAt="2"/>
            </a:pPr>
            <a:r>
              <a:rPr lang="en-US" sz="2400" b="1" dirty="0">
                <a:latin typeface="Calibri" panose="020F0502020204030204" pitchFamily="34" charset="0"/>
              </a:rPr>
              <a:t>Simple forecast methodologies trump complex ones</a:t>
            </a:r>
          </a:p>
          <a:p>
            <a:pPr marL="690563" lvl="1" indent="-342900">
              <a:spcBef>
                <a:spcPts val="600"/>
              </a:spcBef>
              <a:spcAft>
                <a:spcPts val="1200"/>
              </a:spcAft>
              <a:buClr>
                <a:srgbClr val="923222"/>
              </a:buClr>
              <a:buSzPct val="115000"/>
              <a:tabLst>
                <a:tab pos="1606550" algn="l"/>
                <a:tab pos="2286000" algn="l"/>
              </a:tabLst>
              <a:defRPr/>
            </a:pPr>
            <a:r>
              <a:rPr lang="en-US" sz="2400" dirty="0">
                <a:latin typeface="Calibri" panose="020F0502020204030204" pitchFamily="34" charset="0"/>
              </a:rPr>
              <a:t>There is danger in complexity. Complicated forecast methods often hide key assumptions built into the model.  </a:t>
            </a:r>
          </a:p>
          <a:p>
            <a:pPr marL="690563" lvl="1" indent="-342900">
              <a:spcBef>
                <a:spcPts val="600"/>
              </a:spcBef>
              <a:spcAft>
                <a:spcPts val="1200"/>
              </a:spcAft>
              <a:buClr>
                <a:srgbClr val="923222"/>
              </a:buClr>
              <a:buSzPct val="115000"/>
              <a:tabLst>
                <a:tab pos="1606550" algn="l"/>
                <a:tab pos="2286000" algn="l"/>
              </a:tabLst>
              <a:defRPr/>
            </a:pPr>
            <a:r>
              <a:rPr lang="en-US" sz="2400" dirty="0">
                <a:latin typeface="Calibri" panose="020F0502020204030204" pitchFamily="34" charset="0"/>
              </a:rPr>
              <a:t>On the other hand, simple forecast methods are easy to understand, analyze and work out why it went wrong.</a:t>
            </a:r>
          </a:p>
          <a:p>
            <a:pPr marL="347663" indent="-347663">
              <a:spcBef>
                <a:spcPts val="600"/>
              </a:spcBef>
              <a:spcAft>
                <a:spcPts val="1200"/>
              </a:spcAft>
              <a:buClr>
                <a:srgbClr val="923222"/>
              </a:buClr>
              <a:buSzPct val="110000"/>
              <a:buFont typeface="+mj-lt"/>
              <a:buAutoNum type="arabicPeriod" startAt="3"/>
            </a:pPr>
            <a:r>
              <a:rPr lang="en-US" sz="2400" b="1" dirty="0">
                <a:latin typeface="Calibri" panose="020F0502020204030204" pitchFamily="34" charset="0"/>
              </a:rPr>
              <a:t>A correct forecast does not prove your forecast method is correct</a:t>
            </a:r>
          </a:p>
          <a:p>
            <a:pPr marL="690563" lvl="1" indent="-342900">
              <a:spcBef>
                <a:spcPts val="600"/>
              </a:spcBef>
              <a:spcAft>
                <a:spcPts val="1200"/>
              </a:spcAft>
              <a:buClr>
                <a:srgbClr val="923222"/>
              </a:buClr>
              <a:buSzPct val="115000"/>
              <a:tabLst>
                <a:tab pos="1606550" algn="l"/>
                <a:tab pos="2286000" algn="l"/>
              </a:tabLst>
              <a:defRPr/>
            </a:pPr>
            <a:r>
              <a:rPr lang="en-US" sz="2400" dirty="0">
                <a:latin typeface="Calibri" panose="020F0502020204030204" pitchFamily="34" charset="0"/>
              </a:rPr>
              <a:t>It could have been chance. </a:t>
            </a:r>
          </a:p>
          <a:p>
            <a:pPr marL="690563" lvl="1" indent="-342900">
              <a:spcBef>
                <a:spcPts val="600"/>
              </a:spcBef>
              <a:spcAft>
                <a:spcPts val="1200"/>
              </a:spcAft>
              <a:buClr>
                <a:srgbClr val="923222"/>
              </a:buClr>
              <a:buSzPct val="115000"/>
              <a:tabLst>
                <a:tab pos="1606550" algn="l"/>
                <a:tab pos="2286000" algn="l"/>
              </a:tabLst>
              <a:defRPr/>
            </a:pPr>
            <a:r>
              <a:rPr lang="en-US" sz="2400" dirty="0">
                <a:latin typeface="Calibri" panose="020F0502020204030204" pitchFamily="34" charset="0"/>
              </a:rPr>
              <a:t>If you only question your methods when there is a large variance in the data, you’ll miss all those times your forecast was just lucky.</a:t>
            </a:r>
          </a:p>
        </p:txBody>
      </p:sp>
      <p:sp>
        <p:nvSpPr>
          <p:cNvPr id="5" name="Footer Placeholder 4"/>
          <p:cNvSpPr>
            <a:spLocks noGrp="1"/>
          </p:cNvSpPr>
          <p:nvPr>
            <p:ph type="ftr" sz="quarter" idx="3"/>
          </p:nvPr>
        </p:nvSpPr>
        <p:spPr/>
        <p:txBody>
          <a:bodyPr/>
          <a:lstStyle/>
          <a:p>
            <a:r>
              <a:rPr lang="en-US"/>
              <a:t>Fundamentals of Supply Chain Management – McLaury/Spiegle</a:t>
            </a:r>
            <a:endParaRPr lang="en-US" dirty="0"/>
          </a:p>
        </p:txBody>
      </p:sp>
      <p:sp>
        <p:nvSpPr>
          <p:cNvPr id="6" name="Slide Number Placeholder 5"/>
          <p:cNvSpPr>
            <a:spLocks noGrp="1"/>
          </p:cNvSpPr>
          <p:nvPr>
            <p:ph type="sldNum" sz="quarter" idx="4"/>
          </p:nvPr>
        </p:nvSpPr>
        <p:spPr/>
        <p:txBody>
          <a:bodyPr/>
          <a:lstStyle/>
          <a:p>
            <a:fld id="{E66AA3EA-0569-43EF-BBA3-83FDB109D582}" type="slidenum">
              <a:rPr lang="en-US" smtClean="0"/>
              <a:pPr/>
              <a:t>29</a:t>
            </a:fld>
            <a:endParaRPr lang="en-US" dirty="0"/>
          </a:p>
        </p:txBody>
      </p:sp>
    </p:spTree>
    <p:extLst>
      <p:ext uri="{BB962C8B-B14F-4D97-AF65-F5344CB8AC3E}">
        <p14:creationId xmlns:p14="http://schemas.microsoft.com/office/powerpoint/2010/main" val="1890097896"/>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27660"/>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Fundamentals of Forecasting </a:t>
            </a:r>
            <a:r>
              <a:rPr lang="en-US" sz="2000" b="0" i="1" kern="1200" dirty="0">
                <a:solidFill>
                  <a:srgbClr val="923222"/>
                </a:solidFill>
                <a:latin typeface="Calibri" panose="020F0502020204030204" pitchFamily="34" charset="0"/>
                <a:ea typeface="+mn-ea"/>
                <a:cs typeface="Arial" charset="0"/>
              </a:rPr>
              <a:t>(continued)</a:t>
            </a: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 </a:t>
            </a:r>
          </a:p>
        </p:txBody>
      </p:sp>
      <p:sp>
        <p:nvSpPr>
          <p:cNvPr id="3" name="Content Placeholder 2"/>
          <p:cNvSpPr>
            <a:spLocks noGrp="1"/>
          </p:cNvSpPr>
          <p:nvPr>
            <p:ph idx="1"/>
          </p:nvPr>
        </p:nvSpPr>
        <p:spPr>
          <a:xfrm>
            <a:off x="228600" y="914400"/>
            <a:ext cx="8686800" cy="1591733"/>
          </a:xfrm>
        </p:spPr>
        <p:txBody>
          <a:bodyPr/>
          <a:lstStyle/>
          <a:p>
            <a:pPr marL="347663" indent="-347663">
              <a:lnSpc>
                <a:spcPct val="90000"/>
              </a:lnSpc>
              <a:spcBef>
                <a:spcPts val="600"/>
              </a:spcBef>
              <a:spcAft>
                <a:spcPts val="600"/>
              </a:spcAft>
              <a:buClr>
                <a:srgbClr val="923222"/>
              </a:buClr>
              <a:buSzPct val="110000"/>
              <a:buFont typeface="+mj-lt"/>
              <a:buAutoNum type="arabicPeriod" startAt="4"/>
            </a:pPr>
            <a:r>
              <a:rPr lang="en-US" sz="2400" b="1" dirty="0">
                <a:latin typeface="Calibri" panose="020F0502020204030204" pitchFamily="34" charset="0"/>
              </a:rPr>
              <a:t>If you don’t use the data regularly, trust it less when forecasting</a:t>
            </a:r>
          </a:p>
          <a:p>
            <a:pPr marL="690563" lvl="1" indent="-342900">
              <a:lnSpc>
                <a:spcPct val="90000"/>
              </a:lnSpc>
              <a:spcBef>
                <a:spcPts val="600"/>
              </a:spcBef>
              <a:spcAft>
                <a:spcPts val="600"/>
              </a:spcAft>
              <a:buClr>
                <a:srgbClr val="923222"/>
              </a:buClr>
              <a:buSzPct val="115000"/>
              <a:tabLst>
                <a:tab pos="1606550" algn="l"/>
                <a:tab pos="2286000" algn="l"/>
              </a:tabLst>
              <a:defRPr/>
            </a:pPr>
            <a:r>
              <a:rPr lang="en-US" sz="2000" dirty="0">
                <a:latin typeface="Calibri" panose="020F0502020204030204" pitchFamily="34" charset="0"/>
              </a:rPr>
              <a:t>When information is not regularly used, errors often remain undetected.  </a:t>
            </a:r>
          </a:p>
          <a:p>
            <a:pPr marL="690563" lvl="1" indent="-342900">
              <a:lnSpc>
                <a:spcPct val="90000"/>
              </a:lnSpc>
              <a:spcBef>
                <a:spcPts val="600"/>
              </a:spcBef>
              <a:spcAft>
                <a:spcPts val="600"/>
              </a:spcAft>
              <a:buClr>
                <a:srgbClr val="923222"/>
              </a:buClr>
              <a:buSzPct val="115000"/>
              <a:tabLst>
                <a:tab pos="1606550" algn="l"/>
                <a:tab pos="2286000" algn="l"/>
              </a:tabLst>
              <a:defRPr/>
            </a:pPr>
            <a:r>
              <a:rPr lang="en-US" sz="2000" dirty="0">
                <a:latin typeface="Calibri" panose="020F0502020204030204" pitchFamily="34" charset="0"/>
              </a:rPr>
              <a:t>Regular use of data helps identify mistakes and smooths out inconsistencies over time.</a:t>
            </a:r>
          </a:p>
          <a:p>
            <a:pPr marL="347663" indent="-347663">
              <a:lnSpc>
                <a:spcPct val="90000"/>
              </a:lnSpc>
              <a:spcBef>
                <a:spcPts val="1200"/>
              </a:spcBef>
              <a:spcAft>
                <a:spcPts val="600"/>
              </a:spcAft>
              <a:buClr>
                <a:srgbClr val="923222"/>
              </a:buClr>
              <a:buSzPct val="110000"/>
              <a:buFont typeface="+mj-lt"/>
              <a:buAutoNum type="arabicPeriod" startAt="5"/>
            </a:pPr>
            <a:r>
              <a:rPr lang="en-US" sz="2400" b="1" dirty="0">
                <a:latin typeface="Calibri" panose="020F0502020204030204" pitchFamily="34" charset="0"/>
              </a:rPr>
              <a:t>All trends will eventually end </a:t>
            </a:r>
            <a:r>
              <a:rPr lang="en-US" sz="2000" i="1" dirty="0">
                <a:latin typeface="Calibri" panose="020F0502020204030204" pitchFamily="34" charset="0"/>
              </a:rPr>
              <a:t>(that’s why they’re called trends)</a:t>
            </a:r>
          </a:p>
          <a:p>
            <a:pPr marL="690563" lvl="1" indent="-342900">
              <a:lnSpc>
                <a:spcPct val="90000"/>
              </a:lnSpc>
              <a:spcBef>
                <a:spcPts val="600"/>
              </a:spcBef>
              <a:spcAft>
                <a:spcPts val="600"/>
              </a:spcAft>
              <a:buClr>
                <a:srgbClr val="923222"/>
              </a:buClr>
              <a:buSzPct val="115000"/>
              <a:tabLst>
                <a:tab pos="1606550" algn="l"/>
                <a:tab pos="2286000" algn="l"/>
              </a:tabLst>
              <a:defRPr/>
            </a:pPr>
            <a:r>
              <a:rPr lang="en-US" sz="2000" dirty="0">
                <a:latin typeface="Calibri" panose="020F0502020204030204" pitchFamily="34" charset="0"/>
              </a:rPr>
              <a:t>Many factors will affect the pattern you’re trying to forecast. </a:t>
            </a:r>
          </a:p>
          <a:p>
            <a:pPr marL="690563" lvl="1" indent="-342900">
              <a:lnSpc>
                <a:spcPct val="90000"/>
              </a:lnSpc>
              <a:spcBef>
                <a:spcPts val="600"/>
              </a:spcBef>
              <a:spcAft>
                <a:spcPts val="600"/>
              </a:spcAft>
              <a:buClr>
                <a:srgbClr val="923222"/>
              </a:buClr>
              <a:buSzPct val="115000"/>
              <a:tabLst>
                <a:tab pos="1606550" algn="l"/>
                <a:tab pos="2286000" algn="l"/>
              </a:tabLst>
              <a:defRPr/>
            </a:pPr>
            <a:r>
              <a:rPr lang="en-US" sz="2000" dirty="0">
                <a:latin typeface="Calibri" panose="020F0502020204030204" pitchFamily="34" charset="0"/>
              </a:rPr>
              <a:t>It doesn’t matter how accurately you predict the trend, in the future the variables will change and the forecast will be wrong.</a:t>
            </a:r>
          </a:p>
          <a:p>
            <a:pPr marL="690563" lvl="1" indent="-342900">
              <a:lnSpc>
                <a:spcPct val="90000"/>
              </a:lnSpc>
              <a:spcBef>
                <a:spcPts val="600"/>
              </a:spcBef>
              <a:spcAft>
                <a:spcPts val="600"/>
              </a:spcAft>
              <a:buClr>
                <a:srgbClr val="923222"/>
              </a:buClr>
              <a:buSzPct val="115000"/>
              <a:tabLst>
                <a:tab pos="1606550" algn="l"/>
                <a:tab pos="2286000" algn="l"/>
              </a:tabLst>
              <a:defRPr/>
            </a:pPr>
            <a:endParaRPr lang="en-US" sz="2000" dirty="0">
              <a:latin typeface="Calibri" panose="020F0502020204030204" pitchFamily="34" charset="0"/>
            </a:endParaRPr>
          </a:p>
        </p:txBody>
      </p: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3323" r="4994" b="14496"/>
          <a:stretch/>
        </p:blipFill>
        <p:spPr>
          <a:xfrm>
            <a:off x="1828800" y="4191000"/>
            <a:ext cx="5105400" cy="2319264"/>
          </a:xfrm>
          <a:prstGeom prst="rect">
            <a:avLst/>
          </a:prstGeom>
          <a:effectLst>
            <a:outerShdw blurRad="50800" dist="38100" dir="2700000" algn="tl" rotWithShape="0">
              <a:prstClr val="black">
                <a:alpha val="40000"/>
              </a:prstClr>
            </a:outerShdw>
          </a:effectLst>
          <a:scene3d>
            <a:camera prst="orthographicFront"/>
            <a:lightRig rig="threePt" dir="t"/>
          </a:scene3d>
          <a:sp3d>
            <a:bevelT/>
          </a:sp3d>
        </p:spPr>
      </p:pic>
      <p:sp>
        <p:nvSpPr>
          <p:cNvPr id="5" name="Footer Placeholder 4"/>
          <p:cNvSpPr>
            <a:spLocks noGrp="1"/>
          </p:cNvSpPr>
          <p:nvPr>
            <p:ph type="ftr" sz="quarter" idx="3"/>
          </p:nvPr>
        </p:nvSpPr>
        <p:spPr/>
        <p:txBody>
          <a:bodyPr/>
          <a:lstStyle/>
          <a:p>
            <a:r>
              <a:rPr lang="en-US"/>
              <a:t>Fundamentals of Supply Chain Management – McLaury/Spiegle</a:t>
            </a:r>
            <a:endParaRPr lang="en-US" dirty="0"/>
          </a:p>
        </p:txBody>
      </p:sp>
      <p:sp>
        <p:nvSpPr>
          <p:cNvPr id="8" name="Slide Number Placeholder 7"/>
          <p:cNvSpPr>
            <a:spLocks noGrp="1"/>
          </p:cNvSpPr>
          <p:nvPr>
            <p:ph type="sldNum" sz="quarter" idx="4"/>
          </p:nvPr>
        </p:nvSpPr>
        <p:spPr/>
        <p:txBody>
          <a:bodyPr/>
          <a:lstStyle/>
          <a:p>
            <a:fld id="{E66AA3EA-0569-43EF-BBA3-83FDB109D582}" type="slidenum">
              <a:rPr lang="en-US" smtClean="0"/>
              <a:pPr/>
              <a:t>30</a:t>
            </a:fld>
            <a:endParaRPr lang="en-US" dirty="0"/>
          </a:p>
        </p:txBody>
      </p:sp>
    </p:spTree>
    <p:extLst>
      <p:ext uri="{BB962C8B-B14F-4D97-AF65-F5344CB8AC3E}">
        <p14:creationId xmlns:p14="http://schemas.microsoft.com/office/powerpoint/2010/main" val="4103974096"/>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2533" y="3880635"/>
            <a:ext cx="3691468" cy="2977366"/>
          </a:xfrm>
          <a:prstGeom prst="rect">
            <a:avLst/>
          </a:prstGeom>
        </p:spPr>
      </p:pic>
      <p:sp>
        <p:nvSpPr>
          <p:cNvPr id="2" name="Title 1"/>
          <p:cNvSpPr>
            <a:spLocks noGrp="1"/>
          </p:cNvSpPr>
          <p:nvPr>
            <p:ph type="title"/>
          </p:nvPr>
        </p:nvSpPr>
        <p:spPr>
          <a:xfrm>
            <a:off x="228600" y="127660"/>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Fundamentals of Forecasting </a:t>
            </a:r>
            <a:r>
              <a:rPr lang="en-US" sz="2000" b="0" i="1" kern="1200" dirty="0">
                <a:solidFill>
                  <a:srgbClr val="923222"/>
                </a:solidFill>
                <a:latin typeface="Calibri" panose="020F0502020204030204" pitchFamily="34" charset="0"/>
                <a:ea typeface="+mn-ea"/>
                <a:cs typeface="Arial" charset="0"/>
              </a:rPr>
              <a:t>(continued)</a:t>
            </a: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 </a:t>
            </a:r>
          </a:p>
        </p:txBody>
      </p:sp>
      <p:sp>
        <p:nvSpPr>
          <p:cNvPr id="3" name="Content Placeholder 2"/>
          <p:cNvSpPr>
            <a:spLocks noGrp="1"/>
          </p:cNvSpPr>
          <p:nvPr>
            <p:ph idx="1"/>
          </p:nvPr>
        </p:nvSpPr>
        <p:spPr>
          <a:xfrm>
            <a:off x="228600" y="1066801"/>
            <a:ext cx="8686800" cy="1905000"/>
          </a:xfrm>
        </p:spPr>
        <p:txBody>
          <a:bodyPr/>
          <a:lstStyle/>
          <a:p>
            <a:pPr marL="347663" indent="-347663">
              <a:spcBef>
                <a:spcPts val="600"/>
              </a:spcBef>
              <a:spcAft>
                <a:spcPts val="1200"/>
              </a:spcAft>
              <a:buClr>
                <a:srgbClr val="923222"/>
              </a:buClr>
              <a:buSzPct val="110000"/>
              <a:buFont typeface="+mj-lt"/>
              <a:buAutoNum type="arabicPeriod" startAt="6"/>
            </a:pPr>
            <a:r>
              <a:rPr lang="en-US" sz="2400" b="1" dirty="0">
                <a:latin typeface="Calibri" panose="020F0502020204030204" pitchFamily="34" charset="0"/>
              </a:rPr>
              <a:t>It’s hard to eliminate bias, so most forecasts are biased</a:t>
            </a:r>
          </a:p>
          <a:p>
            <a:pPr marL="690563" lvl="1" indent="-342900">
              <a:spcBef>
                <a:spcPts val="600"/>
              </a:spcBef>
              <a:spcAft>
                <a:spcPts val="1200"/>
              </a:spcAft>
              <a:buClr>
                <a:srgbClr val="923222"/>
              </a:buClr>
              <a:buSzPct val="115000"/>
              <a:tabLst>
                <a:tab pos="1606550" algn="l"/>
                <a:tab pos="2286000" algn="l"/>
              </a:tabLst>
              <a:defRPr/>
            </a:pPr>
            <a:r>
              <a:rPr lang="en-US" sz="2000" kern="1200" dirty="0">
                <a:latin typeface="Calibri" panose="020F0502020204030204" pitchFamily="34" charset="0"/>
                <a:ea typeface="+mn-ea"/>
                <a:cs typeface="+mn-cs"/>
              </a:rPr>
              <a:t>When you have to make a range of assumptions (which factors to include, how strongly to weight them etc.), it’s likely that you will be adding some bias to the forecast.</a:t>
            </a:r>
          </a:p>
          <a:p>
            <a:pPr marL="347663" lvl="1" indent="0">
              <a:spcBef>
                <a:spcPts val="600"/>
              </a:spcBef>
              <a:spcAft>
                <a:spcPts val="1200"/>
              </a:spcAft>
              <a:buClr>
                <a:srgbClr val="923222"/>
              </a:buClr>
              <a:buSzPct val="115000"/>
              <a:buNone/>
              <a:tabLst>
                <a:tab pos="1606550" algn="l"/>
                <a:tab pos="2286000" algn="l"/>
              </a:tabLst>
              <a:defRPr/>
            </a:pPr>
            <a:endParaRPr lang="en-US" sz="2000" dirty="0">
              <a:latin typeface="Calibri" panose="020F0502020204030204" pitchFamily="34" charset="0"/>
            </a:endParaRPr>
          </a:p>
          <a:p>
            <a:pPr marL="347663" lvl="1" indent="0">
              <a:spcBef>
                <a:spcPts val="600"/>
              </a:spcBef>
              <a:spcAft>
                <a:spcPts val="1200"/>
              </a:spcAft>
              <a:buClr>
                <a:srgbClr val="923222"/>
              </a:buClr>
              <a:buSzPct val="115000"/>
              <a:buNone/>
              <a:tabLst>
                <a:tab pos="1606550" algn="l"/>
                <a:tab pos="2286000" algn="l"/>
              </a:tabLst>
              <a:defRPr/>
            </a:pPr>
            <a:endParaRPr lang="en-US" sz="2000" dirty="0">
              <a:latin typeface="Calibri" panose="020F0502020204030204" pitchFamily="34" charset="0"/>
            </a:endParaRPr>
          </a:p>
        </p:txBody>
      </p:sp>
      <p:sp>
        <p:nvSpPr>
          <p:cNvPr id="5" name="Content Placeholder 2"/>
          <p:cNvSpPr txBox="1">
            <a:spLocks/>
          </p:cNvSpPr>
          <p:nvPr/>
        </p:nvSpPr>
        <p:spPr bwMode="auto">
          <a:xfrm>
            <a:off x="228600" y="2893863"/>
            <a:ext cx="7120467" cy="3141134"/>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lvl1pPr marL="192088" indent="-192088" algn="l" rtl="0" eaLnBrk="0" fontAlgn="base" hangingPunct="0">
              <a:spcBef>
                <a:spcPct val="50000"/>
              </a:spcBef>
              <a:spcAft>
                <a:spcPct val="0"/>
              </a:spcAft>
              <a:buClr>
                <a:schemeClr val="tx1"/>
              </a:buClr>
              <a:buFont typeface="Symbol" pitchFamily="18" charset="2"/>
              <a:buChar char="·"/>
              <a:defRPr sz="2200">
                <a:solidFill>
                  <a:schemeClr val="tx1"/>
                </a:solidFill>
                <a:latin typeface="+mn-lt"/>
                <a:ea typeface="+mn-ea"/>
                <a:cs typeface="+mn-cs"/>
              </a:defRPr>
            </a:lvl1pPr>
            <a:lvl2pPr marL="568325" indent="-185738" algn="l" rtl="0" eaLnBrk="0" fontAlgn="base" hangingPunct="0">
              <a:spcBef>
                <a:spcPct val="50000"/>
              </a:spcBef>
              <a:spcAft>
                <a:spcPct val="0"/>
              </a:spcAft>
              <a:buClr>
                <a:schemeClr val="tx1"/>
              </a:buClr>
              <a:buFont typeface="Symbol" pitchFamily="18" charset="2"/>
              <a:buChar char="-"/>
              <a:defRPr>
                <a:solidFill>
                  <a:schemeClr val="tx1"/>
                </a:solidFill>
                <a:latin typeface="+mn-lt"/>
              </a:defRPr>
            </a:lvl2pPr>
            <a:lvl3pPr marL="855663" indent="-96838" algn="l" rtl="0" eaLnBrk="0" fontAlgn="base" hangingPunct="0">
              <a:spcBef>
                <a:spcPct val="50000"/>
              </a:spcBef>
              <a:spcAft>
                <a:spcPct val="0"/>
              </a:spcAft>
              <a:buClr>
                <a:schemeClr val="tx1"/>
              </a:buClr>
              <a:buChar char="•"/>
              <a:defRPr>
                <a:solidFill>
                  <a:schemeClr val="tx1"/>
                </a:solidFill>
                <a:latin typeface="+mn-lt"/>
              </a:defRPr>
            </a:lvl3pPr>
            <a:lvl4pPr marL="1981200" indent="-228600" algn="l" rtl="0" eaLnBrk="0" fontAlgn="base" hangingPunct="0">
              <a:spcBef>
                <a:spcPct val="50000"/>
              </a:spcBef>
              <a:spcAft>
                <a:spcPct val="0"/>
              </a:spcAft>
              <a:buChar char="–"/>
              <a:defRPr sz="1600">
                <a:solidFill>
                  <a:schemeClr val="bg1"/>
                </a:solidFill>
                <a:latin typeface="+mn-lt"/>
              </a:defRPr>
            </a:lvl4pPr>
            <a:lvl5pPr marL="2400300" indent="-228600" algn="l" rtl="0" eaLnBrk="0" fontAlgn="base" hangingPunct="0">
              <a:spcBef>
                <a:spcPct val="50000"/>
              </a:spcBef>
              <a:spcAft>
                <a:spcPct val="0"/>
              </a:spcAft>
              <a:buChar char="•"/>
              <a:defRPr sz="1400">
                <a:solidFill>
                  <a:schemeClr val="bg1"/>
                </a:solidFill>
                <a:latin typeface="+mn-lt"/>
              </a:defRPr>
            </a:lvl5pPr>
            <a:lvl6pPr marL="2857500" indent="-228600" algn="l" rtl="0" eaLnBrk="0" fontAlgn="base" hangingPunct="0">
              <a:spcBef>
                <a:spcPct val="50000"/>
              </a:spcBef>
              <a:spcAft>
                <a:spcPct val="0"/>
              </a:spcAft>
              <a:buChar char="•"/>
              <a:defRPr sz="1400">
                <a:solidFill>
                  <a:schemeClr val="bg1"/>
                </a:solidFill>
                <a:latin typeface="+mn-lt"/>
              </a:defRPr>
            </a:lvl6pPr>
            <a:lvl7pPr marL="3314700" indent="-228600" algn="l" rtl="0" eaLnBrk="0" fontAlgn="base" hangingPunct="0">
              <a:spcBef>
                <a:spcPct val="50000"/>
              </a:spcBef>
              <a:spcAft>
                <a:spcPct val="0"/>
              </a:spcAft>
              <a:buChar char="•"/>
              <a:defRPr sz="1400">
                <a:solidFill>
                  <a:schemeClr val="bg1"/>
                </a:solidFill>
                <a:latin typeface="+mn-lt"/>
              </a:defRPr>
            </a:lvl7pPr>
            <a:lvl8pPr marL="3771900" indent="-228600" algn="l" rtl="0" eaLnBrk="0" fontAlgn="base" hangingPunct="0">
              <a:spcBef>
                <a:spcPct val="50000"/>
              </a:spcBef>
              <a:spcAft>
                <a:spcPct val="0"/>
              </a:spcAft>
              <a:buChar char="•"/>
              <a:defRPr sz="1400">
                <a:solidFill>
                  <a:schemeClr val="bg1"/>
                </a:solidFill>
                <a:latin typeface="+mn-lt"/>
              </a:defRPr>
            </a:lvl8pPr>
            <a:lvl9pPr marL="4229100" indent="-228600" algn="l" rtl="0" eaLnBrk="0" fontAlgn="base" hangingPunct="0">
              <a:spcBef>
                <a:spcPct val="50000"/>
              </a:spcBef>
              <a:spcAft>
                <a:spcPct val="0"/>
              </a:spcAft>
              <a:buChar char="•"/>
              <a:defRPr sz="1400">
                <a:solidFill>
                  <a:schemeClr val="bg1"/>
                </a:solidFill>
                <a:latin typeface="+mn-lt"/>
              </a:defRPr>
            </a:lvl9pPr>
          </a:lstStyle>
          <a:p>
            <a:pPr marL="347663" indent="-347663">
              <a:spcBef>
                <a:spcPts val="600"/>
              </a:spcBef>
              <a:spcAft>
                <a:spcPts val="1200"/>
              </a:spcAft>
              <a:buClr>
                <a:srgbClr val="923222"/>
              </a:buClr>
              <a:buSzPct val="110000"/>
              <a:buFont typeface="+mj-lt"/>
              <a:buAutoNum type="arabicPeriod" startAt="7"/>
            </a:pPr>
            <a:r>
              <a:rPr lang="en-US" sz="2400" b="1" kern="0" dirty="0">
                <a:latin typeface="Calibri" panose="020F0502020204030204" pitchFamily="34" charset="0"/>
              </a:rPr>
              <a:t>Technology is not the solution to better forecasting</a:t>
            </a:r>
          </a:p>
          <a:p>
            <a:pPr marL="690563" lvl="1" indent="-342900">
              <a:spcBef>
                <a:spcPts val="600"/>
              </a:spcBef>
              <a:spcAft>
                <a:spcPts val="1200"/>
              </a:spcAft>
              <a:buClr>
                <a:srgbClr val="923222"/>
              </a:buClr>
              <a:buSzPct val="115000"/>
              <a:tabLst>
                <a:tab pos="1606550" algn="l"/>
                <a:tab pos="2286000" algn="l"/>
              </a:tabLst>
              <a:defRPr/>
            </a:pPr>
            <a:r>
              <a:rPr lang="en-US" sz="2000" dirty="0">
                <a:latin typeface="Calibri" panose="020F0502020204030204" pitchFamily="34" charset="0"/>
              </a:rPr>
              <a:t>Robust forecasting comes from sound logic in your methodology. </a:t>
            </a:r>
          </a:p>
          <a:p>
            <a:pPr marL="690563" lvl="1" indent="-342900">
              <a:spcBef>
                <a:spcPts val="600"/>
              </a:spcBef>
              <a:spcAft>
                <a:spcPts val="1200"/>
              </a:spcAft>
              <a:buClr>
                <a:srgbClr val="923222"/>
              </a:buClr>
              <a:buSzPct val="115000"/>
              <a:tabLst>
                <a:tab pos="1606550" algn="l"/>
                <a:tab pos="2286000" algn="l"/>
              </a:tabLst>
              <a:defRPr/>
            </a:pPr>
            <a:r>
              <a:rPr lang="en-US" sz="2000" dirty="0">
                <a:latin typeface="Calibri" panose="020F0502020204030204" pitchFamily="34" charset="0"/>
              </a:rPr>
              <a:t>Create an appropriate strategy and then                                              use technology to make it more successful. </a:t>
            </a:r>
          </a:p>
          <a:p>
            <a:pPr marL="690563" lvl="1" indent="-342900">
              <a:spcBef>
                <a:spcPts val="600"/>
              </a:spcBef>
              <a:spcAft>
                <a:spcPts val="1200"/>
              </a:spcAft>
              <a:buClr>
                <a:srgbClr val="923222"/>
              </a:buClr>
              <a:buSzPct val="115000"/>
              <a:tabLst>
                <a:tab pos="1606550" algn="l"/>
                <a:tab pos="2286000" algn="l"/>
              </a:tabLst>
              <a:defRPr/>
            </a:pPr>
            <a:r>
              <a:rPr lang="en-US" sz="2000" dirty="0">
                <a:latin typeface="Calibri" panose="020F0502020204030204" pitchFamily="34" charset="0"/>
              </a:rPr>
              <a:t>Technology is not the answer; it’s the tool                                     to make it better.</a:t>
            </a:r>
          </a:p>
          <a:p>
            <a:pPr marL="347663" lvl="1" indent="0">
              <a:spcBef>
                <a:spcPts val="600"/>
              </a:spcBef>
              <a:spcAft>
                <a:spcPts val="1200"/>
              </a:spcAft>
              <a:buClr>
                <a:srgbClr val="923222"/>
              </a:buClr>
              <a:buSzPct val="115000"/>
              <a:buFont typeface="Symbol" pitchFamily="18" charset="2"/>
              <a:buNone/>
              <a:tabLst>
                <a:tab pos="1606550" algn="l"/>
                <a:tab pos="2286000" algn="l"/>
              </a:tabLst>
              <a:defRPr/>
            </a:pPr>
            <a:endParaRPr lang="en-US" sz="2000" kern="0" dirty="0">
              <a:latin typeface="Calibri" panose="020F0502020204030204" pitchFamily="34" charset="0"/>
            </a:endParaRPr>
          </a:p>
          <a:p>
            <a:pPr marL="347663" lvl="1" indent="0">
              <a:spcBef>
                <a:spcPts val="600"/>
              </a:spcBef>
              <a:spcAft>
                <a:spcPts val="1200"/>
              </a:spcAft>
              <a:buClr>
                <a:srgbClr val="923222"/>
              </a:buClr>
              <a:buSzPct val="115000"/>
              <a:buFont typeface="Symbol" pitchFamily="18" charset="2"/>
              <a:buNone/>
              <a:tabLst>
                <a:tab pos="1606550" algn="l"/>
                <a:tab pos="2286000" algn="l"/>
              </a:tabLst>
              <a:defRPr/>
            </a:pPr>
            <a:endParaRPr lang="en-US" sz="2000" kern="0" dirty="0">
              <a:latin typeface="Calibri" panose="020F0502020204030204" pitchFamily="34" charset="0"/>
            </a:endParaRPr>
          </a:p>
        </p:txBody>
      </p:sp>
      <p:sp>
        <p:nvSpPr>
          <p:cNvPr id="7" name="Footer Placeholder 6"/>
          <p:cNvSpPr>
            <a:spLocks noGrp="1"/>
          </p:cNvSpPr>
          <p:nvPr>
            <p:ph type="ftr" sz="quarter" idx="3"/>
          </p:nvPr>
        </p:nvSpPr>
        <p:spPr/>
        <p:txBody>
          <a:bodyPr/>
          <a:lstStyle/>
          <a:p>
            <a:r>
              <a:rPr lang="en-US"/>
              <a:t>Fundamentals of Supply Chain Management – McLaury/Spiegle</a:t>
            </a:r>
            <a:endParaRPr lang="en-US" dirty="0"/>
          </a:p>
        </p:txBody>
      </p:sp>
      <p:sp>
        <p:nvSpPr>
          <p:cNvPr id="8" name="Slide Number Placeholder 7"/>
          <p:cNvSpPr>
            <a:spLocks noGrp="1"/>
          </p:cNvSpPr>
          <p:nvPr>
            <p:ph type="sldNum" sz="quarter" idx="4"/>
          </p:nvPr>
        </p:nvSpPr>
        <p:spPr/>
        <p:txBody>
          <a:bodyPr/>
          <a:lstStyle/>
          <a:p>
            <a:fld id="{E66AA3EA-0569-43EF-BBA3-83FDB109D582}" type="slidenum">
              <a:rPr lang="en-US" smtClean="0"/>
              <a:pPr/>
              <a:t>31</a:t>
            </a:fld>
            <a:endParaRPr lang="en-US" dirty="0"/>
          </a:p>
        </p:txBody>
      </p:sp>
    </p:spTree>
    <p:extLst>
      <p:ext uri="{BB962C8B-B14F-4D97-AF65-F5344CB8AC3E}">
        <p14:creationId xmlns:p14="http://schemas.microsoft.com/office/powerpoint/2010/main" val="403739937"/>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additive="base">
                                        <p:cTn id="1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 calcmode="lin" valueType="num">
                                      <p:cBhvr additive="base">
                                        <p:cTn id="2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 calcmode="lin" valueType="num">
                                      <p:cBhvr additive="base">
                                        <p:cTn id="2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anim calcmode="lin" valueType="num">
                                      <p:cBhvr additive="base">
                                        <p:cTn id="2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Forecast Error</a:t>
            </a:r>
          </a:p>
        </p:txBody>
      </p:sp>
      <p:sp>
        <p:nvSpPr>
          <p:cNvPr id="6" name="Rectangle 5"/>
          <p:cNvSpPr/>
          <p:nvPr/>
        </p:nvSpPr>
        <p:spPr>
          <a:xfrm>
            <a:off x="228600" y="914400"/>
            <a:ext cx="8686800" cy="5078313"/>
          </a:xfrm>
          <a:prstGeom prst="rect">
            <a:avLst/>
          </a:prstGeom>
        </p:spPr>
        <p:txBody>
          <a:bodyPr wrap="square">
            <a:spAutoFit/>
          </a:bodyPr>
          <a:lstStyle/>
          <a:p>
            <a:pPr eaLnBrk="0" hangingPunct="0">
              <a:spcBef>
                <a:spcPts val="1200"/>
              </a:spcBef>
              <a:spcAft>
                <a:spcPts val="1200"/>
              </a:spcAft>
            </a:pPr>
            <a:r>
              <a:rPr lang="en-US" dirty="0">
                <a:latin typeface="Calibri" panose="020F0502020204030204" pitchFamily="34" charset="0"/>
                <a:ea typeface="Calibri" panose="020F0502020204030204" pitchFamily="34" charset="0"/>
                <a:cs typeface="Times New Roman" panose="02020603050405020304" pitchFamily="18" charset="0"/>
              </a:rPr>
              <a:t>Since forecasts are almost always inaccurate, companies need to track the forecast against actual demand and </a:t>
            </a:r>
            <a:r>
              <a:rPr lang="en-US" b="1" dirty="0">
                <a:latin typeface="Calibri" panose="020F0502020204030204" pitchFamily="34" charset="0"/>
                <a:ea typeface="Calibri" panose="020F0502020204030204" pitchFamily="34" charset="0"/>
                <a:cs typeface="Times New Roman" panose="02020603050405020304" pitchFamily="18" charset="0"/>
              </a:rPr>
              <a:t>measure the size and type of the forecast error.</a:t>
            </a:r>
            <a:r>
              <a:rPr lang="en-US" dirty="0">
                <a:latin typeface="Calibri" panose="020F0502020204030204" pitchFamily="34" charset="0"/>
                <a:ea typeface="Calibri" panose="020F0502020204030204" pitchFamily="34" charset="0"/>
                <a:cs typeface="Times New Roman" panose="02020603050405020304" pitchFamily="18" charset="0"/>
              </a:rPr>
              <a:t> </a:t>
            </a:r>
          </a:p>
          <a:p>
            <a:pPr marL="457200" indent="-342900" eaLnBrk="0" hangingPunct="0">
              <a:spcBef>
                <a:spcPts val="1200"/>
              </a:spcBef>
              <a:spcAft>
                <a:spcPts val="1200"/>
              </a:spcAft>
              <a:buClr>
                <a:srgbClr val="923222"/>
              </a:buClr>
              <a:buSzPct val="110000"/>
              <a:buFont typeface="Wingdings" panose="05000000000000000000" pitchFamily="2" charset="2"/>
              <a:buChar char="§"/>
            </a:pPr>
            <a:r>
              <a:rPr lang="en-US" dirty="0">
                <a:latin typeface="Calibri" panose="020F0502020204030204" pitchFamily="34" charset="0"/>
                <a:ea typeface="Calibri" panose="020F0502020204030204" pitchFamily="34" charset="0"/>
                <a:cs typeface="Times New Roman" panose="02020603050405020304" pitchFamily="18" charset="0"/>
              </a:rPr>
              <a:t>The size of the </a:t>
            </a:r>
            <a:r>
              <a:rPr lang="en-US" b="1" dirty="0">
                <a:latin typeface="Calibri" panose="020F0502020204030204" pitchFamily="34" charset="0"/>
                <a:ea typeface="Calibri" panose="020F0502020204030204" pitchFamily="34" charset="0"/>
                <a:cs typeface="Times New Roman" panose="02020603050405020304" pitchFamily="18" charset="0"/>
              </a:rPr>
              <a:t>forecast error</a:t>
            </a:r>
            <a:r>
              <a:rPr lang="en-US" dirty="0">
                <a:latin typeface="Calibri" panose="020F0502020204030204" pitchFamily="34" charset="0"/>
                <a:ea typeface="Calibri" panose="020F0502020204030204" pitchFamily="34" charset="0"/>
                <a:cs typeface="Times New Roman" panose="02020603050405020304" pitchFamily="18" charset="0"/>
              </a:rPr>
              <a:t> can be </a:t>
            </a:r>
            <a:r>
              <a:rPr lang="en-US" b="1" u="sng" dirty="0">
                <a:latin typeface="Calibri" panose="020F0502020204030204" pitchFamily="34" charset="0"/>
                <a:ea typeface="Calibri" panose="020F0502020204030204" pitchFamily="34" charset="0"/>
                <a:cs typeface="Times New Roman" panose="02020603050405020304" pitchFamily="18" charset="0"/>
              </a:rPr>
              <a:t>measured in units </a:t>
            </a:r>
            <a:r>
              <a:rPr lang="en-US" b="1" dirty="0">
                <a:latin typeface="Calibri" panose="020F0502020204030204" pitchFamily="34" charset="0"/>
                <a:ea typeface="Calibri" panose="020F0502020204030204" pitchFamily="34" charset="0"/>
                <a:cs typeface="Times New Roman" panose="02020603050405020304" pitchFamily="18" charset="0"/>
              </a:rPr>
              <a:t>or</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b="1" u="sng" dirty="0">
                <a:latin typeface="Calibri" panose="020F0502020204030204" pitchFamily="34" charset="0"/>
                <a:ea typeface="Calibri" panose="020F0502020204030204" pitchFamily="34" charset="0"/>
                <a:cs typeface="Times New Roman" panose="02020603050405020304" pitchFamily="18" charset="0"/>
              </a:rPr>
              <a:t>percentages</a:t>
            </a:r>
            <a:r>
              <a:rPr lang="en-US" dirty="0">
                <a:latin typeface="Calibri" panose="020F0502020204030204" pitchFamily="34" charset="0"/>
                <a:ea typeface="Calibri" panose="020F0502020204030204" pitchFamily="34" charset="0"/>
                <a:cs typeface="Times New Roman" panose="02020603050405020304" pitchFamily="18" charset="0"/>
              </a:rPr>
              <a:t>. </a:t>
            </a:r>
          </a:p>
          <a:p>
            <a:pPr eaLnBrk="0" hangingPunct="0">
              <a:spcBef>
                <a:spcPts val="1200"/>
              </a:spcBef>
              <a:spcAft>
                <a:spcPts val="1200"/>
              </a:spcAft>
            </a:pPr>
            <a:r>
              <a:rPr lang="en-US" b="1" dirty="0">
                <a:latin typeface="Calibri" panose="020F0502020204030204" pitchFamily="34" charset="0"/>
                <a:ea typeface="Calibri" panose="020F0502020204030204" pitchFamily="34" charset="0"/>
                <a:cs typeface="Times New Roman" panose="02020603050405020304" pitchFamily="18" charset="0"/>
              </a:rPr>
              <a:t>Error measurement </a:t>
            </a:r>
            <a:r>
              <a:rPr lang="en-US" dirty="0">
                <a:latin typeface="Calibri" panose="020F0502020204030204" pitchFamily="34" charset="0"/>
                <a:ea typeface="Calibri" panose="020F0502020204030204" pitchFamily="34" charset="0"/>
                <a:cs typeface="Times New Roman" panose="02020603050405020304" pitchFamily="18" charset="0"/>
              </a:rPr>
              <a:t>plays a critical role in tracking forecast accuracy, monitoring for exceptions, and benchmarking the forecasting process. </a:t>
            </a:r>
          </a:p>
          <a:p>
            <a:pPr marL="457200" indent="-342900" eaLnBrk="0" hangingPunct="0">
              <a:spcBef>
                <a:spcPts val="1200"/>
              </a:spcBef>
              <a:spcAft>
                <a:spcPts val="1200"/>
              </a:spcAft>
              <a:buClr>
                <a:srgbClr val="923222"/>
              </a:buClr>
              <a:buSzPct val="110000"/>
              <a:buFont typeface="Wingdings" panose="05000000000000000000" pitchFamily="2" charset="2"/>
              <a:buChar char="§"/>
            </a:pPr>
            <a:r>
              <a:rPr lang="en-US" dirty="0">
                <a:latin typeface="Calibri" panose="020F0502020204030204" pitchFamily="34" charset="0"/>
                <a:ea typeface="Calibri" panose="020F0502020204030204" pitchFamily="34" charset="0"/>
                <a:cs typeface="Times New Roman" panose="02020603050405020304" pitchFamily="18" charset="0"/>
              </a:rPr>
              <a:t>Interpretation of these statistics can be tricky, particularly when working with low-volume data or when trying to assess accuracy across multiple items.</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32</a:t>
            </a:fld>
            <a:endParaRPr lang="en-US" dirty="0"/>
          </a:p>
        </p:txBody>
      </p:sp>
    </p:spTree>
    <p:extLst>
      <p:ext uri="{BB962C8B-B14F-4D97-AF65-F5344CB8AC3E}">
        <p14:creationId xmlns:p14="http://schemas.microsoft.com/office/powerpoint/2010/main" val="1587059162"/>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additive="base">
                                        <p:cTn id="1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additive="base">
                                        <p:cTn id="1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 calcmode="lin" valueType="num">
                                      <p:cBhvr additive="base">
                                        <p:cTn id="2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533400" y="2429934"/>
            <a:ext cx="4445000" cy="397933"/>
          </a:xfrm>
          <a:prstGeom prst="rect">
            <a:avLst/>
          </a:prstGeom>
          <a:solidFill>
            <a:schemeClr val="accent5">
              <a:lumMod val="20000"/>
              <a:lumOff val="80000"/>
            </a:schemeClr>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outerShdw blurRad="38100" dist="38100" dir="2700000" algn="tl">
                  <a:srgbClr val="000000">
                    <a:alpha val="43137"/>
                  </a:srgbClr>
                </a:outerShdw>
              </a:effectLst>
              <a:latin typeface="News Gothic MT" pitchFamily="34" charset="0"/>
            </a:endParaRPr>
          </a:p>
        </p:txBody>
      </p:sp>
      <p:sp>
        <p:nvSpPr>
          <p:cNvPr id="6" name="Rectangle 5"/>
          <p:cNvSpPr/>
          <p:nvPr/>
        </p:nvSpPr>
        <p:spPr bwMode="auto">
          <a:xfrm>
            <a:off x="533400" y="4775199"/>
            <a:ext cx="4445000" cy="397933"/>
          </a:xfrm>
          <a:prstGeom prst="rect">
            <a:avLst/>
          </a:prstGeom>
          <a:solidFill>
            <a:schemeClr val="accent5">
              <a:lumMod val="20000"/>
              <a:lumOff val="80000"/>
            </a:schemeClr>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outerShdw blurRad="38100" dist="38100" dir="2700000" algn="tl">
                  <a:srgbClr val="000000">
                    <a:alpha val="43137"/>
                  </a:srgbClr>
                </a:outerShdw>
              </a:effectLst>
              <a:latin typeface="News Gothic MT" pitchFamily="34" charset="0"/>
            </a:endParaRPr>
          </a:p>
        </p:txBody>
      </p:sp>
      <p:sp>
        <p:nvSpPr>
          <p:cNvPr id="36867" name="Rectangle 3"/>
          <p:cNvSpPr>
            <a:spLocks noGrp="1" noChangeArrowheads="1"/>
          </p:cNvSpPr>
          <p:nvPr>
            <p:ph type="body" idx="4294967295"/>
          </p:nvPr>
        </p:nvSpPr>
        <p:spPr>
          <a:xfrm>
            <a:off x="220133" y="914400"/>
            <a:ext cx="8703733" cy="5766329"/>
          </a:xfrm>
        </p:spPr>
        <p:txBody>
          <a:bodyPr/>
          <a:lstStyle/>
          <a:p>
            <a:pPr marL="0" indent="0">
              <a:buFontTx/>
              <a:buNone/>
              <a:tabLst>
                <a:tab pos="1773238" algn="l"/>
                <a:tab pos="2174875" algn="l"/>
              </a:tabLst>
            </a:pPr>
            <a:r>
              <a:rPr lang="en-US" altLang="en-US" sz="2400" b="1" u="sng" dirty="0">
                <a:latin typeface="Calibri" panose="020F0502020204030204" pitchFamily="34" charset="0"/>
                <a:ea typeface="ＭＳ Ｐゴシック" panose="020B0600070205080204" pitchFamily="34" charset="-128"/>
              </a:rPr>
              <a:t>Forecast Error</a:t>
            </a:r>
            <a:r>
              <a:rPr lang="en-US" altLang="en-US" sz="2400" b="1" dirty="0">
                <a:latin typeface="Calibri" panose="020F0502020204030204" pitchFamily="34" charset="0"/>
                <a:ea typeface="ＭＳ Ｐゴシック" panose="020B0600070205080204" pitchFamily="34" charset="-128"/>
              </a:rPr>
              <a:t> </a:t>
            </a:r>
            <a:r>
              <a:rPr lang="en-US" altLang="en-US" sz="2400" dirty="0">
                <a:latin typeface="Calibri" panose="020F0502020204030204" pitchFamily="34" charset="0"/>
                <a:ea typeface="ＭＳ Ｐゴシック" panose="020B0600070205080204" pitchFamily="34" charset="-128"/>
              </a:rPr>
              <a:t>is the difference between the actual demand and the forecast demand.   </a:t>
            </a:r>
            <a:r>
              <a:rPr lang="en-US" altLang="en-US" sz="2400" b="1" dirty="0">
                <a:latin typeface="Calibri" panose="020F0502020204030204" pitchFamily="34" charset="0"/>
                <a:ea typeface="ＭＳ Ｐゴシック" panose="020B0600070205080204" pitchFamily="34" charset="-128"/>
              </a:rPr>
              <a:t>The error can be quantified as an </a:t>
            </a:r>
            <a:r>
              <a:rPr lang="en-US" altLang="en-US" sz="2400" b="1" u="sng" dirty="0">
                <a:solidFill>
                  <a:srgbClr val="923222"/>
                </a:solidFill>
                <a:latin typeface="Calibri" panose="020F0502020204030204" pitchFamily="34" charset="0"/>
                <a:ea typeface="ＭＳ Ｐゴシック" panose="020B0600070205080204" pitchFamily="34" charset="-128"/>
              </a:rPr>
              <a:t>absolute</a:t>
            </a:r>
            <a:r>
              <a:rPr lang="en-US" altLang="en-US" sz="2400" b="1" dirty="0">
                <a:latin typeface="Calibri" panose="020F0502020204030204" pitchFamily="34" charset="0"/>
                <a:ea typeface="ＭＳ Ｐゴシック" panose="020B0600070205080204" pitchFamily="34" charset="-128"/>
              </a:rPr>
              <a:t> value or as a percentage. </a:t>
            </a:r>
          </a:p>
          <a:p>
            <a:pPr marL="457200" lvl="2">
              <a:buFontTx/>
              <a:buNone/>
              <a:tabLst>
                <a:tab pos="1773238" algn="l"/>
                <a:tab pos="2174875" algn="l"/>
              </a:tabLst>
            </a:pPr>
            <a:endParaRPr lang="en-US" altLang="en-US" sz="1200" dirty="0">
              <a:latin typeface="Calibri" panose="020F0502020204030204" pitchFamily="34" charset="0"/>
              <a:ea typeface="ＭＳ Ｐゴシック" panose="020B0600070205080204" pitchFamily="34" charset="-128"/>
            </a:endParaRPr>
          </a:p>
          <a:p>
            <a:pPr marL="457200" lvl="2">
              <a:spcBef>
                <a:spcPts val="600"/>
              </a:spcBef>
              <a:buNone/>
              <a:tabLst>
                <a:tab pos="1773238" algn="l"/>
                <a:tab pos="2174875" algn="l"/>
              </a:tabLst>
            </a:pPr>
            <a:r>
              <a:rPr lang="en-US" altLang="en-US" sz="2400" dirty="0">
                <a:latin typeface="Calibri" panose="020F0502020204030204" pitchFamily="34" charset="0"/>
                <a:ea typeface="ＭＳ Ｐゴシック" panose="020B0600070205080204" pitchFamily="34" charset="-128"/>
              </a:rPr>
              <a:t>Actual Demand	   =       95 units</a:t>
            </a:r>
          </a:p>
          <a:p>
            <a:pPr marL="457200" lvl="2">
              <a:spcBef>
                <a:spcPts val="600"/>
              </a:spcBef>
              <a:buFontTx/>
              <a:buNone/>
              <a:tabLst>
                <a:tab pos="1773238" algn="l"/>
                <a:tab pos="2174875" algn="l"/>
              </a:tabLst>
            </a:pPr>
            <a:r>
              <a:rPr lang="en-US" altLang="en-US" sz="2400" dirty="0">
                <a:latin typeface="Calibri" panose="020F0502020204030204" pitchFamily="34" charset="0"/>
                <a:ea typeface="ＭＳ Ｐゴシック" panose="020B0600070205080204" pitchFamily="34" charset="-128"/>
              </a:rPr>
              <a:t>Forecast  Demand	   =     110 units</a:t>
            </a:r>
          </a:p>
          <a:p>
            <a:pPr marL="457200" lvl="2">
              <a:spcBef>
                <a:spcPts val="600"/>
              </a:spcBef>
              <a:buFontTx/>
              <a:buNone/>
              <a:tabLst>
                <a:tab pos="1773238" algn="l"/>
                <a:tab pos="2174875" algn="l"/>
              </a:tabLst>
            </a:pPr>
            <a:r>
              <a:rPr lang="en-US" altLang="en-US" sz="2400" dirty="0">
                <a:latin typeface="Calibri" panose="020F0502020204030204" pitchFamily="34" charset="0"/>
                <a:ea typeface="ＭＳ Ｐゴシック" panose="020B0600070205080204" pitchFamily="34" charset="-128"/>
              </a:rPr>
              <a:t>Forecast Error Value =      -15 units</a:t>
            </a:r>
            <a:endParaRPr lang="en-US" altLang="en-US" sz="2400" i="1" dirty="0">
              <a:latin typeface="Calibri" panose="020F0502020204030204" pitchFamily="34" charset="0"/>
              <a:ea typeface="ＭＳ Ｐゴシック" panose="020B0600070205080204" pitchFamily="34" charset="-128"/>
            </a:endParaRPr>
          </a:p>
          <a:p>
            <a:pPr marL="457200" lvl="2">
              <a:spcBef>
                <a:spcPts val="600"/>
              </a:spcBef>
              <a:buFontTx/>
              <a:buNone/>
              <a:tabLst>
                <a:tab pos="1773238" algn="l"/>
                <a:tab pos="2174875" algn="l"/>
              </a:tabLst>
            </a:pPr>
            <a:r>
              <a:rPr lang="en-US" altLang="en-US" sz="2400" dirty="0">
                <a:latin typeface="Calibri" panose="020F0502020204030204" pitchFamily="34" charset="0"/>
                <a:ea typeface="ＭＳ Ｐゴシック" panose="020B0600070205080204" pitchFamily="34" charset="-128"/>
              </a:rPr>
              <a:t>Forecast Error %  	   =       </a:t>
            </a: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15.8%</a:t>
            </a:r>
            <a:endParaRPr lang="en-US" altLang="en-US" sz="1400" i="1" dirty="0">
              <a:latin typeface="Calibri" panose="020F0502020204030204" pitchFamily="34" charset="0"/>
              <a:ea typeface="ＭＳ Ｐゴシック" panose="020B0600070205080204" pitchFamily="34" charset="-128"/>
            </a:endParaRPr>
          </a:p>
          <a:p>
            <a:pPr marL="457200" lvl="2">
              <a:spcBef>
                <a:spcPts val="600"/>
              </a:spcBef>
              <a:buFontTx/>
              <a:buNone/>
              <a:tabLst>
                <a:tab pos="1773238" algn="l"/>
                <a:tab pos="2174875" algn="l"/>
              </a:tabLst>
            </a:pPr>
            <a:endParaRPr lang="en-US" altLang="en-US" sz="1400" i="1" dirty="0">
              <a:latin typeface="Calibri" panose="020F0502020204030204" pitchFamily="34" charset="0"/>
              <a:ea typeface="ＭＳ Ｐゴシック" panose="020B0600070205080204" pitchFamily="34" charset="-128"/>
            </a:endParaRPr>
          </a:p>
          <a:p>
            <a:pPr marL="457200" lvl="2">
              <a:spcBef>
                <a:spcPts val="600"/>
              </a:spcBef>
              <a:buFontTx/>
              <a:buNone/>
              <a:tabLst>
                <a:tab pos="1773238" algn="l"/>
                <a:tab pos="2174875" algn="l"/>
              </a:tabLst>
            </a:pPr>
            <a:endParaRPr lang="en-US" altLang="en-US" sz="1400" i="1" dirty="0">
              <a:latin typeface="Calibri" panose="020F0502020204030204" pitchFamily="34" charset="0"/>
              <a:ea typeface="ＭＳ Ｐゴシック" panose="020B0600070205080204" pitchFamily="34" charset="-128"/>
            </a:endParaRPr>
          </a:p>
          <a:p>
            <a:pPr marL="457200" lvl="2">
              <a:spcBef>
                <a:spcPts val="600"/>
              </a:spcBef>
              <a:buClr>
                <a:prstClr val="black"/>
              </a:buClr>
              <a:buNone/>
              <a:tabLst>
                <a:tab pos="1773238" algn="l"/>
                <a:tab pos="2174875" algn="l"/>
              </a:tabLst>
            </a:pPr>
            <a:r>
              <a:rPr lang="en-US" altLang="en-US" sz="2400" dirty="0">
                <a:solidFill>
                  <a:prstClr val="black"/>
                </a:solidFill>
                <a:latin typeface="Calibri" panose="020F0502020204030204" pitchFamily="34" charset="0"/>
                <a:ea typeface="ＭＳ Ｐゴシック" panose="020B0600070205080204" pitchFamily="34" charset="-128"/>
              </a:rPr>
              <a:t>Actual  Demand	   =     125 units</a:t>
            </a:r>
          </a:p>
          <a:p>
            <a:pPr marL="457200" lvl="2">
              <a:spcBef>
                <a:spcPts val="600"/>
              </a:spcBef>
              <a:buClr>
                <a:prstClr val="black"/>
              </a:buClr>
              <a:buNone/>
              <a:tabLst>
                <a:tab pos="1773238" algn="l"/>
                <a:tab pos="2174875" algn="l"/>
              </a:tabLst>
            </a:pPr>
            <a:r>
              <a:rPr lang="en-US" altLang="en-US" sz="2400" dirty="0">
                <a:solidFill>
                  <a:prstClr val="black"/>
                </a:solidFill>
                <a:latin typeface="Calibri" panose="020F0502020204030204" pitchFamily="34" charset="0"/>
                <a:ea typeface="ＭＳ Ｐゴシック" panose="020B0600070205080204" pitchFamily="34" charset="-128"/>
              </a:rPr>
              <a:t>Forecast  Demand	   =     110 units</a:t>
            </a:r>
          </a:p>
          <a:p>
            <a:pPr marL="457200" lvl="2">
              <a:spcBef>
                <a:spcPts val="600"/>
              </a:spcBef>
              <a:buClr>
                <a:prstClr val="black"/>
              </a:buClr>
              <a:buNone/>
              <a:tabLst>
                <a:tab pos="1773238" algn="l"/>
                <a:tab pos="2174875" algn="l"/>
              </a:tabLst>
            </a:pPr>
            <a:r>
              <a:rPr lang="en-US" altLang="en-US" sz="2400" dirty="0">
                <a:solidFill>
                  <a:prstClr val="black"/>
                </a:solidFill>
                <a:latin typeface="Calibri" panose="020F0502020204030204" pitchFamily="34" charset="0"/>
                <a:ea typeface="ＭＳ Ｐゴシック" panose="020B0600070205080204" pitchFamily="34" charset="-128"/>
              </a:rPr>
              <a:t>Forecast Error Value =       15 units</a:t>
            </a:r>
            <a:endParaRPr lang="en-US" altLang="en-US" sz="2400" i="1" dirty="0">
              <a:solidFill>
                <a:prstClr val="black"/>
              </a:solidFill>
              <a:latin typeface="Calibri" panose="020F0502020204030204" pitchFamily="34" charset="0"/>
              <a:ea typeface="ＭＳ Ｐゴシック" panose="020B0600070205080204" pitchFamily="34" charset="-128"/>
            </a:endParaRPr>
          </a:p>
          <a:p>
            <a:pPr marL="457200" lvl="2">
              <a:spcBef>
                <a:spcPts val="600"/>
              </a:spcBef>
              <a:buClr>
                <a:prstClr val="black"/>
              </a:buClr>
              <a:buNone/>
              <a:tabLst>
                <a:tab pos="1773238" algn="l"/>
                <a:tab pos="2174875" algn="l"/>
              </a:tabLst>
            </a:pPr>
            <a:r>
              <a:rPr lang="en-US" altLang="en-US" sz="2400" dirty="0">
                <a:solidFill>
                  <a:prstClr val="black"/>
                </a:solidFill>
                <a:latin typeface="Calibri" panose="020F0502020204030204" pitchFamily="34" charset="0"/>
                <a:ea typeface="ＭＳ Ｐゴシック" panose="020B0600070205080204" pitchFamily="34" charset="-128"/>
              </a:rPr>
              <a:t>Forecast Error %  	   =       </a:t>
            </a: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12.0%</a:t>
            </a:r>
            <a:endParaRPr lang="en-US" altLang="en-US" sz="1400" i="1" dirty="0">
              <a:solidFill>
                <a:prstClr val="black"/>
              </a:solidFill>
              <a:latin typeface="Calibri" panose="020F0502020204030204" pitchFamily="34" charset="0"/>
              <a:ea typeface="ＭＳ Ｐゴシック" panose="020B0600070205080204" pitchFamily="34" charset="-128"/>
            </a:endParaRPr>
          </a:p>
          <a:p>
            <a:pPr marL="457200" lvl="2">
              <a:spcBef>
                <a:spcPts val="600"/>
              </a:spcBef>
              <a:buFontTx/>
              <a:buNone/>
              <a:tabLst>
                <a:tab pos="1773238" algn="l"/>
                <a:tab pos="2174875" algn="l"/>
              </a:tabLst>
            </a:pPr>
            <a:endParaRPr lang="en-US" altLang="en-US" sz="1400" i="1" dirty="0">
              <a:latin typeface="Calibri" panose="020F0502020204030204" pitchFamily="34" charset="0"/>
              <a:ea typeface="ＭＳ Ｐゴシック" panose="020B0600070205080204" pitchFamily="34" charset="-128"/>
            </a:endParaRPr>
          </a:p>
        </p:txBody>
      </p:sp>
      <p:sp>
        <p:nvSpPr>
          <p:cNvPr id="36866"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Forecast Error – Calculations and Examples</a:t>
            </a:r>
          </a:p>
        </p:txBody>
      </p:sp>
      <p:sp>
        <p:nvSpPr>
          <p:cNvPr id="4" name="Rectangle 3"/>
          <p:cNvSpPr/>
          <p:nvPr/>
        </p:nvSpPr>
        <p:spPr>
          <a:xfrm>
            <a:off x="5291666" y="3358338"/>
            <a:ext cx="3589868" cy="1615827"/>
          </a:xfrm>
          <a:prstGeom prst="rect">
            <a:avLst/>
          </a:prstGeom>
          <a:solidFill>
            <a:srgbClr val="923222"/>
          </a:solidFill>
          <a:effectLst>
            <a:outerShdw blurRad="50800" dist="38100" dir="2700000" algn="tl" rotWithShape="0">
              <a:prstClr val="black">
                <a:alpha val="40000"/>
              </a:prstClr>
            </a:outerShdw>
          </a:effectLst>
          <a:scene3d>
            <a:camera prst="orthographicFront"/>
            <a:lightRig rig="threePt" dir="t"/>
          </a:scene3d>
          <a:sp3d>
            <a:bevelT/>
          </a:sp3d>
        </p:spPr>
        <p:txBody>
          <a:bodyPr wrap="square">
            <a:spAutoFit/>
          </a:bodyPr>
          <a:lstStyle/>
          <a:p>
            <a:pPr eaLnBrk="0" hangingPunct="0">
              <a:spcBef>
                <a:spcPts val="600"/>
              </a:spcBef>
              <a:spcAft>
                <a:spcPts val="600"/>
              </a:spcAft>
            </a:pPr>
            <a:r>
              <a:rPr lang="en-US" sz="1800" b="1"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Forecast Error Value = A – F </a:t>
            </a:r>
          </a:p>
          <a:p>
            <a:pPr eaLnBrk="0" hangingPunct="0">
              <a:spcBef>
                <a:spcPts val="600"/>
              </a:spcBef>
              <a:spcAft>
                <a:spcPts val="600"/>
              </a:spcAft>
            </a:pPr>
            <a:r>
              <a:rPr lang="en-US" sz="1800" b="1"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Forecast Error % = ((A – F) / A) x 100</a:t>
            </a:r>
          </a:p>
          <a:p>
            <a:pPr marL="228600" eaLnBrk="0" hangingPunct="0">
              <a:spcBef>
                <a:spcPts val="0"/>
              </a:spcBef>
              <a:spcAft>
                <a:spcPts val="0"/>
              </a:spcAft>
            </a:pPr>
            <a:r>
              <a:rPr lang="en-US" sz="1600" i="1"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Where:</a:t>
            </a:r>
            <a:endParaRPr lang="en-US" sz="16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marL="228600" eaLnBrk="0" hangingPunct="0">
              <a:spcBef>
                <a:spcPts val="0"/>
              </a:spcBef>
              <a:spcAft>
                <a:spcPts val="0"/>
              </a:spcAft>
            </a:pPr>
            <a:r>
              <a:rPr lang="en-US" sz="16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A = Actual demand</a:t>
            </a:r>
          </a:p>
          <a:p>
            <a:pPr marL="228600" eaLnBrk="0" hangingPunct="0">
              <a:spcBef>
                <a:spcPts val="0"/>
              </a:spcBef>
              <a:spcAft>
                <a:spcPts val="0"/>
              </a:spcAft>
            </a:pPr>
            <a:r>
              <a:rPr lang="en-US" sz="16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F = Forecast demand</a:t>
            </a:r>
          </a:p>
        </p:txBody>
      </p:sp>
      <p:sp>
        <p:nvSpPr>
          <p:cNvPr id="5" name="Footer Placeholder 4"/>
          <p:cNvSpPr>
            <a:spLocks noGrp="1"/>
          </p:cNvSpPr>
          <p:nvPr>
            <p:ph type="ftr" sz="quarter" idx="3"/>
          </p:nvPr>
        </p:nvSpPr>
        <p:spPr/>
        <p:txBody>
          <a:bodyPr/>
          <a:lstStyle/>
          <a:p>
            <a:r>
              <a:rPr lang="en-US"/>
              <a:t>Fundamentals of Supply Chain Management – McLaury/Spiegle</a:t>
            </a:r>
            <a:endParaRPr lang="en-US" dirty="0"/>
          </a:p>
        </p:txBody>
      </p:sp>
      <p:sp>
        <p:nvSpPr>
          <p:cNvPr id="7" name="Slide Number Placeholder 6"/>
          <p:cNvSpPr>
            <a:spLocks noGrp="1"/>
          </p:cNvSpPr>
          <p:nvPr>
            <p:ph type="sldNum" sz="quarter" idx="4"/>
          </p:nvPr>
        </p:nvSpPr>
        <p:spPr/>
        <p:txBody>
          <a:bodyPr/>
          <a:lstStyle/>
          <a:p>
            <a:fld id="{E66AA3EA-0569-43EF-BBA3-83FDB109D582}" type="slidenum">
              <a:rPr lang="en-US" smtClean="0"/>
              <a:pPr/>
              <a:t>33</a:t>
            </a:fld>
            <a:endParaRPr lang="en-US" dirty="0"/>
          </a:p>
        </p:txBody>
      </p:sp>
    </p:spTree>
    <p:extLst>
      <p:ext uri="{BB962C8B-B14F-4D97-AF65-F5344CB8AC3E}">
        <p14:creationId xmlns:p14="http://schemas.microsoft.com/office/powerpoint/2010/main" val="1111671248"/>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867">
                                            <p:txEl>
                                              <p:pRg st="2" end="2"/>
                                            </p:txEl>
                                          </p:spTgt>
                                        </p:tgtEl>
                                        <p:attrNameLst>
                                          <p:attrName>style.visibility</p:attrName>
                                        </p:attrNameLst>
                                      </p:cBhvr>
                                      <p:to>
                                        <p:strVal val="visible"/>
                                      </p:to>
                                    </p:set>
                                    <p:anim calcmode="lin" valueType="num">
                                      <p:cBhvr additive="base">
                                        <p:cTn id="19" dur="5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6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6867">
                                            <p:txEl>
                                              <p:pRg st="3" end="3"/>
                                            </p:txEl>
                                          </p:spTgt>
                                        </p:tgtEl>
                                        <p:attrNameLst>
                                          <p:attrName>style.visibility</p:attrName>
                                        </p:attrNameLst>
                                      </p:cBhvr>
                                      <p:to>
                                        <p:strVal val="visible"/>
                                      </p:to>
                                    </p:set>
                                    <p:anim calcmode="lin" valueType="num">
                                      <p:cBhvr additive="base">
                                        <p:cTn id="23" dur="500" fill="hold"/>
                                        <p:tgtEl>
                                          <p:spTgt spid="3686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686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6867">
                                            <p:txEl>
                                              <p:pRg st="4" end="4"/>
                                            </p:txEl>
                                          </p:spTgt>
                                        </p:tgtEl>
                                        <p:attrNameLst>
                                          <p:attrName>style.visibility</p:attrName>
                                        </p:attrNameLst>
                                      </p:cBhvr>
                                      <p:to>
                                        <p:strVal val="visible"/>
                                      </p:to>
                                    </p:set>
                                    <p:anim calcmode="lin" valueType="num">
                                      <p:cBhvr additive="base">
                                        <p:cTn id="27" dur="500" fill="hold"/>
                                        <p:tgtEl>
                                          <p:spTgt spid="3686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686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6867">
                                            <p:txEl>
                                              <p:pRg st="5" end="5"/>
                                            </p:txEl>
                                          </p:spTgt>
                                        </p:tgtEl>
                                        <p:attrNameLst>
                                          <p:attrName>style.visibility</p:attrName>
                                        </p:attrNameLst>
                                      </p:cBhvr>
                                      <p:to>
                                        <p:strVal val="visible"/>
                                      </p:to>
                                    </p:set>
                                    <p:anim calcmode="lin" valueType="num">
                                      <p:cBhvr additive="base">
                                        <p:cTn id="31" dur="500" fill="hold"/>
                                        <p:tgtEl>
                                          <p:spTgt spid="3686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867">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6867">
                                            <p:txEl>
                                              <p:pRg st="8" end="8"/>
                                            </p:txEl>
                                          </p:spTgt>
                                        </p:tgtEl>
                                        <p:attrNameLst>
                                          <p:attrName>style.visibility</p:attrName>
                                        </p:attrNameLst>
                                      </p:cBhvr>
                                      <p:to>
                                        <p:strVal val="visible"/>
                                      </p:to>
                                    </p:set>
                                    <p:anim calcmode="lin" valueType="num">
                                      <p:cBhvr additive="base">
                                        <p:cTn id="35" dur="500" fill="hold"/>
                                        <p:tgtEl>
                                          <p:spTgt spid="36867">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6867">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6867">
                                            <p:txEl>
                                              <p:pRg st="9" end="9"/>
                                            </p:txEl>
                                          </p:spTgt>
                                        </p:tgtEl>
                                        <p:attrNameLst>
                                          <p:attrName>style.visibility</p:attrName>
                                        </p:attrNameLst>
                                      </p:cBhvr>
                                      <p:to>
                                        <p:strVal val="visible"/>
                                      </p:to>
                                    </p:set>
                                    <p:anim calcmode="lin" valueType="num">
                                      <p:cBhvr additive="base">
                                        <p:cTn id="39" dur="500" fill="hold"/>
                                        <p:tgtEl>
                                          <p:spTgt spid="36867">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6867">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6867">
                                            <p:txEl>
                                              <p:pRg st="10" end="10"/>
                                            </p:txEl>
                                          </p:spTgt>
                                        </p:tgtEl>
                                        <p:attrNameLst>
                                          <p:attrName>style.visibility</p:attrName>
                                        </p:attrNameLst>
                                      </p:cBhvr>
                                      <p:to>
                                        <p:strVal val="visible"/>
                                      </p:to>
                                    </p:set>
                                    <p:anim calcmode="lin" valueType="num">
                                      <p:cBhvr additive="base">
                                        <p:cTn id="43" dur="500" fill="hold"/>
                                        <p:tgtEl>
                                          <p:spTgt spid="36867">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6867">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6867">
                                            <p:txEl>
                                              <p:pRg st="11" end="11"/>
                                            </p:txEl>
                                          </p:spTgt>
                                        </p:tgtEl>
                                        <p:attrNameLst>
                                          <p:attrName>style.visibility</p:attrName>
                                        </p:attrNameLst>
                                      </p:cBhvr>
                                      <p:to>
                                        <p:strVal val="visible"/>
                                      </p:to>
                                    </p:set>
                                    <p:anim calcmode="lin" valueType="num">
                                      <p:cBhvr additive="base">
                                        <p:cTn id="47" dur="500" fill="hold"/>
                                        <p:tgtEl>
                                          <p:spTgt spid="36867">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6867">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8600" y="934283"/>
            <a:ext cx="8686800" cy="3046988"/>
          </a:xfrm>
          <a:prstGeom prst="rect">
            <a:avLst/>
          </a:prstGeom>
        </p:spPr>
        <p:txBody>
          <a:bodyPr wrap="square">
            <a:spAutoFit/>
          </a:bodyPr>
          <a:lstStyle/>
          <a:p>
            <a:pPr eaLnBrk="0" hangingPunct="0">
              <a:spcBef>
                <a:spcPts val="600"/>
              </a:spcBef>
              <a:spcAft>
                <a:spcPts val="600"/>
              </a:spcAft>
            </a:pPr>
            <a:r>
              <a:rPr lang="en-US" b="1" u="sng" dirty="0">
                <a:latin typeface="Calibri" panose="020F0502020204030204" pitchFamily="34" charset="0"/>
                <a:ea typeface="Calibri" panose="020F0502020204030204" pitchFamily="34" charset="0"/>
                <a:cs typeface="Times New Roman" panose="02020603050405020304" pitchFamily="18" charset="0"/>
              </a:rPr>
              <a:t>Mean Absolute Deviation</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dirty="0">
                <a:latin typeface="Calibri" panose="020F0502020204030204" pitchFamily="34" charset="0"/>
                <a:ea typeface="Calibri" panose="020F0502020204030204" pitchFamily="34" charset="0"/>
                <a:cs typeface="Times New Roman" panose="02020603050405020304" pitchFamily="18" charset="0"/>
              </a:rPr>
              <a:t>(MAD) measures the size of the forecast </a:t>
            </a:r>
            <a:r>
              <a:rPr lang="en-US" u="sng" dirty="0">
                <a:latin typeface="Calibri" panose="020F0502020204030204" pitchFamily="34" charset="0"/>
                <a:ea typeface="Calibri" panose="020F0502020204030204" pitchFamily="34" charset="0"/>
                <a:cs typeface="Times New Roman" panose="02020603050405020304" pitchFamily="18" charset="0"/>
              </a:rPr>
              <a:t>error in units</a:t>
            </a:r>
            <a:r>
              <a:rPr lang="en-US" dirty="0">
                <a:latin typeface="Calibri" panose="020F0502020204030204" pitchFamily="34" charset="0"/>
                <a:ea typeface="Calibri" panose="020F0502020204030204" pitchFamily="34" charset="0"/>
                <a:cs typeface="Times New Roman" panose="02020603050405020304" pitchFamily="18" charset="0"/>
              </a:rPr>
              <a:t>. It is calculated as the average of the unsigned, i.e., </a:t>
            </a:r>
            <a:r>
              <a:rPr lang="en-US" u="sng" dirty="0">
                <a:latin typeface="Calibri" panose="020F0502020204030204" pitchFamily="34" charset="0"/>
                <a:ea typeface="Calibri" panose="020F0502020204030204" pitchFamily="34" charset="0"/>
                <a:cs typeface="Times New Roman" panose="02020603050405020304" pitchFamily="18" charset="0"/>
              </a:rPr>
              <a:t>absolute</a:t>
            </a:r>
            <a:r>
              <a:rPr lang="en-US" dirty="0">
                <a:latin typeface="Calibri" panose="020F0502020204030204" pitchFamily="34" charset="0"/>
                <a:ea typeface="Calibri" panose="020F0502020204030204" pitchFamily="34" charset="0"/>
                <a:cs typeface="Times New Roman" panose="02020603050405020304" pitchFamily="18" charset="0"/>
              </a:rPr>
              <a:t>, errors over a specified period of time. </a:t>
            </a:r>
          </a:p>
          <a:p>
            <a:pPr lvl="1" indent="-342900" eaLnBrk="0" hangingPunct="0">
              <a:spcBef>
                <a:spcPts val="600"/>
              </a:spcBef>
              <a:spcAft>
                <a:spcPts val="600"/>
              </a:spcAft>
              <a:buClr>
                <a:srgbClr val="923222"/>
              </a:buClr>
              <a:buSzPct val="110000"/>
              <a:buFont typeface="Wingdings" panose="05000000000000000000" pitchFamily="2" charset="2"/>
              <a:buChar char="§"/>
            </a:pPr>
            <a:r>
              <a:rPr lang="en-US" sz="2000" u="sng" dirty="0">
                <a:latin typeface="Calibri" panose="020F0502020204030204" pitchFamily="34" charset="0"/>
                <a:ea typeface="Calibri" panose="020F0502020204030204" pitchFamily="34" charset="0"/>
                <a:cs typeface="Times New Roman" panose="02020603050405020304" pitchFamily="18" charset="0"/>
              </a:rPr>
              <a:t>Absolute errors </a:t>
            </a:r>
            <a:r>
              <a:rPr lang="en-US" sz="2000" dirty="0">
                <a:latin typeface="Calibri" panose="020F0502020204030204" pitchFamily="34" charset="0"/>
                <a:ea typeface="Calibri" panose="020F0502020204030204" pitchFamily="34" charset="0"/>
                <a:cs typeface="Times New Roman" panose="02020603050405020304" pitchFamily="18" charset="0"/>
              </a:rPr>
              <a:t>for a series of time periods </a:t>
            </a:r>
            <a:r>
              <a:rPr lang="en-US" sz="2000" u="sng" dirty="0">
                <a:latin typeface="Calibri" panose="020F0502020204030204" pitchFamily="34" charset="0"/>
                <a:ea typeface="Calibri" panose="020F0502020204030204" pitchFamily="34" charset="0"/>
                <a:cs typeface="Times New Roman" panose="02020603050405020304" pitchFamily="18" charset="0"/>
              </a:rPr>
              <a:t>are added and then divided by the number of time periods</a:t>
            </a:r>
            <a:r>
              <a:rPr lang="en-US" sz="2000" dirty="0">
                <a:latin typeface="Calibri" panose="020F0502020204030204" pitchFamily="34" charset="0"/>
                <a:ea typeface="Calibri" panose="020F0502020204030204" pitchFamily="34" charset="0"/>
                <a:cs typeface="Times New Roman" panose="02020603050405020304" pitchFamily="18" charset="0"/>
              </a:rPr>
              <a:t>. The resulting value is the MAD measure of forecast inaccuracy. </a:t>
            </a:r>
          </a:p>
          <a:p>
            <a:pPr lvl="1" indent="-342900" eaLnBrk="0" hangingPunct="0">
              <a:spcBef>
                <a:spcPts val="600"/>
              </a:spcBef>
              <a:spcAft>
                <a:spcPts val="600"/>
              </a:spcAft>
              <a:buClr>
                <a:srgbClr val="923222"/>
              </a:buClr>
              <a:buSzPct val="110000"/>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Times New Roman" panose="02020603050405020304" pitchFamily="18" charset="0"/>
              </a:rPr>
              <a:t>Whether the forecast is over or under the actual demand is irrelevant; only the magnitude of the deviation matters in the MAD calculation. </a:t>
            </a:r>
          </a:p>
        </p:txBody>
      </p:sp>
      <p:sp>
        <p:nvSpPr>
          <p:cNvPr id="6"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Measures of Forecasting Accuracy - MAD</a:t>
            </a:r>
          </a:p>
        </p:txBody>
      </p:sp>
      <p:sp>
        <p:nvSpPr>
          <p:cNvPr id="7" name="Rectangle 6"/>
          <p:cNvSpPr/>
          <p:nvPr/>
        </p:nvSpPr>
        <p:spPr>
          <a:xfrm>
            <a:off x="2540000" y="4229100"/>
            <a:ext cx="3547533" cy="2246769"/>
          </a:xfrm>
          <a:prstGeom prst="rect">
            <a:avLst/>
          </a:prstGeom>
          <a:solidFill>
            <a:schemeClr val="accent1">
              <a:lumMod val="20000"/>
              <a:lumOff val="80000"/>
            </a:schemeClr>
          </a:solidFill>
          <a:ln>
            <a:solidFill>
              <a:schemeClr val="tx1"/>
            </a:solidFill>
          </a:ln>
        </p:spPr>
        <p:txBody>
          <a:bodyPr wrap="square">
            <a:spAutoFit/>
          </a:bodyPr>
          <a:lstStyle/>
          <a:p>
            <a:pPr marL="0" lvl="5" eaLnBrk="0" hangingPunct="0">
              <a:spcBef>
                <a:spcPts val="600"/>
              </a:spcBef>
              <a:spcAft>
                <a:spcPts val="600"/>
              </a:spcAft>
            </a:pPr>
            <a:r>
              <a:rPr lang="en-US" sz="2000" dirty="0">
                <a:latin typeface="Calibri" panose="020F0502020204030204" pitchFamily="34" charset="0"/>
                <a:ea typeface="Calibri" panose="020F0502020204030204" pitchFamily="34" charset="0"/>
                <a:cs typeface="Times New Roman" panose="02020603050405020304" pitchFamily="18" charset="0"/>
              </a:rPr>
              <a:t>MAD = ∑(|A – F|) / n</a:t>
            </a:r>
          </a:p>
          <a:p>
            <a:pPr marL="457200" lvl="6" eaLnBrk="0" hangingPunct="0">
              <a:spcBef>
                <a:spcPts val="600"/>
              </a:spcBef>
              <a:spcAft>
                <a:spcPts val="600"/>
              </a:spcAft>
            </a:pPr>
            <a:r>
              <a:rPr lang="en-US" sz="2000" i="1" dirty="0">
                <a:latin typeface="Calibri" panose="020F0502020204030204" pitchFamily="34" charset="0"/>
                <a:ea typeface="Calibri" panose="020F0502020204030204" pitchFamily="34" charset="0"/>
                <a:cs typeface="Times New Roman" panose="02020603050405020304" pitchFamily="18" charset="0"/>
              </a:rPr>
              <a:t>Where:</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457200" lvl="6" eaLnBrk="0" hangingPunct="0">
              <a:spcBef>
                <a:spcPts val="600"/>
              </a:spcBef>
              <a:spcAft>
                <a:spcPts val="600"/>
              </a:spcAft>
            </a:pPr>
            <a:r>
              <a:rPr lang="en-US" sz="2000" dirty="0">
                <a:latin typeface="Calibri" panose="020F0502020204030204" pitchFamily="34" charset="0"/>
                <a:ea typeface="Calibri" panose="020F0502020204030204" pitchFamily="34" charset="0"/>
                <a:cs typeface="Times New Roman" panose="02020603050405020304" pitchFamily="18" charset="0"/>
              </a:rPr>
              <a:t>A = Actual demand</a:t>
            </a:r>
          </a:p>
          <a:p>
            <a:pPr marL="457200" lvl="6" eaLnBrk="0" hangingPunct="0">
              <a:spcBef>
                <a:spcPts val="600"/>
              </a:spcBef>
              <a:spcAft>
                <a:spcPts val="600"/>
              </a:spcAft>
            </a:pPr>
            <a:r>
              <a:rPr lang="en-US" sz="2000" dirty="0">
                <a:latin typeface="Calibri" panose="020F0502020204030204" pitchFamily="34" charset="0"/>
                <a:ea typeface="Calibri" panose="020F0502020204030204" pitchFamily="34" charset="0"/>
                <a:cs typeface="Times New Roman" panose="02020603050405020304" pitchFamily="18" charset="0"/>
              </a:rPr>
              <a:t>F = Forecast demand</a:t>
            </a:r>
          </a:p>
          <a:p>
            <a:pPr marL="457200" lvl="6" eaLnBrk="0" hangingPunct="0">
              <a:spcBef>
                <a:spcPts val="600"/>
              </a:spcBef>
              <a:spcAft>
                <a:spcPts val="600"/>
              </a:spcAft>
            </a:pPr>
            <a:r>
              <a:rPr lang="en-US" sz="2000" dirty="0">
                <a:latin typeface="Calibri" panose="020F0502020204030204" pitchFamily="34" charset="0"/>
                <a:ea typeface="Calibri" panose="020F0502020204030204" pitchFamily="34" charset="0"/>
                <a:cs typeface="Times New Roman" panose="02020603050405020304" pitchFamily="18" charset="0"/>
              </a:rPr>
              <a:t>n = Number of time periods</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34</a:t>
            </a:fld>
            <a:endParaRPr lang="en-US" dirty="0"/>
          </a:p>
        </p:txBody>
      </p:sp>
    </p:spTree>
    <p:extLst>
      <p:ext uri="{BB962C8B-B14F-4D97-AF65-F5344CB8AC3E}">
        <p14:creationId xmlns:p14="http://schemas.microsoft.com/office/powerpoint/2010/main" val="406239063"/>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5401734" y="6019800"/>
            <a:ext cx="905933" cy="423333"/>
          </a:xfrm>
          <a:prstGeom prst="rect">
            <a:avLst/>
          </a:prstGeom>
          <a:solidFill>
            <a:srgbClr val="FFFF00"/>
          </a:solidFill>
          <a:ln w="12700" cap="flat" cmpd="sng" algn="ctr">
            <a:solidFill>
              <a:srgbClr val="F2F2F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outerShdw blurRad="38100" dist="38100" dir="2700000" algn="tl">
                  <a:srgbClr val="000000">
                    <a:alpha val="43137"/>
                  </a:srgbClr>
                </a:outerShdw>
              </a:effectLst>
              <a:latin typeface="News Gothic MT" pitchFamily="34" charset="0"/>
            </a:endParaRPr>
          </a:p>
        </p:txBody>
      </p:sp>
      <p:sp>
        <p:nvSpPr>
          <p:cNvPr id="38914"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Mean Absolute Deviation (MAD) - Example </a:t>
            </a:r>
          </a:p>
        </p:txBody>
      </p:sp>
      <p:sp>
        <p:nvSpPr>
          <p:cNvPr id="38915" name="Rectangle 3"/>
          <p:cNvSpPr>
            <a:spLocks noGrp="1" noChangeArrowheads="1"/>
          </p:cNvSpPr>
          <p:nvPr>
            <p:ph type="body" idx="4294967295"/>
          </p:nvPr>
        </p:nvSpPr>
        <p:spPr>
          <a:xfrm>
            <a:off x="2081087" y="1177469"/>
            <a:ext cx="5289644" cy="423187"/>
          </a:xfrm>
        </p:spPr>
        <p:txBody>
          <a:bodyPr/>
          <a:lstStyle/>
          <a:p>
            <a:pPr lvl="1">
              <a:lnSpc>
                <a:spcPct val="90000"/>
              </a:lnSpc>
              <a:buFont typeface="Wingdings" panose="05000000000000000000" pitchFamily="2" charset="2"/>
              <a:buNone/>
            </a:pPr>
            <a:r>
              <a:rPr lang="en-US" altLang="en-US" dirty="0">
                <a:ea typeface="ＭＳ Ｐゴシック" panose="020B0600070205080204" pitchFamily="34" charset="-128"/>
              </a:rPr>
              <a:t>	</a:t>
            </a:r>
          </a:p>
        </p:txBody>
      </p:sp>
      <p:sp>
        <p:nvSpPr>
          <p:cNvPr id="3" name="Rectangle 2"/>
          <p:cNvSpPr/>
          <p:nvPr/>
        </p:nvSpPr>
        <p:spPr>
          <a:xfrm>
            <a:off x="0" y="5545481"/>
            <a:ext cx="9144000" cy="954107"/>
          </a:xfrm>
          <a:prstGeom prst="rect">
            <a:avLst/>
          </a:prstGeom>
        </p:spPr>
        <p:txBody>
          <a:bodyPr wrap="square">
            <a:spAutoFit/>
          </a:bodyPr>
          <a:lstStyle/>
          <a:p>
            <a:pPr algn="ctr"/>
            <a:r>
              <a:rPr lang="en-US" sz="2800" b="1" dirty="0">
                <a:solidFill>
                  <a:srgbClr val="923222"/>
                </a:solidFill>
                <a:latin typeface="Calibri" panose="020F0502020204030204" pitchFamily="34" charset="0"/>
              </a:rPr>
              <a:t>Sum of Absolute Deviations  </a:t>
            </a:r>
            <a:r>
              <a:rPr lang="en-US" sz="2800" dirty="0">
                <a:solidFill>
                  <a:srgbClr val="923222"/>
                </a:solidFill>
                <a:latin typeface="Calibri" panose="020F0502020204030204" pitchFamily="34" charset="0"/>
              </a:rPr>
              <a:t>=  80 + 130 + 137 = 347</a:t>
            </a:r>
            <a:br>
              <a:rPr lang="en-US" sz="2800" dirty="0">
                <a:solidFill>
                  <a:srgbClr val="923222"/>
                </a:solidFill>
                <a:latin typeface="Calibri" panose="020F0502020204030204" pitchFamily="34" charset="0"/>
              </a:rPr>
            </a:br>
            <a:r>
              <a:rPr lang="en-US" sz="2800" b="1" dirty="0">
                <a:solidFill>
                  <a:srgbClr val="923222"/>
                </a:solidFill>
                <a:latin typeface="Calibri" panose="020F0502020204030204" pitchFamily="34" charset="0"/>
              </a:rPr>
              <a:t>MAD </a:t>
            </a:r>
            <a:r>
              <a:rPr lang="en-US" sz="2800" dirty="0">
                <a:solidFill>
                  <a:srgbClr val="923222"/>
                </a:solidFill>
                <a:latin typeface="Calibri" panose="020F0502020204030204" pitchFamily="34" charset="0"/>
              </a:rPr>
              <a:t> =  347/3  =  115.7</a:t>
            </a:r>
          </a:p>
        </p:txBody>
      </p:sp>
      <p:graphicFrame>
        <p:nvGraphicFramePr>
          <p:cNvPr id="8" name="Content Placeholder 5"/>
          <p:cNvGraphicFramePr>
            <a:graphicFrameLocks/>
          </p:cNvGraphicFramePr>
          <p:nvPr>
            <p:extLst>
              <p:ext uri="{D42A27DB-BD31-4B8C-83A1-F6EECF244321}">
                <p14:modId xmlns:p14="http://schemas.microsoft.com/office/powerpoint/2010/main" val="3780442133"/>
              </p:ext>
            </p:extLst>
          </p:nvPr>
        </p:nvGraphicFramePr>
        <p:xfrm>
          <a:off x="451657" y="1558956"/>
          <a:ext cx="8218212" cy="3791978"/>
        </p:xfrm>
        <a:graphic>
          <a:graphicData uri="http://schemas.openxmlformats.org/drawingml/2006/table">
            <a:tbl>
              <a:tblPr firstRow="1" bandRow="1"/>
              <a:tblGrid>
                <a:gridCol w="1504143">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2983116">
                  <a:extLst>
                    <a:ext uri="{9D8B030D-6E8A-4147-A177-3AD203B41FA5}">
                      <a16:colId xmlns:a16="http://schemas.microsoft.com/office/drawing/2014/main" val="20002"/>
                    </a:ext>
                  </a:extLst>
                </a:gridCol>
                <a:gridCol w="2054553">
                  <a:extLst>
                    <a:ext uri="{9D8B030D-6E8A-4147-A177-3AD203B41FA5}">
                      <a16:colId xmlns:a16="http://schemas.microsoft.com/office/drawing/2014/main" val="20003"/>
                    </a:ext>
                  </a:extLst>
                </a:gridCol>
              </a:tblGrid>
              <a:tr h="1182063">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marL="0" marR="0" algn="ctr">
                        <a:spcBef>
                          <a:spcPts val="0"/>
                        </a:spcBef>
                        <a:spcAft>
                          <a:spcPts val="0"/>
                        </a:spcAft>
                      </a:pPr>
                      <a:r>
                        <a:rPr lang="en-US" sz="2400" b="1" dirty="0">
                          <a:solidFill>
                            <a:schemeClr val="tx1"/>
                          </a:solidFill>
                          <a:latin typeface="Calibri" panose="020F0502020204030204" pitchFamily="34" charset="0"/>
                          <a:cs typeface="Arial" panose="020B0604020202020204" pitchFamily="34" charset="0"/>
                        </a:rPr>
                        <a:t>Actual Demand</a:t>
                      </a:r>
                    </a:p>
                  </a:txBody>
                  <a:tcPr marL="66675" marR="66675" marT="66675" marB="66675"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000"/>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marL="0" marR="0" algn="ctr">
                        <a:spcBef>
                          <a:spcPts val="0"/>
                        </a:spcBef>
                        <a:spcAft>
                          <a:spcPts val="0"/>
                        </a:spcAft>
                      </a:pPr>
                      <a:r>
                        <a:rPr lang="en-US" sz="2400" b="1" dirty="0">
                          <a:solidFill>
                            <a:schemeClr val="tx1"/>
                          </a:solidFill>
                          <a:latin typeface="Calibri" panose="020F0502020204030204" pitchFamily="34" charset="0"/>
                          <a:cs typeface="Arial" panose="020B0604020202020204" pitchFamily="34" charset="0"/>
                        </a:rPr>
                        <a:t>Forecast</a:t>
                      </a:r>
                    </a:p>
                    <a:p>
                      <a:pPr marL="0" marR="0" algn="ctr">
                        <a:spcBef>
                          <a:spcPts val="0"/>
                        </a:spcBef>
                        <a:spcAft>
                          <a:spcPts val="0"/>
                        </a:spcAft>
                      </a:pPr>
                      <a:r>
                        <a:rPr lang="en-US" sz="2400" b="1" dirty="0">
                          <a:solidFill>
                            <a:schemeClr val="tx1"/>
                          </a:solidFill>
                          <a:latin typeface="Calibri" panose="020F0502020204030204" pitchFamily="34" charset="0"/>
                          <a:cs typeface="Arial" panose="020B0604020202020204" pitchFamily="34" charset="0"/>
                        </a:rPr>
                        <a:t>Demand</a:t>
                      </a:r>
                    </a:p>
                  </a:txBody>
                  <a:tcPr marL="66675" marR="66675" marT="66675" marB="66675"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000"/>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marL="0" marR="0" algn="ctr">
                        <a:spcBef>
                          <a:spcPts val="0"/>
                        </a:spcBef>
                        <a:spcAft>
                          <a:spcPts val="0"/>
                        </a:spcAft>
                      </a:pPr>
                      <a:r>
                        <a:rPr lang="en-US" sz="2400" b="1" dirty="0">
                          <a:solidFill>
                            <a:schemeClr val="tx1"/>
                          </a:solidFill>
                          <a:latin typeface="Calibri" panose="020F0502020204030204" pitchFamily="34" charset="0"/>
                          <a:cs typeface="Arial" panose="020B0604020202020204" pitchFamily="34" charset="0"/>
                        </a:rPr>
                        <a:t>Deviation </a:t>
                      </a:r>
                    </a:p>
                    <a:p>
                      <a:pPr marL="0" marR="0" algn="ctr">
                        <a:spcBef>
                          <a:spcPts val="0"/>
                        </a:spcBef>
                        <a:spcAft>
                          <a:spcPts val="0"/>
                        </a:spcAft>
                      </a:pPr>
                      <a:r>
                        <a:rPr lang="en-US" sz="1800" b="0" i="1" dirty="0">
                          <a:solidFill>
                            <a:schemeClr val="tx1"/>
                          </a:solidFill>
                          <a:latin typeface="Calibri" panose="020F0502020204030204" pitchFamily="34" charset="0"/>
                          <a:cs typeface="Arial" panose="020B0604020202020204" pitchFamily="34" charset="0"/>
                        </a:rPr>
                        <a:t>(i.e., Forecast Error)</a:t>
                      </a:r>
                    </a:p>
                  </a:txBody>
                  <a:tcPr marL="66675" marR="66675" marT="66675" marB="66675"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000"/>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marL="0" marR="0" algn="ctr">
                        <a:spcBef>
                          <a:spcPts val="0"/>
                        </a:spcBef>
                        <a:spcAft>
                          <a:spcPts val="0"/>
                        </a:spcAft>
                      </a:pPr>
                      <a:r>
                        <a:rPr lang="en-US" sz="2400" b="1" dirty="0">
                          <a:solidFill>
                            <a:schemeClr val="tx1"/>
                          </a:solidFill>
                          <a:latin typeface="Calibri" panose="020F0502020204030204" pitchFamily="34" charset="0"/>
                          <a:cs typeface="Arial" panose="020B0604020202020204" pitchFamily="34" charset="0"/>
                        </a:rPr>
                        <a:t>Absolute</a:t>
                      </a:r>
                    </a:p>
                    <a:p>
                      <a:pPr algn="ctr"/>
                      <a:r>
                        <a:rPr lang="en-US" sz="2400" b="1" dirty="0">
                          <a:solidFill>
                            <a:schemeClr val="tx1"/>
                          </a:solidFill>
                          <a:latin typeface="Calibri" panose="020F0502020204030204" pitchFamily="34" charset="0"/>
                          <a:cs typeface="Arial" panose="020B0604020202020204" pitchFamily="34" charset="0"/>
                        </a:rPr>
                        <a:t>Deviation</a:t>
                      </a:r>
                    </a:p>
                  </a:txBody>
                  <a:tcPr marL="66675" marR="66675" marT="66675" marB="66675"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838753">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marL="0" marR="0" algn="ctr">
                        <a:spcBef>
                          <a:spcPts val="0"/>
                        </a:spcBef>
                        <a:spcAft>
                          <a:spcPts val="0"/>
                        </a:spcAft>
                      </a:pPr>
                      <a:r>
                        <a:rPr lang="en-US" sz="2400" b="1" dirty="0">
                          <a:latin typeface="Calibri" panose="020F0502020204030204" pitchFamily="34" charset="0"/>
                          <a:cs typeface="Arial" panose="020B0604020202020204" pitchFamily="34" charset="0"/>
                        </a:rPr>
                        <a:t>800</a:t>
                      </a:r>
                    </a:p>
                  </a:txBody>
                  <a:tcPr marL="66675" marR="66675" marT="66675" marB="66675"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EE9BE"/>
                    </a:solidFill>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marL="0" marR="0" algn="ctr">
                        <a:spcBef>
                          <a:spcPts val="0"/>
                        </a:spcBef>
                        <a:spcAft>
                          <a:spcPts val="0"/>
                        </a:spcAft>
                      </a:pPr>
                      <a:r>
                        <a:rPr lang="en-US" sz="2400" b="1" dirty="0">
                          <a:latin typeface="Calibri" panose="020F0502020204030204" pitchFamily="34" charset="0"/>
                          <a:cs typeface="Arial" panose="020B0604020202020204" pitchFamily="34" charset="0"/>
                        </a:rPr>
                        <a:t>720</a:t>
                      </a:r>
                    </a:p>
                  </a:txBody>
                  <a:tcPr marL="66675" marR="66675" marT="66675" marB="66675"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EE9BE"/>
                    </a:solidFill>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marL="0" marR="0" algn="ctr">
                        <a:spcBef>
                          <a:spcPts val="0"/>
                        </a:spcBef>
                        <a:spcAft>
                          <a:spcPts val="0"/>
                        </a:spcAft>
                      </a:pPr>
                      <a:r>
                        <a:rPr lang="en-US" sz="2400" b="1" dirty="0">
                          <a:latin typeface="Calibri" panose="020F0502020204030204" pitchFamily="34" charset="0"/>
                          <a:cs typeface="Arial" panose="020B0604020202020204" pitchFamily="34" charset="0"/>
                        </a:rPr>
                        <a:t>800 - 720 = 80</a:t>
                      </a:r>
                    </a:p>
                  </a:txBody>
                  <a:tcPr marL="66675" marR="66675" marT="66675" marB="66675"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EE9BE"/>
                    </a:solidFill>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marL="0" marR="0" algn="ctr">
                        <a:spcBef>
                          <a:spcPts val="0"/>
                        </a:spcBef>
                        <a:spcAft>
                          <a:spcPts val="0"/>
                        </a:spcAft>
                      </a:pPr>
                      <a:r>
                        <a:rPr lang="en-US" sz="2400" b="1" dirty="0">
                          <a:latin typeface="Calibri" panose="020F0502020204030204" pitchFamily="34" charset="0"/>
                          <a:cs typeface="Arial" panose="020B0604020202020204" pitchFamily="34" charset="0"/>
                        </a:rPr>
                        <a:t>80</a:t>
                      </a:r>
                    </a:p>
                  </a:txBody>
                  <a:tcPr marL="66675" marR="66675" marT="66675" marB="66675"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EE9BE"/>
                    </a:solidFill>
                  </a:tcPr>
                </a:tc>
                <a:extLst>
                  <a:ext uri="{0D108BD9-81ED-4DB2-BD59-A6C34878D82A}">
                    <a16:rowId xmlns:a16="http://schemas.microsoft.com/office/drawing/2014/main" val="10001"/>
                  </a:ext>
                </a:extLst>
              </a:tr>
              <a:tr h="932409">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marL="0" marR="0" algn="ctr">
                        <a:spcBef>
                          <a:spcPts val="0"/>
                        </a:spcBef>
                        <a:spcAft>
                          <a:spcPts val="0"/>
                        </a:spcAft>
                      </a:pPr>
                      <a:r>
                        <a:rPr lang="en-US" sz="2400" b="1" dirty="0">
                          <a:latin typeface="Calibri" panose="020F0502020204030204" pitchFamily="34" charset="0"/>
                          <a:cs typeface="Arial" panose="020B0604020202020204" pitchFamily="34" charset="0"/>
                        </a:rPr>
                        <a:t>900</a:t>
                      </a:r>
                    </a:p>
                  </a:txBody>
                  <a:tcPr marL="66675" marR="66675" marT="66675" marB="6667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EEFDA"/>
                    </a:solidFill>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marL="0" marR="0" algn="ctr">
                        <a:spcBef>
                          <a:spcPts val="0"/>
                        </a:spcBef>
                        <a:spcAft>
                          <a:spcPts val="0"/>
                        </a:spcAft>
                      </a:pPr>
                      <a:r>
                        <a:rPr lang="en-US" sz="2400" b="1" dirty="0">
                          <a:latin typeface="Calibri" panose="020F0502020204030204" pitchFamily="34" charset="0"/>
                          <a:cs typeface="Arial" panose="020B0604020202020204" pitchFamily="34" charset="0"/>
                        </a:rPr>
                        <a:t>770</a:t>
                      </a:r>
                    </a:p>
                  </a:txBody>
                  <a:tcPr marL="66675" marR="66675" marT="66675" marB="6667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EEFDA"/>
                    </a:solidFill>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marL="0" marR="0" algn="ctr">
                        <a:spcBef>
                          <a:spcPts val="0"/>
                        </a:spcBef>
                        <a:spcAft>
                          <a:spcPts val="0"/>
                        </a:spcAft>
                      </a:pPr>
                      <a:r>
                        <a:rPr lang="en-US" sz="2400" b="1" dirty="0">
                          <a:latin typeface="Calibri" panose="020F0502020204030204" pitchFamily="34" charset="0"/>
                          <a:cs typeface="Arial" panose="020B0604020202020204" pitchFamily="34" charset="0"/>
                        </a:rPr>
                        <a:t>900 - 770 = 130</a:t>
                      </a:r>
                    </a:p>
                  </a:txBody>
                  <a:tcPr marL="66675" marR="66675" marT="66675" marB="6667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EEFDA"/>
                    </a:solidFill>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marL="0" marR="0" algn="ctr">
                        <a:spcBef>
                          <a:spcPts val="0"/>
                        </a:spcBef>
                        <a:spcAft>
                          <a:spcPts val="0"/>
                        </a:spcAft>
                      </a:pPr>
                      <a:r>
                        <a:rPr lang="en-US" sz="2400" b="1" dirty="0">
                          <a:latin typeface="Calibri" panose="020F0502020204030204" pitchFamily="34" charset="0"/>
                          <a:cs typeface="Arial" panose="020B0604020202020204" pitchFamily="34" charset="0"/>
                        </a:rPr>
                        <a:t>130</a:t>
                      </a:r>
                    </a:p>
                  </a:txBody>
                  <a:tcPr marL="66675" marR="66675" marT="66675" marB="6667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EEFDA"/>
                    </a:solidFill>
                  </a:tcPr>
                </a:tc>
                <a:extLst>
                  <a:ext uri="{0D108BD9-81ED-4DB2-BD59-A6C34878D82A}">
                    <a16:rowId xmlns:a16="http://schemas.microsoft.com/office/drawing/2014/main" val="10002"/>
                  </a:ext>
                </a:extLst>
              </a:tr>
              <a:tr h="838753">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marL="0" marR="0" algn="ctr">
                        <a:spcBef>
                          <a:spcPts val="0"/>
                        </a:spcBef>
                        <a:spcAft>
                          <a:spcPts val="0"/>
                        </a:spcAft>
                      </a:pPr>
                      <a:r>
                        <a:rPr lang="en-US" sz="2400" b="1" dirty="0">
                          <a:latin typeface="Calibri" panose="020F0502020204030204" pitchFamily="34" charset="0"/>
                          <a:cs typeface="Arial" panose="020B0604020202020204" pitchFamily="34" charset="0"/>
                        </a:rPr>
                        <a:t>700</a:t>
                      </a:r>
                    </a:p>
                  </a:txBody>
                  <a:tcPr marL="66675" marR="66675" marT="66675" marB="6667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EE9BE"/>
                    </a:solidFill>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marL="0" marR="0" algn="ctr">
                        <a:spcBef>
                          <a:spcPts val="0"/>
                        </a:spcBef>
                        <a:spcAft>
                          <a:spcPts val="0"/>
                        </a:spcAft>
                      </a:pPr>
                      <a:r>
                        <a:rPr lang="en-US" sz="2400" b="1" dirty="0">
                          <a:latin typeface="Calibri" panose="020F0502020204030204" pitchFamily="34" charset="0"/>
                          <a:cs typeface="Arial" panose="020B0604020202020204" pitchFamily="34" charset="0"/>
                        </a:rPr>
                        <a:t>837</a:t>
                      </a:r>
                    </a:p>
                  </a:txBody>
                  <a:tcPr marL="66675" marR="66675" marT="66675" marB="6667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EE9BE"/>
                    </a:solidFill>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marL="0" marR="0" algn="ctr">
                        <a:spcBef>
                          <a:spcPts val="0"/>
                        </a:spcBef>
                        <a:spcAft>
                          <a:spcPts val="0"/>
                        </a:spcAft>
                      </a:pPr>
                      <a:r>
                        <a:rPr lang="en-US" sz="2400" b="1" dirty="0">
                          <a:latin typeface="Calibri" panose="020F0502020204030204" pitchFamily="34" charset="0"/>
                          <a:cs typeface="Arial" panose="020B0604020202020204" pitchFamily="34" charset="0"/>
                        </a:rPr>
                        <a:t>700 - 837 = </a:t>
                      </a:r>
                      <a:r>
                        <a:rPr lang="en-US" sz="2400" b="1" dirty="0">
                          <a:solidFill>
                            <a:srgbClr val="FF0000"/>
                          </a:solidFill>
                          <a:latin typeface="Calibri" panose="020F0502020204030204" pitchFamily="34" charset="0"/>
                          <a:cs typeface="Arial" panose="020B0604020202020204" pitchFamily="34" charset="0"/>
                        </a:rPr>
                        <a:t>-137</a:t>
                      </a:r>
                    </a:p>
                  </a:txBody>
                  <a:tcPr marL="66675" marR="66675" marT="66675" marB="6667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EE9BE"/>
                    </a:solidFill>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marL="0" marR="0" algn="ctr">
                        <a:spcBef>
                          <a:spcPts val="0"/>
                        </a:spcBef>
                        <a:spcAft>
                          <a:spcPts val="0"/>
                        </a:spcAft>
                      </a:pPr>
                      <a:r>
                        <a:rPr lang="en-US" sz="2400" b="1" dirty="0">
                          <a:latin typeface="Calibri" panose="020F0502020204030204" pitchFamily="34" charset="0"/>
                          <a:cs typeface="Arial" panose="020B0604020202020204" pitchFamily="34" charset="0"/>
                        </a:rPr>
                        <a:t>137</a:t>
                      </a:r>
                    </a:p>
                  </a:txBody>
                  <a:tcPr marL="66675" marR="66675" marT="66675" marB="6667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EE9BE"/>
                    </a:solidFill>
                  </a:tcPr>
                </a:tc>
                <a:extLst>
                  <a:ext uri="{0D108BD9-81ED-4DB2-BD59-A6C34878D82A}">
                    <a16:rowId xmlns:a16="http://schemas.microsoft.com/office/drawing/2014/main" val="10003"/>
                  </a:ext>
                </a:extLst>
              </a:tr>
            </a:tbl>
          </a:graphicData>
        </a:graphic>
      </p:graphicFrame>
      <p:sp>
        <p:nvSpPr>
          <p:cNvPr id="4" name="Rectangle 3"/>
          <p:cNvSpPr/>
          <p:nvPr/>
        </p:nvSpPr>
        <p:spPr>
          <a:xfrm>
            <a:off x="228600" y="923837"/>
            <a:ext cx="8686800" cy="461665"/>
          </a:xfrm>
          <a:prstGeom prst="rect">
            <a:avLst/>
          </a:prstGeom>
        </p:spPr>
        <p:txBody>
          <a:bodyPr wrap="square">
            <a:spAutoFit/>
          </a:bodyPr>
          <a:lstStyle/>
          <a:p>
            <a:pPr marL="0" indent="0">
              <a:buFontTx/>
              <a:buNone/>
              <a:tabLst>
                <a:tab pos="1773238" algn="l"/>
                <a:tab pos="2174875" algn="l"/>
              </a:tabLst>
            </a:pPr>
            <a:r>
              <a:rPr lang="en-US" altLang="en-US" dirty="0">
                <a:latin typeface="Calibri" panose="020F0502020204030204" pitchFamily="34" charset="0"/>
                <a:ea typeface="ＭＳ Ｐゴシック" panose="020B0600070205080204" pitchFamily="34" charset="-128"/>
              </a:rPr>
              <a:t>Calculate the absolute deviation for each period and then average</a:t>
            </a:r>
          </a:p>
        </p:txBody>
      </p:sp>
      <p:sp>
        <p:nvSpPr>
          <p:cNvPr id="6" name="Footer Placeholder 5"/>
          <p:cNvSpPr>
            <a:spLocks noGrp="1"/>
          </p:cNvSpPr>
          <p:nvPr>
            <p:ph type="ftr" sz="quarter" idx="3"/>
          </p:nvPr>
        </p:nvSpPr>
        <p:spPr/>
        <p:txBody>
          <a:bodyPr/>
          <a:lstStyle/>
          <a:p>
            <a:r>
              <a:rPr lang="en-US"/>
              <a:t>Fundamentals of Supply Chain Management – McLaury/Spiegle</a:t>
            </a:r>
            <a:endParaRPr lang="en-US" dirty="0"/>
          </a:p>
        </p:txBody>
      </p:sp>
      <p:sp>
        <p:nvSpPr>
          <p:cNvPr id="7" name="Slide Number Placeholder 6"/>
          <p:cNvSpPr>
            <a:spLocks noGrp="1"/>
          </p:cNvSpPr>
          <p:nvPr>
            <p:ph type="sldNum" sz="quarter" idx="4"/>
          </p:nvPr>
        </p:nvSpPr>
        <p:spPr/>
        <p:txBody>
          <a:bodyPr/>
          <a:lstStyle/>
          <a:p>
            <a:fld id="{E66AA3EA-0569-43EF-BBA3-83FDB109D582}" type="slidenum">
              <a:rPr lang="en-US" smtClean="0"/>
              <a:pPr/>
              <a:t>35</a:t>
            </a:fld>
            <a:endParaRPr lang="en-US" dirty="0"/>
          </a:p>
        </p:txBody>
      </p:sp>
    </p:spTree>
    <p:extLst>
      <p:ext uri="{BB962C8B-B14F-4D97-AF65-F5344CB8AC3E}">
        <p14:creationId xmlns:p14="http://schemas.microsoft.com/office/powerpoint/2010/main" val="2396065343"/>
      </p:ext>
    </p:extLst>
  </p:cSld>
  <p:clrMapOvr>
    <a:masterClrMapping/>
  </p:clrMapOvr>
  <p:transition spd="slow">
    <p:pull dir="l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39800"/>
            <a:ext cx="8686800" cy="3289300"/>
          </a:xfrm>
        </p:spPr>
        <p:txBody>
          <a:bodyPr/>
          <a:lstStyle/>
          <a:p>
            <a:pPr marL="0" indent="0">
              <a:buNone/>
            </a:pPr>
            <a:r>
              <a:rPr lang="en-US" sz="2400" b="1" u="sng" dirty="0">
                <a:latin typeface="Calibri" panose="020F0502020204030204" pitchFamily="34" charset="0"/>
              </a:rPr>
              <a:t>Mean Absolute Percent Error </a:t>
            </a:r>
            <a:r>
              <a:rPr lang="en-US" sz="2400" dirty="0">
                <a:latin typeface="Calibri" panose="020F0502020204030204" pitchFamily="34" charset="0"/>
              </a:rPr>
              <a:t>(MAPE) measures the size of the error </a:t>
            </a:r>
            <a:r>
              <a:rPr lang="en-US" sz="2400" u="sng" dirty="0">
                <a:latin typeface="Calibri" panose="020F0502020204030204" pitchFamily="34" charset="0"/>
              </a:rPr>
              <a:t>in percentage terms</a:t>
            </a:r>
            <a:r>
              <a:rPr lang="en-US" sz="2400" dirty="0">
                <a:latin typeface="Calibri" panose="020F0502020204030204" pitchFamily="34" charset="0"/>
              </a:rPr>
              <a:t>. It is calculated as the average of the unsigned percentage error. </a:t>
            </a:r>
          </a:p>
          <a:p>
            <a:pPr marL="457200" lvl="1" indent="-342900">
              <a:spcBef>
                <a:spcPts val="600"/>
              </a:spcBef>
              <a:spcAft>
                <a:spcPts val="600"/>
              </a:spcAft>
              <a:buClr>
                <a:srgbClr val="923222"/>
              </a:buClr>
              <a:buSzPct val="110000"/>
              <a:buFont typeface="Wingdings" panose="05000000000000000000" pitchFamily="2" charset="2"/>
              <a:buChar char="§"/>
            </a:pPr>
            <a:r>
              <a:rPr lang="en-US" sz="2000" kern="1200" dirty="0">
                <a:latin typeface="Calibri" panose="020F0502020204030204" pitchFamily="34" charset="0"/>
                <a:ea typeface="Calibri" panose="020F0502020204030204" pitchFamily="34" charset="0"/>
                <a:cs typeface="Times New Roman" panose="02020603050405020304" pitchFamily="18" charset="0"/>
              </a:rPr>
              <a:t>Many companies use the </a:t>
            </a:r>
            <a:r>
              <a:rPr lang="en-US" sz="2000" u="sng" kern="1200" dirty="0">
                <a:latin typeface="Calibri" panose="020F0502020204030204" pitchFamily="34" charset="0"/>
                <a:ea typeface="Calibri" panose="020F0502020204030204" pitchFamily="34" charset="0"/>
                <a:cs typeface="Times New Roman" panose="02020603050405020304" pitchFamily="18" charset="0"/>
              </a:rPr>
              <a:t>MAPE as it is easier for most people to understand </a:t>
            </a:r>
            <a:r>
              <a:rPr lang="en-US" sz="2000" kern="1200" dirty="0">
                <a:latin typeface="Calibri" panose="020F0502020204030204" pitchFamily="34" charset="0"/>
                <a:ea typeface="Calibri" panose="020F0502020204030204" pitchFamily="34" charset="0"/>
                <a:cs typeface="Times New Roman" panose="02020603050405020304" pitchFamily="18" charset="0"/>
              </a:rPr>
              <a:t>forecast error and forecast accuracy </a:t>
            </a:r>
            <a:r>
              <a:rPr lang="en-US" sz="2000" u="sng" kern="1200" dirty="0">
                <a:latin typeface="Calibri" panose="020F0502020204030204" pitchFamily="34" charset="0"/>
                <a:ea typeface="Calibri" panose="020F0502020204030204" pitchFamily="34" charset="0"/>
                <a:cs typeface="Times New Roman" panose="02020603050405020304" pitchFamily="18" charset="0"/>
              </a:rPr>
              <a:t>in percentage terms</a:t>
            </a:r>
            <a:r>
              <a:rPr lang="en-US" sz="2000" kern="1200" dirty="0">
                <a:latin typeface="Calibri" panose="020F0502020204030204" pitchFamily="34" charset="0"/>
                <a:ea typeface="Calibri" panose="020F0502020204030204" pitchFamily="34" charset="0"/>
                <a:cs typeface="Times New Roman" panose="02020603050405020304" pitchFamily="18" charset="0"/>
              </a:rPr>
              <a:t> rather than in actual units. </a:t>
            </a:r>
          </a:p>
          <a:p>
            <a:pPr marL="457200" lvl="1" indent="-342900">
              <a:spcBef>
                <a:spcPts val="600"/>
              </a:spcBef>
              <a:spcAft>
                <a:spcPts val="600"/>
              </a:spcAft>
              <a:buClr>
                <a:srgbClr val="923222"/>
              </a:buClr>
              <a:buSzPct val="110000"/>
              <a:buFont typeface="Wingdings" panose="05000000000000000000" pitchFamily="2" charset="2"/>
              <a:buChar char="§"/>
            </a:pPr>
            <a:r>
              <a:rPr lang="en-US" sz="2000" kern="1200" dirty="0">
                <a:latin typeface="Calibri" panose="020F0502020204030204" pitchFamily="34" charset="0"/>
                <a:ea typeface="Calibri" panose="020F0502020204030204" pitchFamily="34" charset="0"/>
                <a:cs typeface="Times New Roman" panose="02020603050405020304" pitchFamily="18" charset="0"/>
              </a:rPr>
              <a:t>MAPE is a useful variant of the MAD calculation because it shows the ratio, or percentage, of the </a:t>
            </a:r>
            <a:r>
              <a:rPr lang="en-US" sz="2000" b="1" u="sng" kern="1200" dirty="0">
                <a:latin typeface="Calibri" panose="020F0502020204030204" pitchFamily="34" charset="0"/>
                <a:ea typeface="Calibri" panose="020F0502020204030204" pitchFamily="34" charset="0"/>
                <a:cs typeface="Times New Roman" panose="02020603050405020304" pitchFamily="18" charset="0"/>
              </a:rPr>
              <a:t>absolute errors </a:t>
            </a:r>
            <a:r>
              <a:rPr lang="en-US" sz="2000" kern="1200" dirty="0">
                <a:latin typeface="Calibri" panose="020F0502020204030204" pitchFamily="34" charset="0"/>
                <a:ea typeface="Calibri" panose="020F0502020204030204" pitchFamily="34" charset="0"/>
                <a:cs typeface="Times New Roman" panose="02020603050405020304" pitchFamily="18" charset="0"/>
              </a:rPr>
              <a:t>to the actual demand for a given number of periods.</a:t>
            </a:r>
          </a:p>
        </p:txBody>
      </p:sp>
      <p:sp>
        <p:nvSpPr>
          <p:cNvPr id="5"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Measures of Forecasting Accuracy - MAPE</a:t>
            </a:r>
          </a:p>
        </p:txBody>
      </p:sp>
      <p:sp>
        <p:nvSpPr>
          <p:cNvPr id="6" name="Rectangle 5"/>
          <p:cNvSpPr/>
          <p:nvPr/>
        </p:nvSpPr>
        <p:spPr>
          <a:xfrm>
            <a:off x="2802466" y="3973205"/>
            <a:ext cx="3539067" cy="2492990"/>
          </a:xfrm>
          <a:prstGeom prst="rect">
            <a:avLst/>
          </a:prstGeom>
          <a:solidFill>
            <a:schemeClr val="accent1">
              <a:lumMod val="20000"/>
              <a:lumOff val="80000"/>
            </a:schemeClr>
          </a:solidFill>
          <a:ln>
            <a:solidFill>
              <a:schemeClr val="tx1"/>
            </a:solidFill>
          </a:ln>
        </p:spPr>
        <p:txBody>
          <a:bodyPr wrap="square">
            <a:spAutoFit/>
          </a:bodyPr>
          <a:lstStyle/>
          <a:p>
            <a:pPr>
              <a:spcBef>
                <a:spcPts val="600"/>
              </a:spcBef>
              <a:spcAft>
                <a:spcPts val="600"/>
              </a:spcAft>
            </a:pPr>
            <a:r>
              <a:rPr lang="en-US" sz="2000" dirty="0">
                <a:latin typeface="Calibri" panose="020F0502020204030204" pitchFamily="34" charset="0"/>
              </a:rPr>
              <a:t>MAPE = ∑ ((|A – F|)/ A) / n   </a:t>
            </a:r>
            <a:r>
              <a:rPr lang="en-US" sz="1600" i="1" dirty="0">
                <a:latin typeface="Calibri" panose="020F0502020204030204" pitchFamily="34" charset="0"/>
              </a:rPr>
              <a:t>(expressed as a percentage)</a:t>
            </a:r>
          </a:p>
          <a:p>
            <a:pPr lvl="1">
              <a:spcBef>
                <a:spcPts val="600"/>
              </a:spcBef>
              <a:spcAft>
                <a:spcPts val="600"/>
              </a:spcAft>
            </a:pPr>
            <a:r>
              <a:rPr lang="en-US" sz="2000" i="1" dirty="0">
                <a:latin typeface="Calibri" panose="020F0502020204030204" pitchFamily="34" charset="0"/>
              </a:rPr>
              <a:t>Where:</a:t>
            </a:r>
          </a:p>
          <a:p>
            <a:pPr lvl="1">
              <a:spcBef>
                <a:spcPts val="600"/>
              </a:spcBef>
              <a:spcAft>
                <a:spcPts val="600"/>
              </a:spcAft>
            </a:pPr>
            <a:r>
              <a:rPr lang="en-US" sz="2000" dirty="0">
                <a:latin typeface="Calibri" panose="020F0502020204030204" pitchFamily="34" charset="0"/>
              </a:rPr>
              <a:t>A = Actual demand</a:t>
            </a:r>
          </a:p>
          <a:p>
            <a:pPr lvl="1">
              <a:spcBef>
                <a:spcPts val="600"/>
              </a:spcBef>
              <a:spcAft>
                <a:spcPts val="600"/>
              </a:spcAft>
            </a:pPr>
            <a:r>
              <a:rPr lang="en-US" sz="2000" dirty="0">
                <a:latin typeface="Calibri" panose="020F0502020204030204" pitchFamily="34" charset="0"/>
              </a:rPr>
              <a:t>F = Forecast demand</a:t>
            </a:r>
          </a:p>
          <a:p>
            <a:pPr lvl="1">
              <a:spcBef>
                <a:spcPts val="600"/>
              </a:spcBef>
              <a:spcAft>
                <a:spcPts val="600"/>
              </a:spcAft>
            </a:pPr>
            <a:r>
              <a:rPr lang="en-US" sz="2000" dirty="0">
                <a:latin typeface="Calibri" panose="020F0502020204030204" pitchFamily="34" charset="0"/>
              </a:rPr>
              <a:t>n = Number of time periods</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7" name="Slide Number Placeholder 6"/>
          <p:cNvSpPr>
            <a:spLocks noGrp="1"/>
          </p:cNvSpPr>
          <p:nvPr>
            <p:ph type="sldNum" sz="quarter" idx="4"/>
          </p:nvPr>
        </p:nvSpPr>
        <p:spPr/>
        <p:txBody>
          <a:bodyPr/>
          <a:lstStyle/>
          <a:p>
            <a:fld id="{E66AA3EA-0569-43EF-BBA3-83FDB109D582}" type="slidenum">
              <a:rPr lang="en-US" smtClean="0"/>
              <a:pPr/>
              <a:t>36</a:t>
            </a:fld>
            <a:endParaRPr lang="en-US" dirty="0"/>
          </a:p>
        </p:txBody>
      </p:sp>
    </p:spTree>
    <p:extLst>
      <p:ext uri="{BB962C8B-B14F-4D97-AF65-F5344CB8AC3E}">
        <p14:creationId xmlns:p14="http://schemas.microsoft.com/office/powerpoint/2010/main" val="3178863714"/>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Forecast Bias</a:t>
            </a:r>
          </a:p>
        </p:txBody>
      </p:sp>
      <p:sp>
        <p:nvSpPr>
          <p:cNvPr id="37891" name="Rectangle 3"/>
          <p:cNvSpPr>
            <a:spLocks noGrp="1" noChangeArrowheads="1"/>
          </p:cNvSpPr>
          <p:nvPr>
            <p:ph type="body" idx="4294967295"/>
          </p:nvPr>
        </p:nvSpPr>
        <p:spPr>
          <a:xfrm>
            <a:off x="228600" y="914400"/>
            <a:ext cx="8686800" cy="5537200"/>
          </a:xfrm>
        </p:spPr>
        <p:txBody>
          <a:bodyPr/>
          <a:lstStyle/>
          <a:p>
            <a:pPr marL="0" lvl="1" indent="0">
              <a:spcBef>
                <a:spcPts val="600"/>
              </a:spcBef>
              <a:spcAft>
                <a:spcPts val="600"/>
              </a:spcAft>
              <a:buClr>
                <a:srgbClr val="923222"/>
              </a:buClr>
              <a:buSzPct val="115000"/>
              <a:buNone/>
              <a:tabLst>
                <a:tab pos="1606550" algn="l"/>
                <a:tab pos="2286000" algn="l"/>
              </a:tabLst>
              <a:defRPr/>
            </a:pPr>
            <a:r>
              <a:rPr lang="en-US" altLang="en-US" sz="2400" b="1" u="sng" dirty="0">
                <a:latin typeface="Calibri" panose="020F0502020204030204" pitchFamily="34" charset="0"/>
              </a:rPr>
              <a:t>Forecast Bias</a:t>
            </a:r>
            <a:r>
              <a:rPr lang="en-US" altLang="en-US" sz="2400" b="1" dirty="0">
                <a:latin typeface="Calibri" panose="020F0502020204030204" pitchFamily="34" charset="0"/>
              </a:rPr>
              <a:t> </a:t>
            </a:r>
            <a:r>
              <a:rPr lang="en-US" altLang="en-US" sz="2400" dirty="0">
                <a:latin typeface="Calibri" panose="020F0502020204030204" pitchFamily="34" charset="0"/>
              </a:rPr>
              <a:t>is a consistent deviation from the mean in one direction; either high or low. </a:t>
            </a:r>
          </a:p>
          <a:p>
            <a:pPr marL="457200" lvl="1" indent="-342900">
              <a:spcBef>
                <a:spcPts val="600"/>
              </a:spcBef>
              <a:spcAft>
                <a:spcPts val="600"/>
              </a:spcAft>
              <a:buClr>
                <a:srgbClr val="923222"/>
              </a:buClr>
              <a:buSzPct val="110000"/>
              <a:buFont typeface="Wingdings" panose="05000000000000000000" pitchFamily="2" charset="2"/>
              <a:buChar char="§"/>
              <a:tabLst>
                <a:tab pos="1606550" algn="l"/>
                <a:tab pos="2286000" algn="l"/>
              </a:tabLst>
              <a:defRPr/>
            </a:pPr>
            <a:r>
              <a:rPr lang="en-US" altLang="en-US" sz="2000" kern="1200" dirty="0">
                <a:latin typeface="Calibri" panose="020F0502020204030204" pitchFamily="34" charset="0"/>
                <a:ea typeface="Calibri" panose="020F0502020204030204" pitchFamily="34" charset="0"/>
                <a:cs typeface="Times New Roman" panose="02020603050405020304" pitchFamily="18" charset="0"/>
              </a:rPr>
              <a:t>In other words, bias exists when the demand is consistently over- or under-forecast. A good forecast is not biased. </a:t>
            </a:r>
          </a:p>
          <a:p>
            <a:pPr marL="0" lvl="1" indent="0">
              <a:spcBef>
                <a:spcPts val="600"/>
              </a:spcBef>
              <a:spcAft>
                <a:spcPts val="600"/>
              </a:spcAft>
              <a:buClr>
                <a:srgbClr val="923222"/>
              </a:buClr>
              <a:buSzPct val="115000"/>
              <a:buNone/>
              <a:tabLst>
                <a:tab pos="1606550" algn="l"/>
                <a:tab pos="2286000" algn="l"/>
              </a:tabLst>
              <a:defRPr/>
            </a:pPr>
            <a:endParaRPr lang="en-US" altLang="en-US" sz="2000" dirty="0">
              <a:latin typeface="Calibri" panose="020F0502020204030204" pitchFamily="34" charset="0"/>
            </a:endParaRPr>
          </a:p>
          <a:p>
            <a:pPr marL="0" lvl="1" indent="0">
              <a:spcBef>
                <a:spcPts val="600"/>
              </a:spcBef>
              <a:spcAft>
                <a:spcPts val="600"/>
              </a:spcAft>
              <a:buClr>
                <a:srgbClr val="923222"/>
              </a:buClr>
              <a:buSzPct val="115000"/>
              <a:buNone/>
              <a:tabLst>
                <a:tab pos="1606550" algn="l"/>
                <a:tab pos="2286000" algn="l"/>
              </a:tabLst>
              <a:defRPr/>
            </a:pPr>
            <a:r>
              <a:rPr lang="en-US" altLang="en-US" sz="2000" dirty="0">
                <a:latin typeface="Calibri" panose="020F0502020204030204" pitchFamily="34" charset="0"/>
              </a:rPr>
              <a:t>In the formula above, if the sum of the forecast error is not zero, there is bias in the forecast. </a:t>
            </a:r>
          </a:p>
          <a:p>
            <a:pPr marL="457200" lvl="1" indent="-342900">
              <a:spcBef>
                <a:spcPts val="600"/>
              </a:spcBef>
              <a:spcAft>
                <a:spcPts val="600"/>
              </a:spcAft>
              <a:buClr>
                <a:srgbClr val="923222"/>
              </a:buClr>
              <a:buSzPct val="110000"/>
              <a:buFont typeface="Wingdings" panose="05000000000000000000" pitchFamily="2" charset="2"/>
              <a:buChar char="§"/>
              <a:tabLst>
                <a:tab pos="1606550" algn="l"/>
                <a:tab pos="2286000" algn="l"/>
              </a:tabLst>
              <a:defRPr/>
            </a:pPr>
            <a:r>
              <a:rPr lang="en-US" altLang="en-US" sz="2000" kern="1200" dirty="0">
                <a:latin typeface="Calibri" panose="020F0502020204030204" pitchFamily="34" charset="0"/>
                <a:ea typeface="Calibri" panose="020F0502020204030204" pitchFamily="34" charset="0"/>
                <a:cs typeface="Times New Roman" panose="02020603050405020304" pitchFamily="18" charset="0"/>
              </a:rPr>
              <a:t>A </a:t>
            </a:r>
            <a:r>
              <a:rPr lang="en-US" altLang="en-US" sz="2000" u="sng" kern="1200" dirty="0">
                <a:latin typeface="Calibri" panose="020F0502020204030204" pitchFamily="34" charset="0"/>
                <a:ea typeface="Calibri" panose="020F0502020204030204" pitchFamily="34" charset="0"/>
                <a:cs typeface="Times New Roman" panose="02020603050405020304" pitchFamily="18" charset="0"/>
              </a:rPr>
              <a:t>negative result </a:t>
            </a:r>
            <a:r>
              <a:rPr lang="en-US" altLang="en-US" sz="2000" kern="1200" dirty="0">
                <a:latin typeface="Calibri" panose="020F0502020204030204" pitchFamily="34" charset="0"/>
                <a:ea typeface="Calibri" panose="020F0502020204030204" pitchFamily="34" charset="0"/>
                <a:cs typeface="Times New Roman" panose="02020603050405020304" pitchFamily="18" charset="0"/>
              </a:rPr>
              <a:t>shows that </a:t>
            </a:r>
            <a:r>
              <a:rPr lang="en-US" altLang="en-US" sz="2000" u="sng" kern="1200" dirty="0">
                <a:latin typeface="Calibri" panose="020F0502020204030204" pitchFamily="34" charset="0"/>
                <a:ea typeface="Calibri" panose="020F0502020204030204" pitchFamily="34" charset="0"/>
                <a:cs typeface="Times New Roman" panose="02020603050405020304" pitchFamily="18" charset="0"/>
              </a:rPr>
              <a:t>actual demand was consistently less than</a:t>
            </a:r>
            <a:r>
              <a:rPr lang="en-US" altLang="en-US" sz="2000" kern="1200" dirty="0">
                <a:latin typeface="Calibri" panose="020F0502020204030204" pitchFamily="34" charset="0"/>
                <a:ea typeface="Calibri" panose="020F0502020204030204" pitchFamily="34" charset="0"/>
                <a:cs typeface="Times New Roman" panose="02020603050405020304" pitchFamily="18" charset="0"/>
              </a:rPr>
              <a:t> the forecast </a:t>
            </a:r>
          </a:p>
          <a:p>
            <a:pPr marL="457200" lvl="1" indent="-342900">
              <a:spcBef>
                <a:spcPts val="600"/>
              </a:spcBef>
              <a:spcAft>
                <a:spcPts val="600"/>
              </a:spcAft>
              <a:buClr>
                <a:srgbClr val="923222"/>
              </a:buClr>
              <a:buSzPct val="110000"/>
              <a:buFont typeface="Wingdings" panose="05000000000000000000" pitchFamily="2" charset="2"/>
              <a:buChar char="§"/>
              <a:tabLst>
                <a:tab pos="1606550" algn="l"/>
                <a:tab pos="2286000" algn="l"/>
              </a:tabLst>
              <a:defRPr/>
            </a:pPr>
            <a:r>
              <a:rPr lang="en-US" altLang="en-US" sz="2000" kern="1200" dirty="0">
                <a:latin typeface="Calibri" panose="020F0502020204030204" pitchFamily="34" charset="0"/>
                <a:ea typeface="Calibri" panose="020F0502020204030204" pitchFamily="34" charset="0"/>
                <a:cs typeface="Times New Roman" panose="02020603050405020304" pitchFamily="18" charset="0"/>
              </a:rPr>
              <a:t>A </a:t>
            </a:r>
            <a:r>
              <a:rPr lang="en-US" altLang="en-US" sz="2000" u="sng" kern="1200" dirty="0">
                <a:latin typeface="Calibri" panose="020F0502020204030204" pitchFamily="34" charset="0"/>
                <a:ea typeface="Calibri" panose="020F0502020204030204" pitchFamily="34" charset="0"/>
                <a:cs typeface="Times New Roman" panose="02020603050405020304" pitchFamily="18" charset="0"/>
              </a:rPr>
              <a:t>positive result</a:t>
            </a:r>
            <a:r>
              <a:rPr lang="en-US" altLang="en-US" sz="2000" kern="1200" dirty="0">
                <a:latin typeface="Calibri" panose="020F0502020204030204" pitchFamily="34" charset="0"/>
                <a:ea typeface="Calibri" panose="020F0502020204030204" pitchFamily="34" charset="0"/>
                <a:cs typeface="Times New Roman" panose="02020603050405020304" pitchFamily="18" charset="0"/>
              </a:rPr>
              <a:t> shows that </a:t>
            </a:r>
            <a:r>
              <a:rPr lang="en-US" altLang="en-US" sz="2000" u="sng" kern="1200" dirty="0">
                <a:latin typeface="Calibri" panose="020F0502020204030204" pitchFamily="34" charset="0"/>
                <a:ea typeface="Calibri" panose="020F0502020204030204" pitchFamily="34" charset="0"/>
                <a:cs typeface="Times New Roman" panose="02020603050405020304" pitchFamily="18" charset="0"/>
              </a:rPr>
              <a:t>actual demand was greater than </a:t>
            </a:r>
            <a:r>
              <a:rPr lang="en-US" altLang="en-US" sz="2000" kern="1200" dirty="0">
                <a:latin typeface="Calibri" panose="020F0502020204030204" pitchFamily="34" charset="0"/>
                <a:ea typeface="Calibri" panose="020F0502020204030204" pitchFamily="34" charset="0"/>
                <a:cs typeface="Times New Roman" panose="02020603050405020304" pitchFamily="18" charset="0"/>
              </a:rPr>
              <a:t>forecast  demand</a:t>
            </a:r>
          </a:p>
          <a:p>
            <a:pPr marL="0" lvl="1" indent="0">
              <a:spcBef>
                <a:spcPts val="600"/>
              </a:spcBef>
              <a:spcAft>
                <a:spcPts val="600"/>
              </a:spcAft>
              <a:buClr>
                <a:srgbClr val="923222"/>
              </a:buClr>
              <a:buSzPct val="115000"/>
              <a:buNone/>
              <a:tabLst>
                <a:tab pos="1606550" algn="l"/>
                <a:tab pos="2286000" algn="l"/>
              </a:tabLst>
              <a:defRPr/>
            </a:pPr>
            <a:r>
              <a:rPr lang="en-US" altLang="en-US" sz="2000" dirty="0">
                <a:latin typeface="Calibri" panose="020F0502020204030204" pitchFamily="34" charset="0"/>
              </a:rPr>
              <a:t>A forecast process </a:t>
            </a:r>
            <a:r>
              <a:rPr lang="en-US" altLang="en-US" sz="2000" u="sng" dirty="0">
                <a:latin typeface="Calibri" panose="020F0502020204030204" pitchFamily="34" charset="0"/>
              </a:rPr>
              <a:t>with bias will eventually create significant problems </a:t>
            </a:r>
            <a:r>
              <a:rPr lang="en-US" altLang="en-US" sz="2000" dirty="0">
                <a:latin typeface="Calibri" panose="020F0502020204030204" pitchFamily="34" charset="0"/>
              </a:rPr>
              <a:t>in the supply chain if left unchecked. Good supply chain planners are aware of these biases. A best practice is to measure for forecast bias routinely and then make corrections accordingly. </a:t>
            </a:r>
          </a:p>
        </p:txBody>
      </p:sp>
      <p:sp>
        <p:nvSpPr>
          <p:cNvPr id="3" name="Rectangle 2"/>
          <p:cNvSpPr/>
          <p:nvPr/>
        </p:nvSpPr>
        <p:spPr>
          <a:xfrm>
            <a:off x="1828800" y="2535535"/>
            <a:ext cx="5647267" cy="369332"/>
          </a:xfrm>
          <a:prstGeom prst="rect">
            <a:avLst/>
          </a:prstGeom>
          <a:solidFill>
            <a:schemeClr val="accent1">
              <a:lumMod val="20000"/>
              <a:lumOff val="80000"/>
            </a:schemeClr>
          </a:solidFill>
          <a:ln>
            <a:solidFill>
              <a:schemeClr val="tx1"/>
            </a:solidFill>
          </a:ln>
        </p:spPr>
        <p:txBody>
          <a:bodyPr wrap="square">
            <a:spAutoFit/>
          </a:bodyPr>
          <a:lstStyle/>
          <a:p>
            <a:pPr marL="0" lvl="4">
              <a:spcBef>
                <a:spcPts val="600"/>
              </a:spcBef>
              <a:spcAft>
                <a:spcPts val="600"/>
              </a:spcAft>
              <a:buClr>
                <a:srgbClr val="923222"/>
              </a:buClr>
              <a:buSzPct val="115000"/>
              <a:buNone/>
              <a:tabLst>
                <a:tab pos="1719263" algn="l"/>
              </a:tabLst>
              <a:defRPr/>
            </a:pPr>
            <a:r>
              <a:rPr lang="en-US" altLang="en-US" sz="1800" dirty="0">
                <a:latin typeface="Calibri" panose="020F0502020204030204" pitchFamily="34" charset="0"/>
              </a:rPr>
              <a:t>∑ Forecast Error = ∑ Actual Demand – ∑ Forecast Demand</a:t>
            </a:r>
          </a:p>
        </p:txBody>
      </p:sp>
      <p:sp>
        <p:nvSpPr>
          <p:cNvPr id="4" name="Footer Placeholder 3"/>
          <p:cNvSpPr>
            <a:spLocks noGrp="1"/>
          </p:cNvSpPr>
          <p:nvPr>
            <p:ph type="ftr" sz="quarter" idx="3"/>
          </p:nvPr>
        </p:nvSpPr>
        <p:spPr/>
        <p:txBody>
          <a:bodyPr/>
          <a:lstStyle/>
          <a:p>
            <a:r>
              <a:rPr lang="en-US"/>
              <a:t>Fundamentals of Supply Chain Management – McLaury/Spiegle</a:t>
            </a:r>
            <a:endParaRPr lang="en-US" dirty="0"/>
          </a:p>
        </p:txBody>
      </p:sp>
      <p:sp>
        <p:nvSpPr>
          <p:cNvPr id="5" name="Slide Number Placeholder 4"/>
          <p:cNvSpPr>
            <a:spLocks noGrp="1"/>
          </p:cNvSpPr>
          <p:nvPr>
            <p:ph type="sldNum" sz="quarter" idx="4"/>
          </p:nvPr>
        </p:nvSpPr>
        <p:spPr/>
        <p:txBody>
          <a:bodyPr/>
          <a:lstStyle/>
          <a:p>
            <a:fld id="{E66AA3EA-0569-43EF-BBA3-83FDB109D582}" type="slidenum">
              <a:rPr lang="en-US" smtClean="0"/>
              <a:pPr/>
              <a:t>37</a:t>
            </a:fld>
            <a:endParaRPr lang="en-US" dirty="0"/>
          </a:p>
        </p:txBody>
      </p:sp>
    </p:spTree>
    <p:extLst>
      <p:ext uri="{BB962C8B-B14F-4D97-AF65-F5344CB8AC3E}">
        <p14:creationId xmlns:p14="http://schemas.microsoft.com/office/powerpoint/2010/main" val="1819034588"/>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additive="base">
                                        <p:cTn id="7" dur="500" fill="hold"/>
                                        <p:tgtEl>
                                          <p:spTgt spid="378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891">
                                            <p:txEl>
                                              <p:pRg st="1" end="1"/>
                                            </p:txEl>
                                          </p:spTgt>
                                        </p:tgtEl>
                                        <p:attrNameLst>
                                          <p:attrName>style.visibility</p:attrName>
                                        </p:attrNameLst>
                                      </p:cBhvr>
                                      <p:to>
                                        <p:strVal val="visible"/>
                                      </p:to>
                                    </p:set>
                                    <p:anim calcmode="lin" valueType="num">
                                      <p:cBhvr additive="base">
                                        <p:cTn id="11"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8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7891">
                                            <p:txEl>
                                              <p:pRg st="3" end="3"/>
                                            </p:txEl>
                                          </p:spTgt>
                                        </p:tgtEl>
                                        <p:attrNameLst>
                                          <p:attrName>style.visibility</p:attrName>
                                        </p:attrNameLst>
                                      </p:cBhvr>
                                      <p:to>
                                        <p:strVal val="visible"/>
                                      </p:to>
                                    </p:set>
                                    <p:anim calcmode="lin" valueType="num">
                                      <p:cBhvr additive="base">
                                        <p:cTn id="23" dur="500" fill="hold"/>
                                        <p:tgtEl>
                                          <p:spTgt spid="37891">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7891">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7891">
                                            <p:txEl>
                                              <p:pRg st="4" end="4"/>
                                            </p:txEl>
                                          </p:spTgt>
                                        </p:tgtEl>
                                        <p:attrNameLst>
                                          <p:attrName>style.visibility</p:attrName>
                                        </p:attrNameLst>
                                      </p:cBhvr>
                                      <p:to>
                                        <p:strVal val="visible"/>
                                      </p:to>
                                    </p:set>
                                    <p:anim calcmode="lin" valueType="num">
                                      <p:cBhvr additive="base">
                                        <p:cTn id="27" dur="500" fill="hold"/>
                                        <p:tgtEl>
                                          <p:spTgt spid="3789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789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7891">
                                            <p:txEl>
                                              <p:pRg st="5" end="5"/>
                                            </p:txEl>
                                          </p:spTgt>
                                        </p:tgtEl>
                                        <p:attrNameLst>
                                          <p:attrName>style.visibility</p:attrName>
                                        </p:attrNameLst>
                                      </p:cBhvr>
                                      <p:to>
                                        <p:strVal val="visible"/>
                                      </p:to>
                                    </p:set>
                                    <p:anim calcmode="lin" valueType="num">
                                      <p:cBhvr additive="base">
                                        <p:cTn id="31" dur="500" fill="hold"/>
                                        <p:tgtEl>
                                          <p:spTgt spid="3789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789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7891">
                                            <p:txEl>
                                              <p:pRg st="6" end="6"/>
                                            </p:txEl>
                                          </p:spTgt>
                                        </p:tgtEl>
                                        <p:attrNameLst>
                                          <p:attrName>style.visibility</p:attrName>
                                        </p:attrNameLst>
                                      </p:cBhvr>
                                      <p:to>
                                        <p:strVal val="visible"/>
                                      </p:to>
                                    </p:set>
                                    <p:anim calcmode="lin" valueType="num">
                                      <p:cBhvr additive="base">
                                        <p:cTn id="37" dur="500" fill="hold"/>
                                        <p:tgtEl>
                                          <p:spTgt spid="37891">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789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686800" cy="4775200"/>
          </a:xfrm>
        </p:spPr>
        <p:txBody>
          <a:bodyPr/>
          <a:lstStyle/>
          <a:p>
            <a:pPr marL="0" indent="0">
              <a:spcBef>
                <a:spcPts val="600"/>
              </a:spcBef>
              <a:spcAft>
                <a:spcPts val="1200"/>
              </a:spcAft>
              <a:buNone/>
            </a:pPr>
            <a:r>
              <a:rPr lang="en-US" sz="2400" b="1" u="sng" dirty="0">
                <a:latin typeface="Calibri" panose="020F0502020204030204" pitchFamily="34" charset="0"/>
              </a:rPr>
              <a:t>Running Sum of Forecast Errors </a:t>
            </a:r>
            <a:r>
              <a:rPr lang="en-US" sz="2400" dirty="0">
                <a:latin typeface="Calibri" panose="020F0502020204030204" pitchFamily="34" charset="0"/>
              </a:rPr>
              <a:t>(RSFE) provides a measure of forecast bias. RSFE indicates the tendency of a forecast to be consistently higher or lower than actual demand. </a:t>
            </a:r>
          </a:p>
          <a:p>
            <a:pPr marL="457200" lvl="1" indent="-342900">
              <a:spcBef>
                <a:spcPts val="600"/>
              </a:spcBef>
              <a:spcAft>
                <a:spcPts val="1200"/>
              </a:spcAft>
              <a:buClr>
                <a:srgbClr val="923222"/>
              </a:buClr>
              <a:buSzPct val="110000"/>
              <a:buFont typeface="Wingdings" panose="05000000000000000000" pitchFamily="2" charset="2"/>
              <a:buChar char="§"/>
            </a:pPr>
            <a:r>
              <a:rPr lang="en-US" sz="2400" kern="1200" dirty="0">
                <a:latin typeface="Calibri" panose="020F0502020204030204" pitchFamily="34" charset="0"/>
                <a:ea typeface="Calibri" panose="020F0502020204030204" pitchFamily="34" charset="0"/>
                <a:cs typeface="Times New Roman" panose="02020603050405020304" pitchFamily="18" charset="0"/>
              </a:rPr>
              <a:t>A </a:t>
            </a:r>
            <a:r>
              <a:rPr lang="en-US" sz="2400" b="1" u="sng" kern="1200" dirty="0">
                <a:solidFill>
                  <a:srgbClr val="923222"/>
                </a:solidFill>
                <a:latin typeface="Calibri" panose="020F0502020204030204" pitchFamily="34" charset="0"/>
                <a:ea typeface="Calibri" panose="020F0502020204030204" pitchFamily="34" charset="0"/>
                <a:cs typeface="Times New Roman" panose="02020603050405020304" pitchFamily="18" charset="0"/>
              </a:rPr>
              <a:t>positive</a:t>
            </a:r>
            <a:r>
              <a:rPr lang="en-US" sz="2400" kern="1200" dirty="0">
                <a:solidFill>
                  <a:srgbClr val="923222"/>
                </a:solidFill>
                <a:latin typeface="Calibri" panose="020F0502020204030204" pitchFamily="34" charset="0"/>
                <a:ea typeface="Calibri" panose="020F0502020204030204" pitchFamily="34" charset="0"/>
                <a:cs typeface="Times New Roman" panose="02020603050405020304" pitchFamily="18" charset="0"/>
              </a:rPr>
              <a:t> </a:t>
            </a:r>
            <a:r>
              <a:rPr lang="en-US" sz="2400" kern="1200" dirty="0">
                <a:latin typeface="Calibri" panose="020F0502020204030204" pitchFamily="34" charset="0"/>
                <a:ea typeface="Calibri" panose="020F0502020204030204" pitchFamily="34" charset="0"/>
                <a:cs typeface="Times New Roman" panose="02020603050405020304" pitchFamily="18" charset="0"/>
              </a:rPr>
              <a:t>RSFE indicates that the forecasts were generally </a:t>
            </a:r>
            <a:r>
              <a:rPr lang="en-US" sz="2400" b="1" kern="1200" dirty="0">
                <a:latin typeface="Calibri" panose="020F0502020204030204" pitchFamily="34" charset="0"/>
                <a:ea typeface="Calibri" panose="020F0502020204030204" pitchFamily="34" charset="0"/>
                <a:cs typeface="Times New Roman" panose="02020603050405020304" pitchFamily="18" charset="0"/>
              </a:rPr>
              <a:t>too low, underestimating the demand.</a:t>
            </a:r>
            <a:r>
              <a:rPr lang="en-US" sz="2400" kern="1200" dirty="0">
                <a:latin typeface="Calibri" panose="020F0502020204030204" pitchFamily="34" charset="0"/>
                <a:ea typeface="Calibri" panose="020F0502020204030204" pitchFamily="34" charset="0"/>
                <a:cs typeface="Times New Roman" panose="02020603050405020304" pitchFamily="18" charset="0"/>
              </a:rPr>
              <a:t> </a:t>
            </a:r>
          </a:p>
          <a:p>
            <a:pPr marL="804863" lvl="2" indent="-347663">
              <a:spcBef>
                <a:spcPts val="0"/>
              </a:spcBef>
              <a:spcAft>
                <a:spcPts val="1200"/>
              </a:spcAft>
              <a:buClr>
                <a:srgbClr val="923222"/>
              </a:buClr>
              <a:buSzPct val="110000"/>
              <a:buFont typeface="Symbol" panose="05050102010706020507" pitchFamily="18" charset="2"/>
              <a:buChar char="-"/>
            </a:pPr>
            <a:r>
              <a:rPr lang="en-US" sz="2000" kern="1200" dirty="0">
                <a:latin typeface="Calibri" panose="020F0502020204030204" pitchFamily="34" charset="0"/>
                <a:ea typeface="Calibri" panose="020F0502020204030204" pitchFamily="34" charset="0"/>
                <a:cs typeface="Times New Roman" panose="02020603050405020304" pitchFamily="18" charset="0"/>
              </a:rPr>
              <a:t>In this situation, stock-outs are likely to occur as companies are unable to meet customers’ actual demand.  </a:t>
            </a:r>
          </a:p>
          <a:p>
            <a:pPr marL="457200" lvl="1" indent="-342900">
              <a:spcBef>
                <a:spcPts val="600"/>
              </a:spcBef>
              <a:spcAft>
                <a:spcPts val="1200"/>
              </a:spcAft>
              <a:buClr>
                <a:srgbClr val="923222"/>
              </a:buClr>
              <a:buSzPct val="110000"/>
              <a:buFont typeface="Wingdings" panose="05000000000000000000" pitchFamily="2" charset="2"/>
              <a:buChar char="§"/>
            </a:pPr>
            <a:r>
              <a:rPr lang="en-US" sz="2400" kern="1200" dirty="0">
                <a:latin typeface="Calibri" panose="020F0502020204030204" pitchFamily="34" charset="0"/>
                <a:ea typeface="Calibri" panose="020F0502020204030204" pitchFamily="34" charset="0"/>
                <a:cs typeface="Times New Roman" panose="02020603050405020304" pitchFamily="18" charset="0"/>
              </a:rPr>
              <a:t>A </a:t>
            </a:r>
            <a:r>
              <a:rPr lang="en-US" sz="2400" b="1" u="sng" kern="1200" dirty="0">
                <a:solidFill>
                  <a:srgbClr val="923222"/>
                </a:solidFill>
                <a:latin typeface="Calibri" panose="020F0502020204030204" pitchFamily="34" charset="0"/>
                <a:ea typeface="Calibri" panose="020F0502020204030204" pitchFamily="34" charset="0"/>
                <a:cs typeface="Times New Roman" panose="02020603050405020304" pitchFamily="18" charset="0"/>
              </a:rPr>
              <a:t>negative</a:t>
            </a:r>
            <a:r>
              <a:rPr lang="en-US" sz="2400" kern="1200" dirty="0">
                <a:solidFill>
                  <a:srgbClr val="923222"/>
                </a:solidFill>
                <a:latin typeface="Calibri" panose="020F0502020204030204" pitchFamily="34" charset="0"/>
                <a:ea typeface="Calibri" panose="020F0502020204030204" pitchFamily="34" charset="0"/>
                <a:cs typeface="Times New Roman" panose="02020603050405020304" pitchFamily="18" charset="0"/>
              </a:rPr>
              <a:t> </a:t>
            </a:r>
            <a:r>
              <a:rPr lang="en-US" sz="2400" kern="1200" dirty="0">
                <a:latin typeface="Calibri" panose="020F0502020204030204" pitchFamily="34" charset="0"/>
                <a:ea typeface="Calibri" panose="020F0502020204030204" pitchFamily="34" charset="0"/>
                <a:cs typeface="Times New Roman" panose="02020603050405020304" pitchFamily="18" charset="0"/>
              </a:rPr>
              <a:t>RSFE indicates that the forecasts were generally </a:t>
            </a:r>
            <a:r>
              <a:rPr lang="en-US" sz="2400" b="1" kern="1200" dirty="0">
                <a:latin typeface="Calibri" panose="020F0502020204030204" pitchFamily="34" charset="0"/>
                <a:ea typeface="Calibri" panose="020F0502020204030204" pitchFamily="34" charset="0"/>
                <a:cs typeface="Times New Roman" panose="02020603050405020304" pitchFamily="18" charset="0"/>
              </a:rPr>
              <a:t>too high, overestimating demand.</a:t>
            </a:r>
            <a:r>
              <a:rPr lang="en-US" sz="2400" kern="1200" dirty="0">
                <a:latin typeface="Calibri" panose="020F0502020204030204" pitchFamily="34" charset="0"/>
                <a:ea typeface="Calibri" panose="020F0502020204030204" pitchFamily="34" charset="0"/>
                <a:cs typeface="Times New Roman" panose="02020603050405020304" pitchFamily="18" charset="0"/>
              </a:rPr>
              <a:t> </a:t>
            </a:r>
          </a:p>
          <a:p>
            <a:pPr marL="804863" lvl="2" indent="-347663">
              <a:spcBef>
                <a:spcPts val="0"/>
              </a:spcBef>
              <a:spcAft>
                <a:spcPts val="1200"/>
              </a:spcAft>
              <a:buClr>
                <a:srgbClr val="923222"/>
              </a:buClr>
              <a:buSzPct val="110000"/>
              <a:buFont typeface="Symbol" panose="05050102010706020507" pitchFamily="18" charset="2"/>
              <a:buChar char="-"/>
            </a:pPr>
            <a:r>
              <a:rPr lang="en-US" sz="2000" kern="1200" dirty="0">
                <a:latin typeface="Calibri" panose="020F0502020204030204" pitchFamily="34" charset="0"/>
                <a:ea typeface="Calibri" panose="020F0502020204030204" pitchFamily="34" charset="0"/>
                <a:cs typeface="Times New Roman" panose="02020603050405020304" pitchFamily="18" charset="0"/>
              </a:rPr>
              <a:t>In this situation, excess inventory and higher carrying costs are likely to occur.</a:t>
            </a:r>
          </a:p>
        </p:txBody>
      </p:sp>
      <p:sp>
        <p:nvSpPr>
          <p:cNvPr id="5" name="Rectangle 4"/>
          <p:cNvSpPr/>
          <p:nvPr/>
        </p:nvSpPr>
        <p:spPr>
          <a:xfrm>
            <a:off x="2861733" y="5440346"/>
            <a:ext cx="3725333" cy="1015663"/>
          </a:xfrm>
          <a:prstGeom prst="rect">
            <a:avLst/>
          </a:prstGeom>
          <a:solidFill>
            <a:schemeClr val="accent1">
              <a:lumMod val="20000"/>
              <a:lumOff val="80000"/>
            </a:schemeClr>
          </a:solidFill>
          <a:ln>
            <a:solidFill>
              <a:schemeClr val="tx1"/>
            </a:solidFill>
          </a:ln>
        </p:spPr>
        <p:txBody>
          <a:bodyPr wrap="square">
            <a:spAutoFit/>
          </a:bodyPr>
          <a:lstStyle/>
          <a:p>
            <a:r>
              <a:rPr lang="en-US" sz="2000" dirty="0">
                <a:latin typeface="Calibri" panose="020F0502020204030204" pitchFamily="34" charset="0"/>
              </a:rPr>
              <a:t>RSFE = ∑ e</a:t>
            </a:r>
            <a:r>
              <a:rPr lang="en-US" sz="2000" baseline="-25000" dirty="0">
                <a:latin typeface="Calibri" panose="020F0502020204030204" pitchFamily="34" charset="0"/>
              </a:rPr>
              <a:t>t</a:t>
            </a:r>
          </a:p>
          <a:p>
            <a:pPr lvl="1"/>
            <a:r>
              <a:rPr lang="en-US" sz="2000" i="1" dirty="0">
                <a:latin typeface="Calibri" panose="020F0502020204030204" pitchFamily="34" charset="0"/>
              </a:rPr>
              <a:t>Where:</a:t>
            </a:r>
          </a:p>
          <a:p>
            <a:pPr lvl="1"/>
            <a:r>
              <a:rPr lang="en-US" sz="2000" dirty="0">
                <a:latin typeface="Calibri" panose="020F0502020204030204" pitchFamily="34" charset="0"/>
              </a:rPr>
              <a:t>e</a:t>
            </a:r>
            <a:r>
              <a:rPr lang="en-US" sz="2000" baseline="-25000" dirty="0">
                <a:latin typeface="Calibri" panose="020F0502020204030204" pitchFamily="34" charset="0"/>
              </a:rPr>
              <a:t>t</a:t>
            </a:r>
            <a:r>
              <a:rPr lang="en-US" sz="2000" dirty="0">
                <a:latin typeface="Calibri" panose="020F0502020204030204" pitchFamily="34" charset="0"/>
              </a:rPr>
              <a:t> = forecast error for period t</a:t>
            </a:r>
          </a:p>
        </p:txBody>
      </p:sp>
      <p:sp>
        <p:nvSpPr>
          <p:cNvPr id="6" name="Rectangle 2"/>
          <p:cNvSpPr>
            <a:spLocks noGrp="1" noChangeArrowheads="1"/>
          </p:cNvSpPr>
          <p:nvPr>
            <p:ph type="title" idx="4294967295"/>
          </p:nvPr>
        </p:nvSpPr>
        <p:spPr>
          <a:xfrm>
            <a:off x="228600" y="132598"/>
            <a:ext cx="883317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Running Sum of Forecast Errors </a:t>
            </a:r>
            <a:r>
              <a:rPr lang="en-US" altLang="en-US" sz="2400" b="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(RSFE) </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7" name="Slide Number Placeholder 6"/>
          <p:cNvSpPr>
            <a:spLocks noGrp="1"/>
          </p:cNvSpPr>
          <p:nvPr>
            <p:ph type="sldNum" sz="quarter" idx="4"/>
          </p:nvPr>
        </p:nvSpPr>
        <p:spPr/>
        <p:txBody>
          <a:bodyPr/>
          <a:lstStyle/>
          <a:p>
            <a:fld id="{E66AA3EA-0569-43EF-BBA3-83FDB109D582}" type="slidenum">
              <a:rPr lang="en-US" smtClean="0"/>
              <a:pPr/>
              <a:t>38</a:t>
            </a:fld>
            <a:endParaRPr lang="en-US" dirty="0"/>
          </a:p>
        </p:txBody>
      </p:sp>
    </p:spTree>
    <p:extLst>
      <p:ext uri="{BB962C8B-B14F-4D97-AF65-F5344CB8AC3E}">
        <p14:creationId xmlns:p14="http://schemas.microsoft.com/office/powerpoint/2010/main" val="3326492585"/>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3"/>
          <p:cNvSpPr txBox="1">
            <a:spLocks noChangeArrowheads="1"/>
          </p:cNvSpPr>
          <p:nvPr/>
        </p:nvSpPr>
        <p:spPr bwMode="auto">
          <a:xfrm>
            <a:off x="228601" y="914401"/>
            <a:ext cx="86868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0090"/>
              </a:buClr>
              <a:buChar char="•"/>
              <a:defRPr sz="2800">
                <a:solidFill>
                  <a:schemeClr val="tx1"/>
                </a:solidFill>
                <a:latin typeface="Arial" panose="020B0604020202020204" pitchFamily="34" charset="0"/>
                <a:ea typeface="ＭＳ Ｐゴシック" panose="020B0600070205080204" pitchFamily="34" charset="-128"/>
              </a:defRPr>
            </a:lvl1pPr>
            <a:lvl2pPr marL="342900" indent="-342900">
              <a:spcBef>
                <a:spcPct val="20000"/>
              </a:spcBef>
              <a:buClr>
                <a:srgbClr val="BB7A05"/>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lvl="1">
              <a:lnSpc>
                <a:spcPct val="90000"/>
              </a:lnSpc>
              <a:spcBef>
                <a:spcPts val="600"/>
              </a:spcBef>
              <a:spcAft>
                <a:spcPts val="1200"/>
              </a:spcAft>
              <a:buClr>
                <a:srgbClr val="923222"/>
              </a:buClr>
              <a:buSzPct val="110000"/>
            </a:pPr>
            <a:r>
              <a:rPr lang="en-US" altLang="en-US" sz="2000" dirty="0">
                <a:solidFill>
                  <a:prstClr val="black"/>
                </a:solidFill>
                <a:latin typeface="Calibri" panose="020F0502020204030204" pitchFamily="34" charset="0"/>
              </a:rPr>
              <a:t>Because </a:t>
            </a:r>
            <a:r>
              <a:rPr lang="en-US" altLang="en-US" sz="2000" dirty="0">
                <a:solidFill>
                  <a:srgbClr val="923222"/>
                </a:solidFill>
                <a:effectLst>
                  <a:outerShdw blurRad="38100" dist="38100" dir="2700000" algn="tl">
                    <a:srgbClr val="000000">
                      <a:alpha val="43137"/>
                    </a:srgbClr>
                  </a:outerShdw>
                </a:effectLst>
                <a:latin typeface="Calibri" panose="020F0502020204030204" pitchFamily="34" charset="0"/>
              </a:rPr>
              <a:t>customer</a:t>
            </a:r>
            <a:r>
              <a:rPr lang="en-US" altLang="en-US" sz="2000" dirty="0">
                <a:solidFill>
                  <a:srgbClr val="BB7A05"/>
                </a:solidFill>
                <a:effectLst>
                  <a:outerShdw blurRad="38100" dist="38100" dir="2700000" algn="tl">
                    <a:srgbClr val="000000">
                      <a:alpha val="43137"/>
                    </a:srgbClr>
                  </a:outerShdw>
                </a:effectLst>
                <a:latin typeface="Calibri" panose="020F0502020204030204" pitchFamily="34" charset="0"/>
              </a:rPr>
              <a:t> </a:t>
            </a:r>
            <a:r>
              <a:rPr lang="en-US" altLang="en-US" sz="2000" dirty="0">
                <a:solidFill>
                  <a:prstClr val="black"/>
                </a:solidFill>
                <a:latin typeface="Calibri" panose="020F0502020204030204" pitchFamily="34" charset="0"/>
              </a:rPr>
              <a:t>demand is not perfectly stable, </a:t>
            </a:r>
            <a:r>
              <a:rPr lang="en-US" altLang="en-US" sz="2000" dirty="0">
                <a:solidFill>
                  <a:srgbClr val="923222"/>
                </a:solidFill>
                <a:effectLst>
                  <a:outerShdw blurRad="38100" dist="38100" dir="2700000" algn="tl">
                    <a:srgbClr val="000000">
                      <a:alpha val="43137"/>
                    </a:srgbClr>
                  </a:outerShdw>
                </a:effectLst>
                <a:latin typeface="Calibri" panose="020F0502020204030204" pitchFamily="34" charset="0"/>
              </a:rPr>
              <a:t>businesses </a:t>
            </a:r>
            <a:r>
              <a:rPr lang="en-US" altLang="en-US" sz="2000" dirty="0">
                <a:solidFill>
                  <a:prstClr val="black"/>
                </a:solidFill>
                <a:latin typeface="Calibri" panose="020F0502020204030204" pitchFamily="34" charset="0"/>
              </a:rPr>
              <a:t>must forecast demand in order to properly position inventory and other resources. </a:t>
            </a:r>
          </a:p>
          <a:p>
            <a:pPr lvl="1">
              <a:lnSpc>
                <a:spcPct val="90000"/>
              </a:lnSpc>
              <a:spcBef>
                <a:spcPts val="600"/>
              </a:spcBef>
              <a:spcAft>
                <a:spcPts val="1200"/>
              </a:spcAft>
              <a:buClr>
                <a:srgbClr val="923222"/>
              </a:buClr>
              <a:buSzPct val="110000"/>
            </a:pPr>
            <a:r>
              <a:rPr lang="en-US" altLang="en-US" sz="2000" dirty="0">
                <a:solidFill>
                  <a:prstClr val="black"/>
                </a:solidFill>
                <a:latin typeface="Calibri" panose="020F0502020204030204" pitchFamily="34" charset="0"/>
              </a:rPr>
              <a:t>Forecasts are based on statistics, and they are rarely 100% accurate, therefore, companies often carry an </a:t>
            </a:r>
            <a:r>
              <a:rPr lang="en-US" altLang="en-US" sz="2000" dirty="0">
                <a:solidFill>
                  <a:srgbClr val="923222"/>
                </a:solidFill>
                <a:effectLst>
                  <a:outerShdw blurRad="38100" dist="38100" dir="2700000" algn="tl">
                    <a:srgbClr val="000000">
                      <a:alpha val="43137"/>
                    </a:srgbClr>
                  </a:outerShdw>
                </a:effectLst>
                <a:latin typeface="Calibri" panose="020F0502020204030204" pitchFamily="34" charset="0"/>
              </a:rPr>
              <a:t>inventory</a:t>
            </a:r>
            <a:r>
              <a:rPr lang="en-US" altLang="en-US" sz="2000" dirty="0">
                <a:solidFill>
                  <a:srgbClr val="BB7A05"/>
                </a:solidFill>
                <a:latin typeface="Calibri" panose="020F0502020204030204" pitchFamily="34" charset="0"/>
              </a:rPr>
              <a:t> </a:t>
            </a:r>
            <a:r>
              <a:rPr lang="en-US" altLang="en-US" sz="2000" dirty="0">
                <a:solidFill>
                  <a:prstClr val="black"/>
                </a:solidFill>
                <a:latin typeface="Calibri" panose="020F0502020204030204" pitchFamily="34" charset="0"/>
              </a:rPr>
              <a:t>buffer called </a:t>
            </a:r>
            <a:r>
              <a:rPr lang="en-US" altLang="en-US" sz="2000" dirty="0">
                <a:solidFill>
                  <a:srgbClr val="923222"/>
                </a:solidFill>
                <a:effectLst>
                  <a:outerShdw blurRad="38100" dist="38100" dir="2700000" algn="tl">
                    <a:srgbClr val="000000">
                      <a:alpha val="43137"/>
                    </a:srgbClr>
                  </a:outerShdw>
                </a:effectLst>
                <a:latin typeface="Calibri" panose="020F0502020204030204" pitchFamily="34" charset="0"/>
              </a:rPr>
              <a:t>safety</a:t>
            </a:r>
            <a:r>
              <a:rPr lang="en-US" altLang="en-US" sz="2000" dirty="0">
                <a:solidFill>
                  <a:srgbClr val="BB7A05"/>
                </a:solidFill>
                <a:latin typeface="Calibri" panose="020F0502020204030204" pitchFamily="34" charset="0"/>
              </a:rPr>
              <a:t> </a:t>
            </a:r>
            <a:r>
              <a:rPr lang="en-US" altLang="en-US" sz="2000" dirty="0">
                <a:solidFill>
                  <a:srgbClr val="923222"/>
                </a:solidFill>
                <a:effectLst>
                  <a:outerShdw blurRad="38100" dist="38100" dir="2700000" algn="tl">
                    <a:srgbClr val="000000">
                      <a:alpha val="43137"/>
                    </a:srgbClr>
                  </a:outerShdw>
                </a:effectLst>
                <a:latin typeface="Calibri" panose="020F0502020204030204" pitchFamily="34" charset="0"/>
              </a:rPr>
              <a:t>stock</a:t>
            </a:r>
            <a:r>
              <a:rPr lang="en-US" altLang="en-US" sz="2000" dirty="0">
                <a:solidFill>
                  <a:prstClr val="black"/>
                </a:solidFill>
                <a:latin typeface="Calibri" panose="020F0502020204030204" pitchFamily="34" charset="0"/>
              </a:rPr>
              <a:t>. </a:t>
            </a:r>
          </a:p>
          <a:p>
            <a:pPr lvl="1">
              <a:lnSpc>
                <a:spcPct val="90000"/>
              </a:lnSpc>
              <a:spcBef>
                <a:spcPts val="600"/>
              </a:spcBef>
              <a:spcAft>
                <a:spcPts val="1200"/>
              </a:spcAft>
              <a:buClr>
                <a:srgbClr val="923222"/>
              </a:buClr>
              <a:buSzPct val="110000"/>
            </a:pPr>
            <a:r>
              <a:rPr lang="en-US" altLang="en-US" sz="2000" dirty="0">
                <a:latin typeface="Calibri" panose="020F0502020204030204" pitchFamily="34" charset="0"/>
              </a:rPr>
              <a:t>Moving from the end-consumer(s) backward across the supply chain to raw material supplier(s), </a:t>
            </a:r>
            <a:r>
              <a:rPr lang="en-US" altLang="en-US" sz="2000" dirty="0">
                <a:solidFill>
                  <a:prstClr val="black"/>
                </a:solidFill>
                <a:latin typeface="Calibri" panose="020F0502020204030204" pitchFamily="34" charset="0"/>
              </a:rPr>
              <a:t>each supply chain participant is farther removed from the end demand and may have less information about what is happening with demand, creating a greater need to maintain higher levels of </a:t>
            </a:r>
            <a:r>
              <a:rPr lang="en-US" altLang="en-US" sz="2000" dirty="0">
                <a:solidFill>
                  <a:srgbClr val="923222"/>
                </a:solidFill>
                <a:effectLst>
                  <a:outerShdw blurRad="38100" dist="38100" dir="2700000" algn="tl">
                    <a:srgbClr val="000000">
                      <a:alpha val="43137"/>
                    </a:srgbClr>
                  </a:outerShdw>
                </a:effectLst>
                <a:latin typeface="Calibri" panose="020F0502020204030204" pitchFamily="34" charset="0"/>
              </a:rPr>
              <a:t>safety stock</a:t>
            </a:r>
            <a:r>
              <a:rPr lang="en-US" altLang="en-US" sz="2000" dirty="0">
                <a:solidFill>
                  <a:prstClr val="black"/>
                </a:solidFill>
                <a:latin typeface="Calibri" panose="020F0502020204030204" pitchFamily="34" charset="0"/>
              </a:rPr>
              <a:t>. </a:t>
            </a:r>
          </a:p>
          <a:p>
            <a:pPr lvl="1">
              <a:lnSpc>
                <a:spcPct val="90000"/>
              </a:lnSpc>
              <a:spcBef>
                <a:spcPts val="600"/>
              </a:spcBef>
              <a:spcAft>
                <a:spcPts val="1200"/>
              </a:spcAft>
              <a:buClr>
                <a:srgbClr val="923222"/>
              </a:buClr>
              <a:buSzPct val="110000"/>
            </a:pPr>
            <a:r>
              <a:rPr lang="en-US" altLang="en-US" sz="2000" dirty="0">
                <a:solidFill>
                  <a:prstClr val="black"/>
                </a:solidFill>
                <a:latin typeface="Calibri" panose="020F0502020204030204" pitchFamily="34" charset="0"/>
              </a:rPr>
              <a:t>In the absence of any other information or visibility, individual supply chain participants are </a:t>
            </a:r>
            <a:r>
              <a:rPr lang="en-US" altLang="en-US" sz="2000" dirty="0">
                <a:solidFill>
                  <a:srgbClr val="923222"/>
                </a:solidFill>
                <a:effectLst>
                  <a:outerShdw blurRad="38100" dist="38100" dir="2700000" algn="tl">
                    <a:srgbClr val="000000">
                      <a:alpha val="43137"/>
                    </a:srgbClr>
                  </a:outerShdw>
                </a:effectLst>
                <a:latin typeface="Calibri" panose="020F0502020204030204" pitchFamily="34" charset="0"/>
              </a:rPr>
              <a:t>second-guessing what is happening with ordering patterns</a:t>
            </a:r>
            <a:r>
              <a:rPr lang="en-US" altLang="en-US" sz="2000" dirty="0">
                <a:solidFill>
                  <a:prstClr val="black"/>
                </a:solidFill>
                <a:latin typeface="Calibri" panose="020F0502020204030204" pitchFamily="34" charset="0"/>
              </a:rPr>
              <a:t>, and potentially over-reacting, </a:t>
            </a:r>
            <a:r>
              <a:rPr lang="en-US" altLang="en-US" sz="2000" dirty="0">
                <a:solidFill>
                  <a:srgbClr val="923222"/>
                </a:solidFill>
                <a:effectLst>
                  <a:outerShdw blurRad="38100" dist="38100" dir="2700000" algn="tl">
                    <a:srgbClr val="000000">
                      <a:alpha val="43137"/>
                    </a:srgbClr>
                  </a:outerShdw>
                </a:effectLst>
                <a:latin typeface="Calibri" panose="020F0502020204030204" pitchFamily="34" charset="0"/>
              </a:rPr>
              <a:t>creating the bullwhip effect</a:t>
            </a:r>
            <a:r>
              <a:rPr lang="en-US" altLang="en-US" sz="2000" dirty="0">
                <a:solidFill>
                  <a:prstClr val="black"/>
                </a:solidFill>
                <a:latin typeface="Calibri" panose="020F0502020204030204" pitchFamily="34" charset="0"/>
              </a:rPr>
              <a:t>. </a:t>
            </a:r>
          </a:p>
          <a:p>
            <a:pPr lvl="1">
              <a:lnSpc>
                <a:spcPct val="90000"/>
              </a:lnSpc>
              <a:spcBef>
                <a:spcPts val="600"/>
              </a:spcBef>
              <a:spcAft>
                <a:spcPts val="1200"/>
              </a:spcAft>
              <a:buClr>
                <a:srgbClr val="923222"/>
              </a:buClr>
              <a:buSzPct val="110000"/>
            </a:pPr>
            <a:r>
              <a:rPr lang="en-US" sz="2000" dirty="0">
                <a:solidFill>
                  <a:prstClr val="black"/>
                </a:solidFill>
                <a:latin typeface="Calibri" panose="020F0502020204030204" pitchFamily="34" charset="0"/>
              </a:rPr>
              <a:t>In periods of rising demand, down-stream participants increase orders. </a:t>
            </a:r>
          </a:p>
          <a:p>
            <a:pPr lvl="1">
              <a:lnSpc>
                <a:spcPct val="90000"/>
              </a:lnSpc>
              <a:spcBef>
                <a:spcPts val="600"/>
              </a:spcBef>
              <a:spcAft>
                <a:spcPts val="1200"/>
              </a:spcAft>
              <a:buClr>
                <a:srgbClr val="923222"/>
              </a:buClr>
              <a:buSzPct val="110000"/>
            </a:pPr>
            <a:endParaRPr lang="en-US" altLang="en-US" sz="2000" dirty="0">
              <a:solidFill>
                <a:prstClr val="black"/>
              </a:solidFill>
              <a:latin typeface="Calibri" panose="020F0502020204030204" pitchFamily="34" charset="0"/>
            </a:endParaRPr>
          </a:p>
        </p:txBody>
      </p:sp>
      <p:pic>
        <p:nvPicPr>
          <p:cNvPr id="32774" name="Picture 9" descr="400px-Bullwhip_effect">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1734" y="0"/>
            <a:ext cx="3613680" cy="96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p:cNvSpPr txBox="1">
            <a:spLocks noChangeArrowheads="1"/>
          </p:cNvSpPr>
          <p:nvPr/>
        </p:nvSpPr>
        <p:spPr>
          <a:xfrm>
            <a:off x="228600" y="127660"/>
            <a:ext cx="8915400" cy="496804"/>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spAutoFit/>
          </a:bodyPr>
          <a:lstStyle>
            <a:defPPr>
              <a:defRPr lang="en-US"/>
            </a:defPPr>
            <a:lvl1pPr eaLnBrk="0" hangingPunct="0">
              <a:lnSpc>
                <a:spcPct val="80000"/>
              </a:lnSpc>
              <a:defRPr sz="3200" b="1">
                <a:solidFill>
                  <a:srgbClr val="923222"/>
                </a:solidFill>
                <a:effectLst>
                  <a:outerShdw blurRad="38100" dist="38100" dir="2700000" algn="tl">
                    <a:srgbClr val="C0C0C0"/>
                  </a:outerShdw>
                </a:effectLst>
                <a:latin typeface="Calibri" panose="020F0502020204030204" pitchFamily="34" charset="0"/>
                <a:cs typeface="Arial" charset="0"/>
              </a:defRPr>
            </a:lvl1pPr>
            <a:lvl2pPr eaLnBrk="0" hangingPunct="0">
              <a:defRPr sz="2800" b="1">
                <a:latin typeface="News Gothic MT" pitchFamily="34" charset="0"/>
              </a:defRPr>
            </a:lvl2pPr>
            <a:lvl3pPr eaLnBrk="0" hangingPunct="0">
              <a:defRPr sz="2800" b="1">
                <a:latin typeface="News Gothic MT" pitchFamily="34" charset="0"/>
              </a:defRPr>
            </a:lvl3pPr>
            <a:lvl4pPr eaLnBrk="0" hangingPunct="0">
              <a:defRPr sz="2800" b="1">
                <a:latin typeface="News Gothic MT" pitchFamily="34" charset="0"/>
              </a:defRPr>
            </a:lvl4pPr>
            <a:lvl5pPr eaLnBrk="0" hangingPunct="0">
              <a:defRPr sz="2800" b="1">
                <a:latin typeface="News Gothic MT" pitchFamily="34" charset="0"/>
              </a:defRPr>
            </a:lvl5pPr>
            <a:lvl6pPr marL="457200" eaLnBrk="0" fontAlgn="base" hangingPunct="0">
              <a:spcBef>
                <a:spcPct val="0"/>
              </a:spcBef>
              <a:spcAft>
                <a:spcPct val="0"/>
              </a:spcAft>
              <a:defRPr sz="2800" b="1">
                <a:latin typeface="News Gothic MT" pitchFamily="34" charset="0"/>
              </a:defRPr>
            </a:lvl6pPr>
            <a:lvl7pPr marL="914400" eaLnBrk="0" fontAlgn="base" hangingPunct="0">
              <a:spcBef>
                <a:spcPct val="0"/>
              </a:spcBef>
              <a:spcAft>
                <a:spcPct val="0"/>
              </a:spcAft>
              <a:defRPr sz="2800" b="1">
                <a:latin typeface="News Gothic MT" pitchFamily="34" charset="0"/>
              </a:defRPr>
            </a:lvl7pPr>
            <a:lvl8pPr marL="1371600" eaLnBrk="0" fontAlgn="base" hangingPunct="0">
              <a:spcBef>
                <a:spcPct val="0"/>
              </a:spcBef>
              <a:spcAft>
                <a:spcPct val="0"/>
              </a:spcAft>
              <a:defRPr sz="2800" b="1">
                <a:latin typeface="News Gothic MT" pitchFamily="34" charset="0"/>
              </a:defRPr>
            </a:lvl8pPr>
            <a:lvl9pPr marL="1828800" eaLnBrk="0" fontAlgn="base" hangingPunct="0">
              <a:spcBef>
                <a:spcPct val="0"/>
              </a:spcBef>
              <a:spcAft>
                <a:spcPct val="0"/>
              </a:spcAft>
              <a:defRPr sz="2800" b="1">
                <a:latin typeface="News Gothic MT" pitchFamily="34" charset="0"/>
              </a:defRPr>
            </a:lvl9pPr>
          </a:lstStyle>
          <a:p>
            <a:r>
              <a:rPr lang="en-US" dirty="0"/>
              <a:t>The Bullwhip Effect</a:t>
            </a: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8343" y="5427003"/>
            <a:ext cx="4817057" cy="1354797"/>
          </a:xfrm>
          <a:prstGeom prst="rect">
            <a:avLst/>
          </a:prstGeom>
        </p:spPr>
      </p:pic>
      <p:sp>
        <p:nvSpPr>
          <p:cNvPr id="4" name="Rectangle 3"/>
          <p:cNvSpPr/>
          <p:nvPr/>
        </p:nvSpPr>
        <p:spPr>
          <a:xfrm>
            <a:off x="228600" y="5483705"/>
            <a:ext cx="3572933" cy="923330"/>
          </a:xfrm>
          <a:prstGeom prst="rect">
            <a:avLst/>
          </a:prstGeom>
        </p:spPr>
        <p:txBody>
          <a:bodyPr wrap="square">
            <a:spAutoFit/>
          </a:bodyPr>
          <a:lstStyle/>
          <a:p>
            <a:pPr marL="342900" lvl="1" indent="-342900">
              <a:lnSpc>
                <a:spcPct val="90000"/>
              </a:lnSpc>
              <a:spcBef>
                <a:spcPts val="600"/>
              </a:spcBef>
              <a:spcAft>
                <a:spcPts val="1200"/>
              </a:spcAft>
              <a:buClr>
                <a:srgbClr val="923222"/>
              </a:buClr>
              <a:buSzPct val="110000"/>
              <a:buFont typeface="Wingdings" panose="05000000000000000000" pitchFamily="2" charset="2"/>
              <a:buChar char="§"/>
            </a:pPr>
            <a:r>
              <a:rPr lang="en-US" sz="2000" dirty="0">
                <a:solidFill>
                  <a:prstClr val="black"/>
                </a:solidFill>
                <a:latin typeface="Calibri" panose="020F0502020204030204" pitchFamily="34" charset="0"/>
                <a:ea typeface="ＭＳ Ｐゴシック" panose="020B0600070205080204" pitchFamily="34" charset="-128"/>
              </a:rPr>
              <a:t>In periods of falling demand, orders decrease or stop, and inventory accumulates. </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5" name="Slide Number Placeholder 4"/>
          <p:cNvSpPr>
            <a:spLocks noGrp="1"/>
          </p:cNvSpPr>
          <p:nvPr>
            <p:ph type="sldNum" sz="quarter" idx="4"/>
          </p:nvPr>
        </p:nvSpPr>
        <p:spPr/>
        <p:txBody>
          <a:bodyPr/>
          <a:lstStyle/>
          <a:p>
            <a:fld id="{E66AA3EA-0569-43EF-BBA3-83FDB109D582}" type="slidenum">
              <a:rPr lang="en-US" smtClean="0"/>
              <a:pPr/>
              <a:t>39</a:t>
            </a:fld>
            <a:endParaRPr lang="en-US" dirty="0"/>
          </a:p>
        </p:txBody>
      </p:sp>
    </p:spTree>
    <p:extLst>
      <p:ext uri="{BB962C8B-B14F-4D97-AF65-F5344CB8AC3E}">
        <p14:creationId xmlns:p14="http://schemas.microsoft.com/office/powerpoint/2010/main" val="1203736546"/>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773">
                                            <p:txEl>
                                              <p:pRg st="0" end="0"/>
                                            </p:txEl>
                                          </p:spTgt>
                                        </p:tgtEl>
                                        <p:attrNameLst>
                                          <p:attrName>style.visibility</p:attrName>
                                        </p:attrNameLst>
                                      </p:cBhvr>
                                      <p:to>
                                        <p:strVal val="visible"/>
                                      </p:to>
                                    </p:set>
                                    <p:anim calcmode="lin" valueType="num">
                                      <p:cBhvr additive="base">
                                        <p:cTn id="7" dur="500" fill="hold"/>
                                        <p:tgtEl>
                                          <p:spTgt spid="3277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773">
                                            <p:txEl>
                                              <p:pRg st="1" end="1"/>
                                            </p:txEl>
                                          </p:spTgt>
                                        </p:tgtEl>
                                        <p:attrNameLst>
                                          <p:attrName>style.visibility</p:attrName>
                                        </p:attrNameLst>
                                      </p:cBhvr>
                                      <p:to>
                                        <p:strVal val="visible"/>
                                      </p:to>
                                    </p:set>
                                    <p:anim calcmode="lin" valueType="num">
                                      <p:cBhvr additive="base">
                                        <p:cTn id="13" dur="500" fill="hold"/>
                                        <p:tgtEl>
                                          <p:spTgt spid="3277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77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773">
                                            <p:txEl>
                                              <p:pRg st="2" end="2"/>
                                            </p:txEl>
                                          </p:spTgt>
                                        </p:tgtEl>
                                        <p:attrNameLst>
                                          <p:attrName>style.visibility</p:attrName>
                                        </p:attrNameLst>
                                      </p:cBhvr>
                                      <p:to>
                                        <p:strVal val="visible"/>
                                      </p:to>
                                    </p:set>
                                    <p:anim calcmode="lin" valueType="num">
                                      <p:cBhvr additive="base">
                                        <p:cTn id="19" dur="500" fill="hold"/>
                                        <p:tgtEl>
                                          <p:spTgt spid="3277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77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2773">
                                            <p:txEl>
                                              <p:pRg st="3" end="3"/>
                                            </p:txEl>
                                          </p:spTgt>
                                        </p:tgtEl>
                                        <p:attrNameLst>
                                          <p:attrName>style.visibility</p:attrName>
                                        </p:attrNameLst>
                                      </p:cBhvr>
                                      <p:to>
                                        <p:strVal val="visible"/>
                                      </p:to>
                                    </p:set>
                                    <p:anim calcmode="lin" valueType="num">
                                      <p:cBhvr additive="base">
                                        <p:cTn id="25" dur="500" fill="hold"/>
                                        <p:tgtEl>
                                          <p:spTgt spid="3277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77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2773">
                                            <p:txEl>
                                              <p:pRg st="4" end="4"/>
                                            </p:txEl>
                                          </p:spTgt>
                                        </p:tgtEl>
                                        <p:attrNameLst>
                                          <p:attrName>style.visibility</p:attrName>
                                        </p:attrNameLst>
                                      </p:cBhvr>
                                      <p:to>
                                        <p:strVal val="visible"/>
                                      </p:to>
                                    </p:set>
                                    <p:anim calcmode="lin" valueType="num">
                                      <p:cBhvr additive="base">
                                        <p:cTn id="31" dur="500" fill="hold"/>
                                        <p:tgtEl>
                                          <p:spTgt spid="3277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277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228600" y="127660"/>
            <a:ext cx="5935134"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The Bullwhip Effect </a:t>
            </a:r>
            <a:r>
              <a:rPr lang="en-US" sz="2000" b="0" i="1" kern="1200" dirty="0">
                <a:solidFill>
                  <a:srgbClr val="923222"/>
                </a:solidFill>
                <a:latin typeface="Calibri" panose="020F0502020204030204" pitchFamily="34" charset="0"/>
                <a:ea typeface="+mn-ea"/>
                <a:cs typeface="Arial" charset="0"/>
              </a:rPr>
              <a:t>(continued)</a:t>
            </a:r>
          </a:p>
        </p:txBody>
      </p:sp>
      <p:pic>
        <p:nvPicPr>
          <p:cNvPr id="5"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t="12754" b="3643"/>
          <a:stretch/>
        </p:blipFill>
        <p:spPr bwMode="auto">
          <a:xfrm>
            <a:off x="228600" y="3285065"/>
            <a:ext cx="8746067" cy="3302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169334" y="914400"/>
            <a:ext cx="8771467" cy="2339102"/>
          </a:xfrm>
          <a:prstGeom prst="rect">
            <a:avLst/>
          </a:prstGeom>
          <a:noFill/>
        </p:spPr>
        <p:txBody>
          <a:bodyPr wrap="square">
            <a:spAutoFit/>
          </a:bodyPr>
          <a:lstStyle/>
          <a:p>
            <a:pPr>
              <a:spcBef>
                <a:spcPts val="600"/>
              </a:spcBef>
              <a:spcAft>
                <a:spcPts val="600"/>
              </a:spcAft>
              <a:defRPr/>
            </a:pPr>
            <a:r>
              <a:rPr lang="en-US" sz="1800" dirty="0">
                <a:solidFill>
                  <a:prstClr val="black"/>
                </a:solidFill>
                <a:latin typeface="Calibri" panose="020F0502020204030204" pitchFamily="34" charset="0"/>
              </a:rPr>
              <a:t>When a small demand ripple in the market place is felt by the retailer at the end of the supply chain, the </a:t>
            </a:r>
            <a:r>
              <a:rPr lang="en-US" sz="1800" b="1" dirty="0">
                <a:solidFill>
                  <a:schemeClr val="accent5"/>
                </a:solidFill>
                <a:effectLst>
                  <a:outerShdw blurRad="38100" dist="38100" dir="2700000" algn="tl">
                    <a:srgbClr val="000000">
                      <a:alpha val="43137"/>
                    </a:srgbClr>
                  </a:outerShdw>
                </a:effectLst>
                <a:latin typeface="Calibri" panose="020F0502020204030204" pitchFamily="34" charset="0"/>
              </a:rPr>
              <a:t>retailer</a:t>
            </a:r>
            <a:r>
              <a:rPr lang="en-US" sz="1800" dirty="0">
                <a:solidFill>
                  <a:schemeClr val="accent5"/>
                </a:solidFill>
                <a:effectLst>
                  <a:outerShdw blurRad="38100" dist="38100" dir="2700000" algn="tl">
                    <a:srgbClr val="000000">
                      <a:alpha val="43137"/>
                    </a:srgbClr>
                  </a:outerShdw>
                </a:effectLst>
                <a:latin typeface="Calibri" panose="020F0502020204030204" pitchFamily="34" charset="0"/>
              </a:rPr>
              <a:t> </a:t>
            </a:r>
            <a:r>
              <a:rPr lang="en-US" sz="1800" dirty="0">
                <a:solidFill>
                  <a:prstClr val="black"/>
                </a:solidFill>
                <a:latin typeface="Calibri" panose="020F0502020204030204" pitchFamily="34" charset="0"/>
              </a:rPr>
              <a:t>will then start adjusting their orders to the </a:t>
            </a:r>
            <a:r>
              <a:rPr lang="en-US" sz="1800" b="1" dirty="0">
                <a:solidFill>
                  <a:schemeClr val="accent4"/>
                </a:solidFill>
                <a:effectLst>
                  <a:outerShdw blurRad="38100" dist="38100" dir="2700000" algn="tl">
                    <a:srgbClr val="000000">
                      <a:alpha val="43137"/>
                    </a:srgbClr>
                  </a:outerShdw>
                </a:effectLst>
                <a:latin typeface="Calibri" panose="020F0502020204030204" pitchFamily="34" charset="0"/>
              </a:rPr>
              <a:t>wholesalers</a:t>
            </a:r>
            <a:r>
              <a:rPr lang="en-US" sz="1800" dirty="0">
                <a:solidFill>
                  <a:prstClr val="black"/>
                </a:solidFill>
                <a:latin typeface="Calibri" panose="020F0502020204030204" pitchFamily="34" charset="0"/>
              </a:rPr>
              <a:t>, and the wholesaler in turn will adjust its orders to the </a:t>
            </a:r>
            <a:r>
              <a:rPr lang="en-US" sz="1800" b="1" dirty="0">
                <a:solidFill>
                  <a:schemeClr val="accent3"/>
                </a:solidFill>
                <a:effectLst>
                  <a:outerShdw blurRad="38100" dist="38100" dir="2700000" algn="tl">
                    <a:srgbClr val="000000">
                      <a:alpha val="43137"/>
                    </a:srgbClr>
                  </a:outerShdw>
                </a:effectLst>
                <a:latin typeface="Calibri" panose="020F0502020204030204" pitchFamily="34" charset="0"/>
              </a:rPr>
              <a:t>distributor</a:t>
            </a:r>
            <a:r>
              <a:rPr lang="en-US" sz="1800" dirty="0">
                <a:solidFill>
                  <a:prstClr val="black"/>
                </a:solidFill>
                <a:latin typeface="Calibri" panose="020F0502020204030204" pitchFamily="34" charset="0"/>
              </a:rPr>
              <a:t>, the distributor to the </a:t>
            </a:r>
            <a:r>
              <a:rPr lang="en-US" sz="1800" b="1" dirty="0">
                <a:solidFill>
                  <a:schemeClr val="accent2"/>
                </a:solidFill>
                <a:effectLst>
                  <a:outerShdw blurRad="38100" dist="38100" dir="2700000" algn="tl">
                    <a:srgbClr val="000000">
                      <a:alpha val="43137"/>
                    </a:srgbClr>
                  </a:outerShdw>
                </a:effectLst>
                <a:latin typeface="Calibri" panose="020F0502020204030204" pitchFamily="34" charset="0"/>
              </a:rPr>
              <a:t>factory</a:t>
            </a:r>
            <a:r>
              <a:rPr lang="en-US" sz="1800" dirty="0">
                <a:solidFill>
                  <a:prstClr val="black"/>
                </a:solidFill>
                <a:latin typeface="Calibri" panose="020F0502020204030204" pitchFamily="34" charset="0"/>
              </a:rPr>
              <a:t>, and </a:t>
            </a:r>
            <a:r>
              <a:rPr lang="en-US" sz="1800" b="1" dirty="0">
                <a:solidFill>
                  <a:prstClr val="black"/>
                </a:solidFill>
                <a:latin typeface="Calibri" panose="020F0502020204030204" pitchFamily="34" charset="0"/>
              </a:rPr>
              <a:t>so on back up the supply chain</a:t>
            </a:r>
            <a:r>
              <a:rPr lang="en-US" sz="1800" dirty="0">
                <a:solidFill>
                  <a:prstClr val="black"/>
                </a:solidFill>
                <a:latin typeface="Calibri" panose="020F0502020204030204" pitchFamily="34" charset="0"/>
              </a:rPr>
              <a:t>. </a:t>
            </a:r>
          </a:p>
          <a:p>
            <a:pPr>
              <a:spcBef>
                <a:spcPts val="600"/>
              </a:spcBef>
              <a:spcAft>
                <a:spcPts val="600"/>
              </a:spcAft>
              <a:defRPr/>
            </a:pPr>
            <a:r>
              <a:rPr lang="en-US" sz="1800" dirty="0">
                <a:solidFill>
                  <a:prstClr val="black"/>
                </a:solidFill>
                <a:latin typeface="Calibri" panose="020F0502020204030204" pitchFamily="34" charset="0"/>
              </a:rPr>
              <a:t>When the new demand reaches the material or components </a:t>
            </a:r>
            <a:r>
              <a:rPr lang="en-US" sz="1800" b="1" dirty="0">
                <a:solidFill>
                  <a:schemeClr val="accent1"/>
                </a:solidFill>
                <a:effectLst>
                  <a:outerShdw blurRad="38100" dist="38100" dir="2700000" algn="tl">
                    <a:srgbClr val="000000">
                      <a:alpha val="43137"/>
                    </a:srgbClr>
                  </a:outerShdw>
                </a:effectLst>
                <a:latin typeface="Calibri" panose="020F0502020204030204" pitchFamily="34" charset="0"/>
              </a:rPr>
              <a:t>supplier</a:t>
            </a:r>
            <a:r>
              <a:rPr lang="en-US" sz="1800" dirty="0">
                <a:solidFill>
                  <a:prstClr val="black"/>
                </a:solidFill>
                <a:effectLst>
                  <a:outerShdw blurRad="38100" dist="38100" dir="2700000" algn="tl">
                    <a:srgbClr val="000000">
                      <a:alpha val="43137"/>
                    </a:srgbClr>
                  </a:outerShdw>
                </a:effectLst>
                <a:latin typeface="Calibri" panose="020F0502020204030204" pitchFamily="34" charset="0"/>
              </a:rPr>
              <a:t> </a:t>
            </a:r>
            <a:r>
              <a:rPr lang="en-US" sz="1800" dirty="0">
                <a:solidFill>
                  <a:prstClr val="black"/>
                </a:solidFill>
                <a:latin typeface="Calibri" panose="020F0502020204030204" pitchFamily="34" charset="0"/>
              </a:rPr>
              <a:t>at the other end of the supply chain, the </a:t>
            </a:r>
            <a:r>
              <a:rPr lang="en-US" sz="1800" b="1" dirty="0">
                <a:solidFill>
                  <a:prstClr val="black"/>
                </a:solidFill>
                <a:latin typeface="Calibri" panose="020F0502020204030204" pitchFamily="34" charset="0"/>
              </a:rPr>
              <a:t>magnitude of fluctuation </a:t>
            </a:r>
            <a:r>
              <a:rPr lang="en-US" sz="1800" dirty="0">
                <a:solidFill>
                  <a:prstClr val="black"/>
                </a:solidFill>
                <a:latin typeface="Calibri" panose="020F0502020204030204" pitchFamily="34" charset="0"/>
              </a:rPr>
              <a:t>becomes unrecognizable. </a:t>
            </a:r>
          </a:p>
          <a:p>
            <a:pPr>
              <a:spcBef>
                <a:spcPts val="600"/>
              </a:spcBef>
              <a:spcAft>
                <a:spcPts val="600"/>
              </a:spcAft>
              <a:defRPr/>
            </a:pPr>
            <a:r>
              <a:rPr lang="en-US" sz="1800" dirty="0">
                <a:solidFill>
                  <a:prstClr val="black"/>
                </a:solidFill>
                <a:latin typeface="Calibri" panose="020F0502020204030204" pitchFamily="34" charset="0"/>
              </a:rPr>
              <a:t>An overreaction due to uncertainty occurs throughout the entire supply chain.</a:t>
            </a:r>
            <a:endParaRPr lang="en-GB" sz="1800" dirty="0">
              <a:solidFill>
                <a:prstClr val="black"/>
              </a:solidFill>
              <a:latin typeface="Calibri" panose="020F0502020204030204" pitchFamily="34" charset="0"/>
            </a:endParaRPr>
          </a:p>
        </p:txBody>
      </p:sp>
      <p:sp>
        <p:nvSpPr>
          <p:cNvPr id="3" name="Footer Placeholder 2"/>
          <p:cNvSpPr>
            <a:spLocks noGrp="1"/>
          </p:cNvSpPr>
          <p:nvPr>
            <p:ph type="ftr" sz="quarter" idx="3"/>
          </p:nvPr>
        </p:nvSpPr>
        <p:spPr/>
        <p:txBody>
          <a:bodyPr/>
          <a:lstStyle/>
          <a:p>
            <a:r>
              <a:rPr lang="en-US"/>
              <a:t>Fundamentals of Supply Chain Management – McLaury/Spiegle</a:t>
            </a:r>
            <a:endParaRPr lang="en-US" dirty="0"/>
          </a:p>
        </p:txBody>
      </p:sp>
      <p:sp>
        <p:nvSpPr>
          <p:cNvPr id="4" name="Slide Number Placeholder 3"/>
          <p:cNvSpPr>
            <a:spLocks noGrp="1"/>
          </p:cNvSpPr>
          <p:nvPr>
            <p:ph type="sldNum" sz="quarter" idx="4"/>
          </p:nvPr>
        </p:nvSpPr>
        <p:spPr/>
        <p:txBody>
          <a:bodyPr/>
          <a:lstStyle/>
          <a:p>
            <a:fld id="{E66AA3EA-0569-43EF-BBA3-83FDB109D582}" type="slidenum">
              <a:rPr lang="en-US" smtClean="0"/>
              <a:pPr/>
              <a:t>40</a:t>
            </a:fld>
            <a:endParaRPr lang="en-US" dirty="0"/>
          </a:p>
        </p:txBody>
      </p:sp>
    </p:spTree>
    <p:extLst>
      <p:ext uri="{BB962C8B-B14F-4D97-AF65-F5344CB8AC3E}">
        <p14:creationId xmlns:p14="http://schemas.microsoft.com/office/powerpoint/2010/main" val="3108675446"/>
      </p:ext>
    </p:extLst>
  </p:cSld>
  <p:clrMapOvr>
    <a:masterClrMapping/>
  </p:clrMapOvr>
  <p:transition spd="slow">
    <p:pull dir="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28600" y="137535"/>
            <a:ext cx="8915400" cy="486929"/>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How can the Bullwhip Effect be Alleviated? </a:t>
            </a:r>
            <a:endParaRPr lang="en-US" sz="2000" b="0" i="1" kern="1200" dirty="0">
              <a:solidFill>
                <a:srgbClr val="923222"/>
              </a:solidFill>
              <a:latin typeface="Calibri" panose="020F0502020204030204" pitchFamily="34" charset="0"/>
              <a:ea typeface="+mn-ea"/>
              <a:cs typeface="Arial" charset="0"/>
            </a:endParaRPr>
          </a:p>
        </p:txBody>
      </p:sp>
      <p:sp>
        <p:nvSpPr>
          <p:cNvPr id="6" name="Rectangle 5"/>
          <p:cNvSpPr/>
          <p:nvPr/>
        </p:nvSpPr>
        <p:spPr>
          <a:xfrm>
            <a:off x="228600" y="914400"/>
            <a:ext cx="8686800" cy="5632311"/>
          </a:xfrm>
          <a:prstGeom prst="rect">
            <a:avLst/>
          </a:prstGeom>
        </p:spPr>
        <p:txBody>
          <a:bodyPr wrap="square">
            <a:spAutoFit/>
          </a:bodyPr>
          <a:lstStyle/>
          <a:p>
            <a:pPr eaLnBrk="0" hangingPunct="0">
              <a:spcBef>
                <a:spcPts val="1200"/>
              </a:spcBef>
              <a:spcAft>
                <a:spcPts val="1200"/>
              </a:spcAft>
            </a:pPr>
            <a:r>
              <a:rPr lang="en-US" dirty="0">
                <a:latin typeface="Calibri" panose="020F0502020204030204" pitchFamily="34" charset="0"/>
                <a:ea typeface="Calibri" panose="020F0502020204030204" pitchFamily="34" charset="0"/>
                <a:cs typeface="Times New Roman" panose="02020603050405020304" pitchFamily="18" charset="0"/>
              </a:rPr>
              <a:t>There is no single remedy, but there are some actions that supply chain participants can take collectively:</a:t>
            </a:r>
          </a:p>
          <a:p>
            <a:pPr marL="342900" lvl="0" indent="-342900" eaLnBrk="0" hangingPunct="0">
              <a:spcBef>
                <a:spcPts val="1200"/>
              </a:spcBef>
              <a:spcAft>
                <a:spcPts val="1200"/>
              </a:spcAft>
              <a:buFont typeface="Wingdings" panose="05000000000000000000" pitchFamily="2" charset="2"/>
              <a:buChar char=""/>
            </a:pPr>
            <a:r>
              <a:rPr lang="en-US" sz="2000" b="1" u="sng" dirty="0">
                <a:latin typeface="Calibri" panose="020F0502020204030204" pitchFamily="34" charset="0"/>
                <a:ea typeface="Calibri" panose="020F0502020204030204" pitchFamily="34" charset="0"/>
                <a:cs typeface="Times New Roman" panose="02020603050405020304" pitchFamily="18" charset="0"/>
              </a:rPr>
              <a:t>Collaboration</a:t>
            </a:r>
            <a:r>
              <a:rPr lang="en-US" sz="2000" dirty="0">
                <a:latin typeface="Calibri" panose="020F0502020204030204" pitchFamily="34" charset="0"/>
                <a:ea typeface="Calibri" panose="020F0502020204030204" pitchFamily="34" charset="0"/>
                <a:cs typeface="Times New Roman" panose="02020603050405020304" pitchFamily="18" charset="0"/>
              </a:rPr>
              <a:t>: Sharing information through the use of electronic data interchange (EDI), point of sale (POS) data, and web-based systems can facilitate collaboration.</a:t>
            </a:r>
          </a:p>
          <a:p>
            <a:pPr marL="342900" lvl="0" indent="-342900" eaLnBrk="0" hangingPunct="0">
              <a:spcBef>
                <a:spcPts val="1200"/>
              </a:spcBef>
              <a:spcAft>
                <a:spcPts val="1200"/>
              </a:spcAft>
              <a:buFont typeface="Wingdings" panose="05000000000000000000" pitchFamily="2" charset="2"/>
              <a:buChar char=""/>
            </a:pPr>
            <a:r>
              <a:rPr lang="en-US" sz="2000" b="1" u="sng" dirty="0">
                <a:latin typeface="Calibri" panose="020F0502020204030204" pitchFamily="34" charset="0"/>
                <a:ea typeface="Calibri" panose="020F0502020204030204" pitchFamily="34" charset="0"/>
                <a:cs typeface="Times New Roman" panose="02020603050405020304" pitchFamily="18" charset="0"/>
              </a:rPr>
              <a:t>Synchronizing the supply chain</a:t>
            </a:r>
            <a:r>
              <a:rPr lang="en-US" sz="2000" dirty="0">
                <a:latin typeface="Calibri" panose="020F0502020204030204" pitchFamily="34" charset="0"/>
                <a:ea typeface="Calibri" panose="020F0502020204030204" pitchFamily="34" charset="0"/>
                <a:cs typeface="Times New Roman" panose="02020603050405020304" pitchFamily="18" charset="0"/>
              </a:rPr>
              <a:t>: Supply chain participants coordinate planning and inventory management to minimize the need for reactionary corrections.</a:t>
            </a:r>
          </a:p>
          <a:p>
            <a:pPr marL="342900" lvl="0" indent="-342900" eaLnBrk="0" hangingPunct="0">
              <a:spcBef>
                <a:spcPts val="1200"/>
              </a:spcBef>
              <a:spcAft>
                <a:spcPts val="1200"/>
              </a:spcAft>
              <a:buFont typeface="Wingdings" panose="05000000000000000000" pitchFamily="2" charset="2"/>
              <a:buChar char=""/>
            </a:pPr>
            <a:r>
              <a:rPr lang="en-US" sz="2000" b="1" u="sng" dirty="0">
                <a:latin typeface="Calibri" panose="020F0502020204030204" pitchFamily="34" charset="0"/>
                <a:ea typeface="Calibri" panose="020F0502020204030204" pitchFamily="34" charset="0"/>
                <a:cs typeface="Times New Roman" panose="02020603050405020304" pitchFamily="18" charset="0"/>
              </a:rPr>
              <a:t>Reducing inventory</a:t>
            </a:r>
            <a:r>
              <a:rPr lang="en-US" sz="2000" dirty="0">
                <a:latin typeface="Calibri" panose="020F0502020204030204" pitchFamily="34" charset="0"/>
                <a:ea typeface="Calibri" panose="020F0502020204030204" pitchFamily="34" charset="0"/>
                <a:cs typeface="Times New Roman" panose="02020603050405020304" pitchFamily="18" charset="0"/>
              </a:rPr>
              <a:t>: Through the use of just in time (JIT), vendor managed inventory (VMI), and quick response (QR), all of which will be discussed later in this course. </a:t>
            </a:r>
          </a:p>
          <a:p>
            <a:pPr lvl="0" eaLnBrk="0" hangingPunct="0">
              <a:spcBef>
                <a:spcPts val="1200"/>
              </a:spcBef>
              <a:spcAft>
                <a:spcPts val="1200"/>
              </a:spcAft>
            </a:pPr>
            <a:r>
              <a:rPr lang="en-US" dirty="0">
                <a:latin typeface="Calibri" panose="020F0502020204030204" pitchFamily="34" charset="0"/>
                <a:ea typeface="Calibri" panose="020F0502020204030204" pitchFamily="34" charset="0"/>
                <a:cs typeface="Times New Roman" panose="02020603050405020304" pitchFamily="18" charset="0"/>
              </a:rPr>
              <a:t>If the various participants work together to get closer to customers through collaborative planning, forecasting, and replenishment (CPFR), then the bullwhip effect can be greatly reduced. </a:t>
            </a:r>
            <a:endParaRPr lang="en-US"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41</a:t>
            </a:fld>
            <a:endParaRPr lang="en-US" dirty="0"/>
          </a:p>
        </p:txBody>
      </p:sp>
    </p:spTree>
    <p:extLst>
      <p:ext uri="{BB962C8B-B14F-4D97-AF65-F5344CB8AC3E}">
        <p14:creationId xmlns:p14="http://schemas.microsoft.com/office/powerpoint/2010/main" val="1330013233"/>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228600" y="145230"/>
            <a:ext cx="8712200" cy="471540"/>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0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Collaborative Planning, Forecasting, &amp; Replenishment</a:t>
            </a:r>
            <a:endParaRPr lang="en-US" altLang="en-US" sz="2400" b="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endParaRPr>
          </a:p>
        </p:txBody>
      </p:sp>
      <p:sp>
        <p:nvSpPr>
          <p:cNvPr id="43011" name="Rectangle 3"/>
          <p:cNvSpPr>
            <a:spLocks noGrp="1" noChangeArrowheads="1"/>
          </p:cNvSpPr>
          <p:nvPr>
            <p:ph type="body" idx="4294967295"/>
          </p:nvPr>
        </p:nvSpPr>
        <p:spPr>
          <a:xfrm>
            <a:off x="228600" y="939799"/>
            <a:ext cx="8686801" cy="5816601"/>
          </a:xfrm>
        </p:spPr>
        <p:txBody>
          <a:bodyPr/>
          <a:lstStyle/>
          <a:p>
            <a:pPr marL="0" lvl="1" indent="0">
              <a:spcBef>
                <a:spcPts val="1200"/>
              </a:spcBef>
              <a:spcAft>
                <a:spcPts val="1200"/>
              </a:spcAft>
              <a:buClr>
                <a:srgbClr val="923222"/>
              </a:buClr>
              <a:buSzPct val="115000"/>
              <a:buNone/>
              <a:tabLst>
                <a:tab pos="1606550" algn="l"/>
                <a:tab pos="2286000" algn="l"/>
              </a:tabLst>
              <a:defRPr/>
            </a:pPr>
            <a:r>
              <a:rPr lang="en-US" altLang="en-US" sz="2400" b="1" dirty="0">
                <a:latin typeface="Calibri" panose="020F0502020204030204" pitchFamily="34" charset="0"/>
              </a:rPr>
              <a:t>Collaborative Planning, Forecasting, and Replenishment </a:t>
            </a:r>
            <a:r>
              <a:rPr lang="en-US" altLang="en-US" sz="2400" dirty="0">
                <a:latin typeface="Calibri" panose="020F0502020204030204" pitchFamily="34" charset="0"/>
              </a:rPr>
              <a:t>(CPFR) is a </a:t>
            </a:r>
            <a:r>
              <a:rPr lang="en-US" altLang="en-US" sz="2400" dirty="0">
                <a:solidFill>
                  <a:srgbClr val="923222"/>
                </a:solidFill>
                <a:effectLst>
                  <a:outerShdw blurRad="38100" dist="38100" dir="2700000" algn="tl">
                    <a:srgbClr val="000000">
                      <a:alpha val="43137"/>
                    </a:srgbClr>
                  </a:outerShdw>
                </a:effectLst>
                <a:latin typeface="Calibri" panose="020F0502020204030204" pitchFamily="34" charset="0"/>
              </a:rPr>
              <a:t>business practice </a:t>
            </a:r>
            <a:r>
              <a:rPr lang="en-US" altLang="en-US" sz="2400" dirty="0">
                <a:latin typeface="Calibri" panose="020F0502020204030204" pitchFamily="34" charset="0"/>
              </a:rPr>
              <a:t>that combines the intelligence of multiple trading partners who </a:t>
            </a:r>
            <a:r>
              <a:rPr lang="en-US" altLang="en-US" sz="2400" u="sng" dirty="0">
                <a:solidFill>
                  <a:srgbClr val="923222"/>
                </a:solidFill>
                <a:effectLst>
                  <a:outerShdw blurRad="38100" dist="38100" dir="2700000" algn="tl">
                    <a:srgbClr val="000000">
                      <a:alpha val="43137"/>
                    </a:srgbClr>
                  </a:outerShdw>
                </a:effectLst>
                <a:latin typeface="Calibri" panose="020F0502020204030204" pitchFamily="34" charset="0"/>
              </a:rPr>
              <a:t>share</a:t>
            </a:r>
            <a:r>
              <a:rPr lang="en-US" altLang="en-US" sz="2400" dirty="0">
                <a:effectLst>
                  <a:outerShdw blurRad="38100" dist="38100" dir="2700000" algn="tl">
                    <a:srgbClr val="000000">
                      <a:alpha val="43137"/>
                    </a:srgbClr>
                  </a:outerShdw>
                </a:effectLst>
                <a:latin typeface="Calibri" panose="020F0502020204030204" pitchFamily="34" charset="0"/>
              </a:rPr>
              <a:t> </a:t>
            </a:r>
            <a:r>
              <a:rPr lang="en-US" altLang="en-US" sz="2400" dirty="0">
                <a:latin typeface="Calibri" panose="020F0502020204030204" pitchFamily="34" charset="0"/>
              </a:rPr>
              <a:t>their plans, forecasts, and delivery schedules with one another in an effort to ensure a smooth flow of goods and services across a supply chain.</a:t>
            </a:r>
          </a:p>
          <a:p>
            <a:pPr marL="0" lvl="1" indent="0" eaLnBrk="1" hangingPunct="1">
              <a:spcBef>
                <a:spcPts val="1200"/>
              </a:spcBef>
              <a:spcAft>
                <a:spcPts val="1200"/>
              </a:spcAft>
              <a:buClr>
                <a:srgbClr val="923222"/>
              </a:buClr>
              <a:buSzPct val="115000"/>
              <a:buNone/>
            </a:pPr>
            <a:r>
              <a:rPr lang="en-US" altLang="en-US" sz="2400" dirty="0">
                <a:latin typeface="Calibri" panose="020F0502020204030204" pitchFamily="34" charset="0"/>
                <a:ea typeface="ＭＳ Ｐゴシック" panose="020B0600070205080204" pitchFamily="34" charset="-128"/>
              </a:rPr>
              <a:t>CPFR can significantly reduce the Bullwhip Effect and provide a plethora of benefits including: </a:t>
            </a:r>
          </a:p>
          <a:p>
            <a:pPr marL="914400" lvl="1" indent="-414338" eaLnBrk="1" hangingPunct="1">
              <a:spcBef>
                <a:spcPts val="600"/>
              </a:spcBef>
              <a:spcAft>
                <a:spcPts val="600"/>
              </a:spcAft>
              <a:buClr>
                <a:srgbClr val="923222"/>
              </a:buClr>
              <a:buSzPct val="115000"/>
              <a:buFont typeface="Wingdings" panose="05000000000000000000" pitchFamily="2" charset="2"/>
              <a:buChar char="§"/>
            </a:pPr>
            <a:r>
              <a:rPr lang="en-US" altLang="en-US" sz="2400" dirty="0">
                <a:latin typeface="Calibri" panose="020F0502020204030204" pitchFamily="34" charset="0"/>
                <a:ea typeface="ＭＳ Ｐゴシック" panose="020B0600070205080204" pitchFamily="34" charset="-128"/>
              </a:rPr>
              <a:t>Better customer service</a:t>
            </a:r>
          </a:p>
          <a:p>
            <a:pPr marL="914400" lvl="1" indent="-414338" eaLnBrk="1" hangingPunct="1">
              <a:spcBef>
                <a:spcPts val="600"/>
              </a:spcBef>
              <a:spcAft>
                <a:spcPts val="600"/>
              </a:spcAft>
              <a:buClr>
                <a:srgbClr val="923222"/>
              </a:buClr>
              <a:buSzPct val="115000"/>
              <a:buFont typeface="Wingdings" panose="05000000000000000000" pitchFamily="2" charset="2"/>
              <a:buChar char="§"/>
            </a:pPr>
            <a:r>
              <a:rPr lang="en-US" altLang="en-US" sz="2400" dirty="0">
                <a:latin typeface="Calibri" panose="020F0502020204030204" pitchFamily="34" charset="0"/>
                <a:ea typeface="ＭＳ Ｐゴシック" panose="020B0600070205080204" pitchFamily="34" charset="-128"/>
              </a:rPr>
              <a:t>Lower inventory costs</a:t>
            </a:r>
          </a:p>
          <a:p>
            <a:pPr marL="914400" lvl="1" indent="-414338" eaLnBrk="1" hangingPunct="1">
              <a:spcBef>
                <a:spcPts val="600"/>
              </a:spcBef>
              <a:spcAft>
                <a:spcPts val="600"/>
              </a:spcAft>
              <a:buClr>
                <a:srgbClr val="923222"/>
              </a:buClr>
              <a:buSzPct val="115000"/>
              <a:buFont typeface="Wingdings" panose="05000000000000000000" pitchFamily="2" charset="2"/>
              <a:buChar char="§"/>
            </a:pPr>
            <a:r>
              <a:rPr lang="en-US" altLang="en-US" sz="2400" dirty="0">
                <a:latin typeface="Calibri" panose="020F0502020204030204" pitchFamily="34" charset="0"/>
                <a:ea typeface="ＭＳ Ｐゴシック" panose="020B0600070205080204" pitchFamily="34" charset="-128"/>
              </a:rPr>
              <a:t>Improved quality</a:t>
            </a:r>
          </a:p>
          <a:p>
            <a:pPr marL="914400" lvl="1" indent="-414338" eaLnBrk="1" hangingPunct="1">
              <a:spcBef>
                <a:spcPts val="600"/>
              </a:spcBef>
              <a:spcAft>
                <a:spcPts val="600"/>
              </a:spcAft>
              <a:buClr>
                <a:srgbClr val="923222"/>
              </a:buClr>
              <a:buSzPct val="115000"/>
              <a:buFont typeface="Wingdings" panose="05000000000000000000" pitchFamily="2" charset="2"/>
              <a:buChar char="§"/>
            </a:pPr>
            <a:r>
              <a:rPr lang="en-US" altLang="en-US" sz="2400" dirty="0">
                <a:latin typeface="Calibri" panose="020F0502020204030204" pitchFamily="34" charset="0"/>
                <a:ea typeface="ＭＳ Ｐゴシック" panose="020B0600070205080204" pitchFamily="34" charset="-128"/>
              </a:rPr>
              <a:t>Reduced cycle time</a:t>
            </a:r>
          </a:p>
          <a:p>
            <a:pPr marL="914400" lvl="1" indent="-414338" eaLnBrk="1" hangingPunct="1">
              <a:spcBef>
                <a:spcPts val="600"/>
              </a:spcBef>
              <a:spcAft>
                <a:spcPts val="600"/>
              </a:spcAft>
              <a:buClr>
                <a:srgbClr val="923222"/>
              </a:buClr>
              <a:buSzPct val="115000"/>
              <a:buFont typeface="Wingdings" panose="05000000000000000000" pitchFamily="2" charset="2"/>
              <a:buChar char="§"/>
            </a:pPr>
            <a:r>
              <a:rPr lang="en-US" altLang="en-US" sz="2400" dirty="0">
                <a:latin typeface="Calibri" panose="020F0502020204030204" pitchFamily="34" charset="0"/>
                <a:ea typeface="ＭＳ Ｐゴシック" panose="020B0600070205080204" pitchFamily="34" charset="-128"/>
              </a:rPr>
              <a:t>Better production methods</a:t>
            </a:r>
          </a:p>
        </p:txBody>
      </p:sp>
      <p:sp>
        <p:nvSpPr>
          <p:cNvPr id="3" name="Rectangle 2"/>
          <p:cNvSpPr/>
          <p:nvPr/>
        </p:nvSpPr>
        <p:spPr>
          <a:xfrm>
            <a:off x="4902200" y="4271370"/>
            <a:ext cx="3945467" cy="1938992"/>
          </a:xfrm>
          <a:prstGeom prst="rect">
            <a:avLst/>
          </a:prstGeom>
          <a:solidFill>
            <a:schemeClr val="bg1"/>
          </a:solidFill>
          <a:ln w="38100">
            <a:solidFill>
              <a:srgbClr val="923222"/>
            </a:solidFill>
          </a:ln>
          <a:effectLst>
            <a:outerShdw blurRad="50800" dist="38100" dir="2700000" algn="tl" rotWithShape="0">
              <a:prstClr val="black">
                <a:alpha val="40000"/>
              </a:prstClr>
            </a:outerShdw>
          </a:effectLst>
          <a:scene3d>
            <a:camera prst="orthographicFront"/>
            <a:lightRig rig="threePt" dir="t"/>
          </a:scene3d>
          <a:sp3d>
            <a:bevelT/>
          </a:sp3d>
        </p:spPr>
        <p:txBody>
          <a:bodyPr wrap="square">
            <a:spAutoFit/>
          </a:bodyPr>
          <a:lstStyle/>
          <a:p>
            <a:pPr marL="0" indent="0" algn="ctr" eaLnBrk="1" hangingPunct="1">
              <a:spcBef>
                <a:spcPts val="1200"/>
              </a:spcBef>
              <a:spcAft>
                <a:spcPts val="1200"/>
              </a:spcAft>
              <a:buFontTx/>
              <a:buNone/>
            </a:pPr>
            <a:r>
              <a:rPr lang="en-US" altLang="en-US"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Reducing the Bullwhip Effect </a:t>
            </a:r>
            <a:r>
              <a:rPr lang="en-US" altLang="en-US" dirty="0">
                <a:latin typeface="Calibri" panose="020F0502020204030204" pitchFamily="34" charset="0"/>
                <a:ea typeface="ＭＳ Ｐゴシック" panose="020B0600070205080204" pitchFamily="34" charset="-128"/>
              </a:rPr>
              <a:t> means the reduction of safety stocks </a:t>
            </a:r>
            <a:r>
              <a:rPr lang="en-US" altLang="en-US" sz="2000" i="1" dirty="0">
                <a:latin typeface="Calibri" panose="020F0502020204030204" pitchFamily="34" charset="0"/>
                <a:ea typeface="ＭＳ Ｐゴシック" panose="020B0600070205080204" pitchFamily="34" charset="-128"/>
              </a:rPr>
              <a:t>(and associated costs) </a:t>
            </a:r>
            <a:r>
              <a:rPr lang="en-US" altLang="en-US" dirty="0">
                <a:latin typeface="Calibri" panose="020F0502020204030204" pitchFamily="34" charset="0"/>
                <a:ea typeface="ＭＳ Ｐゴシック" panose="020B0600070205080204" pitchFamily="34" charset="-128"/>
              </a:rPr>
              <a:t>within and across the trading partners in a supply chain.</a:t>
            </a:r>
          </a:p>
        </p:txBody>
      </p:sp>
      <p:sp>
        <p:nvSpPr>
          <p:cNvPr id="4" name="Footer Placeholder 3"/>
          <p:cNvSpPr>
            <a:spLocks noGrp="1"/>
          </p:cNvSpPr>
          <p:nvPr>
            <p:ph type="ftr" sz="quarter" idx="3"/>
          </p:nvPr>
        </p:nvSpPr>
        <p:spPr/>
        <p:txBody>
          <a:bodyPr/>
          <a:lstStyle/>
          <a:p>
            <a:r>
              <a:rPr lang="en-US"/>
              <a:t>Fundamentals of Supply Chain Management – McLaury/Spiegle</a:t>
            </a:r>
            <a:endParaRPr lang="en-US" dirty="0"/>
          </a:p>
        </p:txBody>
      </p:sp>
      <p:sp>
        <p:nvSpPr>
          <p:cNvPr id="5" name="Slide Number Placeholder 4"/>
          <p:cNvSpPr>
            <a:spLocks noGrp="1"/>
          </p:cNvSpPr>
          <p:nvPr>
            <p:ph type="sldNum" sz="quarter" idx="4"/>
          </p:nvPr>
        </p:nvSpPr>
        <p:spPr/>
        <p:txBody>
          <a:bodyPr/>
          <a:lstStyle/>
          <a:p>
            <a:fld id="{E66AA3EA-0569-43EF-BBA3-83FDB109D582}" type="slidenum">
              <a:rPr lang="en-US" smtClean="0"/>
              <a:pPr/>
              <a:t>42</a:t>
            </a:fld>
            <a:endParaRPr lang="en-US" dirty="0"/>
          </a:p>
        </p:txBody>
      </p:sp>
    </p:spTree>
    <p:extLst>
      <p:ext uri="{BB962C8B-B14F-4D97-AF65-F5344CB8AC3E}">
        <p14:creationId xmlns:p14="http://schemas.microsoft.com/office/powerpoint/2010/main" val="2833891870"/>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3011">
                                            <p:txEl>
                                              <p:pRg st="1" end="1"/>
                                            </p:txEl>
                                          </p:spTgt>
                                        </p:tgtEl>
                                        <p:attrNameLst>
                                          <p:attrName>style.visibility</p:attrName>
                                        </p:attrNameLst>
                                      </p:cBhvr>
                                      <p:to>
                                        <p:strVal val="visible"/>
                                      </p:to>
                                    </p:set>
                                    <p:anim calcmode="lin" valueType="num">
                                      <p:cBhvr additive="base">
                                        <p:cTn id="13"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011">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 calcmode="lin" valueType="num">
                                      <p:cBhvr additive="base">
                                        <p:cTn id="17" dur="5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301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3011">
                                            <p:txEl>
                                              <p:pRg st="3" end="3"/>
                                            </p:txEl>
                                          </p:spTgt>
                                        </p:tgtEl>
                                        <p:attrNameLst>
                                          <p:attrName>style.visibility</p:attrName>
                                        </p:attrNameLst>
                                      </p:cBhvr>
                                      <p:to>
                                        <p:strVal val="visible"/>
                                      </p:to>
                                    </p:set>
                                    <p:anim calcmode="lin" valueType="num">
                                      <p:cBhvr additive="base">
                                        <p:cTn id="21" dur="500" fill="hold"/>
                                        <p:tgtEl>
                                          <p:spTgt spid="4301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3011">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3011">
                                            <p:txEl>
                                              <p:pRg st="4" end="4"/>
                                            </p:txEl>
                                          </p:spTgt>
                                        </p:tgtEl>
                                        <p:attrNameLst>
                                          <p:attrName>style.visibility</p:attrName>
                                        </p:attrNameLst>
                                      </p:cBhvr>
                                      <p:to>
                                        <p:strVal val="visible"/>
                                      </p:to>
                                    </p:set>
                                    <p:anim calcmode="lin" valueType="num">
                                      <p:cBhvr additive="base">
                                        <p:cTn id="25" dur="500" fill="hold"/>
                                        <p:tgtEl>
                                          <p:spTgt spid="4301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301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3011">
                                            <p:txEl>
                                              <p:pRg st="5" end="5"/>
                                            </p:txEl>
                                          </p:spTgt>
                                        </p:tgtEl>
                                        <p:attrNameLst>
                                          <p:attrName>style.visibility</p:attrName>
                                        </p:attrNameLst>
                                      </p:cBhvr>
                                      <p:to>
                                        <p:strVal val="visible"/>
                                      </p:to>
                                    </p:set>
                                    <p:anim calcmode="lin" valueType="num">
                                      <p:cBhvr additive="base">
                                        <p:cTn id="29" dur="500" fill="hold"/>
                                        <p:tgtEl>
                                          <p:spTgt spid="4301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301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3011">
                                            <p:txEl>
                                              <p:pRg st="6" end="6"/>
                                            </p:txEl>
                                          </p:spTgt>
                                        </p:tgtEl>
                                        <p:attrNameLst>
                                          <p:attrName>style.visibility</p:attrName>
                                        </p:attrNameLst>
                                      </p:cBhvr>
                                      <p:to>
                                        <p:strVal val="visible"/>
                                      </p:to>
                                    </p:set>
                                    <p:anim calcmode="lin" valueType="num">
                                      <p:cBhvr additive="base">
                                        <p:cTn id="33" dur="500" fill="hold"/>
                                        <p:tgtEl>
                                          <p:spTgt spid="4301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30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500" fill="hold"/>
                                        <p:tgtEl>
                                          <p:spTgt spid="3"/>
                                        </p:tgtEl>
                                        <p:attrNameLst>
                                          <p:attrName>ppt_x</p:attrName>
                                        </p:attrNameLst>
                                      </p:cBhvr>
                                      <p:tavLst>
                                        <p:tav tm="0">
                                          <p:val>
                                            <p:strVal val="#ppt_x"/>
                                          </p:val>
                                        </p:tav>
                                        <p:tav tm="100000">
                                          <p:val>
                                            <p:strVal val="#ppt_x"/>
                                          </p:val>
                                        </p:tav>
                                      </p:tavLst>
                                    </p:anim>
                                    <p:anim calcmode="lin" valueType="num">
                                      <p:cBhvr additive="base">
                                        <p:cTn id="4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TPVERSION" val="5"/>
  <p:tag name="TPFULLVERSION" val="5.3.1.3337"/>
  <p:tag name="PPTVERSION" val="15"/>
  <p:tag name="TPOS" val="2"/>
</p:tagLst>
</file>

<file path=ppt/tags/tag2.xml><?xml version="1.0" encoding="utf-8"?>
<p:tagLst xmlns:a="http://schemas.openxmlformats.org/drawingml/2006/main" xmlns:r="http://schemas.openxmlformats.org/officeDocument/2006/relationships" xmlns:p="http://schemas.openxmlformats.org/presentationml/2006/main">
  <p:tag name="SECTIONNUMBER" val="1"/>
  <p:tag name="DIVIDERPICTUREPATH" val="C:\Program Files\PPTADDIN.300.EN\PictureGallery\NVS_P_00048_PPT.jpg"/>
  <p:tag name="SLIDETYPE" val="NovartisTitle"/>
</p:tagLst>
</file>

<file path=ppt/theme/theme1.xml><?xml version="1.0" encoding="utf-8"?>
<a:theme xmlns:a="http://schemas.openxmlformats.org/drawingml/2006/main" name="New template for GSBD">
  <a:themeElements>
    <a:clrScheme name="NovartisWhite">
      <a:dk1>
        <a:sysClr val="windowText" lastClr="000000"/>
      </a:dk1>
      <a:lt1>
        <a:sysClr val="window" lastClr="FFFFFF"/>
      </a:lt1>
      <a:dk2>
        <a:srgbClr val="69676D"/>
      </a:dk2>
      <a:lt2>
        <a:srgbClr val="C9C2D1"/>
      </a:lt2>
      <a:accent1>
        <a:srgbClr val="FCAF17"/>
      </a:accent1>
      <a:accent2>
        <a:srgbClr val="EC8026"/>
      </a:accent2>
      <a:accent3>
        <a:srgbClr val="E44C16"/>
      </a:accent3>
      <a:accent4>
        <a:srgbClr val="923222"/>
      </a:accent4>
      <a:accent5>
        <a:srgbClr val="634329"/>
      </a:accent5>
      <a:accent6>
        <a:srgbClr val="000000"/>
      </a:accent6>
      <a:hlink>
        <a:srgbClr val="E44C16"/>
      </a:hlink>
      <a:folHlink>
        <a:srgbClr val="FCAF17"/>
      </a:folHlink>
    </a:clrScheme>
    <a:fontScheme name="New template for GSBD">
      <a:majorFont>
        <a:latin typeface="News Gothic MT"/>
        <a:ea typeface=""/>
        <a:cs typeface=""/>
      </a:majorFont>
      <a:minorFont>
        <a:latin typeface="News Gothic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E497"/>
        </a:solidFill>
        <a:ln w="28575"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sz="2800" b="1" i="0" u="none" strike="noStrike" cap="none" normalizeH="0" baseline="0" smtClean="0">
            <a:ln>
              <a:noFill/>
            </a:ln>
            <a:solidFill>
              <a:schemeClr val="tx1"/>
            </a:solidFill>
            <a:effectLst>
              <a:outerShdw blurRad="38100" dist="38100" dir="2700000" algn="tl">
                <a:srgbClr val="000000">
                  <a:alpha val="43137"/>
                </a:srgbClr>
              </a:outerShdw>
            </a:effectLst>
            <a:latin typeface="News Gothic MT" pitchFamily="34" charset="0"/>
          </a:defRPr>
        </a:defPPr>
      </a:lstStyle>
    </a:spDef>
    <a:lnDef>
      <a:spPr bwMode="auto">
        <a:solidFill>
          <a:schemeClr val="accent1"/>
        </a:solidFill>
        <a:ln w="28575" cap="flat" cmpd="sng" algn="ctr">
          <a:solidFill>
            <a:schemeClr val="tx1"/>
          </a:solidFill>
          <a:prstDash val="solid"/>
          <a:round/>
          <a:headEnd type="none" w="med" len="med"/>
          <a:tailEnd type="none" w="med" len="med"/>
        </a:ln>
        <a:effectLst/>
      </a:spPr>
      <a:bodyPr/>
      <a:lstStyle/>
    </a:lnDef>
  </a:objectDefaults>
  <a:extraClrSchemeLst>
    <a:extraClrScheme>
      <a:clrScheme name="New template for GSBD 1">
        <a:dk1>
          <a:srgbClr val="969696"/>
        </a:dk1>
        <a:lt1>
          <a:srgbClr val="FFFFFF"/>
        </a:lt1>
        <a:dk2>
          <a:srgbClr val="004D7D"/>
        </a:dk2>
        <a:lt2>
          <a:srgbClr val="FFFFFF"/>
        </a:lt2>
        <a:accent1>
          <a:srgbClr val="00CC99"/>
        </a:accent1>
        <a:accent2>
          <a:srgbClr val="3333CC"/>
        </a:accent2>
        <a:accent3>
          <a:srgbClr val="AAB2BF"/>
        </a:accent3>
        <a:accent4>
          <a:srgbClr val="DADADA"/>
        </a:accent4>
        <a:accent5>
          <a:srgbClr val="AAE2CA"/>
        </a:accent5>
        <a:accent6>
          <a:srgbClr val="2D2DB9"/>
        </a:accent6>
        <a:hlink>
          <a:srgbClr val="CCCCFF"/>
        </a:hlink>
        <a:folHlink>
          <a:srgbClr val="B2B2B2"/>
        </a:folHlink>
      </a:clrScheme>
      <a:clrMap bg1="dk2" tx1="lt1" bg2="dk1" tx2="lt2" accent1="accent1" accent2="accent2" accent3="accent3" accent4="accent4" accent5="accent5" accent6="accent6" hlink="hlink" folHlink="folHlink"/>
    </a:extraClrScheme>
    <a:extraClrScheme>
      <a:clrScheme name="New template for GSBD 2">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ew template for GSBD 3">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New template for GSBD 4">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ew template for GSBD 5">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ew template for GSBD 6">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ew template for GSBD 7">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New template for GSBD 8">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New template for GSBD">
  <a:themeElements>
    <a:clrScheme name="NovartisWhite">
      <a:dk1>
        <a:sysClr val="windowText" lastClr="000000"/>
      </a:dk1>
      <a:lt1>
        <a:sysClr val="window" lastClr="FFFFFF"/>
      </a:lt1>
      <a:dk2>
        <a:srgbClr val="69676D"/>
      </a:dk2>
      <a:lt2>
        <a:srgbClr val="C9C2D1"/>
      </a:lt2>
      <a:accent1>
        <a:srgbClr val="FCAF17"/>
      </a:accent1>
      <a:accent2>
        <a:srgbClr val="EC8026"/>
      </a:accent2>
      <a:accent3>
        <a:srgbClr val="E44C16"/>
      </a:accent3>
      <a:accent4>
        <a:srgbClr val="923222"/>
      </a:accent4>
      <a:accent5>
        <a:srgbClr val="634329"/>
      </a:accent5>
      <a:accent6>
        <a:srgbClr val="000000"/>
      </a:accent6>
      <a:hlink>
        <a:srgbClr val="E44C16"/>
      </a:hlink>
      <a:folHlink>
        <a:srgbClr val="FCAF17"/>
      </a:folHlink>
    </a:clrScheme>
    <a:fontScheme name="New template for GSBD">
      <a:majorFont>
        <a:latin typeface="News Gothic MT"/>
        <a:ea typeface=""/>
        <a:cs typeface=""/>
      </a:majorFont>
      <a:minorFont>
        <a:latin typeface="News Gothic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E497"/>
        </a:solidFill>
        <a:ln w="28575"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sz="2800" b="1" i="0" u="none" strike="noStrike" cap="none" normalizeH="0" baseline="0" smtClean="0">
            <a:ln>
              <a:noFill/>
            </a:ln>
            <a:solidFill>
              <a:schemeClr val="tx1"/>
            </a:solidFill>
            <a:effectLst>
              <a:outerShdw blurRad="38100" dist="38100" dir="2700000" algn="tl">
                <a:srgbClr val="000000">
                  <a:alpha val="43137"/>
                </a:srgbClr>
              </a:outerShdw>
            </a:effectLst>
            <a:latin typeface="News Gothic MT" pitchFamily="34" charset="0"/>
          </a:defRPr>
        </a:defPPr>
      </a:lstStyle>
    </a:spDef>
    <a:lnDef>
      <a:spPr bwMode="auto">
        <a:solidFill>
          <a:schemeClr val="accent1"/>
        </a:solidFill>
        <a:ln w="28575" cap="flat" cmpd="sng" algn="ctr">
          <a:solidFill>
            <a:schemeClr val="tx1"/>
          </a:solidFill>
          <a:prstDash val="solid"/>
          <a:round/>
          <a:headEnd type="none" w="med" len="med"/>
          <a:tailEnd type="none" w="med" len="med"/>
        </a:ln>
        <a:effectLst/>
      </a:spPr>
      <a:bodyPr/>
      <a:lstStyle/>
    </a:lnDef>
  </a:objectDefaults>
  <a:extraClrSchemeLst>
    <a:extraClrScheme>
      <a:clrScheme name="New template for GSBD 1">
        <a:dk1>
          <a:srgbClr val="969696"/>
        </a:dk1>
        <a:lt1>
          <a:srgbClr val="FFFFFF"/>
        </a:lt1>
        <a:dk2>
          <a:srgbClr val="004D7D"/>
        </a:dk2>
        <a:lt2>
          <a:srgbClr val="FFFFFF"/>
        </a:lt2>
        <a:accent1>
          <a:srgbClr val="00CC99"/>
        </a:accent1>
        <a:accent2>
          <a:srgbClr val="3333CC"/>
        </a:accent2>
        <a:accent3>
          <a:srgbClr val="AAB2BF"/>
        </a:accent3>
        <a:accent4>
          <a:srgbClr val="DADADA"/>
        </a:accent4>
        <a:accent5>
          <a:srgbClr val="AAE2CA"/>
        </a:accent5>
        <a:accent6>
          <a:srgbClr val="2D2DB9"/>
        </a:accent6>
        <a:hlink>
          <a:srgbClr val="CCCCFF"/>
        </a:hlink>
        <a:folHlink>
          <a:srgbClr val="B2B2B2"/>
        </a:folHlink>
      </a:clrScheme>
      <a:clrMap bg1="dk2" tx1="lt1" bg2="dk1" tx2="lt2" accent1="accent1" accent2="accent2" accent3="accent3" accent4="accent4" accent5="accent5" accent6="accent6" hlink="hlink" folHlink="folHlink"/>
    </a:extraClrScheme>
    <a:extraClrScheme>
      <a:clrScheme name="New template for GSBD 2">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ew template for GSBD 3">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New template for GSBD 4">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ew template for GSBD 5">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ew template for GSBD 6">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ew template for GSBD 7">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New template for GSBD 8">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Novartis">
  <a:themeElements>
    <a:clrScheme name="Novartis">
      <a:dk1>
        <a:srgbClr val="917B69"/>
      </a:dk1>
      <a:lt1>
        <a:srgbClr val="FFFFFF"/>
      </a:lt1>
      <a:dk2>
        <a:srgbClr val="917B69"/>
      </a:dk2>
      <a:lt2>
        <a:srgbClr val="F8F8F8"/>
      </a:lt2>
      <a:accent1>
        <a:srgbClr val="FCAF17"/>
      </a:accent1>
      <a:accent2>
        <a:srgbClr val="EC8026"/>
      </a:accent2>
      <a:accent3>
        <a:srgbClr val="E44C16"/>
      </a:accent3>
      <a:accent4>
        <a:srgbClr val="923222"/>
      </a:accent4>
      <a:accent5>
        <a:srgbClr val="634329"/>
      </a:accent5>
      <a:accent6>
        <a:srgbClr val="000000"/>
      </a:accent6>
      <a:hlink>
        <a:srgbClr val="917B69"/>
      </a:hlink>
      <a:folHlink>
        <a:srgbClr val="917B69"/>
      </a:folHlink>
    </a:clrScheme>
    <a:fontScheme name="Novartis">
      <a:majorFont>
        <a:latin typeface="Arial"/>
        <a:ea typeface=""/>
        <a:cs typeface=""/>
      </a:majorFont>
      <a:minorFont>
        <a:latin typeface="Arial"/>
        <a:ea typeface=""/>
        <a:cs typeface=""/>
      </a:minorFont>
    </a:fontScheme>
    <a:fmtScheme name="Novart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Novartis">
  <a:themeElements>
    <a:clrScheme name="Novartis">
      <a:dk1>
        <a:srgbClr val="917B69"/>
      </a:dk1>
      <a:lt1>
        <a:srgbClr val="FFFFFF"/>
      </a:lt1>
      <a:dk2>
        <a:srgbClr val="917B69"/>
      </a:dk2>
      <a:lt2>
        <a:srgbClr val="F8F8F8"/>
      </a:lt2>
      <a:accent1>
        <a:srgbClr val="FCAF17"/>
      </a:accent1>
      <a:accent2>
        <a:srgbClr val="EC8026"/>
      </a:accent2>
      <a:accent3>
        <a:srgbClr val="E44C16"/>
      </a:accent3>
      <a:accent4>
        <a:srgbClr val="923222"/>
      </a:accent4>
      <a:accent5>
        <a:srgbClr val="634329"/>
      </a:accent5>
      <a:accent6>
        <a:srgbClr val="000000"/>
      </a:accent6>
      <a:hlink>
        <a:srgbClr val="917B69"/>
      </a:hlink>
      <a:folHlink>
        <a:srgbClr val="917B69"/>
      </a:folHlink>
    </a:clrScheme>
    <a:fontScheme name="Novartis">
      <a:majorFont>
        <a:latin typeface="Arial"/>
        <a:ea typeface=""/>
        <a:cs typeface=""/>
      </a:majorFont>
      <a:minorFont>
        <a:latin typeface="Arial"/>
        <a:ea typeface=""/>
        <a:cs typeface=""/>
      </a:minorFont>
    </a:fontScheme>
    <a:fmtScheme name="Novart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10512</TotalTime>
  <Words>4565</Words>
  <Application>Microsoft Office PowerPoint</Application>
  <PresentationFormat>On-screen Show (4:3)</PresentationFormat>
  <Paragraphs>378</Paragraphs>
  <Slides>42</Slides>
  <Notes>19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42</vt:i4>
      </vt:variant>
    </vt:vector>
  </HeadingPairs>
  <TitlesOfParts>
    <vt:vector size="50" baseType="lpstr">
      <vt:lpstr>ＭＳ Ｐゴシック</vt:lpstr>
      <vt:lpstr>Arial</vt:lpstr>
      <vt:lpstr>Calibri</vt:lpstr>
      <vt:lpstr>News Gothic MT</vt:lpstr>
      <vt:lpstr>Symbol</vt:lpstr>
      <vt:lpstr>Wingdings</vt:lpstr>
      <vt:lpstr>New template for GSBD</vt:lpstr>
      <vt:lpstr>1_New template for GSBD</vt:lpstr>
      <vt:lpstr>PowerPoint Presentation</vt:lpstr>
      <vt:lpstr>PowerPoint Presentation</vt:lpstr>
      <vt:lpstr>PowerPoint Presentation</vt:lpstr>
      <vt:lpstr>PowerPoint Presentation</vt:lpstr>
      <vt:lpstr>PowerPoint Presentation</vt:lpstr>
      <vt:lpstr>Forecasting </vt:lpstr>
      <vt:lpstr>Forecasting Techniques </vt:lpstr>
      <vt:lpstr>Forecasting Techniques (continued) </vt:lpstr>
      <vt:lpstr>Forecasting Techniques (continued) </vt:lpstr>
      <vt:lpstr>Qualitative Forecasting Techniques</vt:lpstr>
      <vt:lpstr>Qualitative Forecasting - Personal Insight</vt:lpstr>
      <vt:lpstr>Qualitative Forecasting - Jury of Executive Opinion</vt:lpstr>
      <vt:lpstr>Qualitative Forecasting - Delphi Method</vt:lpstr>
      <vt:lpstr>Qualitative Forecasting - Sales Force Estimation</vt:lpstr>
      <vt:lpstr>Qualitative Forecasting - Customer Survey</vt:lpstr>
      <vt:lpstr>Quantitative Forecasting Techniques</vt:lpstr>
      <vt:lpstr>Variations in Quantitative Forecasting</vt:lpstr>
      <vt:lpstr>Time Series Forecasting</vt:lpstr>
      <vt:lpstr>Time Series - Naïve Forecasting</vt:lpstr>
      <vt:lpstr>Time Series - Simple Moving Average Forecasting</vt:lpstr>
      <vt:lpstr>Time Series - Weighted Moving Average Forecasting</vt:lpstr>
      <vt:lpstr>Time Series - Exponential Smoothing</vt:lpstr>
      <vt:lpstr>Time Series - Linear Trend Forecasting</vt:lpstr>
      <vt:lpstr>Forecasting Techniques (continued) </vt:lpstr>
      <vt:lpstr>Cause and Effect Forecasting</vt:lpstr>
      <vt:lpstr>Cause and Effect - Simple Linear Regression</vt:lpstr>
      <vt:lpstr>Cause and Effect – Multiple Linear Regression</vt:lpstr>
      <vt:lpstr>Fundamentals of Forecasting </vt:lpstr>
      <vt:lpstr>Fundamentals of Forecasting (continued) </vt:lpstr>
      <vt:lpstr>Fundamentals of Forecasting (continued) </vt:lpstr>
      <vt:lpstr>Fundamentals of Forecasting (continued) </vt:lpstr>
      <vt:lpstr>Forecast Error</vt:lpstr>
      <vt:lpstr>Forecast Error – Calculations and Examples</vt:lpstr>
      <vt:lpstr>Measures of Forecasting Accuracy - MAD</vt:lpstr>
      <vt:lpstr>Mean Absolute Deviation (MAD) - Example </vt:lpstr>
      <vt:lpstr>Measures of Forecasting Accuracy - MAPE</vt:lpstr>
      <vt:lpstr>Forecast Bias</vt:lpstr>
      <vt:lpstr>Running Sum of Forecast Errors (RSFE) </vt:lpstr>
      <vt:lpstr>PowerPoint Presentation</vt:lpstr>
      <vt:lpstr>The Bullwhip Effect (continued)</vt:lpstr>
      <vt:lpstr>How can the Bullwhip Effect be Alleviated? </vt:lpstr>
      <vt:lpstr>Collaborative Planning, Forecasting, &amp; Replenishment</vt:lpstr>
    </vt:vector>
  </TitlesOfParts>
  <Company>Novartis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McLaury, William</dc:creator>
  <cp:lastModifiedBy>John Impellizzeri</cp:lastModifiedBy>
  <cp:revision>506</cp:revision>
  <cp:lastPrinted>2015-06-09T15:23:00Z</cp:lastPrinted>
  <dcterms:created xsi:type="dcterms:W3CDTF">2014-03-13T13:06:01Z</dcterms:created>
  <dcterms:modified xsi:type="dcterms:W3CDTF">2025-09-10T15:49:21Z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ividerSectionCount">
    <vt:lpwstr>6</vt:lpwstr>
  </property>
</Properties>
</file>