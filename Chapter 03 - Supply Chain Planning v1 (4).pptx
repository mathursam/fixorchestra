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6.xml" ContentType="application/vnd.openxmlformats-officedocument.presentationml.tags+xml"/>
  <Override PartName="/ppt/notesSlides/notesSlide12.xml" ContentType="application/vnd.openxmlformats-officedocument.presentationml.notesSlide+xml"/>
  <Override PartName="/ppt/tags/tag7.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7" r:id="rId1"/>
  </p:sldMasterIdLst>
  <p:notesMasterIdLst>
    <p:notesMasterId r:id="rId35"/>
  </p:notesMasterIdLst>
  <p:handoutMasterIdLst>
    <p:handoutMasterId r:id="rId36"/>
  </p:handoutMasterIdLst>
  <p:sldIdLst>
    <p:sldId id="687" r:id="rId2"/>
    <p:sldId id="688" r:id="rId3"/>
    <p:sldId id="689" r:id="rId4"/>
    <p:sldId id="690" r:id="rId5"/>
    <p:sldId id="691" r:id="rId6"/>
    <p:sldId id="695" r:id="rId7"/>
    <p:sldId id="696" r:id="rId8"/>
    <p:sldId id="697" r:id="rId9"/>
    <p:sldId id="698" r:id="rId10"/>
    <p:sldId id="700" r:id="rId11"/>
    <p:sldId id="701" r:id="rId12"/>
    <p:sldId id="702" r:id="rId13"/>
    <p:sldId id="703" r:id="rId14"/>
    <p:sldId id="705" r:id="rId15"/>
    <p:sldId id="706" r:id="rId16"/>
    <p:sldId id="707" r:id="rId17"/>
    <p:sldId id="708" r:id="rId18"/>
    <p:sldId id="709" r:id="rId19"/>
    <p:sldId id="710" r:id="rId20"/>
    <p:sldId id="711" r:id="rId21"/>
    <p:sldId id="724" r:id="rId22"/>
    <p:sldId id="712" r:id="rId23"/>
    <p:sldId id="713" r:id="rId24"/>
    <p:sldId id="714" r:id="rId25"/>
    <p:sldId id="716" r:id="rId26"/>
    <p:sldId id="725" r:id="rId27"/>
    <p:sldId id="717" r:id="rId28"/>
    <p:sldId id="718" r:id="rId29"/>
    <p:sldId id="719" r:id="rId30"/>
    <p:sldId id="720" r:id="rId31"/>
    <p:sldId id="721" r:id="rId32"/>
    <p:sldId id="722" r:id="rId33"/>
    <p:sldId id="723" r:id="rId34"/>
  </p:sldIdLst>
  <p:sldSz cx="9144000" cy="6858000" type="screen4x3"/>
  <p:notesSz cx="6985000" cy="9283700"/>
  <p:custDataLst>
    <p:tags r:id="rId37"/>
  </p:custDataLst>
  <p:defaultTex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9" pos="3792" userDrawn="1">
          <p15:clr>
            <a:srgbClr val="A4A3A4"/>
          </p15:clr>
        </p15:guide>
        <p15:guide id="11" pos="1968" userDrawn="1">
          <p15:clr>
            <a:srgbClr val="A4A3A4"/>
          </p15:clr>
        </p15:guide>
        <p15:guide id="12" pos="2880" userDrawn="1">
          <p15:clr>
            <a:srgbClr val="A4A3A4"/>
          </p15:clr>
        </p15:guide>
        <p15:guide id="16" orient="horz" pos="3744" userDrawn="1">
          <p15:clr>
            <a:srgbClr val="A4A3A4"/>
          </p15:clr>
        </p15:guide>
        <p15:guide id="17" orient="horz" pos="240" userDrawn="1">
          <p15:clr>
            <a:srgbClr val="A4A3A4"/>
          </p15:clr>
        </p15:guide>
        <p15:guide id="18" orient="horz" pos="432" userDrawn="1">
          <p15:clr>
            <a:srgbClr val="A4A3A4"/>
          </p15:clr>
        </p15:guide>
        <p15:guide id="21" orient="horz" pos="4176" userDrawn="1">
          <p15:clr>
            <a:srgbClr val="A4A3A4"/>
          </p15:clr>
        </p15:guide>
        <p15:guide id="27" pos="144" userDrawn="1">
          <p15:clr>
            <a:srgbClr val="A4A3A4"/>
          </p15:clr>
        </p15:guide>
        <p15:guide id="28" pos="3408" userDrawn="1">
          <p15:clr>
            <a:srgbClr val="A4A3A4"/>
          </p15:clr>
        </p15:guide>
        <p15:guide id="29" orient="horz" pos="2496" userDrawn="1">
          <p15:clr>
            <a:srgbClr val="A4A3A4"/>
          </p15:clr>
        </p15:guide>
        <p15:guide id="30" orient="horz" pos="1608" userDrawn="1">
          <p15:clr>
            <a:srgbClr val="A4A3A4"/>
          </p15:clr>
        </p15:guide>
        <p15:guide id="31" orient="horz" pos="3312" userDrawn="1">
          <p15:clr>
            <a:srgbClr val="A4A3A4"/>
          </p15:clr>
        </p15:guide>
        <p15:guide id="32" orient="horz" pos="2688" userDrawn="1">
          <p15:clr>
            <a:srgbClr val="A4A3A4"/>
          </p15:clr>
        </p15:guide>
        <p15:guide id="34" pos="1248" userDrawn="1">
          <p15:clr>
            <a:srgbClr val="A4A3A4"/>
          </p15:clr>
        </p15:guide>
        <p15:guide id="35" pos="504" userDrawn="1">
          <p15:clr>
            <a:srgbClr val="A4A3A4"/>
          </p15:clr>
        </p15:guide>
        <p15:guide id="36" pos="5280" userDrawn="1">
          <p15:clr>
            <a:srgbClr val="A4A3A4"/>
          </p15:clr>
        </p15:guide>
        <p15:guide id="37" pos="5616" userDrawn="1">
          <p15:clr>
            <a:srgbClr val="A4A3A4"/>
          </p15:clr>
        </p15:guide>
        <p15:guide id="39" pos="2784" userDrawn="1">
          <p15:clr>
            <a:srgbClr val="A4A3A4"/>
          </p15:clr>
        </p15:guide>
      </p15:sldGuideLst>
    </p:ext>
    <p:ext uri="{2D200454-40CA-4A62-9FC3-DE9A4176ACB9}">
      <p15:notesGuideLst xmlns:p15="http://schemas.microsoft.com/office/powerpoint/2012/main">
        <p15:guide id="1" orient="horz" pos="2780" userDrawn="1">
          <p15:clr>
            <a:srgbClr val="A4A3A4"/>
          </p15:clr>
        </p15:guide>
        <p15:guide id="2" pos="430" userDrawn="1">
          <p15:clr>
            <a:srgbClr val="A4A3A4"/>
          </p15:clr>
        </p15:guide>
        <p15:guide id="3" pos="3970" userDrawn="1">
          <p15:clr>
            <a:srgbClr val="A4A3A4"/>
          </p15:clr>
        </p15:guide>
        <p15:guide id="4" orient="horz" pos="28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3222"/>
    <a:srgbClr val="99CCFF"/>
    <a:srgbClr val="7F7F7F"/>
    <a:srgbClr val="FFFFCC"/>
    <a:srgbClr val="FFF6EB"/>
    <a:srgbClr val="008000"/>
    <a:srgbClr val="0000FF"/>
    <a:srgbClr val="FFFF99"/>
    <a:srgbClr val="FCAF17"/>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11" autoAdjust="0"/>
    <p:restoredTop sz="98817" autoAdjust="0"/>
  </p:normalViewPr>
  <p:slideViewPr>
    <p:cSldViewPr snapToGrid="0">
      <p:cViewPr varScale="1">
        <p:scale>
          <a:sx n="78" d="100"/>
          <a:sy n="78" d="100"/>
        </p:scale>
        <p:origin x="1128" y="48"/>
      </p:cViewPr>
      <p:guideLst>
        <p:guide pos="3792"/>
        <p:guide pos="1968"/>
        <p:guide pos="2880"/>
        <p:guide orient="horz" pos="3744"/>
        <p:guide orient="horz" pos="240"/>
        <p:guide orient="horz" pos="432"/>
        <p:guide orient="horz" pos="4176"/>
        <p:guide pos="144"/>
        <p:guide pos="3408"/>
        <p:guide orient="horz" pos="2496"/>
        <p:guide orient="horz" pos="1608"/>
        <p:guide orient="horz" pos="3312"/>
        <p:guide orient="horz" pos="2688"/>
        <p:guide pos="1248"/>
        <p:guide pos="504"/>
        <p:guide pos="5280"/>
        <p:guide pos="5616"/>
        <p:guide pos="2784"/>
      </p:guideLst>
    </p:cSldViewPr>
  </p:slideViewPr>
  <p:notesTextViewPr>
    <p:cViewPr>
      <p:scale>
        <a:sx n="100" d="100"/>
        <a:sy n="100" d="100"/>
      </p:scale>
      <p:origin x="0" y="0"/>
    </p:cViewPr>
  </p:notesTextViewPr>
  <p:sorterViewPr>
    <p:cViewPr>
      <p:scale>
        <a:sx n="200" d="100"/>
        <a:sy n="200" d="100"/>
      </p:scale>
      <p:origin x="0" y="-19734"/>
    </p:cViewPr>
  </p:sorterViewPr>
  <p:notesViewPr>
    <p:cSldViewPr snapToGrid="0">
      <p:cViewPr varScale="1">
        <p:scale>
          <a:sx n="84" d="100"/>
          <a:sy n="84" d="100"/>
        </p:scale>
        <p:origin x="3798" y="108"/>
      </p:cViewPr>
      <p:guideLst>
        <p:guide orient="horz" pos="2780"/>
        <p:guide pos="430"/>
        <p:guide pos="3970"/>
        <p:guide orient="horz" pos="288"/>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5954" name="Rectangle 2"/>
          <p:cNvSpPr>
            <a:spLocks noGrp="1" noChangeArrowheads="1"/>
          </p:cNvSpPr>
          <p:nvPr>
            <p:ph type="hdr" sz="quarter"/>
          </p:nvPr>
        </p:nvSpPr>
        <p:spPr bwMode="auto">
          <a:xfrm>
            <a:off x="1" y="0"/>
            <a:ext cx="3027466" cy="464503"/>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defRPr sz="1200" smtClean="0"/>
            </a:lvl1pPr>
          </a:lstStyle>
          <a:p>
            <a:pPr>
              <a:defRPr/>
            </a:pPr>
            <a:endParaRPr lang="en-US" dirty="0"/>
          </a:p>
        </p:txBody>
      </p:sp>
      <p:sp>
        <p:nvSpPr>
          <p:cNvPr id="765955" name="Rectangle 3"/>
          <p:cNvSpPr>
            <a:spLocks noGrp="1" noChangeArrowheads="1"/>
          </p:cNvSpPr>
          <p:nvPr>
            <p:ph type="dt" sz="quarter" idx="1"/>
          </p:nvPr>
        </p:nvSpPr>
        <p:spPr bwMode="auto">
          <a:xfrm>
            <a:off x="3955953" y="0"/>
            <a:ext cx="3027466" cy="464503"/>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a:defRPr sz="1200" smtClean="0"/>
            </a:lvl1pPr>
          </a:lstStyle>
          <a:p>
            <a:pPr>
              <a:defRPr/>
            </a:pPr>
            <a:endParaRPr lang="en-US" dirty="0"/>
          </a:p>
        </p:txBody>
      </p:sp>
      <p:sp>
        <p:nvSpPr>
          <p:cNvPr id="765956" name="Rectangle 4"/>
          <p:cNvSpPr>
            <a:spLocks noGrp="1" noChangeArrowheads="1"/>
          </p:cNvSpPr>
          <p:nvPr>
            <p:ph type="ftr" sz="quarter" idx="2"/>
          </p:nvPr>
        </p:nvSpPr>
        <p:spPr bwMode="auto">
          <a:xfrm>
            <a:off x="1" y="8817612"/>
            <a:ext cx="3027466" cy="464503"/>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defRPr sz="1200" smtClean="0"/>
            </a:lvl1pPr>
          </a:lstStyle>
          <a:p>
            <a:pPr>
              <a:defRPr/>
            </a:pPr>
            <a:endParaRPr lang="en-US" dirty="0"/>
          </a:p>
        </p:txBody>
      </p:sp>
      <p:sp>
        <p:nvSpPr>
          <p:cNvPr id="765957" name="Rectangle 5"/>
          <p:cNvSpPr>
            <a:spLocks noGrp="1" noChangeArrowheads="1"/>
          </p:cNvSpPr>
          <p:nvPr>
            <p:ph type="sldNum" sz="quarter" idx="3"/>
          </p:nvPr>
        </p:nvSpPr>
        <p:spPr bwMode="auto">
          <a:xfrm>
            <a:off x="3955953" y="8817612"/>
            <a:ext cx="3027466" cy="464503"/>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a:defRPr sz="1200" smtClean="0"/>
            </a:lvl1pPr>
          </a:lstStyle>
          <a:p>
            <a:pPr>
              <a:defRPr/>
            </a:pPr>
            <a:fld id="{F4F278CE-4F29-4C0C-8549-B3BF430AA3F2}" type="slidenum">
              <a:rPr lang="en-US"/>
              <a:pPr>
                <a:defRPr/>
              </a:pPr>
              <a:t>‹#›</a:t>
            </a:fld>
            <a:endParaRPr lang="en-US" dirty="0"/>
          </a:p>
        </p:txBody>
      </p:sp>
    </p:spTree>
    <p:extLst>
      <p:ext uri="{BB962C8B-B14F-4D97-AF65-F5344CB8AC3E}">
        <p14:creationId xmlns:p14="http://schemas.microsoft.com/office/powerpoint/2010/main" val="32140021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1" y="0"/>
            <a:ext cx="3027466" cy="464503"/>
          </a:xfrm>
          <a:prstGeom prst="rect">
            <a:avLst/>
          </a:prstGeom>
          <a:noFill/>
          <a:ln w="9525">
            <a:noFill/>
            <a:miter lim="800000"/>
            <a:headEnd/>
            <a:tailEnd/>
          </a:ln>
          <a:effectLst/>
        </p:spPr>
        <p:txBody>
          <a:bodyPr vert="horz" wrap="square" lIns="92953" tIns="46477" rIns="92953" bIns="46477" numCol="1" anchor="t" anchorCtr="0" compatLnSpc="1">
            <a:prstTxWarp prst="textNoShape">
              <a:avLst/>
            </a:prstTxWarp>
          </a:bodyPr>
          <a:lstStyle>
            <a:lvl1pPr defTabSz="929627">
              <a:defRPr sz="1200" smtClean="0"/>
            </a:lvl1pPr>
          </a:lstStyle>
          <a:p>
            <a:pPr>
              <a:defRPr/>
            </a:pPr>
            <a:endParaRPr lang="en-US" dirty="0"/>
          </a:p>
        </p:txBody>
      </p:sp>
      <p:sp>
        <p:nvSpPr>
          <p:cNvPr id="24579" name="Rectangle 3"/>
          <p:cNvSpPr>
            <a:spLocks noGrp="1" noChangeArrowheads="1"/>
          </p:cNvSpPr>
          <p:nvPr>
            <p:ph type="dt" idx="1"/>
          </p:nvPr>
        </p:nvSpPr>
        <p:spPr bwMode="auto">
          <a:xfrm>
            <a:off x="3955953" y="0"/>
            <a:ext cx="3027466" cy="464503"/>
          </a:xfrm>
          <a:prstGeom prst="rect">
            <a:avLst/>
          </a:prstGeom>
          <a:noFill/>
          <a:ln w="9525">
            <a:noFill/>
            <a:miter lim="800000"/>
            <a:headEnd/>
            <a:tailEnd/>
          </a:ln>
          <a:effectLst/>
        </p:spPr>
        <p:txBody>
          <a:bodyPr vert="horz" wrap="square" lIns="92953" tIns="46477" rIns="92953" bIns="46477" numCol="1" anchor="t" anchorCtr="0" compatLnSpc="1">
            <a:prstTxWarp prst="textNoShape">
              <a:avLst/>
            </a:prstTxWarp>
          </a:bodyPr>
          <a:lstStyle>
            <a:lvl1pPr algn="r" defTabSz="929627">
              <a:defRPr sz="1200" smtClean="0"/>
            </a:lvl1pPr>
          </a:lstStyle>
          <a:p>
            <a:pPr>
              <a:defRPr/>
            </a:pPr>
            <a:endParaRPr lang="en-US" dirty="0"/>
          </a:p>
        </p:txBody>
      </p:sp>
      <p:sp>
        <p:nvSpPr>
          <p:cNvPr id="5124" name="Rectangle 4"/>
          <p:cNvSpPr>
            <a:spLocks noGrp="1" noRot="1" noChangeAspect="1" noChangeArrowheads="1" noTextEdit="1"/>
          </p:cNvSpPr>
          <p:nvPr>
            <p:ph type="sldImg" idx="2"/>
          </p:nvPr>
        </p:nvSpPr>
        <p:spPr bwMode="auto">
          <a:xfrm>
            <a:off x="1171575" y="695325"/>
            <a:ext cx="4641850" cy="3481388"/>
          </a:xfrm>
          <a:prstGeom prst="rect">
            <a:avLst/>
          </a:prstGeom>
          <a:noFill/>
          <a:ln w="9525">
            <a:solidFill>
              <a:srgbClr val="000000"/>
            </a:solidFill>
            <a:miter lim="800000"/>
            <a:headEnd/>
            <a:tailEnd/>
          </a:ln>
        </p:spPr>
      </p:sp>
      <p:sp>
        <p:nvSpPr>
          <p:cNvPr id="24581" name="Rectangle 5"/>
          <p:cNvSpPr>
            <a:spLocks noGrp="1" noChangeArrowheads="1"/>
          </p:cNvSpPr>
          <p:nvPr>
            <p:ph type="body" sz="quarter" idx="3"/>
          </p:nvPr>
        </p:nvSpPr>
        <p:spPr bwMode="auto">
          <a:xfrm>
            <a:off x="699133" y="4410392"/>
            <a:ext cx="5586735" cy="4177348"/>
          </a:xfrm>
          <a:prstGeom prst="rect">
            <a:avLst/>
          </a:prstGeom>
          <a:noFill/>
          <a:ln w="9525">
            <a:noFill/>
            <a:miter lim="800000"/>
            <a:headEnd/>
            <a:tailEnd/>
          </a:ln>
          <a:effectLst/>
        </p:spPr>
        <p:txBody>
          <a:bodyPr vert="horz" wrap="square" lIns="92953" tIns="46477" rIns="92953" bIns="4647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582" name="Rectangle 6"/>
          <p:cNvSpPr>
            <a:spLocks noGrp="1" noChangeArrowheads="1"/>
          </p:cNvSpPr>
          <p:nvPr>
            <p:ph type="ftr" sz="quarter" idx="4"/>
          </p:nvPr>
        </p:nvSpPr>
        <p:spPr bwMode="auto">
          <a:xfrm>
            <a:off x="1" y="8817612"/>
            <a:ext cx="3027466" cy="464503"/>
          </a:xfrm>
          <a:prstGeom prst="rect">
            <a:avLst/>
          </a:prstGeom>
          <a:noFill/>
          <a:ln w="9525">
            <a:noFill/>
            <a:miter lim="800000"/>
            <a:headEnd/>
            <a:tailEnd/>
          </a:ln>
          <a:effectLst/>
        </p:spPr>
        <p:txBody>
          <a:bodyPr vert="horz" wrap="square" lIns="92953" tIns="46477" rIns="92953" bIns="46477" numCol="1" anchor="b" anchorCtr="0" compatLnSpc="1">
            <a:prstTxWarp prst="textNoShape">
              <a:avLst/>
            </a:prstTxWarp>
          </a:bodyPr>
          <a:lstStyle>
            <a:lvl1pPr defTabSz="929627">
              <a:defRPr sz="1200" smtClean="0"/>
            </a:lvl1pPr>
          </a:lstStyle>
          <a:p>
            <a:pPr>
              <a:defRPr/>
            </a:pPr>
            <a:endParaRPr lang="en-US" dirty="0"/>
          </a:p>
        </p:txBody>
      </p:sp>
      <p:sp>
        <p:nvSpPr>
          <p:cNvPr id="24583" name="Rectangle 7"/>
          <p:cNvSpPr>
            <a:spLocks noGrp="1" noChangeArrowheads="1"/>
          </p:cNvSpPr>
          <p:nvPr>
            <p:ph type="sldNum" sz="quarter" idx="5"/>
          </p:nvPr>
        </p:nvSpPr>
        <p:spPr bwMode="auto">
          <a:xfrm>
            <a:off x="3955953" y="8817612"/>
            <a:ext cx="3027466" cy="464503"/>
          </a:xfrm>
          <a:prstGeom prst="rect">
            <a:avLst/>
          </a:prstGeom>
          <a:noFill/>
          <a:ln w="9525">
            <a:noFill/>
            <a:miter lim="800000"/>
            <a:headEnd/>
            <a:tailEnd/>
          </a:ln>
          <a:effectLst/>
        </p:spPr>
        <p:txBody>
          <a:bodyPr vert="horz" wrap="square" lIns="92953" tIns="46477" rIns="92953" bIns="46477" numCol="1" anchor="b" anchorCtr="0" compatLnSpc="1">
            <a:prstTxWarp prst="textNoShape">
              <a:avLst/>
            </a:prstTxWarp>
          </a:bodyPr>
          <a:lstStyle>
            <a:lvl1pPr algn="r" defTabSz="929627">
              <a:defRPr sz="1200" smtClean="0"/>
            </a:lvl1pPr>
          </a:lstStyle>
          <a:p>
            <a:pPr>
              <a:defRPr/>
            </a:pPr>
            <a:fld id="{13D50BE3-7B63-4F74-A846-78120FB61B94}" type="slidenum">
              <a:rPr lang="en-US"/>
              <a:pPr>
                <a:defRPr/>
              </a:pPr>
              <a:t>‹#›</a:t>
            </a:fld>
            <a:endParaRPr lang="en-US" dirty="0"/>
          </a:p>
        </p:txBody>
      </p:sp>
    </p:spTree>
    <p:extLst>
      <p:ext uri="{BB962C8B-B14F-4D97-AF65-F5344CB8AC3E}">
        <p14:creationId xmlns:p14="http://schemas.microsoft.com/office/powerpoint/2010/main" val="3562812337"/>
      </p:ext>
    </p:extLst>
  </p:cSld>
  <p:clrMap bg1="lt1" tx1="dk1" bg2="lt2" tx2="dk2" accent1="accent1" accent2="accent2" accent3="accent3" accent4="accent4" accent5="accent5" accent6="accent6" hlink="hlink" folHlink="folHlink"/>
  <p:notesStyle>
    <a:lvl1pPr algn="l" rtl="0" eaLnBrk="0" fontAlgn="base" hangingPunct="0">
      <a:lnSpc>
        <a:spcPct val="95000"/>
      </a:lnSpc>
      <a:spcBef>
        <a:spcPct val="60000"/>
      </a:spcBef>
      <a:spcAft>
        <a:spcPct val="0"/>
      </a:spcAft>
      <a:defRPr sz="1200" kern="1200">
        <a:solidFill>
          <a:schemeClr val="tx1"/>
        </a:solidFill>
        <a:latin typeface="Arial" charset="0"/>
        <a:ea typeface="+mn-ea"/>
        <a:cs typeface="+mn-cs"/>
      </a:defRPr>
    </a:lvl1pPr>
    <a:lvl2pPr marL="114300" indent="-112713" algn="l" rtl="0" eaLnBrk="0" fontAlgn="base" hangingPunct="0">
      <a:lnSpc>
        <a:spcPct val="95000"/>
      </a:lnSpc>
      <a:spcBef>
        <a:spcPct val="40000"/>
      </a:spcBef>
      <a:spcAft>
        <a:spcPct val="0"/>
      </a:spcAft>
      <a:buChar char="•"/>
      <a:defRPr sz="1200" kern="1200">
        <a:solidFill>
          <a:schemeClr val="tx1"/>
        </a:solidFill>
        <a:latin typeface="Arial" charset="0"/>
        <a:ea typeface="+mn-ea"/>
        <a:cs typeface="+mn-cs"/>
      </a:defRPr>
    </a:lvl2pPr>
    <a:lvl3pPr marL="347663" indent="-119063" algn="l" rtl="0" eaLnBrk="0" fontAlgn="base" hangingPunct="0">
      <a:lnSpc>
        <a:spcPct val="95000"/>
      </a:lnSpc>
      <a:spcBef>
        <a:spcPct val="20000"/>
      </a:spcBef>
      <a:spcAft>
        <a:spcPct val="0"/>
      </a:spcAft>
      <a:buChar char="•"/>
      <a:defRPr sz="1000" kern="1200">
        <a:solidFill>
          <a:schemeClr val="tx1"/>
        </a:solidFill>
        <a:latin typeface="Arial" charset="0"/>
        <a:ea typeface="+mn-ea"/>
        <a:cs typeface="+mn-cs"/>
      </a:defRPr>
    </a:lvl3pPr>
    <a:lvl4pPr marL="566738" indent="-104775" algn="l" rtl="0" eaLnBrk="0" fontAlgn="base" hangingPunct="0">
      <a:lnSpc>
        <a:spcPct val="95000"/>
      </a:lnSpc>
      <a:spcBef>
        <a:spcPct val="20000"/>
      </a:spcBef>
      <a:spcAft>
        <a:spcPct val="0"/>
      </a:spcAft>
      <a:buChar char="•"/>
      <a:defRPr sz="900" kern="1200">
        <a:solidFill>
          <a:schemeClr val="tx1"/>
        </a:solidFill>
        <a:latin typeface="Arial" charset="0"/>
        <a:ea typeface="+mn-ea"/>
        <a:cs typeface="+mn-cs"/>
      </a:defRPr>
    </a:lvl4pPr>
    <a:lvl5pPr marL="798513" indent="-117475" algn="l" rtl="0" eaLnBrk="0" fontAlgn="base" hangingPunct="0">
      <a:lnSpc>
        <a:spcPct val="95000"/>
      </a:lnSpc>
      <a:spcBef>
        <a:spcPct val="20000"/>
      </a:spcBef>
      <a:spcAft>
        <a:spcPct val="0"/>
      </a:spcAft>
      <a:buChar char="•"/>
      <a:defRPr sz="9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a:xfrm>
            <a:off x="844550" y="457200"/>
            <a:ext cx="5280025" cy="3960813"/>
          </a:xfrm>
          <a:ln/>
        </p:spPr>
      </p:sp>
      <p:sp>
        <p:nvSpPr>
          <p:cNvPr id="18435" name="Rectangle 3"/>
          <p:cNvSpPr>
            <a:spLocks noGrp="1" noChangeArrowheads="1"/>
          </p:cNvSpPr>
          <p:nvPr>
            <p:ph type="body" idx="1"/>
          </p:nvPr>
        </p:nvSpPr>
        <p:spPr>
          <a:xfrm>
            <a:off x="699133" y="4410392"/>
            <a:ext cx="5586735" cy="4177348"/>
          </a:xfrm>
          <a:noFill/>
          <a:ln/>
        </p:spPr>
        <p:txBody>
          <a:bodyPr/>
          <a:lstStyle/>
          <a:p>
            <a:endParaRPr lang="en-US" dirty="0"/>
          </a:p>
        </p:txBody>
      </p:sp>
    </p:spTree>
    <p:extLst>
      <p:ext uri="{BB962C8B-B14F-4D97-AF65-F5344CB8AC3E}">
        <p14:creationId xmlns:p14="http://schemas.microsoft.com/office/powerpoint/2010/main" val="2837199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3D50BE3-7B63-4F74-A846-78120FB61B94}" type="slidenum">
              <a:rPr lang="en-US" smtClean="0"/>
              <a:pPr>
                <a:defRPr/>
              </a:pPr>
              <a:t>2</a:t>
            </a:fld>
            <a:endParaRPr lang="en-US" dirty="0"/>
          </a:p>
        </p:txBody>
      </p:sp>
    </p:spTree>
    <p:extLst>
      <p:ext uri="{BB962C8B-B14F-4D97-AF65-F5344CB8AC3E}">
        <p14:creationId xmlns:p14="http://schemas.microsoft.com/office/powerpoint/2010/main" val="2322237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3D50BE3-7B63-4F74-A846-78120FB61B94}" type="slidenum">
              <a:rPr lang="en-US" smtClean="0"/>
              <a:pPr>
                <a:defRPr/>
              </a:pPr>
              <a:t>3</a:t>
            </a:fld>
            <a:endParaRPr lang="en-US" dirty="0"/>
          </a:p>
        </p:txBody>
      </p:sp>
    </p:spTree>
    <p:extLst>
      <p:ext uri="{BB962C8B-B14F-4D97-AF65-F5344CB8AC3E}">
        <p14:creationId xmlns:p14="http://schemas.microsoft.com/office/powerpoint/2010/main" val="1080039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852F8CAD-11DF-4729-88D8-B858EBC7F526}" type="slidenum">
              <a:rPr lang="en-US"/>
              <a:pPr/>
              <a:t>4</a:t>
            </a:fld>
            <a:endParaRPr lang="en-US"/>
          </a:p>
        </p:txBody>
      </p:sp>
      <p:sp>
        <p:nvSpPr>
          <p:cNvPr id="2653186" name="Rectangle 2"/>
          <p:cNvSpPr>
            <a:spLocks noGrp="1" noRot="1" noChangeAspect="1" noChangeArrowheads="1" noTextEdit="1"/>
          </p:cNvSpPr>
          <p:nvPr>
            <p:ph type="sldImg"/>
          </p:nvPr>
        </p:nvSpPr>
        <p:spPr>
          <a:ln/>
        </p:spPr>
      </p:sp>
      <p:sp>
        <p:nvSpPr>
          <p:cNvPr id="2653187" name="Rectangle 3"/>
          <p:cNvSpPr>
            <a:spLocks noGrp="1" noChangeArrowheads="1"/>
          </p:cNvSpPr>
          <p:nvPr>
            <p:ph type="body" idx="1"/>
          </p:nvPr>
        </p:nvSpPr>
        <p:spPr>
          <a:xfrm>
            <a:off x="914400" y="4343400"/>
            <a:ext cx="5029200" cy="4114800"/>
          </a:xfrm>
        </p:spPr>
        <p:txBody>
          <a:bodyPr/>
          <a:lstStyle/>
          <a:p>
            <a:endParaRPr lang="en-US"/>
          </a:p>
        </p:txBody>
      </p:sp>
    </p:spTree>
    <p:extLst>
      <p:ext uri="{BB962C8B-B14F-4D97-AF65-F5344CB8AC3E}">
        <p14:creationId xmlns:p14="http://schemas.microsoft.com/office/powerpoint/2010/main" val="1928220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5663" y="457200"/>
            <a:ext cx="5273675" cy="39560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3D50BE3-7B63-4F74-A846-78120FB61B94}" type="slidenum">
              <a:rPr lang="en-US" smtClean="0"/>
              <a:pPr>
                <a:defRPr/>
              </a:pPr>
              <a:t>5</a:t>
            </a:fld>
            <a:endParaRPr lang="en-US" dirty="0"/>
          </a:p>
        </p:txBody>
      </p:sp>
    </p:spTree>
    <p:extLst>
      <p:ext uri="{BB962C8B-B14F-4D97-AF65-F5344CB8AC3E}">
        <p14:creationId xmlns:p14="http://schemas.microsoft.com/office/powerpoint/2010/main" val="202367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5663" y="457200"/>
            <a:ext cx="5273675" cy="39560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3D50BE3-7B63-4F74-A846-78120FB61B94}" type="slidenum">
              <a:rPr lang="en-US" smtClean="0"/>
              <a:pPr>
                <a:defRPr/>
              </a:pPr>
              <a:t>6</a:t>
            </a:fld>
            <a:endParaRPr lang="en-US" dirty="0"/>
          </a:p>
        </p:txBody>
      </p:sp>
    </p:spTree>
    <p:extLst>
      <p:ext uri="{BB962C8B-B14F-4D97-AF65-F5344CB8AC3E}">
        <p14:creationId xmlns:p14="http://schemas.microsoft.com/office/powerpoint/2010/main" val="2652355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5663" y="457200"/>
            <a:ext cx="5273675" cy="39560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3D50BE3-7B63-4F74-A846-78120FB61B94}" type="slidenum">
              <a:rPr lang="en-US" smtClean="0"/>
              <a:pPr>
                <a:defRPr/>
              </a:pPr>
              <a:t>7</a:t>
            </a:fld>
            <a:endParaRPr lang="en-US" dirty="0"/>
          </a:p>
        </p:txBody>
      </p:sp>
    </p:spTree>
    <p:extLst>
      <p:ext uri="{BB962C8B-B14F-4D97-AF65-F5344CB8AC3E}">
        <p14:creationId xmlns:p14="http://schemas.microsoft.com/office/powerpoint/2010/main" val="32040344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385819E0-982E-4F81-9C22-70575A758EC9}" type="slidenum">
              <a:rPr lang="en-US"/>
              <a:pPr/>
              <a:t>9</a:t>
            </a:fld>
            <a:endParaRPr lang="en-US"/>
          </a:p>
        </p:txBody>
      </p:sp>
      <p:sp>
        <p:nvSpPr>
          <p:cNvPr id="2661378" name="Rectangle 2"/>
          <p:cNvSpPr>
            <a:spLocks noGrp="1" noRot="1" noChangeAspect="1" noChangeArrowheads="1" noTextEdit="1"/>
          </p:cNvSpPr>
          <p:nvPr>
            <p:ph type="sldImg"/>
          </p:nvPr>
        </p:nvSpPr>
        <p:spPr>
          <a:ln/>
        </p:spPr>
      </p:sp>
      <p:sp>
        <p:nvSpPr>
          <p:cNvPr id="2661379" name="Rectangle 3"/>
          <p:cNvSpPr>
            <a:spLocks noGrp="1" noChangeArrowheads="1"/>
          </p:cNvSpPr>
          <p:nvPr>
            <p:ph type="body" idx="1"/>
          </p:nvPr>
        </p:nvSpPr>
        <p:spPr>
          <a:xfrm>
            <a:off x="914400" y="4343400"/>
            <a:ext cx="5029200" cy="4114800"/>
          </a:xfrm>
        </p:spPr>
        <p:txBody>
          <a:bodyPr/>
          <a:lstStyle/>
          <a:p>
            <a:r>
              <a:rPr lang="en-US"/>
              <a:t>At this point, we are making the decisions as to “how” we will meet the aggregate schedules, and “when” each major task with be performed.</a:t>
            </a:r>
          </a:p>
        </p:txBody>
      </p:sp>
    </p:spTree>
    <p:extLst>
      <p:ext uri="{BB962C8B-B14F-4D97-AF65-F5344CB8AC3E}">
        <p14:creationId xmlns:p14="http://schemas.microsoft.com/office/powerpoint/2010/main" val="1331182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1E328611-E3D0-4454-BF60-D39A40A68087}" type="slidenum">
              <a:rPr lang="en-US"/>
              <a:pPr/>
              <a:t>10</a:t>
            </a:fld>
            <a:endParaRPr lang="en-US"/>
          </a:p>
        </p:txBody>
      </p:sp>
      <p:sp>
        <p:nvSpPr>
          <p:cNvPr id="2663426" name="Rectangle 2"/>
          <p:cNvSpPr>
            <a:spLocks noGrp="1" noRot="1" noChangeAspect="1" noChangeArrowheads="1" noTextEdit="1"/>
          </p:cNvSpPr>
          <p:nvPr>
            <p:ph type="sldImg"/>
          </p:nvPr>
        </p:nvSpPr>
        <p:spPr>
          <a:ln/>
        </p:spPr>
      </p:sp>
      <p:sp>
        <p:nvSpPr>
          <p:cNvPr id="2663427" name="Rectangle 3"/>
          <p:cNvSpPr>
            <a:spLocks noGrp="1" noChangeArrowheads="1"/>
          </p:cNvSpPr>
          <p:nvPr>
            <p:ph type="body" idx="1"/>
          </p:nvPr>
        </p:nvSpPr>
        <p:spPr>
          <a:xfrm>
            <a:off x="914400" y="4343400"/>
            <a:ext cx="5029200" cy="4114800"/>
          </a:xfrm>
        </p:spPr>
        <p:txBody>
          <a:bodyPr/>
          <a:lstStyle/>
          <a:p>
            <a:r>
              <a:rPr lang="en-US"/>
              <a:t>This slide and the next list various scheduling strategies.  The four slides following provide a framework for discussing the advantages and disadvantages of the pure strategies.</a:t>
            </a:r>
          </a:p>
        </p:txBody>
      </p:sp>
    </p:spTree>
    <p:extLst>
      <p:ext uri="{BB962C8B-B14F-4D97-AF65-F5344CB8AC3E}">
        <p14:creationId xmlns:p14="http://schemas.microsoft.com/office/powerpoint/2010/main" val="23817092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1E328611-E3D0-4454-BF60-D39A40A68087}" type="slidenum">
              <a:rPr lang="en-US"/>
              <a:pPr/>
              <a:t>11</a:t>
            </a:fld>
            <a:endParaRPr lang="en-US"/>
          </a:p>
        </p:txBody>
      </p:sp>
      <p:sp>
        <p:nvSpPr>
          <p:cNvPr id="2663426" name="Rectangle 2"/>
          <p:cNvSpPr>
            <a:spLocks noGrp="1" noRot="1" noChangeAspect="1" noChangeArrowheads="1" noTextEdit="1"/>
          </p:cNvSpPr>
          <p:nvPr>
            <p:ph type="sldImg"/>
          </p:nvPr>
        </p:nvSpPr>
        <p:spPr>
          <a:ln/>
        </p:spPr>
      </p:sp>
      <p:sp>
        <p:nvSpPr>
          <p:cNvPr id="2663427" name="Rectangle 3"/>
          <p:cNvSpPr>
            <a:spLocks noGrp="1" noChangeArrowheads="1"/>
          </p:cNvSpPr>
          <p:nvPr>
            <p:ph type="body" idx="1"/>
          </p:nvPr>
        </p:nvSpPr>
        <p:spPr>
          <a:xfrm>
            <a:off x="914400" y="4343400"/>
            <a:ext cx="5029200" cy="4114800"/>
          </a:xfrm>
        </p:spPr>
        <p:txBody>
          <a:bodyPr/>
          <a:lstStyle/>
          <a:p>
            <a:r>
              <a:rPr lang="en-US"/>
              <a:t>This slide and the next list various scheduling strategies.  The four slides following provide a framework for discussing the advantages and disadvantages of the pure strategies.</a:t>
            </a:r>
          </a:p>
        </p:txBody>
      </p:sp>
    </p:spTree>
    <p:extLst>
      <p:ext uri="{BB962C8B-B14F-4D97-AF65-F5344CB8AC3E}">
        <p14:creationId xmlns:p14="http://schemas.microsoft.com/office/powerpoint/2010/main" val="22039475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3D50BE3-7B63-4F74-A846-78120FB61B94}" type="slidenum">
              <a:rPr lang="en-US" smtClean="0"/>
              <a:pPr>
                <a:defRPr/>
              </a:pPr>
              <a:t>15</a:t>
            </a:fld>
            <a:endParaRPr lang="en-US" dirty="0"/>
          </a:p>
        </p:txBody>
      </p:sp>
    </p:spTree>
    <p:extLst>
      <p:ext uri="{BB962C8B-B14F-4D97-AF65-F5344CB8AC3E}">
        <p14:creationId xmlns:p14="http://schemas.microsoft.com/office/powerpoint/2010/main" val="32737474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5663" y="457200"/>
            <a:ext cx="5273675" cy="39560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3D50BE3-7B63-4F74-A846-78120FB61B94}" type="slidenum">
              <a:rPr lang="en-US" smtClean="0"/>
              <a:pPr>
                <a:defRPr/>
              </a:pPr>
              <a:t>21</a:t>
            </a:fld>
            <a:endParaRPr lang="en-US" dirty="0"/>
          </a:p>
        </p:txBody>
      </p:sp>
    </p:spTree>
    <p:extLst>
      <p:ext uri="{BB962C8B-B14F-4D97-AF65-F5344CB8AC3E}">
        <p14:creationId xmlns:p14="http://schemas.microsoft.com/office/powerpoint/2010/main" val="10699742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5663" y="457200"/>
            <a:ext cx="5273675" cy="39560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3D50BE3-7B63-4F74-A846-78120FB61B94}" type="slidenum">
              <a:rPr lang="en-US" smtClean="0"/>
              <a:pPr>
                <a:defRPr/>
              </a:pPr>
              <a:t>26</a:t>
            </a:fld>
            <a:endParaRPr lang="en-US" dirty="0"/>
          </a:p>
        </p:txBody>
      </p:sp>
    </p:spTree>
    <p:extLst>
      <p:ext uri="{BB962C8B-B14F-4D97-AF65-F5344CB8AC3E}">
        <p14:creationId xmlns:p14="http://schemas.microsoft.com/office/powerpoint/2010/main" val="27340421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3D50BE3-7B63-4F74-A846-78120FB61B94}" type="slidenum">
              <a:rPr lang="en-US" smtClean="0"/>
              <a:pPr>
                <a:defRPr/>
              </a:pPr>
              <a:t>30</a:t>
            </a:fld>
            <a:endParaRPr lang="en-US" dirty="0"/>
          </a:p>
        </p:txBody>
      </p:sp>
    </p:spTree>
    <p:extLst>
      <p:ext uri="{BB962C8B-B14F-4D97-AF65-F5344CB8AC3E}">
        <p14:creationId xmlns:p14="http://schemas.microsoft.com/office/powerpoint/2010/main" val="484516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7" name="DividerColorBox"/>
          <p:cNvSpPr>
            <a:spLocks noChangeArrowheads="1"/>
          </p:cNvSpPr>
          <p:nvPr userDrawn="1"/>
        </p:nvSpPr>
        <p:spPr bwMode="auto">
          <a:xfrm>
            <a:off x="0" y="0"/>
            <a:ext cx="1208088" cy="4046538"/>
          </a:xfrm>
          <a:prstGeom prst="rect">
            <a:avLst/>
          </a:prstGeom>
          <a:solidFill>
            <a:srgbClr val="923222"/>
          </a:solidFill>
          <a:ln w="12700" algn="ctr">
            <a:noFill/>
            <a:miter lim="800000"/>
            <a:headEnd/>
            <a:tailEnd/>
          </a:ln>
        </p:spPr>
        <p:txBody>
          <a:bodyPr wrap="none" anchor="ctr"/>
          <a:lstStyle/>
          <a:p>
            <a:pPr algn="ctr" eaLnBrk="0" hangingPunct="0"/>
            <a:endParaRPr lang="en-US" sz="2800" b="1" dirty="0">
              <a:solidFill>
                <a:prstClr val="black"/>
              </a:solidFill>
              <a:latin typeface="News Gothic MT" pitchFamily="34" charset="0"/>
            </a:endParaRPr>
          </a:p>
        </p:txBody>
      </p:sp>
    </p:spTree>
    <p:extLst>
      <p:ext uri="{BB962C8B-B14F-4D97-AF65-F5344CB8AC3E}">
        <p14:creationId xmlns:p14="http://schemas.microsoft.com/office/powerpoint/2010/main" val="3353398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9"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924135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435" y="440692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435"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1643451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53158" y="1295400"/>
            <a:ext cx="4148503" cy="4775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2340" y="1295400"/>
            <a:ext cx="4149969" cy="4775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21150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06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06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280" y="1535113"/>
            <a:ext cx="404153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280" y="2174875"/>
            <a:ext cx="404153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p:cNvSpPr>
            <a:spLocks noGrp="1"/>
          </p:cNvSpPr>
          <p:nvPr>
            <p:ph type="sldNum" sz="quarter" idx="10"/>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12" name="Footer Placeholder 4"/>
          <p:cNvSpPr>
            <a:spLocks noGrp="1"/>
          </p:cNvSpPr>
          <p:nvPr>
            <p:ph type="ftr" sz="quarter" idx="11"/>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831189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6"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42465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5"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79173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7" y="273050"/>
            <a:ext cx="3008435"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538" y="273071"/>
            <a:ext cx="511126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7" y="1435103"/>
            <a:ext cx="3008435"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10"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2199383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166"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166"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166"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936633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827149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3620" y="76200"/>
            <a:ext cx="2108688" cy="5994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53164" y="76200"/>
            <a:ext cx="6189785" cy="5994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510819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53163" y="76200"/>
            <a:ext cx="8439150" cy="599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6"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9486472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53163" y="76200"/>
            <a:ext cx="8439150" cy="914400"/>
          </a:xfrm>
        </p:spPr>
        <p:txBody>
          <a:bodyPr/>
          <a:lstStyle/>
          <a:p>
            <a:r>
              <a:rPr lang="en-US"/>
              <a:t>Click to edit Master title style</a:t>
            </a:r>
          </a:p>
        </p:txBody>
      </p:sp>
      <p:sp>
        <p:nvSpPr>
          <p:cNvPr id="3" name="Table Placeholder 2"/>
          <p:cNvSpPr>
            <a:spLocks noGrp="1"/>
          </p:cNvSpPr>
          <p:nvPr>
            <p:ph type="tbl" idx="1"/>
          </p:nvPr>
        </p:nvSpPr>
        <p:spPr>
          <a:xfrm>
            <a:off x="353163" y="1295400"/>
            <a:ext cx="8439150" cy="4775200"/>
          </a:xfrm>
        </p:spPr>
        <p:txBody>
          <a:bodyPr/>
          <a:lstStyle/>
          <a:p>
            <a:pPr lvl="0"/>
            <a:endParaRPr lang="en-US" noProof="0" dirty="0"/>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1340039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53163" y="76200"/>
            <a:ext cx="8439150" cy="914400"/>
          </a:xfrm>
        </p:spPr>
        <p:txBody>
          <a:bodyPr/>
          <a:lstStyle/>
          <a:p>
            <a:r>
              <a:rPr lang="en-US"/>
              <a:t>Click to edit Master title style</a:t>
            </a:r>
          </a:p>
        </p:txBody>
      </p:sp>
      <p:sp>
        <p:nvSpPr>
          <p:cNvPr id="3" name="Content Placeholder 2"/>
          <p:cNvSpPr>
            <a:spLocks noGrp="1"/>
          </p:cNvSpPr>
          <p:nvPr>
            <p:ph sz="half" idx="1"/>
          </p:nvPr>
        </p:nvSpPr>
        <p:spPr>
          <a:xfrm>
            <a:off x="353158" y="1295400"/>
            <a:ext cx="4148503" cy="477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2340" y="1295400"/>
            <a:ext cx="4149969" cy="231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2340" y="3759200"/>
            <a:ext cx="4149969" cy="231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9" name="Footer Placeholder 4"/>
          <p:cNvSpPr>
            <a:spLocks noGrp="1"/>
          </p:cNvSpPr>
          <p:nvPr>
            <p:ph type="ftr" sz="quarter" idx="10"/>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7795306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6"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061529929"/>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CH"/>
          </a:p>
        </p:txBody>
      </p:sp>
      <p:sp>
        <p:nvSpPr>
          <p:cNvPr id="5" name="Content Placeholder 2"/>
          <p:cNvSpPr>
            <a:spLocks noGrp="1"/>
          </p:cNvSpPr>
          <p:nvPr>
            <p:ph sz="half" idx="1"/>
          </p:nvPr>
        </p:nvSpPr>
        <p:spPr>
          <a:xfrm>
            <a:off x="527051" y="1346200"/>
            <a:ext cx="2667371" cy="49450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6" name="Content Placeholder 3"/>
          <p:cNvSpPr>
            <a:spLocks noGrp="1"/>
          </p:cNvSpPr>
          <p:nvPr>
            <p:ph sz="half" idx="2"/>
          </p:nvPr>
        </p:nvSpPr>
        <p:spPr>
          <a:xfrm>
            <a:off x="6170308" y="1346200"/>
            <a:ext cx="2676809" cy="49450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7" name="Content Placeholder 2"/>
          <p:cNvSpPr>
            <a:spLocks noGrp="1"/>
          </p:cNvSpPr>
          <p:nvPr>
            <p:ph sz="half" idx="12"/>
          </p:nvPr>
        </p:nvSpPr>
        <p:spPr>
          <a:xfrm>
            <a:off x="3339524" y="1357911"/>
            <a:ext cx="2667371" cy="493335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8"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9"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2159301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el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a:t>Click to edit Master title style</a:t>
            </a:r>
            <a:endParaRPr lang="en-US" noProof="0" dirty="0"/>
          </a:p>
        </p:txBody>
      </p:sp>
      <p:sp>
        <p:nvSpPr>
          <p:cNvPr id="10" name="Textplatzhalter 9" descr="Subtitle" title="Subtitle"/>
          <p:cNvSpPr>
            <a:spLocks noGrp="1"/>
          </p:cNvSpPr>
          <p:nvPr>
            <p:ph type="body" sz="quarter" idx="10"/>
          </p:nvPr>
        </p:nvSpPr>
        <p:spPr>
          <a:xfrm>
            <a:off x="540000" y="738554"/>
            <a:ext cx="8311392" cy="367571"/>
          </a:xfrm>
        </p:spPr>
        <p:txBody>
          <a:bodyPr anchor="b">
            <a:noAutofit/>
          </a:bodyPr>
          <a:lstStyle>
            <a:lvl1pPr marL="0" indent="0">
              <a:lnSpc>
                <a:spcPct val="95000"/>
              </a:lnSpc>
              <a:buNone/>
              <a:defRPr sz="2000" b="0" i="1">
                <a:solidFill>
                  <a:schemeClr val="tx1"/>
                </a:solidFill>
              </a:defRPr>
            </a:lvl1pPr>
          </a:lstStyle>
          <a:p>
            <a:pPr lvl="0"/>
            <a:r>
              <a:rPr lang="en-US" noProof="0"/>
              <a:t>Click to edit Master text styles</a:t>
            </a:r>
          </a:p>
        </p:txBody>
      </p:sp>
      <p:sp>
        <p:nvSpPr>
          <p:cNvPr id="9" name="Content Placeholder 2"/>
          <p:cNvSpPr>
            <a:spLocks noGrp="1"/>
          </p:cNvSpPr>
          <p:nvPr>
            <p:ph idx="1"/>
          </p:nvPr>
        </p:nvSpPr>
        <p:spPr>
          <a:xfrm>
            <a:off x="523875" y="1346200"/>
            <a:ext cx="8334405" cy="4940320"/>
          </a:xfrm>
        </p:spPr>
        <p:txBody>
          <a:bodyPr>
            <a:noAutofit/>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41835648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27050" y="1346200"/>
            <a:ext cx="4160838" cy="4945063"/>
          </a:xfrm>
        </p:spPr>
        <p:txBody>
          <a:bodyPr/>
          <a:lstStyle>
            <a:lvl1pPr marL="233363" marR="0" indent="-233363" algn="l" defTabSz="914400" rtl="0" eaLnBrk="1" fontAlgn="base" latinLnBrk="0" hangingPunct="1">
              <a:lnSpc>
                <a:spcPct val="95000"/>
              </a:lnSpc>
              <a:spcBef>
                <a:spcPct val="75000"/>
              </a:spcBef>
              <a:spcAft>
                <a:spcPct val="0"/>
              </a:spcAft>
              <a:buClr>
                <a:srgbClr val="FCAF17"/>
              </a:buClr>
              <a:buSzPct val="110000"/>
              <a:buFont typeface="Wingdings" pitchFamily="2" charset="2"/>
              <a:buChar char="§"/>
              <a:tabLst/>
              <a:defRPr sz="2800"/>
            </a:lvl1pPr>
            <a:lvl2pPr marL="398463" marR="0" indent="-163513" algn="l" defTabSz="914400" rtl="0" eaLnBrk="1" fontAlgn="base" latinLnBrk="0" hangingPunct="1">
              <a:lnSpc>
                <a:spcPct val="95000"/>
              </a:lnSpc>
              <a:spcBef>
                <a:spcPct val="40000"/>
              </a:spcBef>
              <a:spcAft>
                <a:spcPct val="0"/>
              </a:spcAft>
              <a:buClr>
                <a:srgbClr val="917B69"/>
              </a:buClr>
              <a:buSzTx/>
              <a:buFont typeface="Arial" charset="0"/>
              <a:buChar char="•"/>
              <a:tabLst/>
              <a:defRPr sz="2400"/>
            </a:lvl2pPr>
            <a:lvl3pPr marL="577850" marR="0" indent="-177800" algn="l" defTabSz="914400" rtl="0" eaLnBrk="1" fontAlgn="base" latinLnBrk="0" hangingPunct="1">
              <a:lnSpc>
                <a:spcPct val="95000"/>
              </a:lnSpc>
              <a:spcBef>
                <a:spcPct val="30000"/>
              </a:spcBef>
              <a:spcAft>
                <a:spcPct val="0"/>
              </a:spcAft>
              <a:buClrTx/>
              <a:buSzTx/>
              <a:buFont typeface="Arial" charset="0"/>
              <a:buChar char="-"/>
              <a:tabLst/>
              <a:defRPr sz="2000"/>
            </a:lvl3pPr>
            <a:lvl4pPr marL="752475" marR="0" indent="-173038" algn="l" defTabSz="914400" rtl="0" eaLnBrk="1" fontAlgn="base" latinLnBrk="0" hangingPunct="1">
              <a:lnSpc>
                <a:spcPct val="95000"/>
              </a:lnSpc>
              <a:spcBef>
                <a:spcPct val="20000"/>
              </a:spcBef>
              <a:spcAft>
                <a:spcPct val="0"/>
              </a:spcAft>
              <a:buClrTx/>
              <a:buSzTx/>
              <a:buFont typeface="Arial" charset="0"/>
              <a:buChar char="•"/>
              <a:tabLst/>
              <a:defRPr sz="1800"/>
            </a:lvl4pPr>
            <a:lvl5pPr marL="917575" marR="0" indent="-163513" algn="l" defTabSz="914400" rtl="0" eaLnBrk="1" fontAlgn="base" latinLnBrk="0" hangingPunct="1">
              <a:lnSpc>
                <a:spcPct val="100000"/>
              </a:lnSpc>
              <a:spcBef>
                <a:spcPct val="20000"/>
              </a:spcBef>
              <a:spcAft>
                <a:spcPct val="0"/>
              </a:spcAft>
              <a:buClrTx/>
              <a:buSzTx/>
              <a:buFontTx/>
              <a:buChar char="»"/>
              <a:tabLst/>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Content Placeholder 3"/>
          <p:cNvSpPr>
            <a:spLocks noGrp="1"/>
          </p:cNvSpPr>
          <p:nvPr>
            <p:ph sz="half" idx="2"/>
          </p:nvPr>
        </p:nvSpPr>
        <p:spPr>
          <a:xfrm>
            <a:off x="4840289" y="1346200"/>
            <a:ext cx="3998912" cy="4945063"/>
          </a:xfrm>
        </p:spPr>
        <p:txBody>
          <a:bodyPr/>
          <a:lstStyle>
            <a:lvl1pPr marL="233363" marR="0" indent="-233363" algn="l" defTabSz="914400" rtl="0" eaLnBrk="1" fontAlgn="base" latinLnBrk="0" hangingPunct="1">
              <a:lnSpc>
                <a:spcPct val="95000"/>
              </a:lnSpc>
              <a:spcBef>
                <a:spcPct val="75000"/>
              </a:spcBef>
              <a:spcAft>
                <a:spcPct val="0"/>
              </a:spcAft>
              <a:buClr>
                <a:srgbClr val="FCAF17"/>
              </a:buClr>
              <a:buSzPct val="110000"/>
              <a:buFont typeface="Wingdings" pitchFamily="2" charset="2"/>
              <a:buChar char="§"/>
              <a:tabLst/>
              <a:defRPr sz="2800"/>
            </a:lvl1pPr>
            <a:lvl2pPr marL="398463" marR="0" indent="-163513" algn="l" defTabSz="914400" rtl="0" eaLnBrk="1" fontAlgn="base" latinLnBrk="0" hangingPunct="1">
              <a:lnSpc>
                <a:spcPct val="95000"/>
              </a:lnSpc>
              <a:spcBef>
                <a:spcPct val="40000"/>
              </a:spcBef>
              <a:spcAft>
                <a:spcPct val="0"/>
              </a:spcAft>
              <a:buClr>
                <a:srgbClr val="917B69"/>
              </a:buClr>
              <a:buSzTx/>
              <a:buFont typeface="Arial" charset="0"/>
              <a:buChar char="•"/>
              <a:tabLst/>
              <a:defRPr sz="2400"/>
            </a:lvl2pPr>
            <a:lvl3pPr marL="577850" marR="0" indent="-177800" algn="l" defTabSz="914400" rtl="0" eaLnBrk="1" fontAlgn="base" latinLnBrk="0" hangingPunct="1">
              <a:lnSpc>
                <a:spcPct val="95000"/>
              </a:lnSpc>
              <a:spcBef>
                <a:spcPct val="30000"/>
              </a:spcBef>
              <a:spcAft>
                <a:spcPct val="0"/>
              </a:spcAft>
              <a:buClrTx/>
              <a:buSzTx/>
              <a:buFont typeface="Arial" charset="0"/>
              <a:buChar char="-"/>
              <a:tabLst/>
              <a:defRPr sz="2000"/>
            </a:lvl3pPr>
            <a:lvl4pPr marL="752475" marR="0" indent="-173038" algn="l" defTabSz="914400" rtl="0" eaLnBrk="1" fontAlgn="base" latinLnBrk="0" hangingPunct="1">
              <a:lnSpc>
                <a:spcPct val="95000"/>
              </a:lnSpc>
              <a:spcBef>
                <a:spcPct val="20000"/>
              </a:spcBef>
              <a:spcAft>
                <a:spcPct val="0"/>
              </a:spcAft>
              <a:buClrTx/>
              <a:buSzTx/>
              <a:buFont typeface="Arial" charset="0"/>
              <a:buChar char="•"/>
              <a:tabLst/>
              <a:defRPr sz="1800"/>
            </a:lvl4pPr>
            <a:lvl5pPr marL="917575" marR="0" indent="-163513" algn="l" defTabSz="914400" rtl="0" eaLnBrk="1" fontAlgn="base" latinLnBrk="0" hangingPunct="1">
              <a:lnSpc>
                <a:spcPct val="100000"/>
              </a:lnSpc>
              <a:spcBef>
                <a:spcPct val="20000"/>
              </a:spcBef>
              <a:spcAft>
                <a:spcPct val="0"/>
              </a:spcAft>
              <a:buClrTx/>
              <a:buSzTx/>
              <a:buFontTx/>
              <a:buChar char="»"/>
              <a:tabLst/>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platzhalter 9" descr="Subtitle" title="Subtitle"/>
          <p:cNvSpPr>
            <a:spLocks noGrp="1"/>
          </p:cNvSpPr>
          <p:nvPr>
            <p:ph type="body" sz="quarter" idx="10"/>
          </p:nvPr>
        </p:nvSpPr>
        <p:spPr>
          <a:xfrm>
            <a:off x="540000" y="738554"/>
            <a:ext cx="8311392" cy="367571"/>
          </a:xfrm>
        </p:spPr>
        <p:txBody>
          <a:bodyPr anchor="b">
            <a:noAutofit/>
          </a:bodyPr>
          <a:lstStyle>
            <a:lvl1pPr marL="0" indent="0">
              <a:lnSpc>
                <a:spcPct val="95000"/>
              </a:lnSpc>
              <a:buNone/>
              <a:defRPr sz="2000" b="0" i="1">
                <a:solidFill>
                  <a:schemeClr val="tx1"/>
                </a:solidFill>
              </a:defRPr>
            </a:lvl1pPr>
          </a:lstStyle>
          <a:p>
            <a:pPr lvl="0"/>
            <a:r>
              <a:rPr lang="en-US" noProof="0"/>
              <a:t>Click to edit Master text styles</a:t>
            </a:r>
          </a:p>
        </p:txBody>
      </p:sp>
      <p:sp>
        <p:nvSpPr>
          <p:cNvPr id="13" name="Title 1"/>
          <p:cNvSpPr>
            <a:spLocks noGrp="1"/>
          </p:cNvSpPr>
          <p:nvPr>
            <p:ph type="title"/>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a:t>Click to edit Master title style</a:t>
            </a:r>
            <a:endParaRPr lang="en-US" noProof="0" dirty="0"/>
          </a:p>
        </p:txBody>
      </p:sp>
      <p:sp>
        <p:nvSpPr>
          <p:cNvPr id="8"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9"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1557863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0" name="Textplatzhalter 9" descr="Subtitle" title="Subtitle"/>
          <p:cNvSpPr>
            <a:spLocks noGrp="1"/>
          </p:cNvSpPr>
          <p:nvPr>
            <p:ph type="body" sz="quarter" idx="10"/>
          </p:nvPr>
        </p:nvSpPr>
        <p:spPr>
          <a:xfrm>
            <a:off x="540000" y="738554"/>
            <a:ext cx="8311392" cy="367571"/>
          </a:xfrm>
        </p:spPr>
        <p:txBody>
          <a:bodyPr anchor="b">
            <a:noAutofit/>
          </a:bodyPr>
          <a:lstStyle>
            <a:lvl1pPr marL="0" indent="0">
              <a:lnSpc>
                <a:spcPct val="95000"/>
              </a:lnSpc>
              <a:buNone/>
              <a:defRPr sz="2000" b="0" i="1">
                <a:solidFill>
                  <a:schemeClr val="tx1"/>
                </a:solidFill>
              </a:defRPr>
            </a:lvl1pPr>
          </a:lstStyle>
          <a:p>
            <a:pPr lvl="0"/>
            <a:r>
              <a:rPr lang="en-US" noProof="0"/>
              <a:t>Click to edit Master text styles</a:t>
            </a:r>
          </a:p>
        </p:txBody>
      </p:sp>
      <p:sp>
        <p:nvSpPr>
          <p:cNvPr id="11" name="Title 1"/>
          <p:cNvSpPr>
            <a:spLocks noGrp="1"/>
          </p:cNvSpPr>
          <p:nvPr>
            <p:ph type="title"/>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a:t>Click to edit Master title style</a:t>
            </a:r>
            <a:endParaRPr lang="en-US" noProof="0" dirty="0"/>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0841512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el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dirty="0"/>
              <a:t>Title</a:t>
            </a:r>
          </a:p>
        </p:txBody>
      </p:sp>
      <p:sp>
        <p:nvSpPr>
          <p:cNvPr id="10" name="Textplatzhalter 9" descr="Subtitle"/>
          <p:cNvSpPr>
            <a:spLocks noGrp="1"/>
          </p:cNvSpPr>
          <p:nvPr>
            <p:ph type="body" sz="quarter" idx="10" hasCustomPrompt="1"/>
          </p:nvPr>
        </p:nvSpPr>
        <p:spPr>
          <a:xfrm>
            <a:off x="540000" y="738554"/>
            <a:ext cx="8311392" cy="367571"/>
          </a:xfrm>
        </p:spPr>
        <p:txBody>
          <a:bodyPr anchor="b" anchorCtr="0">
            <a:noAutofit/>
          </a:bodyPr>
          <a:lstStyle>
            <a:lvl1pPr marL="0" indent="0">
              <a:lnSpc>
                <a:spcPct val="95000"/>
              </a:lnSpc>
              <a:buNone/>
              <a:defRPr sz="2000" b="0" i="1">
                <a:solidFill>
                  <a:schemeClr val="tx1"/>
                </a:solidFill>
              </a:defRPr>
            </a:lvl1pPr>
          </a:lstStyle>
          <a:p>
            <a:pPr lvl="0"/>
            <a:r>
              <a:rPr lang="en-US" noProof="0" dirty="0"/>
              <a:t>Subtitle</a:t>
            </a:r>
          </a:p>
        </p:txBody>
      </p:sp>
      <p:sp>
        <p:nvSpPr>
          <p:cNvPr id="9" name="Content Placeholder 2"/>
          <p:cNvSpPr>
            <a:spLocks noGrp="1"/>
          </p:cNvSpPr>
          <p:nvPr>
            <p:ph idx="1" hasCustomPrompt="1"/>
          </p:nvPr>
        </p:nvSpPr>
        <p:spPr>
          <a:xfrm>
            <a:off x="523875" y="1346200"/>
            <a:ext cx="8334405" cy="4940320"/>
          </a:xfrm>
        </p:spPr>
        <p:txBody>
          <a:bodyPr>
            <a:noAutofit/>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endParaRPr lang="de-CH" dirty="0"/>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29639504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523875" y="1346200"/>
            <a:ext cx="8334405" cy="4940320"/>
          </a:xfrm>
        </p:spPr>
        <p:txBody>
          <a:bodyPr>
            <a:noAutofit/>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endParaRPr lang="de-CH" dirty="0"/>
          </a:p>
        </p:txBody>
      </p:sp>
      <p:sp>
        <p:nvSpPr>
          <p:cNvPr id="9" name="Title 1"/>
          <p:cNvSpPr>
            <a:spLocks noGrp="1"/>
          </p:cNvSpPr>
          <p:nvPr>
            <p:ph type="title" hasCustomPrompt="1"/>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dirty="0"/>
              <a:t>Title</a:t>
            </a:r>
          </a:p>
        </p:txBody>
      </p:sp>
      <p:sp>
        <p:nvSpPr>
          <p:cNvPr id="11" name="Textplatzhalter 9" descr="Subtitle"/>
          <p:cNvSpPr>
            <a:spLocks noGrp="1"/>
          </p:cNvSpPr>
          <p:nvPr>
            <p:ph type="body" sz="quarter" idx="10" hasCustomPrompt="1"/>
          </p:nvPr>
        </p:nvSpPr>
        <p:spPr>
          <a:xfrm>
            <a:off x="540000" y="738554"/>
            <a:ext cx="8311392" cy="367571"/>
          </a:xfrm>
        </p:spPr>
        <p:txBody>
          <a:bodyPr anchor="b" anchorCtr="0">
            <a:noAutofit/>
          </a:bodyPr>
          <a:lstStyle>
            <a:lvl1pPr marL="0" indent="0">
              <a:lnSpc>
                <a:spcPct val="95000"/>
              </a:lnSpc>
              <a:buNone/>
              <a:defRPr sz="2000" b="0" i="1">
                <a:solidFill>
                  <a:schemeClr val="tx1"/>
                </a:solidFill>
              </a:defRPr>
            </a:lvl1pPr>
          </a:lstStyle>
          <a:p>
            <a:pPr lvl="0"/>
            <a:r>
              <a:rPr lang="en-US" noProof="0" dirty="0"/>
              <a:t>Subtitle</a:t>
            </a:r>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19399832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23875" y="1346200"/>
            <a:ext cx="4162425" cy="4940320"/>
          </a:xfrm>
        </p:spPr>
        <p:txBody>
          <a:bodyPr>
            <a:noAutofit/>
          </a:bodyPr>
          <a:lstStyle>
            <a:lvl1pPr>
              <a:defRPr sz="2400" baseline="0"/>
            </a:lvl1pPr>
            <a:lvl2pPr>
              <a:defRPr sz="2000" baseline="0"/>
            </a:lvl2pPr>
            <a:lvl3pPr>
              <a:defRPr sz="1800" baseline="0"/>
            </a:lvl3pPr>
            <a:lvl4pPr>
              <a:defRPr sz="1600" baseline="0"/>
            </a:lvl4pPr>
            <a:lvl5pPr>
              <a:defRPr sz="1400" baseline="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4" name="Content Placeholder 3"/>
          <p:cNvSpPr>
            <a:spLocks noGrp="1"/>
          </p:cNvSpPr>
          <p:nvPr>
            <p:ph sz="half" idx="2"/>
          </p:nvPr>
        </p:nvSpPr>
        <p:spPr>
          <a:xfrm>
            <a:off x="4838701" y="1346200"/>
            <a:ext cx="4019580" cy="4940320"/>
          </a:xfrm>
        </p:spPr>
        <p:txBody>
          <a:bodyPr>
            <a:noAutofit/>
          </a:bodyPr>
          <a:lstStyle>
            <a:lvl1pPr>
              <a:defRPr sz="2400" baseline="0"/>
            </a:lvl1pPr>
            <a:lvl2pPr>
              <a:defRPr sz="2000" baseline="0"/>
            </a:lvl2pPr>
            <a:lvl3pPr>
              <a:defRPr sz="1800" baseline="0"/>
            </a:lvl3pPr>
            <a:lvl4pPr>
              <a:defRPr sz="1600" baseline="0"/>
            </a:lvl4pPr>
            <a:lvl5pPr>
              <a:defRPr sz="1400" baseline="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7" name="Title 1"/>
          <p:cNvSpPr>
            <a:spLocks noGrp="1"/>
          </p:cNvSpPr>
          <p:nvPr>
            <p:ph type="title" hasCustomPrompt="1"/>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dirty="0"/>
              <a:t>Title</a:t>
            </a:r>
          </a:p>
        </p:txBody>
      </p:sp>
      <p:sp>
        <p:nvSpPr>
          <p:cNvPr id="10" name="Textplatzhalter 9" descr="Subtitle"/>
          <p:cNvSpPr>
            <a:spLocks noGrp="1"/>
          </p:cNvSpPr>
          <p:nvPr>
            <p:ph type="body" sz="quarter" idx="10" hasCustomPrompt="1"/>
          </p:nvPr>
        </p:nvSpPr>
        <p:spPr>
          <a:xfrm>
            <a:off x="540000" y="738554"/>
            <a:ext cx="8311392" cy="367571"/>
          </a:xfrm>
        </p:spPr>
        <p:txBody>
          <a:bodyPr anchor="b" anchorCtr="0">
            <a:noAutofit/>
          </a:bodyPr>
          <a:lstStyle>
            <a:lvl1pPr marL="0" indent="0">
              <a:lnSpc>
                <a:spcPct val="95000"/>
              </a:lnSpc>
              <a:buNone/>
              <a:defRPr sz="2000" b="0" i="1">
                <a:solidFill>
                  <a:schemeClr val="tx1"/>
                </a:solidFill>
              </a:defRPr>
            </a:lvl1pPr>
          </a:lstStyle>
          <a:p>
            <a:pPr lvl="0"/>
            <a:r>
              <a:rPr lang="en-US" noProof="0" dirty="0"/>
              <a:t>Subtitle</a:t>
            </a:r>
          </a:p>
        </p:txBody>
      </p:sp>
      <p:sp>
        <p:nvSpPr>
          <p:cNvPr id="8"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9"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12222626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dirty="0"/>
              <a:t>Title</a:t>
            </a:r>
          </a:p>
        </p:txBody>
      </p:sp>
      <p:sp>
        <p:nvSpPr>
          <p:cNvPr id="8" name="Textplatzhalter 9" descr="Subtitle"/>
          <p:cNvSpPr>
            <a:spLocks noGrp="1"/>
          </p:cNvSpPr>
          <p:nvPr>
            <p:ph type="body" sz="quarter" idx="10" hasCustomPrompt="1"/>
          </p:nvPr>
        </p:nvSpPr>
        <p:spPr>
          <a:xfrm>
            <a:off x="540000" y="738554"/>
            <a:ext cx="8311392" cy="367571"/>
          </a:xfrm>
        </p:spPr>
        <p:txBody>
          <a:bodyPr anchor="b" anchorCtr="0">
            <a:noAutofit/>
          </a:bodyPr>
          <a:lstStyle>
            <a:lvl1pPr marL="0" indent="0">
              <a:lnSpc>
                <a:spcPct val="95000"/>
              </a:lnSpc>
              <a:buNone/>
              <a:defRPr sz="2000" b="0" i="1">
                <a:solidFill>
                  <a:schemeClr val="tx1"/>
                </a:solidFill>
              </a:defRPr>
            </a:lvl1pPr>
          </a:lstStyle>
          <a:p>
            <a:pPr lvl="0"/>
            <a:r>
              <a:rPr lang="en-US" noProof="0" dirty="0"/>
              <a:t>Subtitle</a:t>
            </a:r>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24356173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Titel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dirty="0"/>
              <a:t>Title</a:t>
            </a:r>
          </a:p>
        </p:txBody>
      </p:sp>
      <p:sp>
        <p:nvSpPr>
          <p:cNvPr id="10" name="Textplatzhalter 9" descr="Subtitle"/>
          <p:cNvSpPr>
            <a:spLocks noGrp="1"/>
          </p:cNvSpPr>
          <p:nvPr>
            <p:ph type="body" sz="quarter" idx="10" hasCustomPrompt="1"/>
          </p:nvPr>
        </p:nvSpPr>
        <p:spPr>
          <a:xfrm>
            <a:off x="540000" y="738554"/>
            <a:ext cx="8311392" cy="367571"/>
          </a:xfrm>
        </p:spPr>
        <p:txBody>
          <a:bodyPr anchor="b" anchorCtr="0">
            <a:noAutofit/>
          </a:bodyPr>
          <a:lstStyle>
            <a:lvl1pPr marL="0" indent="0">
              <a:lnSpc>
                <a:spcPct val="95000"/>
              </a:lnSpc>
              <a:buNone/>
              <a:defRPr sz="2000" b="0" i="1">
                <a:solidFill>
                  <a:schemeClr val="tx1"/>
                </a:solidFill>
              </a:defRPr>
            </a:lvl1pPr>
          </a:lstStyle>
          <a:p>
            <a:pPr lvl="0"/>
            <a:r>
              <a:rPr lang="en-US" noProof="0" dirty="0"/>
              <a:t>Subtitle</a:t>
            </a:r>
          </a:p>
        </p:txBody>
      </p:sp>
      <p:sp>
        <p:nvSpPr>
          <p:cNvPr id="9" name="Content Placeholder 2"/>
          <p:cNvSpPr>
            <a:spLocks noGrp="1"/>
          </p:cNvSpPr>
          <p:nvPr>
            <p:ph idx="1" hasCustomPrompt="1"/>
          </p:nvPr>
        </p:nvSpPr>
        <p:spPr>
          <a:xfrm>
            <a:off x="523875" y="1346200"/>
            <a:ext cx="8334405" cy="4940320"/>
          </a:xfrm>
        </p:spPr>
        <p:txBody>
          <a:bodyPr>
            <a:noAutofit/>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endParaRPr lang="de-CH" dirty="0"/>
          </a:p>
        </p:txBody>
      </p:sp>
      <p:sp>
        <p:nvSpPr>
          <p:cNvPr id="15"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16"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5180875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6"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4041202940"/>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CH"/>
          </a:p>
        </p:txBody>
      </p:sp>
      <p:sp>
        <p:nvSpPr>
          <p:cNvPr id="5" name="Content Placeholder 2"/>
          <p:cNvSpPr>
            <a:spLocks noGrp="1"/>
          </p:cNvSpPr>
          <p:nvPr>
            <p:ph sz="half" idx="1"/>
          </p:nvPr>
        </p:nvSpPr>
        <p:spPr>
          <a:xfrm>
            <a:off x="527051" y="1346200"/>
            <a:ext cx="2667371" cy="49450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6" name="Content Placeholder 3"/>
          <p:cNvSpPr>
            <a:spLocks noGrp="1"/>
          </p:cNvSpPr>
          <p:nvPr>
            <p:ph sz="half" idx="2"/>
          </p:nvPr>
        </p:nvSpPr>
        <p:spPr>
          <a:xfrm>
            <a:off x="6170308" y="1346200"/>
            <a:ext cx="2676809" cy="49450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7" name="Content Placeholder 2"/>
          <p:cNvSpPr>
            <a:spLocks noGrp="1"/>
          </p:cNvSpPr>
          <p:nvPr>
            <p:ph sz="half" idx="12"/>
          </p:nvPr>
        </p:nvSpPr>
        <p:spPr>
          <a:xfrm>
            <a:off x="3339524" y="1357911"/>
            <a:ext cx="2667371" cy="493335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8"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9"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5449233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Titel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a:t>Click to edit Master title style</a:t>
            </a:r>
            <a:endParaRPr lang="en-US" noProof="0" dirty="0"/>
          </a:p>
        </p:txBody>
      </p:sp>
      <p:sp>
        <p:nvSpPr>
          <p:cNvPr id="10" name="Textplatzhalter 9" descr="Subtitle" title="Subtitle"/>
          <p:cNvSpPr>
            <a:spLocks noGrp="1"/>
          </p:cNvSpPr>
          <p:nvPr>
            <p:ph type="body" sz="quarter" idx="10"/>
          </p:nvPr>
        </p:nvSpPr>
        <p:spPr>
          <a:xfrm>
            <a:off x="540000" y="738554"/>
            <a:ext cx="8311392" cy="367571"/>
          </a:xfrm>
        </p:spPr>
        <p:txBody>
          <a:bodyPr anchor="b">
            <a:noAutofit/>
          </a:bodyPr>
          <a:lstStyle>
            <a:lvl1pPr marL="0" indent="0">
              <a:lnSpc>
                <a:spcPct val="95000"/>
              </a:lnSpc>
              <a:buNone/>
              <a:defRPr sz="2000" b="0" i="1">
                <a:solidFill>
                  <a:schemeClr val="tx1"/>
                </a:solidFill>
              </a:defRPr>
            </a:lvl1pPr>
          </a:lstStyle>
          <a:p>
            <a:pPr lvl="0"/>
            <a:r>
              <a:rPr lang="en-US" noProof="0"/>
              <a:t>Click to edit Master text styles</a:t>
            </a:r>
          </a:p>
        </p:txBody>
      </p:sp>
      <p:sp>
        <p:nvSpPr>
          <p:cNvPr id="9" name="Content Placeholder 2"/>
          <p:cNvSpPr>
            <a:spLocks noGrp="1"/>
          </p:cNvSpPr>
          <p:nvPr>
            <p:ph idx="1"/>
          </p:nvPr>
        </p:nvSpPr>
        <p:spPr>
          <a:xfrm>
            <a:off x="523875" y="1346200"/>
            <a:ext cx="8334405" cy="4940320"/>
          </a:xfrm>
        </p:spPr>
        <p:txBody>
          <a:bodyPr>
            <a:noAutofit/>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19714090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27050" y="1346200"/>
            <a:ext cx="4160838" cy="4945063"/>
          </a:xfrm>
        </p:spPr>
        <p:txBody>
          <a:bodyPr/>
          <a:lstStyle>
            <a:lvl1pPr marL="233363" marR="0" indent="-233363" algn="l" defTabSz="914400" rtl="0" eaLnBrk="1" fontAlgn="base" latinLnBrk="0" hangingPunct="1">
              <a:lnSpc>
                <a:spcPct val="95000"/>
              </a:lnSpc>
              <a:spcBef>
                <a:spcPct val="75000"/>
              </a:spcBef>
              <a:spcAft>
                <a:spcPct val="0"/>
              </a:spcAft>
              <a:buClr>
                <a:srgbClr val="FCAF17"/>
              </a:buClr>
              <a:buSzPct val="110000"/>
              <a:buFont typeface="Wingdings" pitchFamily="2" charset="2"/>
              <a:buChar char="§"/>
              <a:tabLst/>
              <a:defRPr sz="2800"/>
            </a:lvl1pPr>
            <a:lvl2pPr marL="398463" marR="0" indent="-163513" algn="l" defTabSz="914400" rtl="0" eaLnBrk="1" fontAlgn="base" latinLnBrk="0" hangingPunct="1">
              <a:lnSpc>
                <a:spcPct val="95000"/>
              </a:lnSpc>
              <a:spcBef>
                <a:spcPct val="40000"/>
              </a:spcBef>
              <a:spcAft>
                <a:spcPct val="0"/>
              </a:spcAft>
              <a:buClr>
                <a:srgbClr val="917B69"/>
              </a:buClr>
              <a:buSzTx/>
              <a:buFont typeface="Arial" charset="0"/>
              <a:buChar char="•"/>
              <a:tabLst/>
              <a:defRPr sz="2400"/>
            </a:lvl2pPr>
            <a:lvl3pPr marL="577850" marR="0" indent="-177800" algn="l" defTabSz="914400" rtl="0" eaLnBrk="1" fontAlgn="base" latinLnBrk="0" hangingPunct="1">
              <a:lnSpc>
                <a:spcPct val="95000"/>
              </a:lnSpc>
              <a:spcBef>
                <a:spcPct val="30000"/>
              </a:spcBef>
              <a:spcAft>
                <a:spcPct val="0"/>
              </a:spcAft>
              <a:buClrTx/>
              <a:buSzTx/>
              <a:buFont typeface="Arial" charset="0"/>
              <a:buChar char="-"/>
              <a:tabLst/>
              <a:defRPr sz="2000"/>
            </a:lvl3pPr>
            <a:lvl4pPr marL="752475" marR="0" indent="-173038" algn="l" defTabSz="914400" rtl="0" eaLnBrk="1" fontAlgn="base" latinLnBrk="0" hangingPunct="1">
              <a:lnSpc>
                <a:spcPct val="95000"/>
              </a:lnSpc>
              <a:spcBef>
                <a:spcPct val="20000"/>
              </a:spcBef>
              <a:spcAft>
                <a:spcPct val="0"/>
              </a:spcAft>
              <a:buClrTx/>
              <a:buSzTx/>
              <a:buFont typeface="Arial" charset="0"/>
              <a:buChar char="•"/>
              <a:tabLst/>
              <a:defRPr sz="1800"/>
            </a:lvl4pPr>
            <a:lvl5pPr marL="917575" marR="0" indent="-163513" algn="l" defTabSz="914400" rtl="0" eaLnBrk="1" fontAlgn="base" latinLnBrk="0" hangingPunct="1">
              <a:lnSpc>
                <a:spcPct val="100000"/>
              </a:lnSpc>
              <a:spcBef>
                <a:spcPct val="20000"/>
              </a:spcBef>
              <a:spcAft>
                <a:spcPct val="0"/>
              </a:spcAft>
              <a:buClrTx/>
              <a:buSzTx/>
              <a:buFontTx/>
              <a:buChar char="»"/>
              <a:tabLst/>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Content Placeholder 3"/>
          <p:cNvSpPr>
            <a:spLocks noGrp="1"/>
          </p:cNvSpPr>
          <p:nvPr>
            <p:ph sz="half" idx="2"/>
          </p:nvPr>
        </p:nvSpPr>
        <p:spPr>
          <a:xfrm>
            <a:off x="4840289" y="1346200"/>
            <a:ext cx="3998912" cy="4945063"/>
          </a:xfrm>
        </p:spPr>
        <p:txBody>
          <a:bodyPr/>
          <a:lstStyle>
            <a:lvl1pPr marL="233363" marR="0" indent="-233363" algn="l" defTabSz="914400" rtl="0" eaLnBrk="1" fontAlgn="base" latinLnBrk="0" hangingPunct="1">
              <a:lnSpc>
                <a:spcPct val="95000"/>
              </a:lnSpc>
              <a:spcBef>
                <a:spcPct val="75000"/>
              </a:spcBef>
              <a:spcAft>
                <a:spcPct val="0"/>
              </a:spcAft>
              <a:buClr>
                <a:srgbClr val="FCAF17"/>
              </a:buClr>
              <a:buSzPct val="110000"/>
              <a:buFont typeface="Wingdings" pitchFamily="2" charset="2"/>
              <a:buChar char="§"/>
              <a:tabLst/>
              <a:defRPr sz="2800"/>
            </a:lvl1pPr>
            <a:lvl2pPr marL="398463" marR="0" indent="-163513" algn="l" defTabSz="914400" rtl="0" eaLnBrk="1" fontAlgn="base" latinLnBrk="0" hangingPunct="1">
              <a:lnSpc>
                <a:spcPct val="95000"/>
              </a:lnSpc>
              <a:spcBef>
                <a:spcPct val="40000"/>
              </a:spcBef>
              <a:spcAft>
                <a:spcPct val="0"/>
              </a:spcAft>
              <a:buClr>
                <a:srgbClr val="917B69"/>
              </a:buClr>
              <a:buSzTx/>
              <a:buFont typeface="Arial" charset="0"/>
              <a:buChar char="•"/>
              <a:tabLst/>
              <a:defRPr sz="2400"/>
            </a:lvl2pPr>
            <a:lvl3pPr marL="577850" marR="0" indent="-177800" algn="l" defTabSz="914400" rtl="0" eaLnBrk="1" fontAlgn="base" latinLnBrk="0" hangingPunct="1">
              <a:lnSpc>
                <a:spcPct val="95000"/>
              </a:lnSpc>
              <a:spcBef>
                <a:spcPct val="30000"/>
              </a:spcBef>
              <a:spcAft>
                <a:spcPct val="0"/>
              </a:spcAft>
              <a:buClrTx/>
              <a:buSzTx/>
              <a:buFont typeface="Arial" charset="0"/>
              <a:buChar char="-"/>
              <a:tabLst/>
              <a:defRPr sz="2000"/>
            </a:lvl3pPr>
            <a:lvl4pPr marL="752475" marR="0" indent="-173038" algn="l" defTabSz="914400" rtl="0" eaLnBrk="1" fontAlgn="base" latinLnBrk="0" hangingPunct="1">
              <a:lnSpc>
                <a:spcPct val="95000"/>
              </a:lnSpc>
              <a:spcBef>
                <a:spcPct val="20000"/>
              </a:spcBef>
              <a:spcAft>
                <a:spcPct val="0"/>
              </a:spcAft>
              <a:buClrTx/>
              <a:buSzTx/>
              <a:buFont typeface="Arial" charset="0"/>
              <a:buChar char="•"/>
              <a:tabLst/>
              <a:defRPr sz="1800"/>
            </a:lvl4pPr>
            <a:lvl5pPr marL="917575" marR="0" indent="-163513" algn="l" defTabSz="914400" rtl="0" eaLnBrk="1" fontAlgn="base" latinLnBrk="0" hangingPunct="1">
              <a:lnSpc>
                <a:spcPct val="100000"/>
              </a:lnSpc>
              <a:spcBef>
                <a:spcPct val="20000"/>
              </a:spcBef>
              <a:spcAft>
                <a:spcPct val="0"/>
              </a:spcAft>
              <a:buClrTx/>
              <a:buSzTx/>
              <a:buFontTx/>
              <a:buChar char="»"/>
              <a:tabLst/>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platzhalter 9" descr="Subtitle" title="Subtitle"/>
          <p:cNvSpPr>
            <a:spLocks noGrp="1"/>
          </p:cNvSpPr>
          <p:nvPr>
            <p:ph type="body" sz="quarter" idx="10"/>
          </p:nvPr>
        </p:nvSpPr>
        <p:spPr>
          <a:xfrm>
            <a:off x="540000" y="738554"/>
            <a:ext cx="8311392" cy="367571"/>
          </a:xfrm>
        </p:spPr>
        <p:txBody>
          <a:bodyPr anchor="b">
            <a:noAutofit/>
          </a:bodyPr>
          <a:lstStyle>
            <a:lvl1pPr marL="0" indent="0">
              <a:lnSpc>
                <a:spcPct val="95000"/>
              </a:lnSpc>
              <a:buNone/>
              <a:defRPr sz="2000" b="0" i="1">
                <a:solidFill>
                  <a:schemeClr val="tx1"/>
                </a:solidFill>
              </a:defRPr>
            </a:lvl1pPr>
          </a:lstStyle>
          <a:p>
            <a:pPr lvl="0"/>
            <a:r>
              <a:rPr lang="en-US" noProof="0"/>
              <a:t>Click to edit Master text styles</a:t>
            </a:r>
          </a:p>
        </p:txBody>
      </p:sp>
      <p:sp>
        <p:nvSpPr>
          <p:cNvPr id="13" name="Title 1"/>
          <p:cNvSpPr>
            <a:spLocks noGrp="1"/>
          </p:cNvSpPr>
          <p:nvPr>
            <p:ph type="title"/>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a:t>Click to edit Master title style</a:t>
            </a:r>
            <a:endParaRPr lang="en-US" noProof="0" dirty="0"/>
          </a:p>
        </p:txBody>
      </p:sp>
      <p:sp>
        <p:nvSpPr>
          <p:cNvPr id="8"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9"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1863314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10" name="Textplatzhalter 9" descr="Subtitle" title="Subtitle"/>
          <p:cNvSpPr>
            <a:spLocks noGrp="1"/>
          </p:cNvSpPr>
          <p:nvPr>
            <p:ph type="body" sz="quarter" idx="10"/>
          </p:nvPr>
        </p:nvSpPr>
        <p:spPr>
          <a:xfrm>
            <a:off x="540000" y="738554"/>
            <a:ext cx="8311392" cy="367571"/>
          </a:xfrm>
        </p:spPr>
        <p:txBody>
          <a:bodyPr anchor="b">
            <a:noAutofit/>
          </a:bodyPr>
          <a:lstStyle>
            <a:lvl1pPr marL="0" indent="0">
              <a:lnSpc>
                <a:spcPct val="95000"/>
              </a:lnSpc>
              <a:buNone/>
              <a:defRPr sz="2000" b="0" i="1">
                <a:solidFill>
                  <a:schemeClr val="tx1"/>
                </a:solidFill>
              </a:defRPr>
            </a:lvl1pPr>
          </a:lstStyle>
          <a:p>
            <a:pPr lvl="0"/>
            <a:r>
              <a:rPr lang="en-US" noProof="0"/>
              <a:t>Click to edit Master text styles</a:t>
            </a:r>
          </a:p>
        </p:txBody>
      </p:sp>
      <p:sp>
        <p:nvSpPr>
          <p:cNvPr id="11" name="Title 1"/>
          <p:cNvSpPr>
            <a:spLocks noGrp="1"/>
          </p:cNvSpPr>
          <p:nvPr>
            <p:ph type="title"/>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a:t>Click to edit Master title style</a:t>
            </a:r>
            <a:endParaRPr lang="en-US" noProof="0" dirty="0"/>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26992365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Titel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dirty="0"/>
              <a:t>Title</a:t>
            </a:r>
          </a:p>
        </p:txBody>
      </p:sp>
      <p:sp>
        <p:nvSpPr>
          <p:cNvPr id="10" name="Textplatzhalter 9" descr="Subtitle"/>
          <p:cNvSpPr>
            <a:spLocks noGrp="1"/>
          </p:cNvSpPr>
          <p:nvPr>
            <p:ph type="body" sz="quarter" idx="10" hasCustomPrompt="1"/>
          </p:nvPr>
        </p:nvSpPr>
        <p:spPr>
          <a:xfrm>
            <a:off x="540000" y="738554"/>
            <a:ext cx="8311392" cy="367571"/>
          </a:xfrm>
        </p:spPr>
        <p:txBody>
          <a:bodyPr anchor="b" anchorCtr="0">
            <a:noAutofit/>
          </a:bodyPr>
          <a:lstStyle>
            <a:lvl1pPr marL="0" indent="0">
              <a:lnSpc>
                <a:spcPct val="95000"/>
              </a:lnSpc>
              <a:buNone/>
              <a:defRPr sz="2000" b="0" i="1">
                <a:solidFill>
                  <a:schemeClr val="tx1"/>
                </a:solidFill>
              </a:defRPr>
            </a:lvl1pPr>
          </a:lstStyle>
          <a:p>
            <a:pPr lvl="0"/>
            <a:r>
              <a:rPr lang="en-US" noProof="0" dirty="0"/>
              <a:t>Subtitle</a:t>
            </a:r>
          </a:p>
        </p:txBody>
      </p:sp>
      <p:sp>
        <p:nvSpPr>
          <p:cNvPr id="9" name="Content Placeholder 2"/>
          <p:cNvSpPr>
            <a:spLocks noGrp="1"/>
          </p:cNvSpPr>
          <p:nvPr>
            <p:ph idx="1" hasCustomPrompt="1"/>
          </p:nvPr>
        </p:nvSpPr>
        <p:spPr>
          <a:xfrm>
            <a:off x="523875" y="1346200"/>
            <a:ext cx="8334405" cy="4940320"/>
          </a:xfrm>
        </p:spPr>
        <p:txBody>
          <a:bodyPr>
            <a:noAutofit/>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endParaRPr lang="de-CH" dirty="0"/>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1454814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523875" y="1346200"/>
            <a:ext cx="8334405" cy="4940320"/>
          </a:xfrm>
        </p:spPr>
        <p:txBody>
          <a:bodyPr>
            <a:noAutofit/>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endParaRPr lang="de-CH" dirty="0"/>
          </a:p>
        </p:txBody>
      </p:sp>
      <p:sp>
        <p:nvSpPr>
          <p:cNvPr id="9" name="Title 1"/>
          <p:cNvSpPr>
            <a:spLocks noGrp="1"/>
          </p:cNvSpPr>
          <p:nvPr>
            <p:ph type="title" hasCustomPrompt="1"/>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dirty="0"/>
              <a:t>Title</a:t>
            </a:r>
          </a:p>
        </p:txBody>
      </p:sp>
      <p:sp>
        <p:nvSpPr>
          <p:cNvPr id="11" name="Textplatzhalter 9" descr="Subtitle"/>
          <p:cNvSpPr>
            <a:spLocks noGrp="1"/>
          </p:cNvSpPr>
          <p:nvPr>
            <p:ph type="body" sz="quarter" idx="10" hasCustomPrompt="1"/>
          </p:nvPr>
        </p:nvSpPr>
        <p:spPr>
          <a:xfrm>
            <a:off x="540000" y="738554"/>
            <a:ext cx="8311392" cy="367571"/>
          </a:xfrm>
        </p:spPr>
        <p:txBody>
          <a:bodyPr anchor="b" anchorCtr="0">
            <a:noAutofit/>
          </a:bodyPr>
          <a:lstStyle>
            <a:lvl1pPr marL="0" indent="0">
              <a:lnSpc>
                <a:spcPct val="95000"/>
              </a:lnSpc>
              <a:buNone/>
              <a:defRPr sz="2000" b="0" i="1">
                <a:solidFill>
                  <a:schemeClr val="tx1"/>
                </a:solidFill>
              </a:defRPr>
            </a:lvl1pPr>
          </a:lstStyle>
          <a:p>
            <a:pPr lvl="0"/>
            <a:r>
              <a:rPr lang="en-US" noProof="0" dirty="0"/>
              <a:t>Subtitle</a:t>
            </a:r>
          </a:p>
        </p:txBody>
      </p:sp>
      <p:sp>
        <p:nvSpPr>
          <p:cNvPr id="7"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8"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13085389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23875" y="1346200"/>
            <a:ext cx="4162425" cy="4940320"/>
          </a:xfrm>
        </p:spPr>
        <p:txBody>
          <a:bodyPr>
            <a:noAutofit/>
          </a:bodyPr>
          <a:lstStyle>
            <a:lvl1pPr>
              <a:defRPr sz="2400" baseline="0"/>
            </a:lvl1pPr>
            <a:lvl2pPr>
              <a:defRPr sz="2000" baseline="0"/>
            </a:lvl2pPr>
            <a:lvl3pPr>
              <a:defRPr sz="1800" baseline="0"/>
            </a:lvl3pPr>
            <a:lvl4pPr>
              <a:defRPr sz="1600" baseline="0"/>
            </a:lvl4pPr>
            <a:lvl5pPr>
              <a:defRPr sz="1400" baseline="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4" name="Content Placeholder 3"/>
          <p:cNvSpPr>
            <a:spLocks noGrp="1"/>
          </p:cNvSpPr>
          <p:nvPr>
            <p:ph sz="half" idx="2"/>
          </p:nvPr>
        </p:nvSpPr>
        <p:spPr>
          <a:xfrm>
            <a:off x="4838701" y="1346200"/>
            <a:ext cx="4019580" cy="4940320"/>
          </a:xfrm>
        </p:spPr>
        <p:txBody>
          <a:bodyPr>
            <a:noAutofit/>
          </a:bodyPr>
          <a:lstStyle>
            <a:lvl1pPr>
              <a:defRPr sz="2400" baseline="0"/>
            </a:lvl1pPr>
            <a:lvl2pPr>
              <a:defRPr sz="2000" baseline="0"/>
            </a:lvl2pPr>
            <a:lvl3pPr>
              <a:defRPr sz="1800" baseline="0"/>
            </a:lvl3pPr>
            <a:lvl4pPr>
              <a:defRPr sz="1600" baseline="0"/>
            </a:lvl4pPr>
            <a:lvl5pPr>
              <a:defRPr sz="1400" baseline="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sp>
        <p:nvSpPr>
          <p:cNvPr id="7" name="Title 1"/>
          <p:cNvSpPr>
            <a:spLocks noGrp="1"/>
          </p:cNvSpPr>
          <p:nvPr>
            <p:ph type="title" hasCustomPrompt="1"/>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dirty="0"/>
              <a:t>Title</a:t>
            </a:r>
          </a:p>
        </p:txBody>
      </p:sp>
      <p:sp>
        <p:nvSpPr>
          <p:cNvPr id="10" name="Textplatzhalter 9" descr="Subtitle"/>
          <p:cNvSpPr>
            <a:spLocks noGrp="1"/>
          </p:cNvSpPr>
          <p:nvPr>
            <p:ph type="body" sz="quarter" idx="10" hasCustomPrompt="1"/>
          </p:nvPr>
        </p:nvSpPr>
        <p:spPr>
          <a:xfrm>
            <a:off x="540000" y="738554"/>
            <a:ext cx="8311392" cy="367571"/>
          </a:xfrm>
        </p:spPr>
        <p:txBody>
          <a:bodyPr anchor="b" anchorCtr="0">
            <a:noAutofit/>
          </a:bodyPr>
          <a:lstStyle>
            <a:lvl1pPr marL="0" indent="0">
              <a:lnSpc>
                <a:spcPct val="95000"/>
              </a:lnSpc>
              <a:buNone/>
              <a:defRPr sz="2000" b="0" i="1">
                <a:solidFill>
                  <a:schemeClr val="tx1"/>
                </a:solidFill>
              </a:defRPr>
            </a:lvl1pPr>
          </a:lstStyle>
          <a:p>
            <a:pPr lvl="0"/>
            <a:r>
              <a:rPr lang="en-US" noProof="0" dirty="0"/>
              <a:t>Subtitle</a:t>
            </a:r>
          </a:p>
        </p:txBody>
      </p:sp>
      <p:sp>
        <p:nvSpPr>
          <p:cNvPr id="8"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9"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2073366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dirty="0"/>
              <a:t>Title</a:t>
            </a:r>
          </a:p>
        </p:txBody>
      </p:sp>
      <p:sp>
        <p:nvSpPr>
          <p:cNvPr id="8" name="Textplatzhalter 9" descr="Subtitle"/>
          <p:cNvSpPr>
            <a:spLocks noGrp="1"/>
          </p:cNvSpPr>
          <p:nvPr>
            <p:ph type="body" sz="quarter" idx="10" hasCustomPrompt="1"/>
          </p:nvPr>
        </p:nvSpPr>
        <p:spPr>
          <a:xfrm>
            <a:off x="540000" y="738554"/>
            <a:ext cx="8311392" cy="367571"/>
          </a:xfrm>
        </p:spPr>
        <p:txBody>
          <a:bodyPr anchor="b" anchorCtr="0">
            <a:noAutofit/>
          </a:bodyPr>
          <a:lstStyle>
            <a:lvl1pPr marL="0" indent="0">
              <a:lnSpc>
                <a:spcPct val="95000"/>
              </a:lnSpc>
              <a:buNone/>
              <a:defRPr sz="2000" b="0" i="1">
                <a:solidFill>
                  <a:schemeClr val="tx1"/>
                </a:solidFill>
              </a:defRPr>
            </a:lvl1pPr>
          </a:lstStyle>
          <a:p>
            <a:pPr lvl="0"/>
            <a:r>
              <a:rPr lang="en-US" noProof="0" dirty="0"/>
              <a:t>Subtitle</a:t>
            </a:r>
          </a:p>
        </p:txBody>
      </p:sp>
      <p:sp>
        <p:nvSpPr>
          <p:cNvPr id="6"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28585536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5_Titel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9750" y="305999"/>
            <a:ext cx="8318530" cy="802800"/>
          </a:xfrm>
          <a:prstGeom prst="rect">
            <a:avLst/>
          </a:prstGeom>
        </p:spPr>
        <p:txBody>
          <a:bodyPr tIns="126000" anchor="t" anchorCtr="0"/>
          <a:lstStyle>
            <a:lvl1pPr>
              <a:lnSpc>
                <a:spcPct val="75000"/>
              </a:lnSpc>
              <a:defRPr>
                <a:solidFill>
                  <a:schemeClr val="accent4"/>
                </a:solidFill>
              </a:defRPr>
            </a:lvl1pPr>
          </a:lstStyle>
          <a:p>
            <a:r>
              <a:rPr lang="en-US" noProof="0" dirty="0"/>
              <a:t>Title</a:t>
            </a:r>
          </a:p>
        </p:txBody>
      </p:sp>
      <p:sp>
        <p:nvSpPr>
          <p:cNvPr id="10" name="Textplatzhalter 9" descr="Subtitle"/>
          <p:cNvSpPr>
            <a:spLocks noGrp="1"/>
          </p:cNvSpPr>
          <p:nvPr>
            <p:ph type="body" sz="quarter" idx="10" hasCustomPrompt="1"/>
          </p:nvPr>
        </p:nvSpPr>
        <p:spPr>
          <a:xfrm>
            <a:off x="540000" y="738554"/>
            <a:ext cx="8311392" cy="367571"/>
          </a:xfrm>
        </p:spPr>
        <p:txBody>
          <a:bodyPr anchor="b" anchorCtr="0">
            <a:noAutofit/>
          </a:bodyPr>
          <a:lstStyle>
            <a:lvl1pPr marL="0" indent="0">
              <a:lnSpc>
                <a:spcPct val="95000"/>
              </a:lnSpc>
              <a:buNone/>
              <a:defRPr sz="2000" b="0" i="1">
                <a:solidFill>
                  <a:schemeClr val="tx1"/>
                </a:solidFill>
              </a:defRPr>
            </a:lvl1pPr>
          </a:lstStyle>
          <a:p>
            <a:pPr lvl="0"/>
            <a:r>
              <a:rPr lang="en-US" noProof="0" dirty="0"/>
              <a:t>Subtitle</a:t>
            </a:r>
          </a:p>
        </p:txBody>
      </p:sp>
      <p:sp>
        <p:nvSpPr>
          <p:cNvPr id="9" name="Content Placeholder 2"/>
          <p:cNvSpPr>
            <a:spLocks noGrp="1"/>
          </p:cNvSpPr>
          <p:nvPr>
            <p:ph idx="1" hasCustomPrompt="1"/>
          </p:nvPr>
        </p:nvSpPr>
        <p:spPr>
          <a:xfrm>
            <a:off x="523875" y="1346200"/>
            <a:ext cx="8334405" cy="4940320"/>
          </a:xfrm>
        </p:spPr>
        <p:txBody>
          <a:bodyPr>
            <a:noAutofit/>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endParaRPr lang="de-CH" dirty="0"/>
          </a:p>
        </p:txBody>
      </p:sp>
      <p:sp>
        <p:nvSpPr>
          <p:cNvPr id="15" name="Slide Number Placeholder 5"/>
          <p:cNvSpPr>
            <a:spLocks noGrp="1"/>
          </p:cNvSpPr>
          <p:nvPr>
            <p:ph type="sldNum" sz="quarter" idx="4"/>
          </p:nvPr>
        </p:nvSpPr>
        <p:spPr>
          <a:xfrm>
            <a:off x="85726" y="6604000"/>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16" name="Footer Placeholder 4"/>
          <p:cNvSpPr>
            <a:spLocks noGrp="1"/>
          </p:cNvSpPr>
          <p:nvPr>
            <p:ph type="ftr" sz="quarter" idx="3"/>
          </p:nvPr>
        </p:nvSpPr>
        <p:spPr>
          <a:xfrm>
            <a:off x="287866" y="6612467"/>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274986767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353163" y="76200"/>
            <a:ext cx="8439150" cy="914400"/>
          </a:xfrm>
          <a:prstGeom prst="rect">
            <a:avLst/>
          </a:prstGeom>
          <a:noFill/>
          <a:ln w="9525">
            <a:noFill/>
            <a:miter lim="800000"/>
            <a:headEnd/>
            <a:tailEnd/>
          </a:ln>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4099" name="Rectangle 3"/>
          <p:cNvSpPr>
            <a:spLocks noGrp="1" noChangeArrowheads="1"/>
          </p:cNvSpPr>
          <p:nvPr>
            <p:ph type="body" idx="1"/>
          </p:nvPr>
        </p:nvSpPr>
        <p:spPr bwMode="auto">
          <a:xfrm>
            <a:off x="353163" y="1295400"/>
            <a:ext cx="8439150" cy="4775200"/>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2nd level</a:t>
            </a:r>
          </a:p>
          <a:p>
            <a:pPr lvl="2"/>
            <a:r>
              <a:rPr lang="en-US"/>
              <a:t>3rd level</a:t>
            </a:r>
          </a:p>
          <a:p>
            <a:pPr lvl="0"/>
            <a:endParaRPr lang="en-US"/>
          </a:p>
        </p:txBody>
      </p:sp>
      <p:sp>
        <p:nvSpPr>
          <p:cNvPr id="1030" name="Line 6"/>
          <p:cNvSpPr>
            <a:spLocks noChangeShapeType="1"/>
          </p:cNvSpPr>
          <p:nvPr/>
        </p:nvSpPr>
        <p:spPr bwMode="auto">
          <a:xfrm>
            <a:off x="136281" y="776288"/>
            <a:ext cx="8874369" cy="0"/>
          </a:xfrm>
          <a:prstGeom prst="line">
            <a:avLst/>
          </a:prstGeom>
          <a:noFill/>
          <a:ln w="57150">
            <a:solidFill>
              <a:srgbClr val="923222"/>
            </a:solidFill>
            <a:round/>
            <a:headEnd type="none" w="sm" len="sm"/>
            <a:tailEnd type="none" w="sm" len="sm"/>
          </a:ln>
          <a:effectLst/>
        </p:spPr>
        <p:txBody>
          <a:bodyPr wrap="none" anchor="ctr"/>
          <a:lstStyle/>
          <a:p>
            <a:pPr algn="ctr" eaLnBrk="0" hangingPunct="0">
              <a:defRPr/>
            </a:pPr>
            <a:endParaRPr lang="en-US" sz="2800" b="1" dirty="0">
              <a:solidFill>
                <a:prstClr val="black"/>
              </a:solidFill>
              <a:effectLst>
                <a:outerShdw blurRad="38100" dist="38100" dir="2700000" algn="tl">
                  <a:srgbClr val="000000">
                    <a:alpha val="43137"/>
                  </a:srgbClr>
                </a:outerShdw>
              </a:effectLst>
              <a:latin typeface="News Gothic MT" pitchFamily="34" charset="0"/>
            </a:endParaRPr>
          </a:p>
        </p:txBody>
      </p:sp>
      <p:sp>
        <p:nvSpPr>
          <p:cNvPr id="6" name="Slide Number Placeholder 5"/>
          <p:cNvSpPr>
            <a:spLocks noGrp="1"/>
          </p:cNvSpPr>
          <p:nvPr>
            <p:ph type="sldNum" sz="quarter" idx="4"/>
          </p:nvPr>
        </p:nvSpPr>
        <p:spPr>
          <a:xfrm>
            <a:off x="8882593" y="6612467"/>
            <a:ext cx="193674" cy="174779"/>
          </a:xfrm>
          <a:prstGeom prst="rect">
            <a:avLst/>
          </a:prstGeom>
        </p:spPr>
        <p:txBody>
          <a:bodyPr lIns="0" tIns="0" rIns="0" bIns="0" anchor="ctr" anchorCtr="0"/>
          <a:lstStyle>
            <a:lvl1pPr>
              <a:defRPr sz="1000" baseline="0">
                <a:solidFill>
                  <a:srgbClr val="7F7F7F"/>
                </a:solidFill>
                <a:latin typeface="Calibri" panose="020F0502020204030204" pitchFamily="34" charset="0"/>
              </a:defRPr>
            </a:lvl1pPr>
          </a:lstStyle>
          <a:p>
            <a:fld id="{E66AA3EA-0569-43EF-BBA3-83FDB109D582}" type="slidenum">
              <a:rPr lang="en-US" smtClean="0"/>
              <a:pPr/>
              <a:t>‹#›</a:t>
            </a:fld>
            <a:endParaRPr lang="en-US" dirty="0"/>
          </a:p>
        </p:txBody>
      </p:sp>
      <p:sp>
        <p:nvSpPr>
          <p:cNvPr id="7" name="Footer Placeholder 4"/>
          <p:cNvSpPr>
            <a:spLocks noGrp="1"/>
          </p:cNvSpPr>
          <p:nvPr>
            <p:ph type="ftr" sz="quarter" idx="3"/>
          </p:nvPr>
        </p:nvSpPr>
        <p:spPr>
          <a:xfrm>
            <a:off x="5460999" y="6620934"/>
            <a:ext cx="3335867" cy="169333"/>
          </a:xfrm>
          <a:prstGeom prst="rect">
            <a:avLst/>
          </a:prstGeom>
        </p:spPr>
        <p:txBody>
          <a:bodyPr lIns="0" tIns="0" rIns="0" bIns="0" anchor="ctr" anchorCtr="0"/>
          <a:lstStyle>
            <a:lvl1pPr algn="r">
              <a:defRPr sz="1000" baseline="0">
                <a:solidFill>
                  <a:srgbClr val="7F7F7F"/>
                </a:solidFill>
                <a:latin typeface="Calibri" panose="020F0502020204030204" pitchFamily="34" charset="0"/>
              </a:defRPr>
            </a:lvl1pPr>
          </a:lstStyle>
          <a:p>
            <a:r>
              <a:rPr lang="en-US" dirty="0"/>
              <a:t>Fundamentals of Supply Chain Management – McLaury/</a:t>
            </a:r>
            <a:r>
              <a:rPr lang="en-US" dirty="0" err="1"/>
              <a:t>Spiegle</a:t>
            </a:r>
            <a:endParaRPr lang="en-US" dirty="0"/>
          </a:p>
        </p:txBody>
      </p:sp>
    </p:spTree>
    <p:extLst>
      <p:ext uri="{BB962C8B-B14F-4D97-AF65-F5344CB8AC3E}">
        <p14:creationId xmlns:p14="http://schemas.microsoft.com/office/powerpoint/2010/main" val="3285934886"/>
      </p:ext>
    </p:extLst>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 id="2147483892"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4075" r:id="rId15"/>
    <p:sldLayoutId id="2147484113" r:id="rId16"/>
    <p:sldLayoutId id="2147484119" r:id="rId17"/>
    <p:sldLayoutId id="2147484120" r:id="rId18"/>
    <p:sldLayoutId id="2147484121" r:id="rId19"/>
    <p:sldLayoutId id="2147484135" r:id="rId20"/>
    <p:sldLayoutId id="2147484138" r:id="rId21"/>
    <p:sldLayoutId id="2147484139" r:id="rId22"/>
    <p:sldLayoutId id="2147484140" r:id="rId23"/>
    <p:sldLayoutId id="2147484142" r:id="rId24"/>
    <p:sldLayoutId id="2147484262" r:id="rId25"/>
    <p:sldLayoutId id="2147484263" r:id="rId26"/>
    <p:sldLayoutId id="2147484264" r:id="rId27"/>
    <p:sldLayoutId id="2147484265" r:id="rId28"/>
    <p:sldLayoutId id="2147484266" r:id="rId29"/>
    <p:sldLayoutId id="2147484267" r:id="rId30"/>
    <p:sldLayoutId id="2147484268" r:id="rId31"/>
    <p:sldLayoutId id="2147484269" r:id="rId32"/>
    <p:sldLayoutId id="2147484270" r:id="rId33"/>
    <p:sldLayoutId id="2147484271" r:id="rId34"/>
  </p:sldLayoutIdLst>
  <p:hf hdr="0" dt="0"/>
  <p:txStyles>
    <p:titleStyle>
      <a:lvl1pPr algn="l" rtl="0" eaLnBrk="0" fontAlgn="base" hangingPunct="0">
        <a:spcBef>
          <a:spcPct val="0"/>
        </a:spcBef>
        <a:spcAft>
          <a:spcPct val="0"/>
        </a:spcAft>
        <a:defRPr sz="2800" b="1">
          <a:solidFill>
            <a:schemeClr val="tx1"/>
          </a:solidFill>
          <a:latin typeface="+mj-lt"/>
          <a:ea typeface="+mj-ea"/>
          <a:cs typeface="+mj-cs"/>
        </a:defRPr>
      </a:lvl1pPr>
      <a:lvl2pPr algn="l" rtl="0" eaLnBrk="0" fontAlgn="base" hangingPunct="0">
        <a:spcBef>
          <a:spcPct val="0"/>
        </a:spcBef>
        <a:spcAft>
          <a:spcPct val="0"/>
        </a:spcAft>
        <a:defRPr sz="2800" b="1">
          <a:solidFill>
            <a:schemeClr val="tx1"/>
          </a:solidFill>
          <a:latin typeface="News Gothic MT" pitchFamily="34" charset="0"/>
        </a:defRPr>
      </a:lvl2pPr>
      <a:lvl3pPr algn="l" rtl="0" eaLnBrk="0" fontAlgn="base" hangingPunct="0">
        <a:spcBef>
          <a:spcPct val="0"/>
        </a:spcBef>
        <a:spcAft>
          <a:spcPct val="0"/>
        </a:spcAft>
        <a:defRPr sz="2800" b="1">
          <a:solidFill>
            <a:schemeClr val="tx1"/>
          </a:solidFill>
          <a:latin typeface="News Gothic MT" pitchFamily="34" charset="0"/>
        </a:defRPr>
      </a:lvl3pPr>
      <a:lvl4pPr algn="l" rtl="0" eaLnBrk="0" fontAlgn="base" hangingPunct="0">
        <a:spcBef>
          <a:spcPct val="0"/>
        </a:spcBef>
        <a:spcAft>
          <a:spcPct val="0"/>
        </a:spcAft>
        <a:defRPr sz="2800" b="1">
          <a:solidFill>
            <a:schemeClr val="tx1"/>
          </a:solidFill>
          <a:latin typeface="News Gothic MT" pitchFamily="34" charset="0"/>
        </a:defRPr>
      </a:lvl4pPr>
      <a:lvl5pPr algn="l" rtl="0" eaLnBrk="0" fontAlgn="base" hangingPunct="0">
        <a:spcBef>
          <a:spcPct val="0"/>
        </a:spcBef>
        <a:spcAft>
          <a:spcPct val="0"/>
        </a:spcAft>
        <a:defRPr sz="2800" b="1">
          <a:solidFill>
            <a:schemeClr val="tx1"/>
          </a:solidFill>
          <a:latin typeface="News Gothic MT" pitchFamily="34" charset="0"/>
        </a:defRPr>
      </a:lvl5pPr>
      <a:lvl6pPr marL="457200" algn="l" rtl="0" eaLnBrk="0" fontAlgn="base" hangingPunct="0">
        <a:spcBef>
          <a:spcPct val="0"/>
        </a:spcBef>
        <a:spcAft>
          <a:spcPct val="0"/>
        </a:spcAft>
        <a:defRPr sz="2800" b="1">
          <a:solidFill>
            <a:schemeClr val="tx1"/>
          </a:solidFill>
          <a:latin typeface="News Gothic MT" pitchFamily="34" charset="0"/>
        </a:defRPr>
      </a:lvl6pPr>
      <a:lvl7pPr marL="914400" algn="l" rtl="0" eaLnBrk="0" fontAlgn="base" hangingPunct="0">
        <a:spcBef>
          <a:spcPct val="0"/>
        </a:spcBef>
        <a:spcAft>
          <a:spcPct val="0"/>
        </a:spcAft>
        <a:defRPr sz="2800" b="1">
          <a:solidFill>
            <a:schemeClr val="tx1"/>
          </a:solidFill>
          <a:latin typeface="News Gothic MT" pitchFamily="34" charset="0"/>
        </a:defRPr>
      </a:lvl7pPr>
      <a:lvl8pPr marL="1371600" algn="l" rtl="0" eaLnBrk="0" fontAlgn="base" hangingPunct="0">
        <a:spcBef>
          <a:spcPct val="0"/>
        </a:spcBef>
        <a:spcAft>
          <a:spcPct val="0"/>
        </a:spcAft>
        <a:defRPr sz="2800" b="1">
          <a:solidFill>
            <a:schemeClr val="tx1"/>
          </a:solidFill>
          <a:latin typeface="News Gothic MT" pitchFamily="34" charset="0"/>
        </a:defRPr>
      </a:lvl8pPr>
      <a:lvl9pPr marL="1828800" algn="l" rtl="0" eaLnBrk="0" fontAlgn="base" hangingPunct="0">
        <a:spcBef>
          <a:spcPct val="0"/>
        </a:spcBef>
        <a:spcAft>
          <a:spcPct val="0"/>
        </a:spcAft>
        <a:defRPr sz="2800" b="1">
          <a:solidFill>
            <a:schemeClr val="tx1"/>
          </a:solidFill>
          <a:latin typeface="News Gothic MT" pitchFamily="34" charset="0"/>
        </a:defRPr>
      </a:lvl9pPr>
    </p:titleStyle>
    <p:bodyStyle>
      <a:lvl1pPr marL="192088" indent="-192088" algn="l" rtl="0" eaLnBrk="0" fontAlgn="base" hangingPunct="0">
        <a:spcBef>
          <a:spcPct val="50000"/>
        </a:spcBef>
        <a:spcAft>
          <a:spcPct val="0"/>
        </a:spcAft>
        <a:buClr>
          <a:schemeClr val="tx1"/>
        </a:buClr>
        <a:buFont typeface="Symbol" pitchFamily="18" charset="2"/>
        <a:buChar char="·"/>
        <a:defRPr sz="2200">
          <a:solidFill>
            <a:schemeClr val="tx1"/>
          </a:solidFill>
          <a:latin typeface="+mn-lt"/>
          <a:ea typeface="+mn-ea"/>
          <a:cs typeface="+mn-cs"/>
        </a:defRPr>
      </a:lvl1pPr>
      <a:lvl2pPr marL="568325" indent="-185738" algn="l" rtl="0" eaLnBrk="0" fontAlgn="base" hangingPunct="0">
        <a:spcBef>
          <a:spcPct val="50000"/>
        </a:spcBef>
        <a:spcAft>
          <a:spcPct val="0"/>
        </a:spcAft>
        <a:buClr>
          <a:schemeClr val="tx1"/>
        </a:buClr>
        <a:buFont typeface="Symbol" pitchFamily="18" charset="2"/>
        <a:buChar char="-"/>
        <a:defRPr>
          <a:solidFill>
            <a:schemeClr val="tx1"/>
          </a:solidFill>
          <a:latin typeface="+mn-lt"/>
        </a:defRPr>
      </a:lvl2pPr>
      <a:lvl3pPr marL="855663" indent="-96838" algn="l" rtl="0" eaLnBrk="0" fontAlgn="base" hangingPunct="0">
        <a:spcBef>
          <a:spcPct val="50000"/>
        </a:spcBef>
        <a:spcAft>
          <a:spcPct val="0"/>
        </a:spcAft>
        <a:buClr>
          <a:schemeClr val="tx1"/>
        </a:buClr>
        <a:buChar char="•"/>
        <a:defRPr>
          <a:solidFill>
            <a:schemeClr val="tx1"/>
          </a:solidFill>
          <a:latin typeface="+mn-lt"/>
        </a:defRPr>
      </a:lvl3pPr>
      <a:lvl4pPr marL="1981200" indent="-228600" algn="l" rtl="0" eaLnBrk="0" fontAlgn="base" hangingPunct="0">
        <a:spcBef>
          <a:spcPct val="50000"/>
        </a:spcBef>
        <a:spcAft>
          <a:spcPct val="0"/>
        </a:spcAft>
        <a:buChar char="–"/>
        <a:defRPr sz="1600">
          <a:solidFill>
            <a:schemeClr val="bg1"/>
          </a:solidFill>
          <a:latin typeface="+mn-lt"/>
        </a:defRPr>
      </a:lvl4pPr>
      <a:lvl5pPr marL="2400300" indent="-228600" algn="l" rtl="0" eaLnBrk="0" fontAlgn="base" hangingPunct="0">
        <a:spcBef>
          <a:spcPct val="50000"/>
        </a:spcBef>
        <a:spcAft>
          <a:spcPct val="0"/>
        </a:spcAft>
        <a:buChar char="•"/>
        <a:defRPr sz="1400">
          <a:solidFill>
            <a:schemeClr val="bg1"/>
          </a:solidFill>
          <a:latin typeface="+mn-lt"/>
        </a:defRPr>
      </a:lvl5pPr>
      <a:lvl6pPr marL="2857500" indent="-228600" algn="l" rtl="0" eaLnBrk="0" fontAlgn="base" hangingPunct="0">
        <a:spcBef>
          <a:spcPct val="50000"/>
        </a:spcBef>
        <a:spcAft>
          <a:spcPct val="0"/>
        </a:spcAft>
        <a:buChar char="•"/>
        <a:defRPr sz="1400">
          <a:solidFill>
            <a:schemeClr val="bg1"/>
          </a:solidFill>
          <a:latin typeface="+mn-lt"/>
        </a:defRPr>
      </a:lvl6pPr>
      <a:lvl7pPr marL="3314700" indent="-228600" algn="l" rtl="0" eaLnBrk="0" fontAlgn="base" hangingPunct="0">
        <a:spcBef>
          <a:spcPct val="50000"/>
        </a:spcBef>
        <a:spcAft>
          <a:spcPct val="0"/>
        </a:spcAft>
        <a:buChar char="•"/>
        <a:defRPr sz="1400">
          <a:solidFill>
            <a:schemeClr val="bg1"/>
          </a:solidFill>
          <a:latin typeface="+mn-lt"/>
        </a:defRPr>
      </a:lvl7pPr>
      <a:lvl8pPr marL="3771900" indent="-228600" algn="l" rtl="0" eaLnBrk="0" fontAlgn="base" hangingPunct="0">
        <a:spcBef>
          <a:spcPct val="50000"/>
        </a:spcBef>
        <a:spcAft>
          <a:spcPct val="0"/>
        </a:spcAft>
        <a:buChar char="•"/>
        <a:defRPr sz="1400">
          <a:solidFill>
            <a:schemeClr val="bg1"/>
          </a:solidFill>
          <a:latin typeface="+mn-lt"/>
        </a:defRPr>
      </a:lvl8pPr>
      <a:lvl9pPr marL="4229100" indent="-228600" algn="l" rtl="0" eaLnBrk="0" fontAlgn="base" hangingPunct="0">
        <a:spcBef>
          <a:spcPct val="50000"/>
        </a:spcBef>
        <a:spcAft>
          <a:spcPct val="0"/>
        </a:spcAft>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5.x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ags" Target="../tags/tag6.x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tags" Target="../tags/tag7.x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4" descr="iStock_000006059421Medium"/>
          <p:cNvPicPr>
            <a:picLocks noChangeAspect="1" noChangeArrowheads="1"/>
          </p:cNvPicPr>
          <p:nvPr/>
        </p:nvPicPr>
        <p:blipFill>
          <a:blip r:embed="rId4" cstate="print"/>
          <a:srcRect l="33899" t="40144" r="33737" b="31712"/>
          <a:stretch>
            <a:fillRect/>
          </a:stretch>
        </p:blipFill>
        <p:spPr bwMode="auto">
          <a:xfrm>
            <a:off x="1282700" y="0"/>
            <a:ext cx="7861300" cy="4040188"/>
          </a:xfrm>
          <a:prstGeom prst="rect">
            <a:avLst/>
          </a:prstGeom>
          <a:noFill/>
          <a:ln w="9525">
            <a:noFill/>
            <a:miter lim="800000"/>
            <a:headEnd/>
            <a:tailEnd/>
          </a:ln>
        </p:spPr>
      </p:pic>
      <p:grpSp>
        <p:nvGrpSpPr>
          <p:cNvPr id="2" name="Group 7"/>
          <p:cNvGrpSpPr/>
          <p:nvPr/>
        </p:nvGrpSpPr>
        <p:grpSpPr>
          <a:xfrm>
            <a:off x="3729038" y="799478"/>
            <a:ext cx="3700462" cy="1707853"/>
            <a:chOff x="4039791" y="799457"/>
            <a:chExt cx="4008834" cy="1707853"/>
          </a:xfrm>
        </p:grpSpPr>
        <p:sp>
          <p:nvSpPr>
            <p:cNvPr id="4366341" name="Text Box 5"/>
            <p:cNvSpPr txBox="1">
              <a:spLocks noChangeArrowheads="1"/>
            </p:cNvSpPr>
            <p:nvPr/>
          </p:nvSpPr>
          <p:spPr bwMode="auto">
            <a:xfrm rot="20676510">
              <a:off x="5264283" y="2045645"/>
              <a:ext cx="2784342" cy="461665"/>
            </a:xfrm>
            <a:prstGeom prst="rect">
              <a:avLst/>
            </a:prstGeom>
            <a:noFill/>
            <a:ln w="28575" algn="ctr">
              <a:noFill/>
              <a:miter lim="800000"/>
              <a:headEnd/>
              <a:tailEnd/>
            </a:ln>
            <a:effectLst/>
          </p:spPr>
          <p:txBody>
            <a:bodyPr>
              <a:spAutoFit/>
            </a:bodyPr>
            <a:lstStyle/>
            <a:p>
              <a:pPr algn="ctr" eaLnBrk="0" hangingPunct="0">
                <a:defRPr/>
              </a:pPr>
              <a:r>
                <a:rPr lang="en-US" b="1" dirty="0">
                  <a:solidFill>
                    <a:srgbClr val="923222"/>
                  </a:solidFill>
                  <a:effectLst>
                    <a:outerShdw blurRad="50800" dist="38100" dir="2700000" algn="tl" rotWithShape="0">
                      <a:prstClr val="black">
                        <a:alpha val="40000"/>
                      </a:prstClr>
                    </a:outerShdw>
                  </a:effectLst>
                  <a:latin typeface="News Gothic MT" pitchFamily="34" charset="0"/>
                </a:rPr>
                <a:t>Management</a:t>
              </a:r>
            </a:p>
          </p:txBody>
        </p:sp>
        <p:sp>
          <p:nvSpPr>
            <p:cNvPr id="4366342" name="Text Box 6"/>
            <p:cNvSpPr txBox="1">
              <a:spLocks noChangeArrowheads="1"/>
            </p:cNvSpPr>
            <p:nvPr/>
          </p:nvSpPr>
          <p:spPr bwMode="auto">
            <a:xfrm rot="20734159">
              <a:off x="4039791" y="799457"/>
              <a:ext cx="2942563" cy="461665"/>
            </a:xfrm>
            <a:prstGeom prst="rect">
              <a:avLst/>
            </a:prstGeom>
            <a:noFill/>
            <a:ln w="28575" algn="ctr">
              <a:noFill/>
              <a:miter lim="800000"/>
              <a:headEnd/>
              <a:tailEnd/>
            </a:ln>
            <a:effectLst/>
          </p:spPr>
          <p:txBody>
            <a:bodyPr>
              <a:spAutoFit/>
            </a:bodyPr>
            <a:lstStyle/>
            <a:p>
              <a:pPr algn="ctr" eaLnBrk="0" hangingPunct="0">
                <a:defRPr/>
              </a:pPr>
              <a:r>
                <a:rPr lang="en-US" b="1" dirty="0">
                  <a:solidFill>
                    <a:srgbClr val="923222"/>
                  </a:solidFill>
                  <a:effectLst>
                    <a:outerShdw blurRad="38100" dist="38100" dir="2700000" algn="tl">
                      <a:srgbClr val="C0C0C0"/>
                    </a:outerShdw>
                  </a:effectLst>
                  <a:latin typeface="News Gothic MT" pitchFamily="34" charset="0"/>
                </a:rPr>
                <a:t>Supply Chain</a:t>
              </a:r>
            </a:p>
          </p:txBody>
        </p:sp>
      </p:grpSp>
      <p:sp>
        <p:nvSpPr>
          <p:cNvPr id="3079" name="DividerColorBox"/>
          <p:cNvSpPr>
            <a:spLocks noChangeArrowheads="1"/>
          </p:cNvSpPr>
          <p:nvPr/>
        </p:nvSpPr>
        <p:spPr bwMode="auto">
          <a:xfrm>
            <a:off x="0" y="0"/>
            <a:ext cx="1208088" cy="4046538"/>
          </a:xfrm>
          <a:prstGeom prst="rect">
            <a:avLst/>
          </a:prstGeom>
          <a:solidFill>
            <a:srgbClr val="923222"/>
          </a:solidFill>
          <a:ln w="12700" algn="ctr">
            <a:noFill/>
            <a:miter lim="800000"/>
            <a:headEnd/>
            <a:tailEnd/>
          </a:ln>
        </p:spPr>
        <p:txBody>
          <a:bodyPr wrap="none" anchor="ctr"/>
          <a:lstStyle/>
          <a:p>
            <a:pPr algn="ctr" eaLnBrk="0" hangingPunct="0"/>
            <a:endParaRPr lang="en-US" sz="2800" b="1" dirty="0">
              <a:solidFill>
                <a:prstClr val="black"/>
              </a:solidFill>
              <a:latin typeface="News Gothic MT" pitchFamily="34" charset="0"/>
            </a:endParaRPr>
          </a:p>
        </p:txBody>
      </p:sp>
      <p:sp>
        <p:nvSpPr>
          <p:cNvPr id="9" name="Rectangle 7"/>
          <p:cNvSpPr>
            <a:spLocks noChangeArrowheads="1"/>
          </p:cNvSpPr>
          <p:nvPr/>
        </p:nvSpPr>
        <p:spPr bwMode="auto">
          <a:xfrm>
            <a:off x="1181100" y="4267200"/>
            <a:ext cx="7929562" cy="982133"/>
          </a:xfrm>
          <a:prstGeom prst="rect">
            <a:avLst/>
          </a:prstGeom>
          <a:noFill/>
          <a:ln w="9525">
            <a:noFill/>
            <a:miter lim="800000"/>
            <a:headEnd/>
            <a:tailEnd/>
          </a:ln>
        </p:spPr>
        <p:txBody>
          <a:bodyPr/>
          <a:lstStyle/>
          <a:p>
            <a:pPr eaLnBrk="0" hangingPunct="0">
              <a:lnSpc>
                <a:spcPct val="90000"/>
              </a:lnSpc>
              <a:defRPr/>
            </a:pPr>
            <a:r>
              <a:rPr lang="en-US" sz="4000" b="1" dirty="0">
                <a:solidFill>
                  <a:srgbClr val="923222"/>
                </a:solidFill>
                <a:effectLst>
                  <a:outerShdw blurRad="38100" dist="38100" dir="2700000" algn="tl">
                    <a:srgbClr val="000000">
                      <a:alpha val="43137"/>
                    </a:srgbClr>
                  </a:outerShdw>
                </a:effectLst>
                <a:latin typeface="Calibri" panose="020F0502020204030204" pitchFamily="34" charset="0"/>
              </a:rPr>
              <a:t>Supply Chain Planning</a:t>
            </a:r>
          </a:p>
        </p:txBody>
      </p:sp>
      <p:pic>
        <p:nvPicPr>
          <p:cNvPr id="11" name="Picture 10"/>
          <p:cNvPicPr/>
          <p:nvPr/>
        </p:nvPicPr>
        <p:blipFill rotWithShape="1">
          <a:blip r:embed="rId5">
            <a:extLst>
              <a:ext uri="{28A0092B-C50C-407E-A947-70E740481C1C}">
                <a14:useLocalDpi xmlns:a14="http://schemas.microsoft.com/office/drawing/2010/main" val="0"/>
              </a:ext>
            </a:extLst>
          </a:blip>
          <a:srcRect l="1814" t="77132" r="36128" b="6447"/>
          <a:stretch/>
        </p:blipFill>
        <p:spPr bwMode="auto">
          <a:xfrm>
            <a:off x="5113866" y="6159500"/>
            <a:ext cx="3801534" cy="635000"/>
          </a:xfrm>
          <a:prstGeom prst="rect">
            <a:avLst/>
          </a:prstGeom>
          <a:noFill/>
          <a:ln>
            <a:noFill/>
          </a:ln>
        </p:spPr>
      </p:pic>
    </p:spTree>
    <p:custDataLst>
      <p:tags r:id="rId1"/>
    </p:custDataLst>
    <p:extLst>
      <p:ext uri="{BB962C8B-B14F-4D97-AF65-F5344CB8AC3E}">
        <p14:creationId xmlns:p14="http://schemas.microsoft.com/office/powerpoint/2010/main" val="9011970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1" y="990600"/>
            <a:ext cx="8686799" cy="5791200"/>
          </a:xfrm>
        </p:spPr>
        <p:txBody>
          <a:bodyPr/>
          <a:lstStyle/>
          <a:p>
            <a:pPr marL="0" indent="0">
              <a:spcBef>
                <a:spcPts val="600"/>
              </a:spcBef>
              <a:spcAft>
                <a:spcPts val="600"/>
              </a:spcAft>
              <a:buClr>
                <a:srgbClr val="923222"/>
              </a:buClr>
              <a:buSzPct val="115000"/>
              <a:buNone/>
              <a:defRPr/>
            </a:pPr>
            <a:r>
              <a:rPr lang="en-US" sz="2400" b="1" dirty="0">
                <a:effectLst>
                  <a:outerShdw blurRad="38100" dist="38100" dir="2700000" algn="tl">
                    <a:srgbClr val="000000">
                      <a:alpha val="43137"/>
                    </a:srgbClr>
                  </a:outerShdw>
                </a:effectLst>
                <a:latin typeface="Calibri" panose="020F0502020204030204" pitchFamily="34" charset="0"/>
              </a:rPr>
              <a:t>Supply Chain Planning </a:t>
            </a:r>
            <a:r>
              <a:rPr lang="en-US" sz="2400" dirty="0">
                <a:latin typeface="Calibri" panose="020F0502020204030204" pitchFamily="34" charset="0"/>
              </a:rPr>
              <a:t>is the element of supply chain management responsible for determining how best to </a:t>
            </a:r>
            <a:r>
              <a:rPr lang="en-US" sz="2400" dirty="0">
                <a:solidFill>
                  <a:srgbClr val="923222"/>
                </a:solidFill>
                <a:effectLst>
                  <a:outerShdw blurRad="38100" dist="38100" dir="2700000" algn="tl">
                    <a:srgbClr val="000000">
                      <a:alpha val="43137"/>
                    </a:srgbClr>
                  </a:outerShdw>
                </a:effectLst>
                <a:latin typeface="Calibri" panose="020F0502020204030204" pitchFamily="34" charset="0"/>
              </a:rPr>
              <a:t>satisfy the requirements created by the Demand Plan.</a:t>
            </a:r>
            <a:r>
              <a:rPr lang="en-US" sz="2400" dirty="0">
                <a:latin typeface="Calibri" panose="020F0502020204030204" pitchFamily="34" charset="0"/>
              </a:rPr>
              <a:t> </a:t>
            </a:r>
          </a:p>
          <a:p>
            <a:pPr marL="287338" indent="-287338">
              <a:spcBef>
                <a:spcPts val="600"/>
              </a:spcBef>
              <a:spcAft>
                <a:spcPts val="600"/>
              </a:spcAft>
              <a:buClr>
                <a:srgbClr val="923222"/>
              </a:buClr>
              <a:buSzPct val="115000"/>
              <a:buFont typeface="Wingdings" panose="05000000000000000000" pitchFamily="2" charset="2"/>
              <a:buChar char="§"/>
              <a:defRPr/>
            </a:pPr>
            <a:r>
              <a:rPr lang="en-US" sz="2400" dirty="0">
                <a:latin typeface="Calibri" panose="020F0502020204030204" pitchFamily="34" charset="0"/>
              </a:rPr>
              <a:t>Its </a:t>
            </a:r>
            <a:r>
              <a:rPr lang="en-US" sz="2400" b="1" u="sng" dirty="0">
                <a:latin typeface="Calibri" panose="020F0502020204030204" pitchFamily="34" charset="0"/>
              </a:rPr>
              <a:t>objective is to balance supply and demand </a:t>
            </a:r>
            <a:r>
              <a:rPr lang="en-US" sz="2400" dirty="0">
                <a:latin typeface="Calibri" panose="020F0502020204030204" pitchFamily="34" charset="0"/>
              </a:rPr>
              <a:t>in a way that realizes the financial and service objectives of the company.  </a:t>
            </a:r>
          </a:p>
          <a:p>
            <a:pPr marL="914400" lvl="1" indent="-338138">
              <a:spcBef>
                <a:spcPts val="600"/>
              </a:spcBef>
              <a:spcAft>
                <a:spcPts val="600"/>
              </a:spcAft>
              <a:buClr>
                <a:srgbClr val="923222"/>
              </a:buClr>
              <a:buSzPct val="115000"/>
              <a:defRPr/>
            </a:pPr>
            <a:r>
              <a:rPr lang="en-US" sz="2000" dirty="0">
                <a:latin typeface="Calibri" panose="020F0502020204030204" pitchFamily="34" charset="0"/>
              </a:rPr>
              <a:t>Operations managers are continuously involved in planning operations and resources to balance capacity and output.</a:t>
            </a:r>
          </a:p>
          <a:p>
            <a:pPr marL="287338" indent="-287338">
              <a:spcBef>
                <a:spcPts val="600"/>
              </a:spcBef>
              <a:spcAft>
                <a:spcPts val="600"/>
              </a:spcAft>
              <a:buClr>
                <a:srgbClr val="923222"/>
              </a:buClr>
              <a:buSzPct val="115000"/>
              <a:buFont typeface="Wingdings" panose="05000000000000000000" pitchFamily="2" charset="2"/>
              <a:buChar char="§"/>
              <a:defRPr/>
            </a:pPr>
            <a:r>
              <a:rPr lang="en-US" sz="2400" dirty="0">
                <a:latin typeface="Calibri" panose="020F0502020204030204" pitchFamily="34" charset="0"/>
              </a:rPr>
              <a:t>Supply Chain Planning is a combination of all the planning processes that are used across the supply chain, primarily:</a:t>
            </a:r>
          </a:p>
          <a:p>
            <a:pPr marL="914400" lvl="1" indent="-338138">
              <a:spcBef>
                <a:spcPts val="300"/>
              </a:spcBef>
              <a:spcAft>
                <a:spcPts val="300"/>
              </a:spcAft>
              <a:buClr>
                <a:srgbClr val="923222"/>
              </a:buClr>
              <a:buSzPct val="115000"/>
              <a:defRPr/>
            </a:pPr>
            <a:r>
              <a:rPr lang="en-US" sz="2000" dirty="0">
                <a:latin typeface="Calibri" panose="020F0502020204030204" pitchFamily="34" charset="0"/>
              </a:rPr>
              <a:t>Aggregate Production Planning (APP)</a:t>
            </a:r>
          </a:p>
          <a:p>
            <a:pPr marL="914400" lvl="1" indent="-338138">
              <a:spcBef>
                <a:spcPts val="300"/>
              </a:spcBef>
              <a:spcAft>
                <a:spcPts val="300"/>
              </a:spcAft>
              <a:buClr>
                <a:srgbClr val="923222"/>
              </a:buClr>
              <a:buSzPct val="115000"/>
              <a:defRPr/>
            </a:pPr>
            <a:r>
              <a:rPr lang="en-US" sz="2000" dirty="0">
                <a:latin typeface="Calibri" panose="020F0502020204030204" pitchFamily="34" charset="0"/>
              </a:rPr>
              <a:t>Master Production Scheduling (MPS)</a:t>
            </a:r>
          </a:p>
          <a:p>
            <a:pPr marL="914400" lvl="1" indent="-338138">
              <a:spcBef>
                <a:spcPts val="300"/>
              </a:spcBef>
              <a:spcAft>
                <a:spcPts val="300"/>
              </a:spcAft>
              <a:buClr>
                <a:srgbClr val="923222"/>
              </a:buClr>
              <a:buSzPct val="115000"/>
              <a:defRPr/>
            </a:pPr>
            <a:r>
              <a:rPr lang="en-US" sz="2000" dirty="0">
                <a:latin typeface="Calibri" panose="020F0502020204030204" pitchFamily="34" charset="0"/>
              </a:rPr>
              <a:t>Materials Requirement Planning (MRP)</a:t>
            </a:r>
          </a:p>
          <a:p>
            <a:pPr marL="914400" lvl="1" indent="-338138">
              <a:spcBef>
                <a:spcPts val="300"/>
              </a:spcBef>
              <a:spcAft>
                <a:spcPts val="300"/>
              </a:spcAft>
              <a:buClr>
                <a:srgbClr val="923222"/>
              </a:buClr>
              <a:buSzPct val="115000"/>
              <a:defRPr/>
            </a:pPr>
            <a:r>
              <a:rPr lang="en-US" sz="2000" dirty="0">
                <a:latin typeface="Calibri" panose="020F0502020204030204" pitchFamily="34" charset="0"/>
              </a:rPr>
              <a:t>Distribution Requirements Planning (DRP)</a:t>
            </a:r>
          </a:p>
          <a:p>
            <a:pPr marL="914400" lvl="1" indent="-338138">
              <a:spcBef>
                <a:spcPts val="300"/>
              </a:spcBef>
              <a:spcAft>
                <a:spcPts val="300"/>
              </a:spcAft>
              <a:buClr>
                <a:srgbClr val="923222"/>
              </a:buClr>
              <a:buSzPct val="115000"/>
              <a:defRPr/>
            </a:pPr>
            <a:r>
              <a:rPr lang="en-US" sz="2000" dirty="0">
                <a:latin typeface="Calibri" panose="020F0502020204030204" pitchFamily="34" charset="0"/>
              </a:rPr>
              <a:t>Capacity Planning</a:t>
            </a:r>
          </a:p>
        </p:txBody>
      </p:sp>
      <p:sp>
        <p:nvSpPr>
          <p:cNvPr id="5" name="Rectangle 2"/>
          <p:cNvSpPr>
            <a:spLocks noGrp="1" noChangeArrowheads="1"/>
          </p:cNvSpPr>
          <p:nvPr>
            <p:ph type="title" idx="4294967295"/>
          </p:nvPr>
        </p:nvSpPr>
        <p:spPr>
          <a:xfrm>
            <a:off x="228600" y="127660"/>
            <a:ext cx="868680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Supply Chain Planning - Introduction</a:t>
            </a:r>
          </a:p>
        </p:txBody>
      </p:sp>
      <p:pic>
        <p:nvPicPr>
          <p:cNvPr id="2" name="Picture 1"/>
          <p:cNvPicPr>
            <a:picLocks noChangeAspect="1"/>
          </p:cNvPicPr>
          <p:nvPr/>
        </p:nvPicPr>
        <p:blipFill rotWithShape="1">
          <a:blip r:embed="rId3" cstate="print">
            <a:extLst>
              <a:ext uri="{28A0092B-C50C-407E-A947-70E740481C1C}">
                <a14:useLocalDpi xmlns:a14="http://schemas.microsoft.com/office/drawing/2010/main" val="0"/>
              </a:ext>
            </a:extLst>
          </a:blip>
          <a:srcRect l="4014" t="1482" r="8949" b="24045"/>
          <a:stretch/>
        </p:blipFill>
        <p:spPr>
          <a:xfrm>
            <a:off x="5757334" y="4749800"/>
            <a:ext cx="3005666" cy="1862667"/>
          </a:xfrm>
          <a:prstGeom prst="rect">
            <a:avLst/>
          </a:prstGeom>
        </p:spPr>
      </p:pic>
      <p:sp>
        <p:nvSpPr>
          <p:cNvPr id="4" name="Footer Placeholder 3"/>
          <p:cNvSpPr>
            <a:spLocks noGrp="1"/>
          </p:cNvSpPr>
          <p:nvPr>
            <p:ph type="ftr" sz="quarter" idx="3"/>
          </p:nvPr>
        </p:nvSpPr>
        <p:spPr/>
        <p:txBody>
          <a:bodyPr/>
          <a:lstStyle/>
          <a:p>
            <a:r>
              <a:rPr lang="en-US"/>
              <a:t>Fundamentals of Supply Chain Management – McLaury/Spiegle</a:t>
            </a:r>
            <a:endParaRPr lang="en-US" dirty="0"/>
          </a:p>
        </p:txBody>
      </p:sp>
      <p:sp>
        <p:nvSpPr>
          <p:cNvPr id="6" name="Slide Number Placeholder 5"/>
          <p:cNvSpPr>
            <a:spLocks noGrp="1"/>
          </p:cNvSpPr>
          <p:nvPr>
            <p:ph type="sldNum" sz="quarter" idx="4"/>
          </p:nvPr>
        </p:nvSpPr>
        <p:spPr/>
        <p:txBody>
          <a:bodyPr/>
          <a:lstStyle/>
          <a:p>
            <a:fld id="{E66AA3EA-0569-43EF-BBA3-83FDB109D582}" type="slidenum">
              <a:rPr lang="en-US" smtClean="0"/>
              <a:pPr/>
              <a:t>2</a:t>
            </a:fld>
            <a:endParaRPr lang="en-US" dirty="0"/>
          </a:p>
        </p:txBody>
      </p:sp>
    </p:spTree>
    <p:extLst>
      <p:ext uri="{BB962C8B-B14F-4D97-AF65-F5344CB8AC3E}">
        <p14:creationId xmlns:p14="http://schemas.microsoft.com/office/powerpoint/2010/main" val="2234523458"/>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 calcmode="lin" valueType="num">
                                      <p:cBhvr additive="base">
                                        <p:cTn id="4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228600" y="127660"/>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Supply Chain Planning </a:t>
            </a:r>
          </a:p>
        </p:txBody>
      </p:sp>
      <p:sp>
        <p:nvSpPr>
          <p:cNvPr id="20483" name="Rectangle 3"/>
          <p:cNvSpPr>
            <a:spLocks noGrp="1" noChangeArrowheads="1"/>
          </p:cNvSpPr>
          <p:nvPr>
            <p:ph type="body" idx="4294967295"/>
          </p:nvPr>
        </p:nvSpPr>
        <p:spPr>
          <a:xfrm>
            <a:off x="228600" y="990600"/>
            <a:ext cx="8686800" cy="5694362"/>
          </a:xfrm>
        </p:spPr>
        <p:txBody>
          <a:bodyPr/>
          <a:lstStyle/>
          <a:p>
            <a:pPr marL="0" indent="0">
              <a:buFontTx/>
              <a:buNone/>
            </a:pPr>
            <a:r>
              <a:rPr lang="en-US" altLang="en-US" dirty="0">
                <a:latin typeface="Calibri" panose="020F0502020204030204" pitchFamily="34" charset="0"/>
                <a:ea typeface="ＭＳ Ｐゴシック" panose="020B0600070205080204" pitchFamily="34" charset="-128"/>
              </a:rPr>
              <a:t>Supply chain planning is usually </a:t>
            </a:r>
            <a:r>
              <a:rPr lang="en-US" altLang="en-US" u="sng" dirty="0">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hierarchical</a:t>
            </a:r>
            <a:r>
              <a:rPr lang="en-US" altLang="en-US" dirty="0">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 </a:t>
            </a:r>
            <a:r>
              <a:rPr lang="en-US" altLang="en-US" dirty="0">
                <a:latin typeface="Calibri" panose="020F0502020204030204" pitchFamily="34" charset="0"/>
                <a:ea typeface="ＭＳ Ｐゴシック" panose="020B0600070205080204" pitchFamily="34" charset="-128"/>
              </a:rPr>
              <a:t>and can be divided into </a:t>
            </a:r>
            <a:r>
              <a:rPr lang="en-US" altLang="en-US" u="sng" dirty="0">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three</a:t>
            </a:r>
            <a:r>
              <a:rPr lang="en-US" altLang="en-US" dirty="0">
                <a:latin typeface="Calibri" panose="020F0502020204030204" pitchFamily="34" charset="0"/>
                <a:ea typeface="ＭＳ Ｐゴシック" panose="020B0600070205080204" pitchFamily="34" charset="-128"/>
              </a:rPr>
              <a:t> broad </a:t>
            </a:r>
            <a:r>
              <a:rPr lang="en-US" altLang="en-US" u="sng" dirty="0">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categories</a:t>
            </a:r>
            <a:r>
              <a:rPr lang="en-US" altLang="en-US" dirty="0">
                <a:latin typeface="Calibri" panose="020F0502020204030204" pitchFamily="34" charset="0"/>
                <a:ea typeface="ＭＳ Ｐゴシック" panose="020B0600070205080204" pitchFamily="34" charset="-128"/>
              </a:rPr>
              <a:t>:</a:t>
            </a:r>
          </a:p>
          <a:p>
            <a:pPr marL="342900" lvl="1" indent="-342900">
              <a:lnSpc>
                <a:spcPct val="90000"/>
              </a:lnSpc>
              <a:spcBef>
                <a:spcPts val="1800"/>
              </a:spcBef>
              <a:spcAft>
                <a:spcPts val="600"/>
              </a:spcAft>
              <a:buClr>
                <a:srgbClr val="923222"/>
              </a:buClr>
              <a:buFont typeface="Wingdings" panose="05000000000000000000" pitchFamily="2" charset="2"/>
              <a:buChar char="§"/>
            </a:pPr>
            <a:r>
              <a:rPr lang="en-US" altLang="en-US" sz="28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Long-Range</a:t>
            </a:r>
            <a:r>
              <a:rPr lang="en-US" altLang="en-US" sz="2000" b="1" dirty="0">
                <a:solidFill>
                  <a:srgbClr val="FF6600"/>
                </a:solidFill>
                <a:latin typeface="Calibri" panose="020F0502020204030204" pitchFamily="34" charset="0"/>
                <a:ea typeface="ＭＳ Ｐゴシック" panose="020B0600070205080204" pitchFamily="34" charset="-128"/>
              </a:rPr>
              <a:t> </a:t>
            </a:r>
            <a:r>
              <a:rPr lang="en-US" altLang="en-US" sz="2000" dirty="0">
                <a:latin typeface="Calibri" panose="020F0502020204030204" pitchFamily="34" charset="0"/>
                <a:ea typeface="ＭＳ Ｐゴシック" panose="020B0600070205080204" pitchFamily="34" charset="-128"/>
              </a:rPr>
              <a:t>– involves planning for actions such as the construction of facilities and major equipment purchase </a:t>
            </a:r>
            <a:r>
              <a:rPr lang="en-US" altLang="en-US" i="1" dirty="0">
                <a:latin typeface="Calibri" panose="020F0502020204030204" pitchFamily="34" charset="0"/>
                <a:ea typeface="ＭＳ Ｐゴシック" panose="020B0600070205080204" pitchFamily="34" charset="-128"/>
              </a:rPr>
              <a:t>(ref., </a:t>
            </a:r>
            <a:r>
              <a:rPr lang="en-US" altLang="en-US" i="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Aggregate Production Plan - APP</a:t>
            </a:r>
            <a:r>
              <a:rPr lang="en-US" altLang="en-US" i="1" dirty="0">
                <a:latin typeface="Calibri" panose="020F0502020204030204" pitchFamily="34" charset="0"/>
                <a:ea typeface="ＭＳ Ｐゴシック" panose="020B0600070205080204" pitchFamily="34" charset="-128"/>
              </a:rPr>
              <a:t>) . </a:t>
            </a:r>
            <a:endParaRPr lang="en-US" altLang="en-US" sz="2000" i="1" dirty="0">
              <a:latin typeface="Calibri" panose="020F0502020204030204" pitchFamily="34" charset="0"/>
              <a:ea typeface="ＭＳ Ｐゴシック" panose="020B0600070205080204" pitchFamily="34" charset="-128"/>
            </a:endParaRPr>
          </a:p>
          <a:p>
            <a:pPr marL="685800" lvl="1" indent="-219075">
              <a:lnSpc>
                <a:spcPct val="90000"/>
              </a:lnSpc>
              <a:spcBef>
                <a:spcPts val="600"/>
              </a:spcBef>
              <a:spcAft>
                <a:spcPts val="600"/>
              </a:spcAft>
              <a:buSzPct val="110000"/>
              <a:defRPr/>
            </a:pPr>
            <a:r>
              <a:rPr lang="en-US" altLang="en-US" u="sng" dirty="0">
                <a:latin typeface="Calibri" panose="020F0502020204030204" pitchFamily="34" charset="0"/>
              </a:rPr>
              <a:t>Executive level</a:t>
            </a:r>
            <a:r>
              <a:rPr lang="en-US" altLang="en-US" dirty="0">
                <a:latin typeface="Calibri" panose="020F0502020204030204" pitchFamily="34" charset="0"/>
              </a:rPr>
              <a:t> - Ford Motor Company wants to grow the market by 3% (1 - 3 years)</a:t>
            </a:r>
          </a:p>
          <a:p>
            <a:pPr marL="347663" lvl="1" indent="-346075">
              <a:lnSpc>
                <a:spcPct val="90000"/>
              </a:lnSpc>
              <a:spcBef>
                <a:spcPts val="1800"/>
              </a:spcBef>
              <a:spcAft>
                <a:spcPts val="600"/>
              </a:spcAft>
              <a:buClr>
                <a:srgbClr val="923222"/>
              </a:buClr>
              <a:buFont typeface="Wingdings" panose="05000000000000000000" pitchFamily="2" charset="2"/>
              <a:buChar char="§"/>
            </a:pPr>
            <a:r>
              <a:rPr lang="en-US" altLang="en-US" sz="28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Intermediate-Range</a:t>
            </a:r>
            <a:r>
              <a:rPr lang="en-US" altLang="en-US" sz="2000" b="1" dirty="0">
                <a:solidFill>
                  <a:srgbClr val="FF6600"/>
                </a:solidFill>
                <a:latin typeface="Calibri" panose="020F0502020204030204" pitchFamily="34" charset="0"/>
                <a:ea typeface="ＭＳ Ｐゴシック" panose="020B0600070205080204" pitchFamily="34" charset="-128"/>
              </a:rPr>
              <a:t> </a:t>
            </a:r>
            <a:r>
              <a:rPr lang="en-US" altLang="en-US" sz="2000" b="1" dirty="0">
                <a:latin typeface="Calibri" panose="020F0502020204030204" pitchFamily="34" charset="0"/>
                <a:ea typeface="ＭＳ Ｐゴシック" panose="020B0600070205080204" pitchFamily="34" charset="-128"/>
              </a:rPr>
              <a:t>– </a:t>
            </a:r>
            <a:r>
              <a:rPr lang="en-US" altLang="en-US" sz="2000" dirty="0">
                <a:latin typeface="Calibri" panose="020F0502020204030204" pitchFamily="34" charset="0"/>
                <a:ea typeface="ＭＳ Ｐゴシック" panose="020B0600070205080204" pitchFamily="34" charset="-128"/>
              </a:rPr>
              <a:t>Shows the quantity and timing of end items               </a:t>
            </a:r>
            <a:r>
              <a:rPr lang="en-US" altLang="en-US" i="1" dirty="0">
                <a:latin typeface="Calibri" panose="020F0502020204030204" pitchFamily="34" charset="0"/>
                <a:ea typeface="ＭＳ Ｐゴシック" panose="020B0600070205080204" pitchFamily="34" charset="-128"/>
              </a:rPr>
              <a:t>(ref., </a:t>
            </a:r>
            <a:r>
              <a:rPr lang="en-US" altLang="en-US" i="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Master Production Schedule – MPS</a:t>
            </a:r>
            <a:r>
              <a:rPr lang="en-US" altLang="en-US" i="1" dirty="0">
                <a:latin typeface="Calibri" panose="020F0502020204030204" pitchFamily="34" charset="0"/>
                <a:ea typeface="ＭＳ Ｐゴシック" panose="020B0600070205080204" pitchFamily="34" charset="-128"/>
              </a:rPr>
              <a:t>)</a:t>
            </a:r>
          </a:p>
          <a:p>
            <a:pPr marL="685800" lvl="1" indent="-219075">
              <a:lnSpc>
                <a:spcPct val="90000"/>
              </a:lnSpc>
              <a:spcBef>
                <a:spcPts val="600"/>
              </a:spcBef>
              <a:spcAft>
                <a:spcPts val="600"/>
              </a:spcAft>
              <a:buSzPct val="110000"/>
              <a:defRPr/>
            </a:pPr>
            <a:r>
              <a:rPr lang="en-US" altLang="en-US" u="sng" dirty="0">
                <a:latin typeface="Calibri" panose="020F0502020204030204" pitchFamily="34" charset="0"/>
              </a:rPr>
              <a:t>Mid-level</a:t>
            </a:r>
            <a:r>
              <a:rPr lang="en-US" altLang="en-US" dirty="0">
                <a:latin typeface="Calibri" panose="020F0502020204030204" pitchFamily="34" charset="0"/>
              </a:rPr>
              <a:t> - Ford Motor Company wants to make 1,000 F-150 pick up trucks/week for the next 3-18 months.</a:t>
            </a:r>
          </a:p>
          <a:p>
            <a:pPr marL="347663" lvl="1" indent="-347663">
              <a:lnSpc>
                <a:spcPct val="90000"/>
              </a:lnSpc>
              <a:spcBef>
                <a:spcPts val="1800"/>
              </a:spcBef>
              <a:spcAft>
                <a:spcPts val="600"/>
              </a:spcAft>
              <a:buClr>
                <a:srgbClr val="923222"/>
              </a:buClr>
              <a:buFont typeface="Wingdings" panose="05000000000000000000" pitchFamily="2" charset="2"/>
              <a:buChar char="§"/>
            </a:pPr>
            <a:r>
              <a:rPr lang="en-US" altLang="en-US" sz="28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Short-Range </a:t>
            </a:r>
            <a:r>
              <a:rPr lang="en-US" altLang="en-US" sz="2000" b="1" dirty="0">
                <a:latin typeface="Calibri" panose="020F0502020204030204" pitchFamily="34" charset="0"/>
                <a:ea typeface="ＭＳ Ｐゴシック" panose="020B0600070205080204" pitchFamily="34" charset="-128"/>
              </a:rPr>
              <a:t>– </a:t>
            </a:r>
            <a:r>
              <a:rPr lang="en-US" altLang="en-US" sz="2000" dirty="0">
                <a:latin typeface="Calibri" panose="020F0502020204030204" pitchFamily="34" charset="0"/>
                <a:ea typeface="ＭＳ Ｐゴシック" panose="020B0600070205080204" pitchFamily="34" charset="-128"/>
              </a:rPr>
              <a:t>detailed planning process for components and parts to support the master production schedule                                                                                          </a:t>
            </a:r>
            <a:r>
              <a:rPr lang="en-US" altLang="en-US" i="1" dirty="0">
                <a:latin typeface="Calibri" panose="020F0502020204030204" pitchFamily="34" charset="0"/>
                <a:ea typeface="ＭＳ Ｐゴシック" panose="020B0600070205080204" pitchFamily="34" charset="-128"/>
              </a:rPr>
              <a:t>(ref., </a:t>
            </a:r>
            <a:r>
              <a:rPr lang="en-US" altLang="en-US" i="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Materials Requirement Planning – MRP</a:t>
            </a:r>
            <a:r>
              <a:rPr lang="en-US" altLang="en-US" i="1" dirty="0">
                <a:latin typeface="Calibri" panose="020F0502020204030204" pitchFamily="34" charset="0"/>
                <a:ea typeface="ＭＳ Ｐゴシック" panose="020B0600070205080204" pitchFamily="34" charset="-128"/>
              </a:rPr>
              <a:t>)</a:t>
            </a:r>
          </a:p>
          <a:p>
            <a:pPr marL="685800" lvl="1" indent="-219075">
              <a:lnSpc>
                <a:spcPct val="90000"/>
              </a:lnSpc>
              <a:spcBef>
                <a:spcPts val="600"/>
              </a:spcBef>
              <a:spcAft>
                <a:spcPts val="600"/>
              </a:spcAft>
              <a:buSzPct val="110000"/>
              <a:defRPr/>
            </a:pPr>
            <a:r>
              <a:rPr lang="en-US" altLang="en-US" u="sng" dirty="0">
                <a:latin typeface="Calibri" panose="020F0502020204030204" pitchFamily="34" charset="0"/>
              </a:rPr>
              <a:t>Planner, 1</a:t>
            </a:r>
            <a:r>
              <a:rPr lang="en-US" altLang="en-US" u="sng" baseline="30000" dirty="0">
                <a:latin typeface="Calibri" panose="020F0502020204030204" pitchFamily="34" charset="0"/>
              </a:rPr>
              <a:t>st</a:t>
            </a:r>
            <a:r>
              <a:rPr lang="en-US" altLang="en-US" u="sng" dirty="0">
                <a:latin typeface="Calibri" panose="020F0502020204030204" pitchFamily="34" charset="0"/>
              </a:rPr>
              <a:t> line Supervisor</a:t>
            </a:r>
            <a:r>
              <a:rPr lang="en-US" altLang="en-US" dirty="0">
                <a:latin typeface="Calibri" panose="020F0502020204030204" pitchFamily="34" charset="0"/>
              </a:rPr>
              <a:t> – 1,000 engines, 1,000 transmissions, seats, windows, etc. each week over the next 1-12 weeks.</a:t>
            </a: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3" name="Slide Number Placeholder 2"/>
          <p:cNvSpPr>
            <a:spLocks noGrp="1"/>
          </p:cNvSpPr>
          <p:nvPr>
            <p:ph type="sldNum" sz="quarter" idx="4"/>
          </p:nvPr>
        </p:nvSpPr>
        <p:spPr/>
        <p:txBody>
          <a:bodyPr/>
          <a:lstStyle/>
          <a:p>
            <a:fld id="{E66AA3EA-0569-43EF-BBA3-83FDB109D582}" type="slidenum">
              <a:rPr lang="en-US" smtClean="0"/>
              <a:pPr/>
              <a:t>3</a:t>
            </a:fld>
            <a:endParaRPr lang="en-US" dirty="0"/>
          </a:p>
        </p:txBody>
      </p:sp>
    </p:spTree>
    <p:extLst>
      <p:ext uri="{BB962C8B-B14F-4D97-AF65-F5344CB8AC3E}">
        <p14:creationId xmlns:p14="http://schemas.microsoft.com/office/powerpoint/2010/main" val="1319379922"/>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additive="base">
                                        <p:cTn id="13"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0483">
                                            <p:txEl>
                                              <p:pRg st="2" end="2"/>
                                            </p:txEl>
                                          </p:spTgt>
                                        </p:tgtEl>
                                        <p:attrNameLst>
                                          <p:attrName>style.visibility</p:attrName>
                                        </p:attrNameLst>
                                      </p:cBhvr>
                                      <p:to>
                                        <p:strVal val="visible"/>
                                      </p:to>
                                    </p:set>
                                    <p:anim calcmode="lin" valueType="num">
                                      <p:cBhvr additive="base">
                                        <p:cTn id="17"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04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0483">
                                            <p:txEl>
                                              <p:pRg st="3" end="3"/>
                                            </p:txEl>
                                          </p:spTgt>
                                        </p:tgtEl>
                                        <p:attrNameLst>
                                          <p:attrName>style.visibility</p:attrName>
                                        </p:attrNameLst>
                                      </p:cBhvr>
                                      <p:to>
                                        <p:strVal val="visible"/>
                                      </p:to>
                                    </p:set>
                                    <p:anim calcmode="lin" valueType="num">
                                      <p:cBhvr additive="base">
                                        <p:cTn id="23"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048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0483">
                                            <p:txEl>
                                              <p:pRg st="4" end="4"/>
                                            </p:txEl>
                                          </p:spTgt>
                                        </p:tgtEl>
                                        <p:attrNameLst>
                                          <p:attrName>style.visibility</p:attrName>
                                        </p:attrNameLst>
                                      </p:cBhvr>
                                      <p:to>
                                        <p:strVal val="visible"/>
                                      </p:to>
                                    </p:set>
                                    <p:anim calcmode="lin" valueType="num">
                                      <p:cBhvr additive="base">
                                        <p:cTn id="27"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48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0483">
                                            <p:txEl>
                                              <p:pRg st="5" end="5"/>
                                            </p:txEl>
                                          </p:spTgt>
                                        </p:tgtEl>
                                        <p:attrNameLst>
                                          <p:attrName>style.visibility</p:attrName>
                                        </p:attrNameLst>
                                      </p:cBhvr>
                                      <p:to>
                                        <p:strVal val="visible"/>
                                      </p:to>
                                    </p:set>
                                    <p:anim calcmode="lin" valueType="num">
                                      <p:cBhvr additive="base">
                                        <p:cTn id="33"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048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0483">
                                            <p:txEl>
                                              <p:pRg st="6" end="6"/>
                                            </p:txEl>
                                          </p:spTgt>
                                        </p:tgtEl>
                                        <p:attrNameLst>
                                          <p:attrName>style.visibility</p:attrName>
                                        </p:attrNameLst>
                                      </p:cBhvr>
                                      <p:to>
                                        <p:strVal val="visible"/>
                                      </p:to>
                                    </p:set>
                                    <p:anim calcmode="lin" valueType="num">
                                      <p:cBhvr additive="base">
                                        <p:cTn id="37" dur="500" fill="hold"/>
                                        <p:tgtEl>
                                          <p:spTgt spid="2048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048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52162" name="Rectangle 2"/>
          <p:cNvSpPr>
            <a:spLocks noGrp="1" noChangeArrowheads="1"/>
          </p:cNvSpPr>
          <p:nvPr>
            <p:ph type="title"/>
          </p:nvPr>
        </p:nvSpPr>
        <p:spPr>
          <a:xfrm>
            <a:off x="228600" y="127660"/>
            <a:ext cx="8450263"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Planning Responsibilities and Tasks</a:t>
            </a:r>
          </a:p>
        </p:txBody>
      </p:sp>
      <p:sp>
        <p:nvSpPr>
          <p:cNvPr id="13" name="Isosceles Triangle 12"/>
          <p:cNvSpPr/>
          <p:nvPr/>
        </p:nvSpPr>
        <p:spPr bwMode="auto">
          <a:xfrm>
            <a:off x="0" y="1524000"/>
            <a:ext cx="6057900" cy="4533900"/>
          </a:xfrm>
          <a:prstGeom prst="triangle">
            <a:avLst/>
          </a:prstGeom>
          <a:solidFill>
            <a:schemeClr val="accent1"/>
          </a:solidFill>
          <a:ln w="2857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News Gothic MT" pitchFamily="34" charset="0"/>
            </a:endParaRPr>
          </a:p>
        </p:txBody>
      </p:sp>
      <p:sp>
        <p:nvSpPr>
          <p:cNvPr id="17" name="Isosceles Triangle 16"/>
          <p:cNvSpPr/>
          <p:nvPr/>
        </p:nvSpPr>
        <p:spPr bwMode="auto">
          <a:xfrm flipV="1">
            <a:off x="3028134" y="1521618"/>
            <a:ext cx="6087291" cy="4533900"/>
          </a:xfrm>
          <a:prstGeom prst="triangle">
            <a:avLst/>
          </a:prstGeom>
          <a:solidFill>
            <a:schemeClr val="accent4"/>
          </a:solidFill>
          <a:ln w="2857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txBody>
          <a:bodyPr vert="horz" wrap="square" lIns="91440" tIns="45720" rIns="91440" bIns="45720" numCol="1" rtlCol="0" anchor="t" anchorCtr="0" compatLnSpc="1">
            <a:prstTxWarp prst="textNoShape">
              <a:avLst/>
            </a:prstTxWarp>
          </a:bodyPr>
          <a:lstStyle/>
          <a:p>
            <a:pPr algn="ctr" eaLnBrk="0" hangingPunct="0"/>
            <a:endParaRPr lang="en-US" sz="2800" b="1">
              <a:effectLst>
                <a:outerShdw blurRad="38100" dist="38100" dir="2700000" algn="tl">
                  <a:srgbClr val="000000">
                    <a:alpha val="43137"/>
                  </a:srgbClr>
                </a:outerShdw>
              </a:effectLst>
              <a:latin typeface="News Gothic MT" pitchFamily="34" charset="0"/>
            </a:endParaRPr>
          </a:p>
        </p:txBody>
      </p:sp>
      <p:cxnSp>
        <p:nvCxnSpPr>
          <p:cNvPr id="16" name="Straight Connector 15"/>
          <p:cNvCxnSpPr/>
          <p:nvPr/>
        </p:nvCxnSpPr>
        <p:spPr bwMode="auto">
          <a:xfrm>
            <a:off x="2114550" y="2895600"/>
            <a:ext cx="1833563"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9" name="Straight Connector 18"/>
          <p:cNvCxnSpPr/>
          <p:nvPr/>
        </p:nvCxnSpPr>
        <p:spPr bwMode="auto">
          <a:xfrm>
            <a:off x="3964781" y="2895600"/>
            <a:ext cx="4262438" cy="0"/>
          </a:xfrm>
          <a:prstGeom prst="line">
            <a:avLst/>
          </a:prstGeom>
          <a:solidFill>
            <a:schemeClr val="accent1"/>
          </a:solidFill>
          <a:ln w="28575" cap="flat" cmpd="sng" algn="ctr">
            <a:solidFill>
              <a:schemeClr val="bg1"/>
            </a:solidFill>
            <a:prstDash val="solid"/>
            <a:round/>
            <a:headEnd type="none" w="med" len="med"/>
            <a:tailEnd type="none" w="med" len="med"/>
          </a:ln>
          <a:effectLst/>
        </p:spPr>
      </p:cxnSp>
      <p:cxnSp>
        <p:nvCxnSpPr>
          <p:cNvPr id="23" name="Straight Connector 22"/>
          <p:cNvCxnSpPr/>
          <p:nvPr/>
        </p:nvCxnSpPr>
        <p:spPr bwMode="auto">
          <a:xfrm>
            <a:off x="1126331" y="4381500"/>
            <a:ext cx="3836194"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a:off x="4960144" y="4381500"/>
            <a:ext cx="2266156" cy="0"/>
          </a:xfrm>
          <a:prstGeom prst="line">
            <a:avLst/>
          </a:prstGeom>
          <a:solidFill>
            <a:schemeClr val="accent1"/>
          </a:solidFill>
          <a:ln w="28575" cap="flat" cmpd="sng" algn="ctr">
            <a:solidFill>
              <a:schemeClr val="bg1"/>
            </a:solidFill>
            <a:prstDash val="solid"/>
            <a:round/>
            <a:headEnd type="none" w="med" len="med"/>
            <a:tailEnd type="none" w="med" len="med"/>
          </a:ln>
          <a:effectLst/>
        </p:spPr>
      </p:cxnSp>
      <p:sp>
        <p:nvSpPr>
          <p:cNvPr id="32" name="TextBox 31"/>
          <p:cNvSpPr txBox="1"/>
          <p:nvPr/>
        </p:nvSpPr>
        <p:spPr>
          <a:xfrm>
            <a:off x="2223441" y="2176633"/>
            <a:ext cx="1611018" cy="707886"/>
          </a:xfrm>
          <a:prstGeom prst="rect">
            <a:avLst/>
          </a:prstGeom>
          <a:noFill/>
        </p:spPr>
        <p:txBody>
          <a:bodyPr wrap="none" rtlCol="0">
            <a:spAutoFit/>
          </a:bodyPr>
          <a:lstStyle/>
          <a:p>
            <a:pPr algn="ctr"/>
            <a:r>
              <a:rPr lang="en-US" sz="2000" b="1" dirty="0">
                <a:effectLst>
                  <a:outerShdw blurRad="38100" dist="38100" dir="2700000" algn="tl">
                    <a:srgbClr val="000000">
                      <a:alpha val="43137"/>
                    </a:srgbClr>
                  </a:outerShdw>
                </a:effectLst>
                <a:latin typeface="Calibri" panose="020F0502020204030204" pitchFamily="34" charset="0"/>
              </a:rPr>
              <a:t>Top </a:t>
            </a:r>
          </a:p>
          <a:p>
            <a:pPr algn="ctr"/>
            <a:r>
              <a:rPr lang="en-US" sz="2000" b="1" dirty="0">
                <a:effectLst>
                  <a:outerShdw blurRad="38100" dist="38100" dir="2700000" algn="tl">
                    <a:srgbClr val="000000">
                      <a:alpha val="43137"/>
                    </a:srgbClr>
                  </a:outerShdw>
                </a:effectLst>
                <a:latin typeface="Calibri" panose="020F0502020204030204" pitchFamily="34" charset="0"/>
              </a:rPr>
              <a:t>Management</a:t>
            </a:r>
          </a:p>
        </p:txBody>
      </p:sp>
      <p:sp>
        <p:nvSpPr>
          <p:cNvPr id="35" name="TextBox 34"/>
          <p:cNvSpPr txBox="1"/>
          <p:nvPr/>
        </p:nvSpPr>
        <p:spPr>
          <a:xfrm>
            <a:off x="1806662" y="3310345"/>
            <a:ext cx="2444580" cy="707886"/>
          </a:xfrm>
          <a:prstGeom prst="rect">
            <a:avLst/>
          </a:prstGeom>
          <a:noFill/>
        </p:spPr>
        <p:txBody>
          <a:bodyPr wrap="none" rtlCol="0">
            <a:spAutoFit/>
          </a:bodyPr>
          <a:lstStyle/>
          <a:p>
            <a:pPr algn="ctr"/>
            <a:r>
              <a:rPr lang="en-US" sz="2000" b="1" dirty="0">
                <a:effectLst>
                  <a:outerShdw blurRad="38100" dist="38100" dir="2700000" algn="tl">
                    <a:srgbClr val="000000">
                      <a:alpha val="43137"/>
                    </a:srgbClr>
                  </a:outerShdw>
                </a:effectLst>
                <a:latin typeface="Calibri" panose="020F0502020204030204" pitchFamily="34" charset="0"/>
              </a:rPr>
              <a:t>Operations</a:t>
            </a:r>
          </a:p>
          <a:p>
            <a:pPr algn="ctr"/>
            <a:r>
              <a:rPr lang="en-US" sz="2000" b="1" dirty="0">
                <a:effectLst>
                  <a:outerShdw blurRad="38100" dist="38100" dir="2700000" algn="tl">
                    <a:srgbClr val="000000">
                      <a:alpha val="43137"/>
                    </a:srgbClr>
                  </a:outerShdw>
                </a:effectLst>
                <a:latin typeface="Calibri" panose="020F0502020204030204" pitchFamily="34" charset="0"/>
              </a:rPr>
              <a:t>Middle-Management</a:t>
            </a:r>
          </a:p>
        </p:txBody>
      </p:sp>
      <p:sp>
        <p:nvSpPr>
          <p:cNvPr id="36" name="TextBox 35"/>
          <p:cNvSpPr txBox="1"/>
          <p:nvPr/>
        </p:nvSpPr>
        <p:spPr>
          <a:xfrm>
            <a:off x="1004966" y="4724242"/>
            <a:ext cx="4047968" cy="707886"/>
          </a:xfrm>
          <a:prstGeom prst="rect">
            <a:avLst/>
          </a:prstGeom>
          <a:noFill/>
        </p:spPr>
        <p:txBody>
          <a:bodyPr wrap="none" rtlCol="0">
            <a:spAutoFit/>
          </a:bodyPr>
          <a:lstStyle/>
          <a:p>
            <a:pPr algn="ctr"/>
            <a:r>
              <a:rPr lang="en-US" sz="2000" b="1" dirty="0">
                <a:effectLst>
                  <a:outerShdw blurRad="38100" dist="38100" dir="2700000" algn="tl">
                    <a:srgbClr val="000000">
                      <a:alpha val="43137"/>
                    </a:srgbClr>
                  </a:outerShdw>
                </a:effectLst>
                <a:latin typeface="Calibri" panose="020F0502020204030204" pitchFamily="34" charset="0"/>
              </a:rPr>
              <a:t>Operations</a:t>
            </a:r>
          </a:p>
          <a:p>
            <a:pPr algn="ctr"/>
            <a:r>
              <a:rPr lang="en-US" sz="2000" b="1" dirty="0">
                <a:effectLst>
                  <a:outerShdw blurRad="38100" dist="38100" dir="2700000" algn="tl">
                    <a:srgbClr val="000000">
                      <a:alpha val="43137"/>
                    </a:srgbClr>
                  </a:outerShdw>
                </a:effectLst>
                <a:latin typeface="Calibri" panose="020F0502020204030204" pitchFamily="34" charset="0"/>
              </a:rPr>
              <a:t>Managers, Supervisor, Foremen, etc.</a:t>
            </a:r>
          </a:p>
        </p:txBody>
      </p:sp>
      <p:sp>
        <p:nvSpPr>
          <p:cNvPr id="37" name="TextBox 36"/>
          <p:cNvSpPr txBox="1"/>
          <p:nvPr/>
        </p:nvSpPr>
        <p:spPr>
          <a:xfrm>
            <a:off x="5234205" y="1566843"/>
            <a:ext cx="1675149" cy="1263423"/>
          </a:xfrm>
          <a:prstGeom prst="rect">
            <a:avLst/>
          </a:prstGeom>
          <a:noFill/>
        </p:spPr>
        <p:txBody>
          <a:bodyPr wrap="square" rtlCol="0">
            <a:spAutoFit/>
          </a:bodyPr>
          <a:lstStyle/>
          <a:p>
            <a:pPr algn="ctr">
              <a:lnSpc>
                <a:spcPct val="90000"/>
              </a:lnSpc>
            </a:pPr>
            <a:r>
              <a:rPr lang="en-US" sz="1800" b="1" dirty="0">
                <a:solidFill>
                  <a:schemeClr val="bg1"/>
                </a:solidFill>
                <a:effectLst>
                  <a:outerShdw blurRad="38100" dist="38100" dir="2700000" algn="tl">
                    <a:srgbClr val="000000">
                      <a:alpha val="43137"/>
                    </a:srgbClr>
                  </a:outerShdw>
                </a:effectLst>
                <a:latin typeface="Calibri" panose="020F0502020204030204" pitchFamily="34" charset="0"/>
              </a:rPr>
              <a:t>Long-Range</a:t>
            </a:r>
          </a:p>
          <a:p>
            <a:pPr algn="ctr">
              <a:lnSpc>
                <a:spcPct val="90000"/>
              </a:lnSpc>
              <a:spcAft>
                <a:spcPts val="600"/>
              </a:spcAft>
            </a:pPr>
            <a:r>
              <a:rPr lang="en-US" sz="1000" i="1" dirty="0">
                <a:solidFill>
                  <a:schemeClr val="bg1"/>
                </a:solidFill>
                <a:effectLst>
                  <a:outerShdw blurRad="38100" dist="38100" dir="2700000" algn="tl">
                    <a:srgbClr val="000000">
                      <a:alpha val="43137"/>
                    </a:srgbClr>
                  </a:outerShdw>
                </a:effectLst>
                <a:latin typeface="Calibri" panose="020F0502020204030204" pitchFamily="34" charset="0"/>
              </a:rPr>
              <a:t>(over 1 year)</a:t>
            </a:r>
          </a:p>
          <a:p>
            <a:pPr marL="112713" indent="-112713">
              <a:lnSpc>
                <a:spcPct val="80000"/>
              </a:lnSpc>
              <a:spcAft>
                <a:spcPts val="300"/>
              </a:spcAft>
              <a:buFont typeface="Arial" panose="020B0604020202020204" pitchFamily="34" charset="0"/>
              <a:buChar char="•"/>
            </a:pPr>
            <a:r>
              <a:rPr lang="en-US" sz="1200" dirty="0">
                <a:solidFill>
                  <a:schemeClr val="bg1"/>
                </a:solidFill>
                <a:effectLst>
                  <a:outerShdw blurRad="38100" dist="38100" dir="2700000" algn="tl">
                    <a:srgbClr val="000000">
                      <a:alpha val="43137"/>
                    </a:srgbClr>
                  </a:outerShdw>
                </a:effectLst>
                <a:latin typeface="Calibri" panose="020F0502020204030204" pitchFamily="34" charset="0"/>
              </a:rPr>
              <a:t>R&amp;D</a:t>
            </a:r>
          </a:p>
          <a:p>
            <a:pPr marL="112713" indent="-112713">
              <a:lnSpc>
                <a:spcPct val="80000"/>
              </a:lnSpc>
              <a:spcAft>
                <a:spcPts val="300"/>
              </a:spcAft>
              <a:buFont typeface="Arial" panose="020B0604020202020204" pitchFamily="34" charset="0"/>
              <a:buChar char="•"/>
            </a:pPr>
            <a:r>
              <a:rPr lang="en-US" sz="1200" dirty="0">
                <a:solidFill>
                  <a:schemeClr val="bg1"/>
                </a:solidFill>
                <a:effectLst>
                  <a:outerShdw blurRad="38100" dist="38100" dir="2700000" algn="tl">
                    <a:srgbClr val="000000">
                      <a:alpha val="43137"/>
                    </a:srgbClr>
                  </a:outerShdw>
                </a:effectLst>
                <a:latin typeface="Calibri" panose="020F0502020204030204" pitchFamily="34" charset="0"/>
              </a:rPr>
              <a:t>New product plans</a:t>
            </a:r>
          </a:p>
          <a:p>
            <a:pPr marL="112713" indent="-112713">
              <a:lnSpc>
                <a:spcPct val="80000"/>
              </a:lnSpc>
              <a:spcAft>
                <a:spcPts val="300"/>
              </a:spcAft>
              <a:buFont typeface="Arial" panose="020B0604020202020204" pitchFamily="34" charset="0"/>
              <a:buChar char="•"/>
            </a:pPr>
            <a:r>
              <a:rPr lang="en-US" sz="1200" dirty="0">
                <a:solidFill>
                  <a:schemeClr val="bg1"/>
                </a:solidFill>
                <a:effectLst>
                  <a:outerShdw blurRad="38100" dist="38100" dir="2700000" algn="tl">
                    <a:srgbClr val="000000">
                      <a:alpha val="43137"/>
                    </a:srgbClr>
                  </a:outerShdw>
                </a:effectLst>
                <a:latin typeface="Calibri" panose="020F0502020204030204" pitchFamily="34" charset="0"/>
              </a:rPr>
              <a:t>Capital expenses</a:t>
            </a:r>
          </a:p>
          <a:p>
            <a:pPr marL="112713" indent="-112713">
              <a:lnSpc>
                <a:spcPct val="80000"/>
              </a:lnSpc>
              <a:spcAft>
                <a:spcPts val="300"/>
              </a:spcAft>
              <a:buFont typeface="Arial" panose="020B0604020202020204" pitchFamily="34" charset="0"/>
              <a:buChar char="•"/>
            </a:pPr>
            <a:r>
              <a:rPr lang="en-US" sz="1200" dirty="0">
                <a:solidFill>
                  <a:schemeClr val="bg1"/>
                </a:solidFill>
                <a:effectLst>
                  <a:outerShdw blurRad="38100" dist="38100" dir="2700000" algn="tl">
                    <a:srgbClr val="000000">
                      <a:alpha val="43137"/>
                    </a:srgbClr>
                  </a:outerShdw>
                </a:effectLst>
                <a:latin typeface="Calibri" panose="020F0502020204030204" pitchFamily="34" charset="0"/>
              </a:rPr>
              <a:t>Facility expansion</a:t>
            </a:r>
          </a:p>
        </p:txBody>
      </p:sp>
      <p:sp>
        <p:nvSpPr>
          <p:cNvPr id="38" name="TextBox 37"/>
          <p:cNvSpPr txBox="1"/>
          <p:nvPr/>
        </p:nvSpPr>
        <p:spPr>
          <a:xfrm>
            <a:off x="4830053" y="2933031"/>
            <a:ext cx="2483452" cy="1368067"/>
          </a:xfrm>
          <a:prstGeom prst="rect">
            <a:avLst/>
          </a:prstGeom>
          <a:noFill/>
        </p:spPr>
        <p:txBody>
          <a:bodyPr wrap="square" rtlCol="0">
            <a:spAutoFit/>
          </a:bodyPr>
          <a:lstStyle/>
          <a:p>
            <a:pPr algn="ctr">
              <a:lnSpc>
                <a:spcPct val="80000"/>
              </a:lnSpc>
              <a:spcAft>
                <a:spcPts val="0"/>
              </a:spcAft>
            </a:pPr>
            <a:r>
              <a:rPr lang="en-US" sz="1800" b="1" dirty="0">
                <a:solidFill>
                  <a:schemeClr val="bg1"/>
                </a:solidFill>
                <a:effectLst>
                  <a:outerShdw blurRad="38100" dist="38100" dir="2700000" algn="tl">
                    <a:srgbClr val="000000">
                      <a:alpha val="43137"/>
                    </a:srgbClr>
                  </a:outerShdw>
                </a:effectLst>
                <a:latin typeface="Calibri" panose="020F0502020204030204" pitchFamily="34" charset="0"/>
              </a:rPr>
              <a:t>Intermediate-Range</a:t>
            </a:r>
          </a:p>
          <a:p>
            <a:pPr algn="ctr">
              <a:lnSpc>
                <a:spcPct val="80000"/>
              </a:lnSpc>
              <a:spcAft>
                <a:spcPts val="600"/>
              </a:spcAft>
            </a:pPr>
            <a:r>
              <a:rPr lang="en-US" sz="1000" i="1" dirty="0">
                <a:solidFill>
                  <a:schemeClr val="bg1"/>
                </a:solidFill>
                <a:effectLst>
                  <a:outerShdw blurRad="38100" dist="38100" dir="2700000" algn="tl">
                    <a:srgbClr val="000000">
                      <a:alpha val="43137"/>
                    </a:srgbClr>
                  </a:outerShdw>
                </a:effectLst>
                <a:latin typeface="Calibri" panose="020F0502020204030204" pitchFamily="34" charset="0"/>
              </a:rPr>
              <a:t>(3 – 18 months)</a:t>
            </a:r>
          </a:p>
          <a:p>
            <a:pPr marL="112713" indent="-112713">
              <a:lnSpc>
                <a:spcPct val="80000"/>
              </a:lnSpc>
              <a:spcAft>
                <a:spcPts val="300"/>
              </a:spcAft>
              <a:buFont typeface="Arial" panose="020B0604020202020204" pitchFamily="34" charset="0"/>
              <a:buChar char="•"/>
            </a:pPr>
            <a:r>
              <a:rPr lang="en-US" sz="1200" dirty="0">
                <a:solidFill>
                  <a:schemeClr val="bg1"/>
                </a:solidFill>
                <a:effectLst>
                  <a:outerShdw blurRad="38100" dist="38100" dir="2700000" algn="tl">
                    <a:srgbClr val="000000">
                      <a:alpha val="43137"/>
                    </a:srgbClr>
                  </a:outerShdw>
                </a:effectLst>
                <a:latin typeface="Calibri" panose="020F0502020204030204" pitchFamily="34" charset="0"/>
              </a:rPr>
              <a:t>Sales planning</a:t>
            </a:r>
          </a:p>
          <a:p>
            <a:pPr marL="112713" indent="-112713">
              <a:lnSpc>
                <a:spcPct val="80000"/>
              </a:lnSpc>
              <a:spcAft>
                <a:spcPts val="300"/>
              </a:spcAft>
              <a:buFont typeface="Arial" panose="020B0604020202020204" pitchFamily="34" charset="0"/>
              <a:buChar char="•"/>
            </a:pPr>
            <a:r>
              <a:rPr lang="en-US" sz="1200" dirty="0">
                <a:solidFill>
                  <a:schemeClr val="bg1"/>
                </a:solidFill>
                <a:effectLst>
                  <a:outerShdw blurRad="38100" dist="38100" dir="2700000" algn="tl">
                    <a:srgbClr val="000000">
                      <a:alpha val="43137"/>
                    </a:srgbClr>
                  </a:outerShdw>
                </a:effectLst>
                <a:latin typeface="Calibri" panose="020F0502020204030204" pitchFamily="34" charset="0"/>
              </a:rPr>
              <a:t>Production planning</a:t>
            </a:r>
          </a:p>
          <a:p>
            <a:pPr marL="112713" indent="-112713">
              <a:lnSpc>
                <a:spcPct val="80000"/>
              </a:lnSpc>
              <a:spcAft>
                <a:spcPts val="300"/>
              </a:spcAft>
              <a:buFont typeface="Arial" panose="020B0604020202020204" pitchFamily="34" charset="0"/>
              <a:buChar char="•"/>
            </a:pPr>
            <a:r>
              <a:rPr lang="en-US" sz="1200" dirty="0">
                <a:solidFill>
                  <a:schemeClr val="bg1"/>
                </a:solidFill>
                <a:effectLst>
                  <a:outerShdw blurRad="38100" dist="38100" dir="2700000" algn="tl">
                    <a:srgbClr val="000000">
                      <a:alpha val="43137"/>
                    </a:srgbClr>
                  </a:outerShdw>
                </a:effectLst>
                <a:latin typeface="Calibri" panose="020F0502020204030204" pitchFamily="34" charset="0"/>
              </a:rPr>
              <a:t>Setting employment, inventory, and subcontracting levels</a:t>
            </a:r>
          </a:p>
          <a:p>
            <a:pPr marL="112713" indent="-112713">
              <a:lnSpc>
                <a:spcPct val="80000"/>
              </a:lnSpc>
              <a:spcAft>
                <a:spcPts val="300"/>
              </a:spcAft>
              <a:buFont typeface="Arial" panose="020B0604020202020204" pitchFamily="34" charset="0"/>
              <a:buChar char="•"/>
            </a:pPr>
            <a:r>
              <a:rPr lang="en-US" sz="1200" dirty="0">
                <a:solidFill>
                  <a:schemeClr val="bg1"/>
                </a:solidFill>
                <a:effectLst>
                  <a:outerShdw blurRad="38100" dist="38100" dir="2700000" algn="tl">
                    <a:srgbClr val="000000">
                      <a:alpha val="43137"/>
                    </a:srgbClr>
                  </a:outerShdw>
                </a:effectLst>
                <a:latin typeface="Calibri" panose="020F0502020204030204" pitchFamily="34" charset="0"/>
              </a:rPr>
              <a:t>Analyzing operating plans</a:t>
            </a:r>
          </a:p>
        </p:txBody>
      </p:sp>
      <p:sp>
        <p:nvSpPr>
          <p:cNvPr id="40" name="TextBox 39"/>
          <p:cNvSpPr txBox="1"/>
          <p:nvPr/>
        </p:nvSpPr>
        <p:spPr>
          <a:xfrm>
            <a:off x="5486077" y="4367645"/>
            <a:ext cx="1337287" cy="1210075"/>
          </a:xfrm>
          <a:prstGeom prst="rect">
            <a:avLst/>
          </a:prstGeom>
          <a:noFill/>
        </p:spPr>
        <p:txBody>
          <a:bodyPr wrap="square" rtlCol="0">
            <a:spAutoFit/>
          </a:bodyPr>
          <a:lstStyle/>
          <a:p>
            <a:pPr algn="ctr">
              <a:lnSpc>
                <a:spcPct val="90000"/>
              </a:lnSpc>
            </a:pPr>
            <a:r>
              <a:rPr lang="en-US" sz="1600" b="1" dirty="0">
                <a:solidFill>
                  <a:schemeClr val="bg1"/>
                </a:solidFill>
                <a:effectLst>
                  <a:outerShdw blurRad="38100" dist="38100" dir="2700000" algn="tl">
                    <a:srgbClr val="000000">
                      <a:alpha val="43137"/>
                    </a:srgbClr>
                  </a:outerShdw>
                </a:effectLst>
                <a:latin typeface="Calibri" panose="020F0502020204030204" pitchFamily="34" charset="0"/>
              </a:rPr>
              <a:t>Short-Range</a:t>
            </a:r>
          </a:p>
          <a:p>
            <a:pPr algn="ctr">
              <a:lnSpc>
                <a:spcPct val="90000"/>
              </a:lnSpc>
              <a:spcAft>
                <a:spcPts val="600"/>
              </a:spcAft>
            </a:pPr>
            <a:r>
              <a:rPr lang="en-US" sz="1000" i="1" dirty="0">
                <a:solidFill>
                  <a:schemeClr val="bg1"/>
                </a:solidFill>
                <a:effectLst>
                  <a:outerShdw blurRad="38100" dist="38100" dir="2700000" algn="tl">
                    <a:srgbClr val="000000">
                      <a:alpha val="43137"/>
                    </a:srgbClr>
                  </a:outerShdw>
                </a:effectLst>
                <a:latin typeface="Calibri" panose="020F0502020204030204" pitchFamily="34" charset="0"/>
              </a:rPr>
              <a:t>(up to 3 months)</a:t>
            </a:r>
          </a:p>
          <a:p>
            <a:pPr marL="112713" indent="-112713">
              <a:lnSpc>
                <a:spcPct val="80000"/>
              </a:lnSpc>
              <a:spcBef>
                <a:spcPts val="100"/>
              </a:spcBef>
              <a:spcAft>
                <a:spcPts val="100"/>
              </a:spcAft>
              <a:buFont typeface="Arial" panose="020B0604020202020204" pitchFamily="34" charset="0"/>
              <a:buChar char="•"/>
            </a:pPr>
            <a:r>
              <a:rPr lang="en-US" sz="1200" dirty="0">
                <a:solidFill>
                  <a:schemeClr val="bg1"/>
                </a:solidFill>
                <a:effectLst>
                  <a:outerShdw blurRad="38100" dist="38100" dir="2700000" algn="tl">
                    <a:srgbClr val="000000">
                      <a:alpha val="43137"/>
                    </a:srgbClr>
                  </a:outerShdw>
                </a:effectLst>
                <a:latin typeface="Calibri" panose="020F0502020204030204" pitchFamily="34" charset="0"/>
              </a:rPr>
              <a:t>Job assignments</a:t>
            </a:r>
          </a:p>
          <a:p>
            <a:pPr marL="112713" indent="-112713">
              <a:lnSpc>
                <a:spcPct val="80000"/>
              </a:lnSpc>
              <a:spcBef>
                <a:spcPts val="100"/>
              </a:spcBef>
              <a:spcAft>
                <a:spcPts val="100"/>
              </a:spcAft>
              <a:buFont typeface="Arial" panose="020B0604020202020204" pitchFamily="34" charset="0"/>
              <a:buChar char="•"/>
            </a:pPr>
            <a:r>
              <a:rPr lang="en-US" sz="1200" dirty="0">
                <a:solidFill>
                  <a:schemeClr val="bg1"/>
                </a:solidFill>
                <a:effectLst>
                  <a:outerShdw blurRad="38100" dist="38100" dir="2700000" algn="tl">
                    <a:srgbClr val="000000">
                      <a:alpha val="43137"/>
                    </a:srgbClr>
                  </a:outerShdw>
                </a:effectLst>
                <a:latin typeface="Calibri" panose="020F0502020204030204" pitchFamily="34" charset="0"/>
              </a:rPr>
              <a:t>Job scheduling</a:t>
            </a:r>
          </a:p>
          <a:p>
            <a:pPr marL="112713" indent="-112713">
              <a:lnSpc>
                <a:spcPct val="80000"/>
              </a:lnSpc>
              <a:spcBef>
                <a:spcPts val="100"/>
              </a:spcBef>
              <a:spcAft>
                <a:spcPts val="100"/>
              </a:spcAft>
              <a:buFont typeface="Arial" panose="020B0604020202020204" pitchFamily="34" charset="0"/>
              <a:buChar char="•"/>
            </a:pPr>
            <a:r>
              <a:rPr lang="en-US" sz="1200" dirty="0">
                <a:solidFill>
                  <a:schemeClr val="bg1"/>
                </a:solidFill>
                <a:effectLst>
                  <a:outerShdw blurRad="38100" dist="38100" dir="2700000" algn="tl">
                    <a:srgbClr val="000000">
                      <a:alpha val="43137"/>
                    </a:srgbClr>
                  </a:outerShdw>
                </a:effectLst>
                <a:latin typeface="Calibri" panose="020F0502020204030204" pitchFamily="34" charset="0"/>
              </a:rPr>
              <a:t>Dispatching</a:t>
            </a:r>
          </a:p>
          <a:p>
            <a:pPr marL="112713" indent="-112713">
              <a:lnSpc>
                <a:spcPct val="80000"/>
              </a:lnSpc>
              <a:spcBef>
                <a:spcPts val="100"/>
              </a:spcBef>
              <a:spcAft>
                <a:spcPts val="100"/>
              </a:spcAft>
              <a:buFont typeface="Arial" panose="020B0604020202020204" pitchFamily="34" charset="0"/>
              <a:buChar char="•"/>
            </a:pPr>
            <a:r>
              <a:rPr lang="en-US" sz="1200" dirty="0">
                <a:solidFill>
                  <a:schemeClr val="bg1"/>
                </a:solidFill>
                <a:effectLst>
                  <a:outerShdw blurRad="38100" dist="38100" dir="2700000" algn="tl">
                    <a:srgbClr val="000000">
                      <a:alpha val="43137"/>
                    </a:srgbClr>
                  </a:outerShdw>
                </a:effectLst>
                <a:latin typeface="Calibri" panose="020F0502020204030204" pitchFamily="34" charset="0"/>
              </a:rPr>
              <a:t>Ordering</a:t>
            </a:r>
          </a:p>
        </p:txBody>
      </p:sp>
      <p:sp>
        <p:nvSpPr>
          <p:cNvPr id="34" name="TextBox 33"/>
          <p:cNvSpPr txBox="1"/>
          <p:nvPr/>
        </p:nvSpPr>
        <p:spPr>
          <a:xfrm>
            <a:off x="1896493" y="6057900"/>
            <a:ext cx="2264915" cy="523220"/>
          </a:xfrm>
          <a:prstGeom prst="rect">
            <a:avLst/>
          </a:prstGeom>
          <a:noFill/>
        </p:spPr>
        <p:txBody>
          <a:bodyPr wrap="none" rtlCol="0">
            <a:spAutoFit/>
          </a:bodyPr>
          <a:lstStyle/>
          <a:p>
            <a:r>
              <a:rPr lang="en-US" sz="2800" b="1" dirty="0">
                <a:effectLst>
                  <a:outerShdw blurRad="38100" dist="38100" dir="2700000" algn="tl">
                    <a:srgbClr val="000000">
                      <a:alpha val="43137"/>
                    </a:srgbClr>
                  </a:outerShdw>
                </a:effectLst>
                <a:latin typeface="Calibri" panose="020F0502020204030204" pitchFamily="34" charset="0"/>
              </a:rPr>
              <a:t>Responsibility</a:t>
            </a:r>
          </a:p>
        </p:txBody>
      </p:sp>
      <p:sp>
        <p:nvSpPr>
          <p:cNvPr id="42" name="TextBox 41"/>
          <p:cNvSpPr txBox="1"/>
          <p:nvPr/>
        </p:nvSpPr>
        <p:spPr>
          <a:xfrm>
            <a:off x="3645987" y="990600"/>
            <a:ext cx="4851585" cy="523220"/>
          </a:xfrm>
          <a:prstGeom prst="rect">
            <a:avLst/>
          </a:prstGeom>
          <a:noFill/>
        </p:spPr>
        <p:txBody>
          <a:bodyPr wrap="none" rtlCol="0">
            <a:spAutoFit/>
          </a:bodyPr>
          <a:lstStyle/>
          <a:p>
            <a:r>
              <a:rPr lang="en-US" sz="2800" b="1" dirty="0">
                <a:effectLst>
                  <a:outerShdw blurRad="38100" dist="38100" dir="2700000" algn="tl">
                    <a:srgbClr val="000000">
                      <a:alpha val="43137"/>
                    </a:srgbClr>
                  </a:outerShdw>
                </a:effectLst>
                <a:latin typeface="Calibri" panose="020F0502020204030204" pitchFamily="34" charset="0"/>
              </a:rPr>
              <a:t>Planning Tasks and Horizon </a:t>
            </a:r>
            <a:r>
              <a:rPr lang="en-US" sz="2800" b="1" dirty="0">
                <a:effectLst>
                  <a:outerShdw blurRad="38100" dist="38100" dir="2700000" algn="tl">
                    <a:srgbClr val="000000">
                      <a:alpha val="43137"/>
                    </a:srgbClr>
                  </a:outerShdw>
                </a:effectLst>
                <a:latin typeface="Calibri" panose="020F0502020204030204" pitchFamily="34" charset="0"/>
                <a:sym typeface="Wingdings" panose="05000000000000000000" pitchFamily="2" charset="2"/>
              </a:rPr>
              <a:t></a:t>
            </a:r>
            <a:r>
              <a:rPr lang="en-US" sz="2800" b="1" dirty="0">
                <a:effectLst>
                  <a:outerShdw blurRad="38100" dist="38100" dir="2700000" algn="tl">
                    <a:srgbClr val="000000">
                      <a:alpha val="43137"/>
                    </a:srgbClr>
                  </a:outerShdw>
                </a:effectLst>
                <a:latin typeface="Calibri" panose="020F0502020204030204" pitchFamily="34" charset="0"/>
              </a:rPr>
              <a:t> </a:t>
            </a: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3" name="Slide Number Placeholder 2"/>
          <p:cNvSpPr>
            <a:spLocks noGrp="1"/>
          </p:cNvSpPr>
          <p:nvPr>
            <p:ph type="sldNum" sz="quarter" idx="4"/>
          </p:nvPr>
        </p:nvSpPr>
        <p:spPr/>
        <p:txBody>
          <a:bodyPr/>
          <a:lstStyle/>
          <a:p>
            <a:fld id="{E66AA3EA-0569-43EF-BBA3-83FDB109D582}" type="slidenum">
              <a:rPr lang="en-US" smtClean="0"/>
              <a:pPr/>
              <a:t>4</a:t>
            </a:fld>
            <a:endParaRPr lang="en-US" dirty="0"/>
          </a:p>
        </p:txBody>
      </p:sp>
    </p:spTree>
    <p:extLst>
      <p:ext uri="{BB962C8B-B14F-4D97-AF65-F5344CB8AC3E}">
        <p14:creationId xmlns:p14="http://schemas.microsoft.com/office/powerpoint/2010/main" val="1924403820"/>
      </p:ext>
    </p:extLst>
  </p:cSld>
  <p:clrMapOvr>
    <a:masterClrMapping/>
  </p:clrMapOvr>
  <p:transition spd="slow">
    <p:pull dir="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 name="Object 121"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386" name="Rectangle 122"/>
          <p:cNvSpPr>
            <a:spLocks noGrp="1" noChangeArrowheads="1"/>
          </p:cNvSpPr>
          <p:nvPr>
            <p:ph type="title"/>
          </p:nvPr>
        </p:nvSpPr>
        <p:spPr bwMode="auto">
          <a:xfrm>
            <a:off x="233362" y="127660"/>
            <a:ext cx="8910638"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cs typeface="Arial" charset="0"/>
              </a:rPr>
              <a:t>Supply Chain Planning </a:t>
            </a:r>
            <a:r>
              <a:rPr 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Diagram</a:t>
            </a:r>
          </a:p>
        </p:txBody>
      </p:sp>
      <p:sp>
        <p:nvSpPr>
          <p:cNvPr id="95" name="Rectangle 94"/>
          <p:cNvSpPr/>
          <p:nvPr/>
        </p:nvSpPr>
        <p:spPr bwMode="auto">
          <a:xfrm>
            <a:off x="939801" y="1871133"/>
            <a:ext cx="5054598" cy="1401233"/>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r>
              <a:rPr lang="en-US" sz="1400" b="1" dirty="0">
                <a:effectLst>
                  <a:outerShdw blurRad="38100" dist="38100" dir="2700000" algn="tl">
                    <a:srgbClr val="000000">
                      <a:alpha val="43137"/>
                    </a:srgbClr>
                  </a:outerShdw>
                </a:effectLst>
                <a:latin typeface="News Gothic MT" pitchFamily="34" charset="0"/>
              </a:rPr>
              <a:t>Sales &amp; Operations Planning </a:t>
            </a:r>
            <a:r>
              <a:rPr lang="en-US" sz="1000" dirty="0">
                <a:effectLst>
                  <a:outerShdw blurRad="38100" dist="38100" dir="2700000" algn="tl">
                    <a:srgbClr val="000000">
                      <a:alpha val="43137"/>
                    </a:srgbClr>
                  </a:outerShdw>
                </a:effectLst>
                <a:latin typeface="News Gothic MT" pitchFamily="34" charset="0"/>
              </a:rPr>
              <a:t>(S&amp;OP)</a:t>
            </a:r>
          </a:p>
        </p:txBody>
      </p:sp>
      <p:sp>
        <p:nvSpPr>
          <p:cNvPr id="67" name="Rectangle 27"/>
          <p:cNvSpPr>
            <a:spLocks noChangeArrowheads="1"/>
          </p:cNvSpPr>
          <p:nvPr/>
        </p:nvSpPr>
        <p:spPr bwMode="auto">
          <a:xfrm>
            <a:off x="4896281" y="2209975"/>
            <a:ext cx="951637" cy="308858"/>
          </a:xfrm>
          <a:prstGeom prst="rect">
            <a:avLst/>
          </a:prstGeom>
          <a:solidFill>
            <a:schemeClr val="accent1">
              <a:lumMod val="40000"/>
              <a:lumOff val="60000"/>
            </a:schemeClr>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black"/>
                </a:solidFill>
                <a:latin typeface="News Gothic MT" pitchFamily="34" charset="0"/>
              </a:rPr>
              <a:t>Demand </a:t>
            </a:r>
          </a:p>
          <a:p>
            <a:pPr algn="ctr" eaLnBrk="0" hangingPunct="0">
              <a:lnSpc>
                <a:spcPct val="80000"/>
              </a:lnSpc>
            </a:pPr>
            <a:r>
              <a:rPr lang="en-US" sz="1000" b="1" dirty="0">
                <a:solidFill>
                  <a:prstClr val="black"/>
                </a:solidFill>
                <a:latin typeface="News Gothic MT" pitchFamily="34" charset="0"/>
              </a:rPr>
              <a:t>Management</a:t>
            </a:r>
          </a:p>
        </p:txBody>
      </p:sp>
      <p:sp>
        <p:nvSpPr>
          <p:cNvPr id="73" name="Rectangle 37"/>
          <p:cNvSpPr>
            <a:spLocks noChangeArrowheads="1"/>
          </p:cNvSpPr>
          <p:nvPr/>
        </p:nvSpPr>
        <p:spPr bwMode="auto">
          <a:xfrm>
            <a:off x="4897618" y="2861733"/>
            <a:ext cx="948964" cy="308858"/>
          </a:xfrm>
          <a:prstGeom prst="rect">
            <a:avLst/>
          </a:prstGeom>
          <a:solidFill>
            <a:schemeClr val="accent1">
              <a:lumMod val="40000"/>
              <a:lumOff val="60000"/>
            </a:schemeClr>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90000"/>
              </a:lnSpc>
            </a:pPr>
            <a:r>
              <a:rPr lang="en-US" sz="1000" b="1" dirty="0">
                <a:solidFill>
                  <a:prstClr val="black"/>
                </a:solidFill>
                <a:latin typeface="News Gothic MT" pitchFamily="34" charset="0"/>
              </a:rPr>
              <a:t>Supply </a:t>
            </a:r>
          </a:p>
          <a:p>
            <a:pPr algn="ctr" eaLnBrk="0" hangingPunct="0">
              <a:lnSpc>
                <a:spcPct val="90000"/>
              </a:lnSpc>
            </a:pPr>
            <a:r>
              <a:rPr lang="en-US" sz="1000" b="1" dirty="0">
                <a:solidFill>
                  <a:prstClr val="black"/>
                </a:solidFill>
                <a:latin typeface="News Gothic MT" pitchFamily="34" charset="0"/>
              </a:rPr>
              <a:t>Management</a:t>
            </a:r>
          </a:p>
        </p:txBody>
      </p:sp>
      <p:sp>
        <p:nvSpPr>
          <p:cNvPr id="75" name="Rectangle 41"/>
          <p:cNvSpPr>
            <a:spLocks noChangeArrowheads="1"/>
          </p:cNvSpPr>
          <p:nvPr/>
        </p:nvSpPr>
        <p:spPr bwMode="auto">
          <a:xfrm>
            <a:off x="1073415" y="3711063"/>
            <a:ext cx="1053570" cy="498194"/>
          </a:xfrm>
          <a:prstGeom prst="rect">
            <a:avLst/>
          </a:prstGeom>
          <a:solidFill>
            <a:schemeClr val="accent1"/>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srgbClr val="000000"/>
                </a:solidFill>
                <a:latin typeface="News Gothic MT" pitchFamily="34" charset="0"/>
              </a:rPr>
              <a:t>Rough-Cut </a:t>
            </a:r>
          </a:p>
          <a:p>
            <a:pPr algn="ctr" eaLnBrk="0" hangingPunct="0">
              <a:lnSpc>
                <a:spcPct val="80000"/>
              </a:lnSpc>
            </a:pPr>
            <a:r>
              <a:rPr lang="en-US" sz="1000" b="1" dirty="0">
                <a:solidFill>
                  <a:srgbClr val="000000"/>
                </a:solidFill>
                <a:latin typeface="News Gothic MT" pitchFamily="34" charset="0"/>
              </a:rPr>
              <a:t>Capacity </a:t>
            </a:r>
          </a:p>
          <a:p>
            <a:pPr algn="ctr" eaLnBrk="0" hangingPunct="0">
              <a:lnSpc>
                <a:spcPct val="80000"/>
              </a:lnSpc>
            </a:pPr>
            <a:r>
              <a:rPr lang="en-US" sz="1000" b="1" dirty="0">
                <a:solidFill>
                  <a:srgbClr val="000000"/>
                </a:solidFill>
                <a:latin typeface="News Gothic MT" pitchFamily="34" charset="0"/>
              </a:rPr>
              <a:t>Planning</a:t>
            </a:r>
            <a:r>
              <a:rPr lang="en-US" sz="800" b="1" dirty="0">
                <a:solidFill>
                  <a:srgbClr val="000000"/>
                </a:solidFill>
                <a:latin typeface="News Gothic MT" pitchFamily="34" charset="0"/>
              </a:rPr>
              <a:t> </a:t>
            </a:r>
            <a:r>
              <a:rPr lang="en-US" sz="800" dirty="0">
                <a:solidFill>
                  <a:srgbClr val="000000"/>
                </a:solidFill>
                <a:latin typeface="News Gothic MT" pitchFamily="34" charset="0"/>
              </a:rPr>
              <a:t>(RCCP)</a:t>
            </a:r>
            <a:endParaRPr lang="en-US" sz="1000" dirty="0">
              <a:solidFill>
                <a:srgbClr val="000000"/>
              </a:solidFill>
              <a:latin typeface="News Gothic MT" pitchFamily="34" charset="0"/>
            </a:endParaRPr>
          </a:p>
        </p:txBody>
      </p:sp>
      <p:sp>
        <p:nvSpPr>
          <p:cNvPr id="83" name="Rectangle 12"/>
          <p:cNvSpPr>
            <a:spLocks noChangeArrowheads="1"/>
          </p:cNvSpPr>
          <p:nvPr/>
        </p:nvSpPr>
        <p:spPr bwMode="auto">
          <a:xfrm>
            <a:off x="1088574" y="4555067"/>
            <a:ext cx="1023251" cy="499533"/>
          </a:xfrm>
          <a:prstGeom prst="rect">
            <a:avLst/>
          </a:prstGeom>
          <a:solidFill>
            <a:schemeClr val="accent1"/>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black"/>
                </a:solidFill>
                <a:latin typeface="News Gothic MT"/>
              </a:rPr>
              <a:t>Capacity </a:t>
            </a:r>
          </a:p>
          <a:p>
            <a:pPr algn="ctr" eaLnBrk="0" hangingPunct="0">
              <a:lnSpc>
                <a:spcPct val="80000"/>
              </a:lnSpc>
            </a:pPr>
            <a:r>
              <a:rPr lang="en-US" sz="1000" b="1" dirty="0">
                <a:solidFill>
                  <a:prstClr val="black"/>
                </a:solidFill>
                <a:latin typeface="News Gothic MT"/>
              </a:rPr>
              <a:t>Requirements</a:t>
            </a:r>
          </a:p>
          <a:p>
            <a:pPr algn="ctr" eaLnBrk="0" hangingPunct="0">
              <a:lnSpc>
                <a:spcPct val="80000"/>
              </a:lnSpc>
            </a:pPr>
            <a:r>
              <a:rPr lang="en-US" sz="1000" b="1" dirty="0">
                <a:solidFill>
                  <a:prstClr val="black"/>
                </a:solidFill>
                <a:latin typeface="News Gothic MT"/>
              </a:rPr>
              <a:t>Planning </a:t>
            </a:r>
            <a:r>
              <a:rPr lang="en-US" sz="800" dirty="0">
                <a:solidFill>
                  <a:prstClr val="black"/>
                </a:solidFill>
                <a:latin typeface="News Gothic MT"/>
              </a:rPr>
              <a:t>(CRP)</a:t>
            </a:r>
            <a:endParaRPr lang="en-US" sz="700" dirty="0">
              <a:solidFill>
                <a:prstClr val="black"/>
              </a:solidFill>
              <a:latin typeface="News Gothic MT"/>
            </a:endParaRPr>
          </a:p>
        </p:txBody>
      </p:sp>
      <p:sp>
        <p:nvSpPr>
          <p:cNvPr id="86" name="Rectangle 70"/>
          <p:cNvSpPr>
            <a:spLocks noChangeArrowheads="1"/>
          </p:cNvSpPr>
          <p:nvPr/>
        </p:nvSpPr>
        <p:spPr bwMode="auto">
          <a:xfrm>
            <a:off x="2925027" y="1307884"/>
            <a:ext cx="1107547" cy="135898"/>
          </a:xfrm>
          <a:prstGeom prst="rect">
            <a:avLst/>
          </a:prstGeom>
          <a:noFill/>
          <a:ln w="12700">
            <a:noFill/>
            <a:miter lim="800000"/>
            <a:headEnd/>
            <a:tailEnd/>
          </a:ln>
          <a:effectLst/>
        </p:spPr>
        <p:txBody>
          <a:bodyPr wrap="square" lIns="0" tIns="0" rIns="0" bIns="0" anchor="ctr" anchorCtr="1">
            <a:noAutofit/>
          </a:bodyPr>
          <a:lstStyle/>
          <a:p>
            <a:pPr algn="ctr" eaLnBrk="0" hangingPunct="0">
              <a:lnSpc>
                <a:spcPct val="80000"/>
              </a:lnSpc>
            </a:pPr>
            <a:endParaRPr lang="en-US" sz="1000" b="1" dirty="0">
              <a:solidFill>
                <a:prstClr val="white"/>
              </a:solidFill>
              <a:latin typeface="News Gothic MT"/>
            </a:endParaRPr>
          </a:p>
        </p:txBody>
      </p:sp>
      <p:sp>
        <p:nvSpPr>
          <p:cNvPr id="87" name="Oval 72"/>
          <p:cNvSpPr>
            <a:spLocks noChangeArrowheads="1"/>
          </p:cNvSpPr>
          <p:nvPr/>
        </p:nvSpPr>
        <p:spPr bwMode="auto">
          <a:xfrm>
            <a:off x="4891640" y="1178124"/>
            <a:ext cx="960920" cy="395419"/>
          </a:xfrm>
          <a:prstGeom prst="ellipse">
            <a:avLst/>
          </a:prstGeom>
          <a:solidFill>
            <a:schemeClr val="accent5"/>
          </a:solidFill>
          <a:ln w="12700">
            <a:solidFill>
              <a:srgbClr val="000000"/>
            </a:solidFill>
            <a:round/>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Financial  </a:t>
            </a:r>
          </a:p>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Plans</a:t>
            </a:r>
          </a:p>
        </p:txBody>
      </p:sp>
      <p:sp>
        <p:nvSpPr>
          <p:cNvPr id="88" name="Oval 91"/>
          <p:cNvSpPr>
            <a:spLocks noChangeArrowheads="1"/>
          </p:cNvSpPr>
          <p:nvPr/>
        </p:nvSpPr>
        <p:spPr bwMode="auto">
          <a:xfrm>
            <a:off x="1119740" y="1178124"/>
            <a:ext cx="960920" cy="395419"/>
          </a:xfrm>
          <a:prstGeom prst="ellipse">
            <a:avLst/>
          </a:prstGeom>
          <a:solidFill>
            <a:schemeClr val="accent5"/>
          </a:solidFill>
          <a:ln w="12700">
            <a:solidFill>
              <a:srgbClr val="000000"/>
            </a:solidFill>
            <a:round/>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Strategic  </a:t>
            </a:r>
          </a:p>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Plans</a:t>
            </a:r>
          </a:p>
        </p:txBody>
      </p:sp>
      <p:cxnSp>
        <p:nvCxnSpPr>
          <p:cNvPr id="107" name="Straight Connector 106"/>
          <p:cNvCxnSpPr>
            <a:stCxn id="85" idx="2"/>
            <a:endCxn id="95" idx="0"/>
          </p:cNvCxnSpPr>
          <p:nvPr/>
        </p:nvCxnSpPr>
        <p:spPr bwMode="auto">
          <a:xfrm>
            <a:off x="3467100" y="1541236"/>
            <a:ext cx="0" cy="329897"/>
          </a:xfrm>
          <a:prstGeom prst="line">
            <a:avLst/>
          </a:prstGeom>
          <a:solidFill>
            <a:schemeClr val="accent1"/>
          </a:solidFill>
          <a:ln w="38100" cap="flat" cmpd="sng" algn="ctr">
            <a:solidFill>
              <a:schemeClr val="tx1"/>
            </a:solidFill>
            <a:prstDash val="solid"/>
            <a:round/>
            <a:headEnd type="none" w="med" len="med"/>
            <a:tailEnd type="triangle" w="sm" len="sm"/>
          </a:ln>
          <a:effectLst>
            <a:outerShdw blurRad="50800" dist="38100" dir="2700000" algn="tl" rotWithShape="0">
              <a:prstClr val="black">
                <a:alpha val="40000"/>
              </a:prstClr>
            </a:outerShdw>
          </a:effectLst>
        </p:spPr>
      </p:cxnSp>
      <p:cxnSp>
        <p:nvCxnSpPr>
          <p:cNvPr id="108" name="Straight Connector 107"/>
          <p:cNvCxnSpPr>
            <a:stCxn id="88" idx="6"/>
            <a:endCxn id="85" idx="1"/>
          </p:cNvCxnSpPr>
          <p:nvPr/>
        </p:nvCxnSpPr>
        <p:spPr bwMode="auto">
          <a:xfrm flipV="1">
            <a:off x="2080660" y="1375833"/>
            <a:ext cx="300590" cy="1"/>
          </a:xfrm>
          <a:prstGeom prst="line">
            <a:avLst/>
          </a:prstGeom>
          <a:solidFill>
            <a:schemeClr val="accent1"/>
          </a:solidFill>
          <a:ln w="28575" cap="flat" cmpd="sng" algn="ctr">
            <a:solidFill>
              <a:schemeClr val="tx1"/>
            </a:solidFill>
            <a:prstDash val="solid"/>
            <a:round/>
            <a:headEnd type="triangle" w="med" len="med"/>
            <a:tailEnd type="triangle" w="med" len="med"/>
          </a:ln>
          <a:effectLst/>
        </p:spPr>
      </p:cxnSp>
      <p:sp>
        <p:nvSpPr>
          <p:cNvPr id="90" name="Rectangle 3"/>
          <p:cNvSpPr txBox="1">
            <a:spLocks noChangeArrowheads="1"/>
          </p:cNvSpPr>
          <p:nvPr/>
        </p:nvSpPr>
        <p:spPr bwMode="auto">
          <a:xfrm>
            <a:off x="6248399" y="3201987"/>
            <a:ext cx="948267" cy="686858"/>
          </a:xfrm>
          <a:prstGeom prst="rect">
            <a:avLst/>
          </a:prstGeom>
          <a:solidFill>
            <a:schemeClr val="bg1"/>
          </a:solidFill>
          <a:ln>
            <a:noFill/>
            <a:miter lim="800000"/>
            <a:headEnd/>
            <a:tailEnd/>
          </a:ln>
        </p:spPr>
        <p:txBody>
          <a:bodyPr vert="horz" wrap="square" lIns="0" tIns="0" rIns="0" bIns="0" numCol="1" anchor="ctr" anchorCtr="1" compatLnSpc="1">
            <a:prstTxWarp prst="textNoShape">
              <a:avLst/>
            </a:prstTxWarp>
          </a:bodyPr>
          <a:lstStyle/>
          <a:p>
            <a:pPr algn="ctr" defTabSz="855663" eaLnBrk="0" hangingPunct="0">
              <a:lnSpc>
                <a:spcPct val="90000"/>
              </a:lnSpc>
              <a:spcBef>
                <a:spcPts val="0"/>
              </a:spcBef>
              <a:spcAft>
                <a:spcPts val="0"/>
              </a:spcAft>
              <a:buClr>
                <a:prstClr val="black"/>
              </a:buClr>
              <a:buFont typeface="Monotype Sorts" charset="0"/>
              <a:buNone/>
              <a:defRPr/>
            </a:pPr>
            <a:endPar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endParaRPr>
          </a:p>
        </p:txBody>
      </p:sp>
      <p:sp>
        <p:nvSpPr>
          <p:cNvPr id="52" name="Rectangle 41"/>
          <p:cNvSpPr>
            <a:spLocks noChangeArrowheads="1"/>
          </p:cNvSpPr>
          <p:nvPr/>
        </p:nvSpPr>
        <p:spPr bwMode="auto">
          <a:xfrm>
            <a:off x="1073415" y="2460235"/>
            <a:ext cx="1053570" cy="498194"/>
          </a:xfrm>
          <a:prstGeom prst="rect">
            <a:avLst/>
          </a:prstGeom>
          <a:solidFill>
            <a:schemeClr val="accent1"/>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srgbClr val="000000"/>
                </a:solidFill>
                <a:latin typeface="News Gothic MT" pitchFamily="34" charset="0"/>
              </a:rPr>
              <a:t>Resource </a:t>
            </a:r>
          </a:p>
          <a:p>
            <a:pPr algn="ctr" eaLnBrk="0" hangingPunct="0">
              <a:lnSpc>
                <a:spcPct val="80000"/>
              </a:lnSpc>
            </a:pPr>
            <a:r>
              <a:rPr lang="en-US" sz="1000" b="1" dirty="0">
                <a:solidFill>
                  <a:srgbClr val="000000"/>
                </a:solidFill>
                <a:latin typeface="News Gothic MT" pitchFamily="34" charset="0"/>
              </a:rPr>
              <a:t>Requirements </a:t>
            </a:r>
          </a:p>
          <a:p>
            <a:pPr algn="ctr" eaLnBrk="0" hangingPunct="0">
              <a:lnSpc>
                <a:spcPct val="80000"/>
              </a:lnSpc>
            </a:pPr>
            <a:r>
              <a:rPr lang="en-US" sz="1000" b="1" dirty="0">
                <a:solidFill>
                  <a:srgbClr val="000000"/>
                </a:solidFill>
                <a:latin typeface="News Gothic MT" pitchFamily="34" charset="0"/>
              </a:rPr>
              <a:t>Planning</a:t>
            </a:r>
            <a:r>
              <a:rPr lang="en-US" sz="800" b="1" dirty="0">
                <a:solidFill>
                  <a:srgbClr val="000000"/>
                </a:solidFill>
                <a:latin typeface="News Gothic MT" pitchFamily="34" charset="0"/>
              </a:rPr>
              <a:t> </a:t>
            </a:r>
            <a:r>
              <a:rPr lang="en-US" sz="800" dirty="0">
                <a:solidFill>
                  <a:srgbClr val="000000"/>
                </a:solidFill>
                <a:latin typeface="News Gothic MT" pitchFamily="34" charset="0"/>
              </a:rPr>
              <a:t>(RRP)</a:t>
            </a:r>
            <a:endParaRPr lang="en-US" sz="1000" dirty="0">
              <a:solidFill>
                <a:srgbClr val="000000"/>
              </a:solidFill>
              <a:latin typeface="News Gothic MT" pitchFamily="34" charset="0"/>
            </a:endParaRPr>
          </a:p>
        </p:txBody>
      </p:sp>
      <p:cxnSp>
        <p:nvCxnSpPr>
          <p:cNvPr id="12" name="Straight Arrow Connector 11"/>
          <p:cNvCxnSpPr>
            <a:stCxn id="83" idx="3"/>
            <a:endCxn id="76" idx="1"/>
          </p:cNvCxnSpPr>
          <p:nvPr/>
        </p:nvCxnSpPr>
        <p:spPr bwMode="auto">
          <a:xfrm flipV="1">
            <a:off x="2111825" y="4804833"/>
            <a:ext cx="291650" cy="1"/>
          </a:xfrm>
          <a:prstGeom prst="straightConnector1">
            <a:avLst/>
          </a:prstGeom>
          <a:solidFill>
            <a:schemeClr val="accent1"/>
          </a:solidFill>
          <a:ln w="28575" cap="flat" cmpd="sng" algn="ctr">
            <a:solidFill>
              <a:schemeClr val="tx1"/>
            </a:solidFill>
            <a:prstDash val="sysDot"/>
            <a:round/>
            <a:headEnd type="triangle"/>
            <a:tailEnd type="triangle"/>
          </a:ln>
          <a:effectLst/>
        </p:spPr>
      </p:cxnSp>
      <p:cxnSp>
        <p:nvCxnSpPr>
          <p:cNvPr id="57" name="Straight Arrow Connector 56"/>
          <p:cNvCxnSpPr>
            <a:stCxn id="75" idx="3"/>
            <a:endCxn id="74" idx="1"/>
          </p:cNvCxnSpPr>
          <p:nvPr/>
        </p:nvCxnSpPr>
        <p:spPr bwMode="auto">
          <a:xfrm>
            <a:off x="2126985" y="3960160"/>
            <a:ext cx="273315" cy="1"/>
          </a:xfrm>
          <a:prstGeom prst="straightConnector1">
            <a:avLst/>
          </a:prstGeom>
          <a:solidFill>
            <a:schemeClr val="accent1"/>
          </a:solidFill>
          <a:ln w="28575" cap="flat" cmpd="sng" algn="ctr">
            <a:solidFill>
              <a:schemeClr val="tx1"/>
            </a:solidFill>
            <a:prstDash val="sysDot"/>
            <a:round/>
            <a:headEnd type="triangle"/>
            <a:tailEnd type="triangle"/>
          </a:ln>
          <a:effectLst/>
        </p:spPr>
      </p:cxnSp>
      <p:cxnSp>
        <p:nvCxnSpPr>
          <p:cNvPr id="69" name="Straight Arrow Connector 68"/>
          <p:cNvCxnSpPr>
            <a:stCxn id="52" idx="3"/>
            <a:endCxn id="84" idx="1"/>
          </p:cNvCxnSpPr>
          <p:nvPr/>
        </p:nvCxnSpPr>
        <p:spPr bwMode="auto">
          <a:xfrm>
            <a:off x="2126985" y="2709332"/>
            <a:ext cx="273315" cy="1"/>
          </a:xfrm>
          <a:prstGeom prst="straightConnector1">
            <a:avLst/>
          </a:prstGeom>
          <a:solidFill>
            <a:schemeClr val="accent1"/>
          </a:solidFill>
          <a:ln w="28575" cap="flat" cmpd="sng" algn="ctr">
            <a:solidFill>
              <a:schemeClr val="tx1"/>
            </a:solidFill>
            <a:prstDash val="sysDot"/>
            <a:round/>
            <a:headEnd type="triangle"/>
            <a:tailEnd type="triangle"/>
          </a:ln>
          <a:effectLst/>
        </p:spPr>
      </p:cxnSp>
      <p:cxnSp>
        <p:nvCxnSpPr>
          <p:cNvPr id="72" name="Straight Connector 71"/>
          <p:cNvCxnSpPr>
            <a:stCxn id="85" idx="3"/>
            <a:endCxn id="87" idx="2"/>
          </p:cNvCxnSpPr>
          <p:nvPr/>
        </p:nvCxnSpPr>
        <p:spPr bwMode="auto">
          <a:xfrm>
            <a:off x="4552950" y="1375833"/>
            <a:ext cx="338690" cy="1"/>
          </a:xfrm>
          <a:prstGeom prst="line">
            <a:avLst/>
          </a:prstGeom>
          <a:solidFill>
            <a:schemeClr val="accent1"/>
          </a:solidFill>
          <a:ln w="28575" cap="flat" cmpd="sng" algn="ctr">
            <a:solidFill>
              <a:schemeClr val="tx1"/>
            </a:solidFill>
            <a:prstDash val="solid"/>
            <a:round/>
            <a:headEnd type="triangle" w="med" len="med"/>
            <a:tailEnd type="triangle" w="med" len="med"/>
          </a:ln>
          <a:effectLst/>
        </p:spPr>
      </p:cxnSp>
      <p:sp>
        <p:nvSpPr>
          <p:cNvPr id="92" name="Rectangle 37"/>
          <p:cNvSpPr>
            <a:spLocks noChangeArrowheads="1"/>
          </p:cNvSpPr>
          <p:nvPr/>
        </p:nvSpPr>
        <p:spPr bwMode="auto">
          <a:xfrm>
            <a:off x="3589867" y="5412316"/>
            <a:ext cx="982133" cy="537634"/>
          </a:xfrm>
          <a:prstGeom prst="rect">
            <a:avLst/>
          </a:prstGeom>
          <a:solidFill>
            <a:schemeClr val="accent2"/>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90000"/>
              </a:lnSpc>
            </a:pPr>
            <a:r>
              <a:rPr lang="en-US" sz="1000" b="1" dirty="0">
                <a:solidFill>
                  <a:prstClr val="black"/>
                </a:solidFill>
                <a:latin typeface="News Gothic MT" pitchFamily="34" charset="0"/>
              </a:rPr>
              <a:t>Manufacturing </a:t>
            </a:r>
          </a:p>
          <a:p>
            <a:pPr algn="ctr" eaLnBrk="0" hangingPunct="0">
              <a:lnSpc>
                <a:spcPct val="90000"/>
              </a:lnSpc>
            </a:pPr>
            <a:r>
              <a:rPr lang="en-US" sz="700" i="1" dirty="0">
                <a:solidFill>
                  <a:prstClr val="black"/>
                </a:solidFill>
                <a:latin typeface="News Gothic MT" pitchFamily="34" charset="0"/>
              </a:rPr>
              <a:t>(Internal or External)</a:t>
            </a:r>
          </a:p>
        </p:txBody>
      </p:sp>
      <p:cxnSp>
        <p:nvCxnSpPr>
          <p:cNvPr id="44" name="Straight Arrow Connector 43"/>
          <p:cNvCxnSpPr>
            <a:stCxn id="76" idx="2"/>
            <a:endCxn id="91" idx="0"/>
          </p:cNvCxnSpPr>
          <p:nvPr/>
        </p:nvCxnSpPr>
        <p:spPr bwMode="auto">
          <a:xfrm>
            <a:off x="2895600" y="5071533"/>
            <a:ext cx="0" cy="342900"/>
          </a:xfrm>
          <a:prstGeom prst="straightConnector1">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47" name="Straight Arrow Connector 46"/>
          <p:cNvCxnSpPr/>
          <p:nvPr/>
        </p:nvCxnSpPr>
        <p:spPr bwMode="auto">
          <a:xfrm>
            <a:off x="4114800" y="4145227"/>
            <a:ext cx="0" cy="1269470"/>
          </a:xfrm>
          <a:prstGeom prst="straightConnector1">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sp>
        <p:nvSpPr>
          <p:cNvPr id="60" name="Rectangle 3"/>
          <p:cNvSpPr txBox="1">
            <a:spLocks noChangeArrowheads="1"/>
          </p:cNvSpPr>
          <p:nvPr/>
        </p:nvSpPr>
        <p:spPr bwMode="auto">
          <a:xfrm>
            <a:off x="5888569" y="3633374"/>
            <a:ext cx="520697" cy="514117"/>
          </a:xfrm>
          <a:prstGeom prst="rect">
            <a:avLst/>
          </a:prstGeom>
          <a:solidFill>
            <a:schemeClr val="bg1"/>
          </a:solidFill>
          <a:ln>
            <a:noFill/>
            <a:miter lim="800000"/>
            <a:headEnd/>
            <a:tailEnd/>
          </a:ln>
        </p:spPr>
        <p:txBody>
          <a:bodyPr vert="horz" wrap="square" lIns="0" tIns="0" rIns="0" bIns="0" numCol="1" anchor="ctr" anchorCtr="1" compatLnSpc="1">
            <a:prstTxWarp prst="textNoShape">
              <a:avLst/>
            </a:prstTxWarp>
          </a:bodyPr>
          <a:lstStyle/>
          <a:p>
            <a:pPr algn="ctr" defTabSz="855663" eaLnBrk="0" hangingPunct="0">
              <a:lnSpc>
                <a:spcPct val="90000"/>
              </a:lnSpc>
              <a:spcBef>
                <a:spcPts val="0"/>
              </a:spcBef>
              <a:spcAft>
                <a:spcPts val="0"/>
              </a:spcAft>
              <a:buClr>
                <a:prstClr val="black"/>
              </a:buClr>
              <a:buFont typeface="Monotype Sorts" charset="0"/>
              <a:buNone/>
              <a:defRPr/>
            </a:pPr>
            <a:endPar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endParaRPr>
          </a:p>
        </p:txBody>
      </p:sp>
      <p:cxnSp>
        <p:nvCxnSpPr>
          <p:cNvPr id="77" name="Straight Arrow Connector 76"/>
          <p:cNvCxnSpPr>
            <a:endCxn id="76" idx="0"/>
          </p:cNvCxnSpPr>
          <p:nvPr/>
        </p:nvCxnSpPr>
        <p:spPr bwMode="auto">
          <a:xfrm>
            <a:off x="2894541" y="4130675"/>
            <a:ext cx="1059" cy="407458"/>
          </a:xfrm>
          <a:prstGeom prst="straightConnector1">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82" name="Straight Arrow Connector 81"/>
          <p:cNvCxnSpPr>
            <a:endCxn id="92" idx="1"/>
          </p:cNvCxnSpPr>
          <p:nvPr/>
        </p:nvCxnSpPr>
        <p:spPr bwMode="auto">
          <a:xfrm>
            <a:off x="3390900" y="5681133"/>
            <a:ext cx="198967" cy="0"/>
          </a:xfrm>
          <a:prstGeom prst="straightConnector1">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99" name="Straight Connector 98"/>
          <p:cNvCxnSpPr>
            <a:stCxn id="84" idx="2"/>
            <a:endCxn id="74" idx="0"/>
          </p:cNvCxnSpPr>
          <p:nvPr/>
        </p:nvCxnSpPr>
        <p:spPr bwMode="auto">
          <a:xfrm>
            <a:off x="3486150" y="2883071"/>
            <a:ext cx="0" cy="893086"/>
          </a:xfrm>
          <a:prstGeom prst="line">
            <a:avLst/>
          </a:prstGeom>
          <a:solidFill>
            <a:schemeClr val="accent1"/>
          </a:solidFill>
          <a:ln w="38100" cap="flat" cmpd="sng" algn="ctr">
            <a:solidFill>
              <a:schemeClr val="tx1"/>
            </a:solidFill>
            <a:prstDash val="solid"/>
            <a:round/>
            <a:headEnd type="none" w="med" len="med"/>
            <a:tailEnd type="triangle" w="med" len="med"/>
          </a:ln>
          <a:effectLst>
            <a:outerShdw blurRad="50800" dist="38100" dir="2700000" algn="tl" rotWithShape="0">
              <a:prstClr val="black">
                <a:alpha val="40000"/>
              </a:prstClr>
            </a:outerShdw>
          </a:effectLst>
        </p:spPr>
      </p:cxnSp>
      <p:cxnSp>
        <p:nvCxnSpPr>
          <p:cNvPr id="100" name="Straight Arrow Connector 99"/>
          <p:cNvCxnSpPr>
            <a:stCxn id="67" idx="1"/>
            <a:endCxn id="84" idx="3"/>
          </p:cNvCxnSpPr>
          <p:nvPr/>
        </p:nvCxnSpPr>
        <p:spPr bwMode="auto">
          <a:xfrm flipH="1">
            <a:off x="4572000" y="2364404"/>
            <a:ext cx="324281" cy="344929"/>
          </a:xfrm>
          <a:prstGeom prst="straightConnector1">
            <a:avLst/>
          </a:prstGeom>
          <a:solidFill>
            <a:schemeClr val="accent1"/>
          </a:solidFill>
          <a:ln w="28575" cap="flat" cmpd="sng" algn="ctr">
            <a:solidFill>
              <a:schemeClr val="tx1"/>
            </a:solidFill>
            <a:prstDash val="solid"/>
            <a:round/>
            <a:headEnd type="triangle"/>
            <a:tailEnd type="triangle"/>
          </a:ln>
          <a:effectLst>
            <a:outerShdw blurRad="50800" dist="38100" dir="2700000" algn="tl" rotWithShape="0">
              <a:prstClr val="black">
                <a:alpha val="40000"/>
              </a:prstClr>
            </a:outerShdw>
          </a:effectLst>
        </p:spPr>
      </p:cxnSp>
      <p:cxnSp>
        <p:nvCxnSpPr>
          <p:cNvPr id="102" name="Straight Arrow Connector 101"/>
          <p:cNvCxnSpPr>
            <a:stCxn id="73" idx="1"/>
            <a:endCxn id="84" idx="3"/>
          </p:cNvCxnSpPr>
          <p:nvPr/>
        </p:nvCxnSpPr>
        <p:spPr bwMode="auto">
          <a:xfrm flipH="1" flipV="1">
            <a:off x="4572000" y="2709333"/>
            <a:ext cx="325618" cy="306829"/>
          </a:xfrm>
          <a:prstGeom prst="straightConnector1">
            <a:avLst/>
          </a:prstGeom>
          <a:solidFill>
            <a:schemeClr val="accent1"/>
          </a:solidFill>
          <a:ln w="28575" cap="flat" cmpd="sng" algn="ctr">
            <a:solidFill>
              <a:schemeClr val="tx1"/>
            </a:solidFill>
            <a:prstDash val="solid"/>
            <a:round/>
            <a:headEnd type="triangle"/>
            <a:tailEnd type="triangle"/>
          </a:ln>
          <a:effectLst>
            <a:outerShdw blurRad="50800" dist="38100" dir="2700000" algn="tl" rotWithShape="0">
              <a:prstClr val="black">
                <a:alpha val="40000"/>
              </a:prstClr>
            </a:outerShdw>
          </a:effectLst>
        </p:spPr>
      </p:cxnSp>
      <p:cxnSp>
        <p:nvCxnSpPr>
          <p:cNvPr id="104" name="Straight Arrow Connector 103"/>
          <p:cNvCxnSpPr>
            <a:stCxn id="73" idx="0"/>
            <a:endCxn id="67" idx="2"/>
          </p:cNvCxnSpPr>
          <p:nvPr/>
        </p:nvCxnSpPr>
        <p:spPr bwMode="auto">
          <a:xfrm flipV="1">
            <a:off x="5372100" y="2518833"/>
            <a:ext cx="0" cy="342900"/>
          </a:xfrm>
          <a:prstGeom prst="straightConnector1">
            <a:avLst/>
          </a:prstGeom>
          <a:solidFill>
            <a:schemeClr val="accent1"/>
          </a:solidFill>
          <a:ln w="28575" cap="flat" cmpd="sng" algn="ctr">
            <a:solidFill>
              <a:schemeClr val="tx1"/>
            </a:solidFill>
            <a:prstDash val="solid"/>
            <a:round/>
            <a:headEnd type="triangle"/>
            <a:tailEnd type="triangle"/>
          </a:ln>
          <a:effectLst>
            <a:outerShdw blurRad="50800" dist="38100" dir="2700000" algn="tl" rotWithShape="0">
              <a:prstClr val="black">
                <a:alpha val="40000"/>
              </a:prstClr>
            </a:outerShdw>
          </a:effectLst>
        </p:spPr>
      </p:cxnSp>
      <p:sp>
        <p:nvSpPr>
          <p:cNvPr id="137" name="Rectangle 37"/>
          <p:cNvSpPr>
            <a:spLocks noChangeArrowheads="1"/>
          </p:cNvSpPr>
          <p:nvPr/>
        </p:nvSpPr>
        <p:spPr bwMode="auto">
          <a:xfrm>
            <a:off x="4385733" y="6210300"/>
            <a:ext cx="982133" cy="537634"/>
          </a:xfrm>
          <a:prstGeom prst="rect">
            <a:avLst/>
          </a:prstGeom>
          <a:solidFill>
            <a:schemeClr val="accent5"/>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9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Distribution</a:t>
            </a:r>
          </a:p>
          <a:p>
            <a:pPr algn="ctr" eaLnBrk="0" hangingPunct="0">
              <a:lnSpc>
                <a:spcPct val="9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Requirements</a:t>
            </a:r>
          </a:p>
          <a:p>
            <a:pPr algn="ctr" eaLnBrk="0" hangingPunct="0">
              <a:lnSpc>
                <a:spcPct val="9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Planning</a:t>
            </a:r>
            <a:r>
              <a:rPr lang="en-US" sz="800" b="1" dirty="0">
                <a:solidFill>
                  <a:schemeClr val="bg1"/>
                </a:solidFill>
                <a:effectLst>
                  <a:outerShdw blurRad="38100" dist="38100" dir="2700000" algn="tl">
                    <a:srgbClr val="000000">
                      <a:alpha val="43137"/>
                    </a:srgbClr>
                  </a:outerShdw>
                </a:effectLst>
                <a:latin typeface="News Gothic MT" pitchFamily="34" charset="0"/>
              </a:rPr>
              <a:t> </a:t>
            </a:r>
            <a:r>
              <a:rPr lang="en-US" sz="800" dirty="0">
                <a:solidFill>
                  <a:schemeClr val="bg1"/>
                </a:solidFill>
                <a:effectLst>
                  <a:outerShdw blurRad="38100" dist="38100" dir="2700000" algn="tl">
                    <a:srgbClr val="000000">
                      <a:alpha val="43137"/>
                    </a:srgbClr>
                  </a:outerShdw>
                </a:effectLst>
                <a:latin typeface="News Gothic MT" pitchFamily="34" charset="0"/>
              </a:rPr>
              <a:t>(DRP)</a:t>
            </a:r>
            <a:endParaRPr lang="en-US" sz="700" dirty="0">
              <a:solidFill>
                <a:schemeClr val="bg1"/>
              </a:solidFill>
              <a:effectLst>
                <a:outerShdw blurRad="38100" dist="38100" dir="2700000" algn="tl">
                  <a:srgbClr val="000000">
                    <a:alpha val="43137"/>
                  </a:srgbClr>
                </a:outerShdw>
              </a:effectLst>
              <a:latin typeface="News Gothic MT" pitchFamily="34" charset="0"/>
            </a:endParaRPr>
          </a:p>
        </p:txBody>
      </p:sp>
      <p:cxnSp>
        <p:nvCxnSpPr>
          <p:cNvPr id="11356" name="Straight Connector 11355"/>
          <p:cNvCxnSpPr>
            <a:stCxn id="74" idx="3"/>
          </p:cNvCxnSpPr>
          <p:nvPr/>
        </p:nvCxnSpPr>
        <p:spPr bwMode="auto">
          <a:xfrm flipV="1">
            <a:off x="4572000" y="3960160"/>
            <a:ext cx="304800" cy="1"/>
          </a:xfrm>
          <a:prstGeom prst="line">
            <a:avLst/>
          </a:prstGeom>
          <a:solidFill>
            <a:schemeClr val="accent1"/>
          </a:solidFill>
          <a:ln w="38100" cap="flat" cmpd="sng" algn="ctr">
            <a:solidFill>
              <a:schemeClr val="tx1"/>
            </a:solidFill>
            <a:prstDash val="solid"/>
            <a:round/>
            <a:headEnd type="triangle" w="med" len="med"/>
            <a:tailEnd type="none" w="med" len="med"/>
          </a:ln>
          <a:effectLst/>
        </p:spPr>
      </p:cxnSp>
      <p:cxnSp>
        <p:nvCxnSpPr>
          <p:cNvPr id="11358" name="Straight Connector 11357"/>
          <p:cNvCxnSpPr/>
          <p:nvPr/>
        </p:nvCxnSpPr>
        <p:spPr bwMode="auto">
          <a:xfrm>
            <a:off x="4876800" y="3943350"/>
            <a:ext cx="0" cy="2266950"/>
          </a:xfrm>
          <a:prstGeom prst="line">
            <a:avLst/>
          </a:prstGeom>
          <a:solidFill>
            <a:schemeClr val="accent1"/>
          </a:solidFill>
          <a:ln w="38100" cap="flat" cmpd="sng" algn="ctr">
            <a:solidFill>
              <a:schemeClr val="tx1"/>
            </a:solidFill>
            <a:prstDash val="solid"/>
            <a:round/>
            <a:headEnd type="none" w="med" len="med"/>
            <a:tailEnd type="triangle" w="med" len="med"/>
          </a:ln>
          <a:effectLst/>
        </p:spPr>
      </p:cxnSp>
      <p:sp>
        <p:nvSpPr>
          <p:cNvPr id="85" name="Rectangle 69"/>
          <p:cNvSpPr>
            <a:spLocks noChangeArrowheads="1"/>
          </p:cNvSpPr>
          <p:nvPr/>
        </p:nvSpPr>
        <p:spPr bwMode="auto">
          <a:xfrm>
            <a:off x="2381250" y="1210430"/>
            <a:ext cx="2171700" cy="330806"/>
          </a:xfrm>
          <a:prstGeom prst="rect">
            <a:avLst/>
          </a:prstGeom>
          <a:solidFill>
            <a:schemeClr val="accent4"/>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Business Planning</a:t>
            </a:r>
          </a:p>
        </p:txBody>
      </p:sp>
      <p:sp>
        <p:nvSpPr>
          <p:cNvPr id="84" name="Rectangle 52"/>
          <p:cNvSpPr>
            <a:spLocks noChangeArrowheads="1"/>
          </p:cNvSpPr>
          <p:nvPr/>
        </p:nvSpPr>
        <p:spPr bwMode="auto">
          <a:xfrm>
            <a:off x="2400300" y="2535594"/>
            <a:ext cx="2171700" cy="347477"/>
          </a:xfrm>
          <a:prstGeom prst="rect">
            <a:avLst/>
          </a:prstGeom>
          <a:solidFill>
            <a:schemeClr val="accent3"/>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Aggregate Production </a:t>
            </a:r>
          </a:p>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Planning </a:t>
            </a:r>
            <a:r>
              <a:rPr lang="en-US" sz="800" dirty="0">
                <a:solidFill>
                  <a:schemeClr val="bg1"/>
                </a:solidFill>
                <a:effectLst>
                  <a:outerShdw blurRad="38100" dist="38100" dir="2700000" algn="tl">
                    <a:srgbClr val="000000">
                      <a:alpha val="43137"/>
                    </a:srgbClr>
                  </a:outerShdw>
                </a:effectLst>
                <a:latin typeface="News Gothic MT" pitchFamily="34" charset="0"/>
              </a:rPr>
              <a:t>(APP)</a:t>
            </a:r>
          </a:p>
        </p:txBody>
      </p:sp>
      <p:sp>
        <p:nvSpPr>
          <p:cNvPr id="74" name="Rectangle 39"/>
          <p:cNvSpPr>
            <a:spLocks noChangeArrowheads="1"/>
          </p:cNvSpPr>
          <p:nvPr/>
        </p:nvSpPr>
        <p:spPr bwMode="auto">
          <a:xfrm>
            <a:off x="2400300" y="3776157"/>
            <a:ext cx="2171700" cy="368007"/>
          </a:xfrm>
          <a:prstGeom prst="rect">
            <a:avLst/>
          </a:prstGeom>
          <a:solidFill>
            <a:schemeClr val="accent3"/>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Master Production</a:t>
            </a:r>
          </a:p>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Scheduling </a:t>
            </a:r>
            <a:r>
              <a:rPr lang="en-US" sz="800" dirty="0">
                <a:solidFill>
                  <a:schemeClr val="bg1"/>
                </a:solidFill>
                <a:effectLst>
                  <a:outerShdw blurRad="38100" dist="38100" dir="2700000" algn="tl">
                    <a:srgbClr val="000000">
                      <a:alpha val="43137"/>
                    </a:srgbClr>
                  </a:outerShdw>
                </a:effectLst>
                <a:latin typeface="News Gothic MT" pitchFamily="34" charset="0"/>
              </a:rPr>
              <a:t>(MPS)</a:t>
            </a:r>
          </a:p>
        </p:txBody>
      </p:sp>
      <p:cxnSp>
        <p:nvCxnSpPr>
          <p:cNvPr id="45" name="Elbow Connector 44"/>
          <p:cNvCxnSpPr>
            <a:stCxn id="76" idx="3"/>
          </p:cNvCxnSpPr>
          <p:nvPr/>
        </p:nvCxnSpPr>
        <p:spPr bwMode="auto">
          <a:xfrm>
            <a:off x="3387725" y="4804833"/>
            <a:ext cx="387086" cy="591608"/>
          </a:xfrm>
          <a:prstGeom prst="bentConnector2">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sp>
        <p:nvSpPr>
          <p:cNvPr id="91" name="Rectangle 37"/>
          <p:cNvSpPr>
            <a:spLocks noChangeArrowheads="1"/>
          </p:cNvSpPr>
          <p:nvPr/>
        </p:nvSpPr>
        <p:spPr bwMode="auto">
          <a:xfrm>
            <a:off x="2400300" y="5414433"/>
            <a:ext cx="990600" cy="533400"/>
          </a:xfrm>
          <a:prstGeom prst="rect">
            <a:avLst/>
          </a:prstGeom>
          <a:solidFill>
            <a:schemeClr val="accent2"/>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90000"/>
              </a:lnSpc>
            </a:pPr>
            <a:r>
              <a:rPr lang="en-US" sz="1000" b="1" dirty="0">
                <a:solidFill>
                  <a:prstClr val="black"/>
                </a:solidFill>
                <a:latin typeface="News Gothic MT" pitchFamily="34" charset="0"/>
              </a:rPr>
              <a:t>Suppliers</a:t>
            </a:r>
          </a:p>
        </p:txBody>
      </p:sp>
      <p:sp>
        <p:nvSpPr>
          <p:cNvPr id="76" name="Rectangle 48"/>
          <p:cNvSpPr>
            <a:spLocks noChangeArrowheads="1"/>
          </p:cNvSpPr>
          <p:nvPr/>
        </p:nvSpPr>
        <p:spPr bwMode="auto">
          <a:xfrm>
            <a:off x="2403475" y="4538133"/>
            <a:ext cx="984250" cy="533400"/>
          </a:xfrm>
          <a:prstGeom prst="rect">
            <a:avLst/>
          </a:prstGeom>
          <a:solidFill>
            <a:schemeClr val="accent3"/>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Material </a:t>
            </a:r>
          </a:p>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Requirements </a:t>
            </a:r>
          </a:p>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Planning </a:t>
            </a:r>
            <a:r>
              <a:rPr lang="en-US" sz="800" dirty="0">
                <a:solidFill>
                  <a:schemeClr val="bg1"/>
                </a:solidFill>
                <a:effectLst>
                  <a:outerShdw blurRad="38100" dist="38100" dir="2700000" algn="tl">
                    <a:srgbClr val="000000">
                      <a:alpha val="43137"/>
                    </a:srgbClr>
                  </a:outerShdw>
                </a:effectLst>
                <a:latin typeface="News Gothic MT" pitchFamily="34" charset="0"/>
              </a:rPr>
              <a:t>(MRP)</a:t>
            </a:r>
          </a:p>
        </p:txBody>
      </p:sp>
      <p:sp>
        <p:nvSpPr>
          <p:cNvPr id="101" name="Right Bracket 100"/>
          <p:cNvSpPr/>
          <p:nvPr/>
        </p:nvSpPr>
        <p:spPr bwMode="auto">
          <a:xfrm flipH="1">
            <a:off x="488969" y="1051982"/>
            <a:ext cx="256095" cy="2300818"/>
          </a:xfrm>
          <a:prstGeom prst="rightBracket">
            <a:avLst/>
          </a:prstGeom>
          <a:noFill/>
          <a:ln w="28575" cap="flat" cmpd="sng" algn="ctr">
            <a:solidFill>
              <a:srgbClr val="923222"/>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US">
              <a:solidFill>
                <a:srgbClr val="923222"/>
              </a:solidFill>
            </a:endParaRPr>
          </a:p>
        </p:txBody>
      </p:sp>
      <p:sp>
        <p:nvSpPr>
          <p:cNvPr id="103" name="Right Bracket 102"/>
          <p:cNvSpPr/>
          <p:nvPr/>
        </p:nvSpPr>
        <p:spPr bwMode="auto">
          <a:xfrm flipH="1">
            <a:off x="488969" y="3390900"/>
            <a:ext cx="256095" cy="956733"/>
          </a:xfrm>
          <a:prstGeom prst="rightBracket">
            <a:avLst/>
          </a:prstGeom>
          <a:noFill/>
          <a:ln w="28575" cap="flat" cmpd="sng" algn="ctr">
            <a:solidFill>
              <a:srgbClr val="923222"/>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US">
              <a:solidFill>
                <a:srgbClr val="923222"/>
              </a:solidFill>
            </a:endParaRPr>
          </a:p>
        </p:txBody>
      </p:sp>
      <p:sp>
        <p:nvSpPr>
          <p:cNvPr id="105" name="Right Bracket 104"/>
          <p:cNvSpPr/>
          <p:nvPr/>
        </p:nvSpPr>
        <p:spPr bwMode="auto">
          <a:xfrm flipH="1">
            <a:off x="488971" y="4396317"/>
            <a:ext cx="256095" cy="2385483"/>
          </a:xfrm>
          <a:prstGeom prst="rightBracket">
            <a:avLst/>
          </a:prstGeom>
          <a:noFill/>
          <a:ln w="28575" cap="flat" cmpd="sng" algn="ctr">
            <a:solidFill>
              <a:srgbClr val="923222"/>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US">
              <a:solidFill>
                <a:srgbClr val="923222"/>
              </a:solidFill>
            </a:endParaRPr>
          </a:p>
        </p:txBody>
      </p:sp>
      <p:sp>
        <p:nvSpPr>
          <p:cNvPr id="106" name="Rectangle 3"/>
          <p:cNvSpPr txBox="1">
            <a:spLocks noChangeArrowheads="1"/>
          </p:cNvSpPr>
          <p:nvPr/>
        </p:nvSpPr>
        <p:spPr bwMode="auto">
          <a:xfrm>
            <a:off x="234951" y="2017476"/>
            <a:ext cx="520697" cy="384647"/>
          </a:xfrm>
          <a:prstGeom prst="rect">
            <a:avLst/>
          </a:prstGeom>
          <a:solidFill>
            <a:schemeClr val="bg1"/>
          </a:solidFill>
          <a:ln>
            <a:noFill/>
            <a:miter lim="800000"/>
            <a:headEnd/>
            <a:tailEnd/>
          </a:ln>
        </p:spPr>
        <p:txBody>
          <a:bodyPr vert="horz" wrap="square" lIns="0" tIns="0" rIns="0" bIns="0" numCol="1" anchor="ctr" anchorCtr="1" compatLnSpc="1">
            <a:prstTxWarp prst="textNoShape">
              <a:avLst/>
            </a:prstTxWarp>
          </a:bodyPr>
          <a:lstStyle/>
          <a:p>
            <a:pPr algn="ctr" defTabSz="855663" eaLnBrk="0" hangingPunct="0">
              <a:lnSpc>
                <a:spcPct val="90000"/>
              </a:lnSpc>
              <a:spcBef>
                <a:spcPts val="0"/>
              </a:spcBef>
              <a:spcAft>
                <a:spcPts val="0"/>
              </a:spcAft>
              <a:buClr>
                <a:prstClr val="black"/>
              </a:buClr>
              <a:buFont typeface="Monotype Sorts" charset="0"/>
              <a:buNone/>
              <a:defRPr/>
            </a:pPr>
            <a:r>
              <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rPr>
              <a:t>Long</a:t>
            </a:r>
          </a:p>
          <a:p>
            <a:pPr algn="ctr" defTabSz="855663" eaLnBrk="0" hangingPunct="0">
              <a:lnSpc>
                <a:spcPct val="90000"/>
              </a:lnSpc>
              <a:spcBef>
                <a:spcPts val="0"/>
              </a:spcBef>
              <a:spcAft>
                <a:spcPts val="0"/>
              </a:spcAft>
              <a:buClr>
                <a:prstClr val="black"/>
              </a:buClr>
              <a:buFont typeface="Monotype Sorts" charset="0"/>
              <a:buNone/>
              <a:defRPr/>
            </a:pPr>
            <a:r>
              <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rPr>
              <a:t>Range</a:t>
            </a:r>
          </a:p>
        </p:txBody>
      </p:sp>
      <p:sp>
        <p:nvSpPr>
          <p:cNvPr id="109" name="Rectangle 3"/>
          <p:cNvSpPr txBox="1">
            <a:spLocks noChangeArrowheads="1"/>
          </p:cNvSpPr>
          <p:nvPr/>
        </p:nvSpPr>
        <p:spPr bwMode="auto">
          <a:xfrm>
            <a:off x="76200" y="3657600"/>
            <a:ext cx="836082" cy="384647"/>
          </a:xfrm>
          <a:prstGeom prst="rect">
            <a:avLst/>
          </a:prstGeom>
          <a:solidFill>
            <a:schemeClr val="bg1"/>
          </a:solidFill>
          <a:ln>
            <a:noFill/>
            <a:miter lim="800000"/>
            <a:headEnd/>
            <a:tailEnd/>
          </a:ln>
        </p:spPr>
        <p:txBody>
          <a:bodyPr vert="horz" wrap="square" lIns="0" tIns="0" rIns="0" bIns="0" numCol="1" anchor="ctr" anchorCtr="1" compatLnSpc="1">
            <a:prstTxWarp prst="textNoShape">
              <a:avLst/>
            </a:prstTxWarp>
          </a:bodyPr>
          <a:lstStyle/>
          <a:p>
            <a:pPr algn="ctr" defTabSz="855663" eaLnBrk="0" hangingPunct="0">
              <a:lnSpc>
                <a:spcPct val="90000"/>
              </a:lnSpc>
              <a:spcBef>
                <a:spcPts val="0"/>
              </a:spcBef>
              <a:spcAft>
                <a:spcPts val="0"/>
              </a:spcAft>
              <a:buClr>
                <a:prstClr val="black"/>
              </a:buClr>
              <a:buFont typeface="Monotype Sorts" charset="0"/>
              <a:buNone/>
              <a:defRPr/>
            </a:pPr>
            <a:r>
              <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rPr>
              <a:t>Intermediate</a:t>
            </a:r>
          </a:p>
          <a:p>
            <a:pPr algn="ctr" defTabSz="855663" eaLnBrk="0" hangingPunct="0">
              <a:lnSpc>
                <a:spcPct val="90000"/>
              </a:lnSpc>
              <a:spcBef>
                <a:spcPts val="0"/>
              </a:spcBef>
              <a:spcAft>
                <a:spcPts val="0"/>
              </a:spcAft>
              <a:buClr>
                <a:prstClr val="black"/>
              </a:buClr>
              <a:buFont typeface="Monotype Sorts" charset="0"/>
              <a:buNone/>
              <a:defRPr/>
            </a:pPr>
            <a:r>
              <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rPr>
              <a:t>Range</a:t>
            </a:r>
          </a:p>
        </p:txBody>
      </p:sp>
      <p:sp>
        <p:nvSpPr>
          <p:cNvPr id="110" name="Rectangle 3"/>
          <p:cNvSpPr txBox="1">
            <a:spLocks noChangeArrowheads="1"/>
          </p:cNvSpPr>
          <p:nvPr/>
        </p:nvSpPr>
        <p:spPr bwMode="auto">
          <a:xfrm>
            <a:off x="237090" y="5408376"/>
            <a:ext cx="520697" cy="384647"/>
          </a:xfrm>
          <a:prstGeom prst="rect">
            <a:avLst/>
          </a:prstGeom>
          <a:solidFill>
            <a:schemeClr val="bg1"/>
          </a:solidFill>
          <a:ln>
            <a:noFill/>
            <a:miter lim="800000"/>
            <a:headEnd/>
            <a:tailEnd/>
          </a:ln>
        </p:spPr>
        <p:txBody>
          <a:bodyPr vert="horz" wrap="square" lIns="0" tIns="0" rIns="0" bIns="0" numCol="1" anchor="ctr" anchorCtr="1" compatLnSpc="1">
            <a:prstTxWarp prst="textNoShape">
              <a:avLst/>
            </a:prstTxWarp>
          </a:bodyPr>
          <a:lstStyle/>
          <a:p>
            <a:pPr algn="ctr" defTabSz="855663" eaLnBrk="0" hangingPunct="0">
              <a:lnSpc>
                <a:spcPct val="90000"/>
              </a:lnSpc>
              <a:spcBef>
                <a:spcPts val="0"/>
              </a:spcBef>
              <a:spcAft>
                <a:spcPts val="0"/>
              </a:spcAft>
              <a:buClr>
                <a:prstClr val="black"/>
              </a:buClr>
              <a:buFont typeface="Monotype Sorts" charset="0"/>
              <a:buNone/>
              <a:defRPr/>
            </a:pPr>
            <a:r>
              <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rPr>
              <a:t>Short</a:t>
            </a:r>
          </a:p>
          <a:p>
            <a:pPr algn="ctr" defTabSz="855663" eaLnBrk="0" hangingPunct="0">
              <a:lnSpc>
                <a:spcPct val="90000"/>
              </a:lnSpc>
              <a:spcBef>
                <a:spcPts val="0"/>
              </a:spcBef>
              <a:spcAft>
                <a:spcPts val="0"/>
              </a:spcAft>
              <a:buClr>
                <a:prstClr val="black"/>
              </a:buClr>
              <a:buFont typeface="Monotype Sorts" charset="0"/>
              <a:buNone/>
              <a:defRPr/>
            </a:pPr>
            <a:r>
              <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rPr>
              <a:t>Range</a:t>
            </a:r>
          </a:p>
        </p:txBody>
      </p:sp>
      <p:sp>
        <p:nvSpPr>
          <p:cNvPr id="5" name="Rectangle 4"/>
          <p:cNvSpPr/>
          <p:nvPr/>
        </p:nvSpPr>
        <p:spPr>
          <a:xfrm>
            <a:off x="7814734" y="1055231"/>
            <a:ext cx="1100666" cy="2246769"/>
          </a:xfrm>
          <a:prstGeom prst="rect">
            <a:avLst/>
          </a:prstGeom>
          <a:solidFill>
            <a:srgbClr val="B9DCFF"/>
          </a:solidFill>
          <a:ln>
            <a:solidFill>
              <a:srgbClr val="002060"/>
            </a:solidFill>
          </a:ln>
          <a:effectLst>
            <a:outerShdw blurRad="50800" dist="38100" dir="2700000" algn="tl" rotWithShape="0">
              <a:prstClr val="black">
                <a:alpha val="40000"/>
              </a:prstClr>
            </a:outerShdw>
          </a:effectLst>
          <a:scene3d>
            <a:camera prst="orthographicFront"/>
            <a:lightRig rig="threePt" dir="t"/>
          </a:scene3d>
          <a:sp3d>
            <a:bevelT/>
          </a:sp3d>
        </p:spPr>
        <p:txBody>
          <a:bodyPr wrap="square">
            <a:spAutoFit/>
          </a:bodyPr>
          <a:lstStyle/>
          <a:p>
            <a:pPr algn="ctr"/>
            <a:r>
              <a:rPr lang="en-US" sz="1400" dirty="0">
                <a:solidFill>
                  <a:srgbClr val="000000"/>
                </a:solidFill>
                <a:effectLst>
                  <a:outerShdw blurRad="38100" dist="38100" dir="2700000" algn="tl">
                    <a:srgbClr val="000000">
                      <a:alpha val="43137"/>
                    </a:srgbClr>
                  </a:outerShdw>
                </a:effectLst>
                <a:latin typeface="Calibri" panose="020F0502020204030204" pitchFamily="34" charset="0"/>
                <a:ea typeface="Times New Roman" panose="02020603050405020304" pitchFamily="18" charset="0"/>
              </a:rPr>
              <a:t>Sequence of supply chain planning processes, from top to bottom, and their relationship to each other. </a:t>
            </a:r>
            <a:endParaRPr lang="en-US" sz="1400" dirty="0">
              <a:effectLst>
                <a:outerShdw blurRad="38100" dist="38100" dir="2700000" algn="tl">
                  <a:srgbClr val="000000">
                    <a:alpha val="43137"/>
                  </a:srgbClr>
                </a:outerShdw>
              </a:effectLst>
              <a:latin typeface="Calibri" panose="020F0502020204030204" pitchFamily="34" charset="0"/>
            </a:endParaRPr>
          </a:p>
        </p:txBody>
      </p:sp>
      <p:cxnSp>
        <p:nvCxnSpPr>
          <p:cNvPr id="6" name="Elbow Connector 5"/>
          <p:cNvCxnSpPr>
            <a:stCxn id="92" idx="2"/>
            <a:endCxn id="137" idx="1"/>
          </p:cNvCxnSpPr>
          <p:nvPr/>
        </p:nvCxnSpPr>
        <p:spPr bwMode="auto">
          <a:xfrm rot="16200000" flipH="1">
            <a:off x="3968750" y="6062133"/>
            <a:ext cx="529167" cy="304799"/>
          </a:xfrm>
          <a:prstGeom prst="bentConnector2">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sp>
        <p:nvSpPr>
          <p:cNvPr id="51" name="Rectangle 3"/>
          <p:cNvSpPr txBox="1">
            <a:spLocks noChangeArrowheads="1"/>
          </p:cNvSpPr>
          <p:nvPr/>
        </p:nvSpPr>
        <p:spPr bwMode="auto">
          <a:xfrm>
            <a:off x="7035799" y="3580342"/>
            <a:ext cx="948267" cy="686858"/>
          </a:xfrm>
          <a:prstGeom prst="rect">
            <a:avLst/>
          </a:prstGeom>
          <a:solidFill>
            <a:schemeClr val="bg1"/>
          </a:solidFill>
          <a:ln>
            <a:noFill/>
            <a:miter lim="800000"/>
            <a:headEnd/>
            <a:tailEnd/>
          </a:ln>
        </p:spPr>
        <p:txBody>
          <a:bodyPr vert="horz" wrap="square" lIns="0" tIns="0" rIns="0" bIns="0" numCol="1" anchor="ctr" anchorCtr="1" compatLnSpc="1">
            <a:prstTxWarp prst="textNoShape">
              <a:avLst/>
            </a:prstTxWarp>
          </a:bodyPr>
          <a:lstStyle/>
          <a:p>
            <a:pPr algn="ctr" defTabSz="855663" eaLnBrk="0" hangingPunct="0">
              <a:lnSpc>
                <a:spcPct val="90000"/>
              </a:lnSpc>
              <a:spcBef>
                <a:spcPts val="0"/>
              </a:spcBef>
              <a:spcAft>
                <a:spcPts val="0"/>
              </a:spcAft>
              <a:buClr>
                <a:prstClr val="black"/>
              </a:buClr>
              <a:buFont typeface="Monotype Sorts" charset="0"/>
              <a:buNone/>
              <a:defRPr/>
            </a:pPr>
            <a:endPar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endParaRP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4" name="Slide Number Placeholder 3"/>
          <p:cNvSpPr>
            <a:spLocks noGrp="1"/>
          </p:cNvSpPr>
          <p:nvPr>
            <p:ph type="sldNum" sz="quarter" idx="4"/>
          </p:nvPr>
        </p:nvSpPr>
        <p:spPr/>
        <p:txBody>
          <a:bodyPr/>
          <a:lstStyle/>
          <a:p>
            <a:fld id="{E66AA3EA-0569-43EF-BBA3-83FDB109D582}" type="slidenum">
              <a:rPr lang="en-US" smtClean="0"/>
              <a:pPr/>
              <a:t>5</a:t>
            </a:fld>
            <a:endParaRPr lang="en-US" dirty="0"/>
          </a:p>
        </p:txBody>
      </p:sp>
    </p:spTree>
    <p:extLst>
      <p:ext uri="{BB962C8B-B14F-4D97-AF65-F5344CB8AC3E}">
        <p14:creationId xmlns:p14="http://schemas.microsoft.com/office/powerpoint/2010/main" val="3575518533"/>
      </p:ext>
    </p:extLst>
  </p:cSld>
  <p:clrMapOvr>
    <a:masterClrMapping/>
  </p:clrMapOvr>
  <p:transition spd="slow">
    <p:pull dir="l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 name="Object 121"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386" name="Rectangle 122"/>
          <p:cNvSpPr>
            <a:spLocks noGrp="1" noChangeArrowheads="1"/>
          </p:cNvSpPr>
          <p:nvPr>
            <p:ph type="title"/>
          </p:nvPr>
        </p:nvSpPr>
        <p:spPr bwMode="auto">
          <a:xfrm>
            <a:off x="233362" y="127660"/>
            <a:ext cx="8910638"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cs typeface="Arial" charset="0"/>
              </a:rPr>
              <a:t>Business Planning</a:t>
            </a:r>
            <a:endParaRPr lang="en-US" sz="3200" b="0" kern="1200" dirty="0">
              <a:solidFill>
                <a:srgbClr val="923222"/>
              </a:solidFill>
              <a:effectLst>
                <a:outerShdw blurRad="38100" dist="38100" dir="2700000" algn="tl">
                  <a:srgbClr val="000000">
                    <a:alpha val="43137"/>
                  </a:srgbClr>
                </a:outerShdw>
              </a:effectLst>
              <a:latin typeface="Calibri" panose="020F0502020204030204" pitchFamily="34" charset="0"/>
              <a:ea typeface="+mn-ea"/>
              <a:cs typeface="Arial" charset="0"/>
            </a:endParaRPr>
          </a:p>
        </p:txBody>
      </p:sp>
      <p:sp>
        <p:nvSpPr>
          <p:cNvPr id="86" name="Rectangle 70"/>
          <p:cNvSpPr>
            <a:spLocks noChangeArrowheads="1"/>
          </p:cNvSpPr>
          <p:nvPr/>
        </p:nvSpPr>
        <p:spPr bwMode="auto">
          <a:xfrm>
            <a:off x="2213826" y="1151251"/>
            <a:ext cx="1107547" cy="135898"/>
          </a:xfrm>
          <a:prstGeom prst="rect">
            <a:avLst/>
          </a:prstGeom>
          <a:noFill/>
          <a:ln w="12700">
            <a:noFill/>
            <a:miter lim="800000"/>
            <a:headEnd/>
            <a:tailEnd/>
          </a:ln>
          <a:effectLst/>
        </p:spPr>
        <p:txBody>
          <a:bodyPr wrap="square" lIns="0" tIns="0" rIns="0" bIns="0" anchor="ctr" anchorCtr="1">
            <a:noAutofit/>
          </a:bodyPr>
          <a:lstStyle/>
          <a:p>
            <a:pPr algn="ctr" eaLnBrk="0" hangingPunct="0">
              <a:lnSpc>
                <a:spcPct val="80000"/>
              </a:lnSpc>
            </a:pPr>
            <a:endParaRPr lang="en-US" sz="1000" b="1" dirty="0">
              <a:solidFill>
                <a:prstClr val="white"/>
              </a:solidFill>
              <a:latin typeface="News Gothic MT"/>
            </a:endParaRPr>
          </a:p>
        </p:txBody>
      </p:sp>
      <p:sp>
        <p:nvSpPr>
          <p:cNvPr id="87" name="Oval 72"/>
          <p:cNvSpPr>
            <a:spLocks noChangeArrowheads="1"/>
          </p:cNvSpPr>
          <p:nvPr/>
        </p:nvSpPr>
        <p:spPr bwMode="auto">
          <a:xfrm>
            <a:off x="4180439" y="1021491"/>
            <a:ext cx="960920" cy="395419"/>
          </a:xfrm>
          <a:prstGeom prst="ellipse">
            <a:avLst/>
          </a:prstGeom>
          <a:solidFill>
            <a:schemeClr val="accent5"/>
          </a:solidFill>
          <a:ln w="12700">
            <a:solidFill>
              <a:srgbClr val="000000"/>
            </a:solidFill>
            <a:round/>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Financial  </a:t>
            </a:r>
          </a:p>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Plans</a:t>
            </a:r>
          </a:p>
        </p:txBody>
      </p:sp>
      <p:sp>
        <p:nvSpPr>
          <p:cNvPr id="88" name="Oval 91"/>
          <p:cNvSpPr>
            <a:spLocks noChangeArrowheads="1"/>
          </p:cNvSpPr>
          <p:nvPr/>
        </p:nvSpPr>
        <p:spPr bwMode="auto">
          <a:xfrm>
            <a:off x="408539" y="1021491"/>
            <a:ext cx="960920" cy="395419"/>
          </a:xfrm>
          <a:prstGeom prst="ellipse">
            <a:avLst/>
          </a:prstGeom>
          <a:solidFill>
            <a:schemeClr val="accent5"/>
          </a:solidFill>
          <a:ln w="12700">
            <a:solidFill>
              <a:srgbClr val="000000"/>
            </a:solidFill>
            <a:round/>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Strategic  </a:t>
            </a:r>
          </a:p>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Plans</a:t>
            </a:r>
          </a:p>
        </p:txBody>
      </p:sp>
      <p:cxnSp>
        <p:nvCxnSpPr>
          <p:cNvPr id="108" name="Straight Connector 107"/>
          <p:cNvCxnSpPr>
            <a:stCxn id="88" idx="6"/>
            <a:endCxn id="85" idx="1"/>
          </p:cNvCxnSpPr>
          <p:nvPr/>
        </p:nvCxnSpPr>
        <p:spPr bwMode="auto">
          <a:xfrm flipV="1">
            <a:off x="1369459" y="1219200"/>
            <a:ext cx="300590" cy="1"/>
          </a:xfrm>
          <a:prstGeom prst="line">
            <a:avLst/>
          </a:prstGeom>
          <a:solidFill>
            <a:schemeClr val="accent1"/>
          </a:solidFill>
          <a:ln w="28575" cap="flat" cmpd="sng" algn="ctr">
            <a:solidFill>
              <a:schemeClr val="tx1"/>
            </a:solidFill>
            <a:prstDash val="solid"/>
            <a:round/>
            <a:headEnd type="triangle" w="med" len="med"/>
            <a:tailEnd type="triangle" w="med" len="med"/>
          </a:ln>
          <a:effectLst/>
        </p:spPr>
      </p:cxnSp>
      <p:cxnSp>
        <p:nvCxnSpPr>
          <p:cNvPr id="72" name="Straight Connector 71"/>
          <p:cNvCxnSpPr>
            <a:stCxn id="85" idx="3"/>
            <a:endCxn id="87" idx="2"/>
          </p:cNvCxnSpPr>
          <p:nvPr/>
        </p:nvCxnSpPr>
        <p:spPr bwMode="auto">
          <a:xfrm>
            <a:off x="3841749" y="1219200"/>
            <a:ext cx="338690" cy="1"/>
          </a:xfrm>
          <a:prstGeom prst="line">
            <a:avLst/>
          </a:prstGeom>
          <a:solidFill>
            <a:schemeClr val="accent1"/>
          </a:solidFill>
          <a:ln w="28575" cap="flat" cmpd="sng" algn="ctr">
            <a:solidFill>
              <a:schemeClr val="tx1"/>
            </a:solidFill>
            <a:prstDash val="solid"/>
            <a:round/>
            <a:headEnd type="triangle" w="med" len="med"/>
            <a:tailEnd type="triangle" w="med" len="med"/>
          </a:ln>
          <a:effectLst/>
        </p:spPr>
      </p:cxnSp>
      <p:sp>
        <p:nvSpPr>
          <p:cNvPr id="85" name="Rectangle 69"/>
          <p:cNvSpPr>
            <a:spLocks noChangeArrowheads="1"/>
          </p:cNvSpPr>
          <p:nvPr/>
        </p:nvSpPr>
        <p:spPr bwMode="auto">
          <a:xfrm>
            <a:off x="1670049" y="1053797"/>
            <a:ext cx="2171700" cy="330806"/>
          </a:xfrm>
          <a:prstGeom prst="rect">
            <a:avLst/>
          </a:prstGeom>
          <a:solidFill>
            <a:schemeClr val="accent4"/>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Business Planning</a:t>
            </a:r>
          </a:p>
        </p:txBody>
      </p:sp>
      <p:sp>
        <p:nvSpPr>
          <p:cNvPr id="3" name="Rectangle 2"/>
          <p:cNvSpPr/>
          <p:nvPr/>
        </p:nvSpPr>
        <p:spPr>
          <a:xfrm>
            <a:off x="228600" y="1798128"/>
            <a:ext cx="8686800" cy="4708981"/>
          </a:xfrm>
          <a:prstGeom prst="rect">
            <a:avLst/>
          </a:prstGeom>
        </p:spPr>
        <p:txBody>
          <a:bodyPr wrap="square">
            <a:spAutoFit/>
          </a:bodyPr>
          <a:lstStyle/>
          <a:p>
            <a:pPr>
              <a:spcBef>
                <a:spcPts val="600"/>
              </a:spcBef>
              <a:spcAft>
                <a:spcPts val="1200"/>
              </a:spcAft>
              <a:buClr>
                <a:srgbClr val="923222"/>
              </a:buClr>
              <a:buSzPct val="115000"/>
            </a:pPr>
            <a:r>
              <a:rPr lang="en-US" dirty="0">
                <a:latin typeface="Calibri" panose="020F0502020204030204" pitchFamily="34" charset="0"/>
              </a:rPr>
              <a:t>The Business Plan, with its </a:t>
            </a:r>
            <a:r>
              <a:rPr lang="en-US" b="1" u="sng" dirty="0">
                <a:latin typeface="Calibri" panose="020F0502020204030204" pitchFamily="34" charset="0"/>
              </a:rPr>
              <a:t>long-term focus</a:t>
            </a:r>
            <a:r>
              <a:rPr lang="en-US" dirty="0">
                <a:latin typeface="Calibri" panose="020F0502020204030204" pitchFamily="34" charset="0"/>
              </a:rPr>
              <a:t>, provides the company’s direction and objectives for the </a:t>
            </a:r>
            <a:r>
              <a:rPr lang="en-US" b="1" u="sng" dirty="0">
                <a:latin typeface="Calibri" panose="020F0502020204030204" pitchFamily="34" charset="0"/>
              </a:rPr>
              <a:t>next two to ten years</a:t>
            </a:r>
            <a:r>
              <a:rPr lang="en-US" dirty="0">
                <a:latin typeface="Calibri" panose="020F0502020204030204" pitchFamily="34" charset="0"/>
              </a:rPr>
              <a:t>. </a:t>
            </a:r>
          </a:p>
          <a:p>
            <a:pPr marL="576263" indent="-342900">
              <a:spcBef>
                <a:spcPts val="600"/>
              </a:spcBef>
              <a:spcAft>
                <a:spcPts val="1200"/>
              </a:spcAft>
              <a:buClr>
                <a:srgbClr val="923222"/>
              </a:buClr>
              <a:buSzPct val="115000"/>
              <a:buFont typeface="Wingdings" panose="05000000000000000000" pitchFamily="2" charset="2"/>
              <a:buChar char="§"/>
            </a:pPr>
            <a:r>
              <a:rPr lang="en-US" dirty="0">
                <a:latin typeface="Calibri" panose="020F0502020204030204" pitchFamily="34" charset="0"/>
              </a:rPr>
              <a:t>Management gathers input from the various organizational functions such as finance, marketing, operations, and engineering, to develop the Business Plan. </a:t>
            </a:r>
          </a:p>
          <a:p>
            <a:pPr marL="576263" indent="-342900">
              <a:spcBef>
                <a:spcPts val="600"/>
              </a:spcBef>
              <a:spcAft>
                <a:spcPts val="1200"/>
              </a:spcAft>
              <a:buClr>
                <a:srgbClr val="923222"/>
              </a:buClr>
              <a:buSzPct val="115000"/>
              <a:buFont typeface="Wingdings" panose="05000000000000000000" pitchFamily="2" charset="2"/>
              <a:buChar char="§"/>
            </a:pPr>
            <a:r>
              <a:rPr lang="en-US" dirty="0">
                <a:latin typeface="Calibri" panose="020F0502020204030204" pitchFamily="34" charset="0"/>
              </a:rPr>
              <a:t>The plan states the company’s objectives for profitability, growth rate, and return on investment</a:t>
            </a:r>
          </a:p>
          <a:p>
            <a:pPr marL="576263" indent="-342900">
              <a:spcBef>
                <a:spcPts val="600"/>
              </a:spcBef>
              <a:spcAft>
                <a:spcPts val="1200"/>
              </a:spcAft>
              <a:buClr>
                <a:srgbClr val="923222"/>
              </a:buClr>
              <a:buSzPct val="115000"/>
              <a:buFont typeface="Wingdings" panose="05000000000000000000" pitchFamily="2" charset="2"/>
              <a:buChar char="§"/>
            </a:pPr>
            <a:r>
              <a:rPr lang="en-US" dirty="0">
                <a:latin typeface="Calibri" panose="020F0502020204030204" pitchFamily="34" charset="0"/>
              </a:rPr>
              <a:t>It is then typically updated and </a:t>
            </a:r>
            <a:r>
              <a:rPr lang="en-US" u="sng" dirty="0">
                <a:latin typeface="Calibri" panose="020F0502020204030204" pitchFamily="34" charset="0"/>
              </a:rPr>
              <a:t>reevaluated annually</a:t>
            </a:r>
            <a:r>
              <a:rPr lang="en-US" dirty="0">
                <a:latin typeface="Calibri" panose="020F0502020204030204" pitchFamily="34" charset="0"/>
              </a:rPr>
              <a:t>. </a:t>
            </a:r>
          </a:p>
          <a:p>
            <a:pPr marL="576263" indent="-342900">
              <a:spcBef>
                <a:spcPts val="600"/>
              </a:spcBef>
              <a:spcAft>
                <a:spcPts val="1200"/>
              </a:spcAft>
              <a:buClr>
                <a:srgbClr val="923222"/>
              </a:buClr>
              <a:buSzPct val="115000"/>
              <a:buFont typeface="Wingdings" panose="05000000000000000000" pitchFamily="2" charset="2"/>
              <a:buChar char="§"/>
            </a:pPr>
            <a:r>
              <a:rPr lang="en-US" dirty="0">
                <a:latin typeface="Calibri" panose="020F0502020204030204" pitchFamily="34" charset="0"/>
              </a:rPr>
              <a:t>It is also typically used as the starting point for developing the organization’s Production Plan or Aggregate Production Plan.</a:t>
            </a: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4" name="Slide Number Placeholder 3"/>
          <p:cNvSpPr>
            <a:spLocks noGrp="1"/>
          </p:cNvSpPr>
          <p:nvPr>
            <p:ph type="sldNum" sz="quarter" idx="4"/>
          </p:nvPr>
        </p:nvSpPr>
        <p:spPr/>
        <p:txBody>
          <a:bodyPr/>
          <a:lstStyle/>
          <a:p>
            <a:fld id="{E66AA3EA-0569-43EF-BBA3-83FDB109D582}" type="slidenum">
              <a:rPr lang="en-US" smtClean="0"/>
              <a:pPr/>
              <a:t>6</a:t>
            </a:fld>
            <a:endParaRPr lang="en-US" dirty="0"/>
          </a:p>
        </p:txBody>
      </p:sp>
    </p:spTree>
    <p:extLst>
      <p:ext uri="{BB962C8B-B14F-4D97-AF65-F5344CB8AC3E}">
        <p14:creationId xmlns:p14="http://schemas.microsoft.com/office/powerpoint/2010/main" val="2401695508"/>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 name="Object 121"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386" name="Rectangle 122"/>
          <p:cNvSpPr>
            <a:spLocks noGrp="1" noChangeArrowheads="1"/>
          </p:cNvSpPr>
          <p:nvPr>
            <p:ph type="title"/>
          </p:nvPr>
        </p:nvSpPr>
        <p:spPr bwMode="auto">
          <a:xfrm>
            <a:off x="233362" y="127660"/>
            <a:ext cx="8910638"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cs typeface="Arial" charset="0"/>
              </a:rPr>
              <a:t>Sales &amp; Operations Planning </a:t>
            </a:r>
            <a:r>
              <a:rPr lang="en-US" altLang="en-US" sz="3200" b="0" kern="1200" dirty="0">
                <a:solidFill>
                  <a:srgbClr val="923222"/>
                </a:solidFill>
                <a:effectLst>
                  <a:outerShdw blurRad="38100" dist="38100" dir="2700000" algn="tl">
                    <a:srgbClr val="000000">
                      <a:alpha val="43137"/>
                    </a:srgbClr>
                  </a:outerShdw>
                </a:effectLst>
                <a:latin typeface="Calibri" panose="020F0502020204030204" pitchFamily="34" charset="0"/>
                <a:cs typeface="Arial" charset="0"/>
              </a:rPr>
              <a:t>(S&amp;OP) </a:t>
            </a:r>
            <a:endParaRPr lang="en-US" sz="3200" b="0" kern="1200" dirty="0">
              <a:solidFill>
                <a:srgbClr val="923222"/>
              </a:solidFill>
              <a:effectLst>
                <a:outerShdw blurRad="38100" dist="38100" dir="2700000" algn="tl">
                  <a:srgbClr val="000000">
                    <a:alpha val="43137"/>
                  </a:srgbClr>
                </a:outerShdw>
              </a:effectLst>
              <a:latin typeface="Calibri" panose="020F0502020204030204" pitchFamily="34" charset="0"/>
              <a:ea typeface="+mn-ea"/>
              <a:cs typeface="Arial" charset="0"/>
            </a:endParaRPr>
          </a:p>
        </p:txBody>
      </p:sp>
      <p:sp>
        <p:nvSpPr>
          <p:cNvPr id="95" name="Rectangle 94"/>
          <p:cNvSpPr/>
          <p:nvPr/>
        </p:nvSpPr>
        <p:spPr bwMode="auto">
          <a:xfrm>
            <a:off x="228600" y="1714500"/>
            <a:ext cx="5054598" cy="1401233"/>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r>
              <a:rPr lang="en-US" sz="1400" b="1" dirty="0">
                <a:effectLst>
                  <a:outerShdw blurRad="38100" dist="38100" dir="2700000" algn="tl">
                    <a:srgbClr val="000000">
                      <a:alpha val="43137"/>
                    </a:srgbClr>
                  </a:outerShdw>
                </a:effectLst>
                <a:latin typeface="News Gothic MT" pitchFamily="34" charset="0"/>
              </a:rPr>
              <a:t>Sales &amp; Operations Planning </a:t>
            </a:r>
            <a:r>
              <a:rPr lang="en-US" sz="1000" dirty="0">
                <a:effectLst>
                  <a:outerShdw blurRad="38100" dist="38100" dir="2700000" algn="tl">
                    <a:srgbClr val="000000">
                      <a:alpha val="43137"/>
                    </a:srgbClr>
                  </a:outerShdw>
                </a:effectLst>
                <a:latin typeface="News Gothic MT" pitchFamily="34" charset="0"/>
              </a:rPr>
              <a:t>(S&amp;OP)</a:t>
            </a:r>
          </a:p>
        </p:txBody>
      </p:sp>
      <p:sp>
        <p:nvSpPr>
          <p:cNvPr id="67" name="Rectangle 27"/>
          <p:cNvSpPr>
            <a:spLocks noChangeArrowheads="1"/>
          </p:cNvSpPr>
          <p:nvPr/>
        </p:nvSpPr>
        <p:spPr bwMode="auto">
          <a:xfrm>
            <a:off x="4185080" y="2053342"/>
            <a:ext cx="951637" cy="308858"/>
          </a:xfrm>
          <a:prstGeom prst="rect">
            <a:avLst/>
          </a:prstGeom>
          <a:solidFill>
            <a:schemeClr val="accent1">
              <a:lumMod val="40000"/>
              <a:lumOff val="60000"/>
            </a:schemeClr>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black"/>
                </a:solidFill>
                <a:latin typeface="News Gothic MT" pitchFamily="34" charset="0"/>
              </a:rPr>
              <a:t>Demand </a:t>
            </a:r>
          </a:p>
          <a:p>
            <a:pPr algn="ctr" eaLnBrk="0" hangingPunct="0">
              <a:lnSpc>
                <a:spcPct val="80000"/>
              </a:lnSpc>
            </a:pPr>
            <a:r>
              <a:rPr lang="en-US" sz="1000" b="1" dirty="0">
                <a:solidFill>
                  <a:prstClr val="black"/>
                </a:solidFill>
                <a:latin typeface="News Gothic MT" pitchFamily="34" charset="0"/>
              </a:rPr>
              <a:t>Management</a:t>
            </a:r>
          </a:p>
        </p:txBody>
      </p:sp>
      <p:sp>
        <p:nvSpPr>
          <p:cNvPr id="73" name="Rectangle 37"/>
          <p:cNvSpPr>
            <a:spLocks noChangeArrowheads="1"/>
          </p:cNvSpPr>
          <p:nvPr/>
        </p:nvSpPr>
        <p:spPr bwMode="auto">
          <a:xfrm>
            <a:off x="4186417" y="2705100"/>
            <a:ext cx="948964" cy="308858"/>
          </a:xfrm>
          <a:prstGeom prst="rect">
            <a:avLst/>
          </a:prstGeom>
          <a:solidFill>
            <a:schemeClr val="accent1">
              <a:lumMod val="40000"/>
              <a:lumOff val="60000"/>
            </a:schemeClr>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90000"/>
              </a:lnSpc>
            </a:pPr>
            <a:r>
              <a:rPr lang="en-US" sz="1000" b="1" dirty="0">
                <a:solidFill>
                  <a:prstClr val="black"/>
                </a:solidFill>
                <a:latin typeface="News Gothic MT" pitchFamily="34" charset="0"/>
              </a:rPr>
              <a:t>Supply </a:t>
            </a:r>
          </a:p>
          <a:p>
            <a:pPr algn="ctr" eaLnBrk="0" hangingPunct="0">
              <a:lnSpc>
                <a:spcPct val="90000"/>
              </a:lnSpc>
            </a:pPr>
            <a:r>
              <a:rPr lang="en-US" sz="1000" b="1" dirty="0">
                <a:solidFill>
                  <a:prstClr val="black"/>
                </a:solidFill>
                <a:latin typeface="News Gothic MT" pitchFamily="34" charset="0"/>
              </a:rPr>
              <a:t>Management</a:t>
            </a:r>
          </a:p>
        </p:txBody>
      </p:sp>
      <p:sp>
        <p:nvSpPr>
          <p:cNvPr id="86" name="Rectangle 70"/>
          <p:cNvSpPr>
            <a:spLocks noChangeArrowheads="1"/>
          </p:cNvSpPr>
          <p:nvPr/>
        </p:nvSpPr>
        <p:spPr bwMode="auto">
          <a:xfrm>
            <a:off x="2213826" y="1151251"/>
            <a:ext cx="1107547" cy="135898"/>
          </a:xfrm>
          <a:prstGeom prst="rect">
            <a:avLst/>
          </a:prstGeom>
          <a:noFill/>
          <a:ln w="12700">
            <a:noFill/>
            <a:miter lim="800000"/>
            <a:headEnd/>
            <a:tailEnd/>
          </a:ln>
          <a:effectLst/>
        </p:spPr>
        <p:txBody>
          <a:bodyPr wrap="square" lIns="0" tIns="0" rIns="0" bIns="0" anchor="ctr" anchorCtr="1">
            <a:noAutofit/>
          </a:bodyPr>
          <a:lstStyle/>
          <a:p>
            <a:pPr algn="ctr" eaLnBrk="0" hangingPunct="0">
              <a:lnSpc>
                <a:spcPct val="80000"/>
              </a:lnSpc>
            </a:pPr>
            <a:endParaRPr lang="en-US" sz="1000" b="1" dirty="0">
              <a:solidFill>
                <a:prstClr val="white"/>
              </a:solidFill>
              <a:latin typeface="News Gothic MT"/>
            </a:endParaRPr>
          </a:p>
        </p:txBody>
      </p:sp>
      <p:sp>
        <p:nvSpPr>
          <p:cNvPr id="87" name="Oval 72"/>
          <p:cNvSpPr>
            <a:spLocks noChangeArrowheads="1"/>
          </p:cNvSpPr>
          <p:nvPr/>
        </p:nvSpPr>
        <p:spPr bwMode="auto">
          <a:xfrm>
            <a:off x="4180439" y="1021491"/>
            <a:ext cx="960920" cy="395419"/>
          </a:xfrm>
          <a:prstGeom prst="ellipse">
            <a:avLst/>
          </a:prstGeom>
          <a:solidFill>
            <a:schemeClr val="accent5"/>
          </a:solidFill>
          <a:ln w="12700">
            <a:solidFill>
              <a:srgbClr val="000000"/>
            </a:solidFill>
            <a:round/>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Financial  </a:t>
            </a:r>
          </a:p>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Plans</a:t>
            </a:r>
          </a:p>
        </p:txBody>
      </p:sp>
      <p:sp>
        <p:nvSpPr>
          <p:cNvPr id="88" name="Oval 91"/>
          <p:cNvSpPr>
            <a:spLocks noChangeArrowheads="1"/>
          </p:cNvSpPr>
          <p:nvPr/>
        </p:nvSpPr>
        <p:spPr bwMode="auto">
          <a:xfrm>
            <a:off x="408539" y="1021491"/>
            <a:ext cx="960920" cy="395419"/>
          </a:xfrm>
          <a:prstGeom prst="ellipse">
            <a:avLst/>
          </a:prstGeom>
          <a:solidFill>
            <a:schemeClr val="accent5"/>
          </a:solidFill>
          <a:ln w="12700">
            <a:solidFill>
              <a:srgbClr val="000000"/>
            </a:solidFill>
            <a:round/>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Strategic  </a:t>
            </a:r>
          </a:p>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Plans</a:t>
            </a:r>
          </a:p>
        </p:txBody>
      </p:sp>
      <p:cxnSp>
        <p:nvCxnSpPr>
          <p:cNvPr id="107" name="Straight Connector 106"/>
          <p:cNvCxnSpPr>
            <a:stCxn id="85" idx="2"/>
            <a:endCxn id="95" idx="0"/>
          </p:cNvCxnSpPr>
          <p:nvPr/>
        </p:nvCxnSpPr>
        <p:spPr bwMode="auto">
          <a:xfrm>
            <a:off x="2755899" y="1384603"/>
            <a:ext cx="0" cy="329897"/>
          </a:xfrm>
          <a:prstGeom prst="line">
            <a:avLst/>
          </a:prstGeom>
          <a:solidFill>
            <a:schemeClr val="accent1"/>
          </a:solidFill>
          <a:ln w="38100" cap="flat" cmpd="sng" algn="ctr">
            <a:solidFill>
              <a:schemeClr val="tx1"/>
            </a:solidFill>
            <a:prstDash val="solid"/>
            <a:round/>
            <a:headEnd type="none" w="med" len="med"/>
            <a:tailEnd type="triangle" w="sm" len="sm"/>
          </a:ln>
          <a:effectLst>
            <a:outerShdw blurRad="50800" dist="38100" dir="2700000" algn="tl" rotWithShape="0">
              <a:prstClr val="black">
                <a:alpha val="40000"/>
              </a:prstClr>
            </a:outerShdw>
          </a:effectLst>
        </p:spPr>
      </p:cxnSp>
      <p:cxnSp>
        <p:nvCxnSpPr>
          <p:cNvPr id="108" name="Straight Connector 107"/>
          <p:cNvCxnSpPr>
            <a:stCxn id="88" idx="6"/>
            <a:endCxn id="85" idx="1"/>
          </p:cNvCxnSpPr>
          <p:nvPr/>
        </p:nvCxnSpPr>
        <p:spPr bwMode="auto">
          <a:xfrm flipV="1">
            <a:off x="1369459" y="1219200"/>
            <a:ext cx="300590" cy="1"/>
          </a:xfrm>
          <a:prstGeom prst="line">
            <a:avLst/>
          </a:prstGeom>
          <a:solidFill>
            <a:schemeClr val="accent1"/>
          </a:solidFill>
          <a:ln w="28575" cap="flat" cmpd="sng" algn="ctr">
            <a:solidFill>
              <a:schemeClr val="tx1"/>
            </a:solidFill>
            <a:prstDash val="solid"/>
            <a:round/>
            <a:headEnd type="triangle" w="med" len="med"/>
            <a:tailEnd type="triangle" w="med" len="med"/>
          </a:ln>
          <a:effectLst/>
        </p:spPr>
      </p:cxnSp>
      <p:sp>
        <p:nvSpPr>
          <p:cNvPr id="52" name="Rectangle 41"/>
          <p:cNvSpPr>
            <a:spLocks noChangeArrowheads="1"/>
          </p:cNvSpPr>
          <p:nvPr/>
        </p:nvSpPr>
        <p:spPr bwMode="auto">
          <a:xfrm>
            <a:off x="362214" y="2303602"/>
            <a:ext cx="1053570" cy="498194"/>
          </a:xfrm>
          <a:prstGeom prst="rect">
            <a:avLst/>
          </a:prstGeom>
          <a:solidFill>
            <a:schemeClr val="accent1"/>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srgbClr val="000000"/>
                </a:solidFill>
                <a:latin typeface="News Gothic MT" pitchFamily="34" charset="0"/>
              </a:rPr>
              <a:t>Resource </a:t>
            </a:r>
          </a:p>
          <a:p>
            <a:pPr algn="ctr" eaLnBrk="0" hangingPunct="0">
              <a:lnSpc>
                <a:spcPct val="80000"/>
              </a:lnSpc>
            </a:pPr>
            <a:r>
              <a:rPr lang="en-US" sz="1000" b="1" dirty="0">
                <a:solidFill>
                  <a:srgbClr val="000000"/>
                </a:solidFill>
                <a:latin typeface="News Gothic MT" pitchFamily="34" charset="0"/>
              </a:rPr>
              <a:t>Requirements </a:t>
            </a:r>
          </a:p>
          <a:p>
            <a:pPr algn="ctr" eaLnBrk="0" hangingPunct="0">
              <a:lnSpc>
                <a:spcPct val="80000"/>
              </a:lnSpc>
            </a:pPr>
            <a:r>
              <a:rPr lang="en-US" sz="1000" b="1" dirty="0">
                <a:solidFill>
                  <a:srgbClr val="000000"/>
                </a:solidFill>
                <a:latin typeface="News Gothic MT" pitchFamily="34" charset="0"/>
              </a:rPr>
              <a:t>Planning</a:t>
            </a:r>
            <a:r>
              <a:rPr lang="en-US" sz="800" b="1" dirty="0">
                <a:solidFill>
                  <a:srgbClr val="000000"/>
                </a:solidFill>
                <a:latin typeface="News Gothic MT" pitchFamily="34" charset="0"/>
              </a:rPr>
              <a:t> </a:t>
            </a:r>
            <a:r>
              <a:rPr lang="en-US" sz="800" dirty="0">
                <a:solidFill>
                  <a:srgbClr val="000000"/>
                </a:solidFill>
                <a:latin typeface="News Gothic MT" pitchFamily="34" charset="0"/>
              </a:rPr>
              <a:t>(RRP)</a:t>
            </a:r>
            <a:endParaRPr lang="en-US" sz="1000" dirty="0">
              <a:solidFill>
                <a:srgbClr val="000000"/>
              </a:solidFill>
              <a:latin typeface="News Gothic MT" pitchFamily="34" charset="0"/>
            </a:endParaRPr>
          </a:p>
        </p:txBody>
      </p:sp>
      <p:cxnSp>
        <p:nvCxnSpPr>
          <p:cNvPr id="69" name="Straight Arrow Connector 68"/>
          <p:cNvCxnSpPr>
            <a:stCxn id="52" idx="3"/>
            <a:endCxn id="84" idx="1"/>
          </p:cNvCxnSpPr>
          <p:nvPr/>
        </p:nvCxnSpPr>
        <p:spPr bwMode="auto">
          <a:xfrm>
            <a:off x="1415784" y="2552699"/>
            <a:ext cx="273315" cy="1"/>
          </a:xfrm>
          <a:prstGeom prst="straightConnector1">
            <a:avLst/>
          </a:prstGeom>
          <a:solidFill>
            <a:schemeClr val="accent1"/>
          </a:solidFill>
          <a:ln w="28575" cap="flat" cmpd="sng" algn="ctr">
            <a:solidFill>
              <a:schemeClr val="tx1"/>
            </a:solidFill>
            <a:prstDash val="sysDot"/>
            <a:round/>
            <a:headEnd type="triangle"/>
            <a:tailEnd type="triangle"/>
          </a:ln>
          <a:effectLst/>
        </p:spPr>
      </p:cxnSp>
      <p:cxnSp>
        <p:nvCxnSpPr>
          <p:cNvPr id="72" name="Straight Connector 71"/>
          <p:cNvCxnSpPr>
            <a:stCxn id="85" idx="3"/>
            <a:endCxn id="87" idx="2"/>
          </p:cNvCxnSpPr>
          <p:nvPr/>
        </p:nvCxnSpPr>
        <p:spPr bwMode="auto">
          <a:xfrm>
            <a:off x="3841749" y="1219200"/>
            <a:ext cx="338690" cy="1"/>
          </a:xfrm>
          <a:prstGeom prst="line">
            <a:avLst/>
          </a:prstGeom>
          <a:solidFill>
            <a:schemeClr val="accent1"/>
          </a:solidFill>
          <a:ln w="28575" cap="flat" cmpd="sng" algn="ctr">
            <a:solidFill>
              <a:schemeClr val="tx1"/>
            </a:solidFill>
            <a:prstDash val="solid"/>
            <a:round/>
            <a:headEnd type="triangle" w="med" len="med"/>
            <a:tailEnd type="triangle" w="med" len="med"/>
          </a:ln>
          <a:effectLst/>
        </p:spPr>
      </p:cxnSp>
      <p:cxnSp>
        <p:nvCxnSpPr>
          <p:cNvPr id="100" name="Straight Arrow Connector 99"/>
          <p:cNvCxnSpPr>
            <a:stCxn id="67" idx="1"/>
            <a:endCxn id="84" idx="3"/>
          </p:cNvCxnSpPr>
          <p:nvPr/>
        </p:nvCxnSpPr>
        <p:spPr bwMode="auto">
          <a:xfrm flipH="1">
            <a:off x="3860799" y="2207771"/>
            <a:ext cx="324281" cy="344929"/>
          </a:xfrm>
          <a:prstGeom prst="straightConnector1">
            <a:avLst/>
          </a:prstGeom>
          <a:solidFill>
            <a:schemeClr val="accent1"/>
          </a:solidFill>
          <a:ln w="28575" cap="flat" cmpd="sng" algn="ctr">
            <a:solidFill>
              <a:schemeClr val="tx1"/>
            </a:solidFill>
            <a:prstDash val="solid"/>
            <a:round/>
            <a:headEnd type="triangle"/>
            <a:tailEnd type="triangle"/>
          </a:ln>
          <a:effectLst>
            <a:outerShdw blurRad="50800" dist="38100" dir="2700000" algn="tl" rotWithShape="0">
              <a:prstClr val="black">
                <a:alpha val="40000"/>
              </a:prstClr>
            </a:outerShdw>
          </a:effectLst>
        </p:spPr>
      </p:cxnSp>
      <p:cxnSp>
        <p:nvCxnSpPr>
          <p:cNvPr id="102" name="Straight Arrow Connector 101"/>
          <p:cNvCxnSpPr>
            <a:stCxn id="73" idx="1"/>
            <a:endCxn id="84" idx="3"/>
          </p:cNvCxnSpPr>
          <p:nvPr/>
        </p:nvCxnSpPr>
        <p:spPr bwMode="auto">
          <a:xfrm flipH="1" flipV="1">
            <a:off x="3860799" y="2552700"/>
            <a:ext cx="325618" cy="306829"/>
          </a:xfrm>
          <a:prstGeom prst="straightConnector1">
            <a:avLst/>
          </a:prstGeom>
          <a:solidFill>
            <a:schemeClr val="accent1"/>
          </a:solidFill>
          <a:ln w="28575" cap="flat" cmpd="sng" algn="ctr">
            <a:solidFill>
              <a:schemeClr val="tx1"/>
            </a:solidFill>
            <a:prstDash val="solid"/>
            <a:round/>
            <a:headEnd type="triangle"/>
            <a:tailEnd type="triangle"/>
          </a:ln>
          <a:effectLst>
            <a:outerShdw blurRad="50800" dist="38100" dir="2700000" algn="tl" rotWithShape="0">
              <a:prstClr val="black">
                <a:alpha val="40000"/>
              </a:prstClr>
            </a:outerShdw>
          </a:effectLst>
        </p:spPr>
      </p:cxnSp>
      <p:cxnSp>
        <p:nvCxnSpPr>
          <p:cNvPr id="104" name="Straight Arrow Connector 103"/>
          <p:cNvCxnSpPr>
            <a:stCxn id="73" idx="0"/>
            <a:endCxn id="67" idx="2"/>
          </p:cNvCxnSpPr>
          <p:nvPr/>
        </p:nvCxnSpPr>
        <p:spPr bwMode="auto">
          <a:xfrm flipV="1">
            <a:off x="4660899" y="2362200"/>
            <a:ext cx="0" cy="342900"/>
          </a:xfrm>
          <a:prstGeom prst="straightConnector1">
            <a:avLst/>
          </a:prstGeom>
          <a:solidFill>
            <a:schemeClr val="accent1"/>
          </a:solidFill>
          <a:ln w="28575" cap="flat" cmpd="sng" algn="ctr">
            <a:solidFill>
              <a:schemeClr val="tx1"/>
            </a:solidFill>
            <a:prstDash val="solid"/>
            <a:round/>
            <a:headEnd type="triangle"/>
            <a:tailEnd type="triangle"/>
          </a:ln>
          <a:effectLst>
            <a:outerShdw blurRad="50800" dist="38100" dir="2700000" algn="tl" rotWithShape="0">
              <a:prstClr val="black">
                <a:alpha val="40000"/>
              </a:prstClr>
            </a:outerShdw>
          </a:effectLst>
        </p:spPr>
      </p:cxnSp>
      <p:sp>
        <p:nvSpPr>
          <p:cNvPr id="85" name="Rectangle 69"/>
          <p:cNvSpPr>
            <a:spLocks noChangeArrowheads="1"/>
          </p:cNvSpPr>
          <p:nvPr/>
        </p:nvSpPr>
        <p:spPr bwMode="auto">
          <a:xfrm>
            <a:off x="1670049" y="1053797"/>
            <a:ext cx="2171700" cy="330806"/>
          </a:xfrm>
          <a:prstGeom prst="rect">
            <a:avLst/>
          </a:prstGeom>
          <a:solidFill>
            <a:schemeClr val="accent4"/>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Business Planning</a:t>
            </a:r>
          </a:p>
        </p:txBody>
      </p:sp>
      <p:sp>
        <p:nvSpPr>
          <p:cNvPr id="84" name="Rectangle 52"/>
          <p:cNvSpPr>
            <a:spLocks noChangeArrowheads="1"/>
          </p:cNvSpPr>
          <p:nvPr/>
        </p:nvSpPr>
        <p:spPr bwMode="auto">
          <a:xfrm>
            <a:off x="1689099" y="2378961"/>
            <a:ext cx="2171700" cy="347477"/>
          </a:xfrm>
          <a:prstGeom prst="rect">
            <a:avLst/>
          </a:prstGeom>
          <a:solidFill>
            <a:schemeClr val="accent3"/>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Aggregate Production </a:t>
            </a:r>
          </a:p>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Planning </a:t>
            </a:r>
            <a:r>
              <a:rPr lang="en-US" sz="800" dirty="0">
                <a:solidFill>
                  <a:schemeClr val="bg1"/>
                </a:solidFill>
                <a:effectLst>
                  <a:outerShdw blurRad="38100" dist="38100" dir="2700000" algn="tl">
                    <a:srgbClr val="000000">
                      <a:alpha val="43137"/>
                    </a:srgbClr>
                  </a:outerShdw>
                </a:effectLst>
                <a:latin typeface="News Gothic MT" pitchFamily="34" charset="0"/>
              </a:rPr>
              <a:t>(APP)</a:t>
            </a:r>
          </a:p>
        </p:txBody>
      </p:sp>
      <p:sp>
        <p:nvSpPr>
          <p:cNvPr id="3" name="Rectangle 2"/>
          <p:cNvSpPr/>
          <p:nvPr/>
        </p:nvSpPr>
        <p:spPr>
          <a:xfrm>
            <a:off x="228600" y="3210942"/>
            <a:ext cx="8686800" cy="3447098"/>
          </a:xfrm>
          <a:prstGeom prst="rect">
            <a:avLst/>
          </a:prstGeom>
        </p:spPr>
        <p:txBody>
          <a:bodyPr wrap="square">
            <a:spAutoFit/>
          </a:bodyPr>
          <a:lstStyle/>
          <a:p>
            <a:pPr marL="0" marR="0">
              <a:spcBef>
                <a:spcPts val="600"/>
              </a:spcBef>
              <a:spcAft>
                <a:spcPts val="600"/>
              </a:spcAft>
              <a:buClr>
                <a:srgbClr val="923222"/>
              </a:buClr>
              <a:buSzPct val="115000"/>
            </a:pPr>
            <a:r>
              <a:rPr lang="en-US" sz="2000" dirty="0">
                <a:latin typeface="Calibri" panose="020F0502020204030204" pitchFamily="34" charset="0"/>
              </a:rPr>
              <a:t>A process that </a:t>
            </a:r>
            <a:r>
              <a:rPr lang="en-US" sz="2000" u="sng" dirty="0">
                <a:latin typeface="Calibri" panose="020F0502020204030204" pitchFamily="34" charset="0"/>
              </a:rPr>
              <a:t>brings all the demand and supply plans for the business </a:t>
            </a:r>
            <a:r>
              <a:rPr lang="en-US" sz="2000" i="1" dirty="0">
                <a:latin typeface="Calibri" panose="020F0502020204030204" pitchFamily="34" charset="0"/>
              </a:rPr>
              <a:t>(sales, marketing, development, production, sourcing, and finance) </a:t>
            </a:r>
            <a:r>
              <a:rPr lang="en-US" sz="2000" dirty="0">
                <a:latin typeface="Calibri" panose="020F0502020204030204" pitchFamily="34" charset="0"/>
              </a:rPr>
              <a:t>together to provide management with the ability to strategically direct the business to achieve a competitive advantage </a:t>
            </a:r>
          </a:p>
          <a:p>
            <a:pPr marL="576263" marR="0" indent="-342900">
              <a:lnSpc>
                <a:spcPct val="90000"/>
              </a:lnSpc>
              <a:spcBef>
                <a:spcPts val="600"/>
              </a:spcBef>
              <a:spcAft>
                <a:spcPts val="600"/>
              </a:spcAft>
              <a:buClr>
                <a:srgbClr val="923222"/>
              </a:buClr>
              <a:buSzPct val="115000"/>
              <a:buFont typeface="Wingdings" panose="05000000000000000000" pitchFamily="2" charset="2"/>
              <a:buChar char="§"/>
            </a:pPr>
            <a:r>
              <a:rPr lang="en-US" sz="2000" dirty="0">
                <a:latin typeface="Calibri" panose="020F0502020204030204" pitchFamily="34" charset="0"/>
              </a:rPr>
              <a:t>It is the definitive statement of the </a:t>
            </a:r>
            <a:r>
              <a:rPr lang="en-US" sz="2000" b="1" u="sng" dirty="0">
                <a:latin typeface="Calibri" panose="020F0502020204030204" pitchFamily="34" charset="0"/>
              </a:rPr>
              <a:t>company’s plans for the near to intermediate term</a:t>
            </a:r>
            <a:r>
              <a:rPr lang="en-US" sz="2000" dirty="0">
                <a:latin typeface="Calibri" panose="020F0502020204030204" pitchFamily="34" charset="0"/>
              </a:rPr>
              <a:t>, covering a horizon sufficient to plan for resources, and to support the annual business planning process. </a:t>
            </a:r>
          </a:p>
          <a:p>
            <a:pPr marL="576263" marR="0" indent="-342900">
              <a:lnSpc>
                <a:spcPct val="90000"/>
              </a:lnSpc>
              <a:spcBef>
                <a:spcPts val="600"/>
              </a:spcBef>
              <a:spcAft>
                <a:spcPts val="600"/>
              </a:spcAft>
              <a:buClr>
                <a:srgbClr val="923222"/>
              </a:buClr>
              <a:buSzPct val="115000"/>
              <a:buFont typeface="Wingdings" panose="05000000000000000000" pitchFamily="2" charset="2"/>
              <a:buChar char="§"/>
            </a:pPr>
            <a:r>
              <a:rPr lang="en-US" sz="2000" dirty="0">
                <a:latin typeface="Calibri" panose="020F0502020204030204" pitchFamily="34" charset="0"/>
              </a:rPr>
              <a:t>It links the strategic plans for the business with its execution.</a:t>
            </a:r>
          </a:p>
          <a:p>
            <a:pPr marL="576263" marR="0" indent="-342900">
              <a:lnSpc>
                <a:spcPct val="90000"/>
              </a:lnSpc>
              <a:spcBef>
                <a:spcPts val="600"/>
              </a:spcBef>
              <a:spcAft>
                <a:spcPts val="600"/>
              </a:spcAft>
              <a:buClr>
                <a:srgbClr val="923222"/>
              </a:buClr>
              <a:buSzPct val="115000"/>
              <a:buFont typeface="Wingdings" panose="05000000000000000000" pitchFamily="2" charset="2"/>
              <a:buChar char="§"/>
            </a:pPr>
            <a:r>
              <a:rPr lang="en-US" sz="2000" dirty="0">
                <a:latin typeface="Calibri" panose="020F0502020204030204" pitchFamily="34" charset="0"/>
              </a:rPr>
              <a:t>It is </a:t>
            </a:r>
            <a:r>
              <a:rPr lang="en-US" sz="2000" b="1" u="sng" dirty="0">
                <a:latin typeface="Calibri" panose="020F0502020204030204" pitchFamily="34" charset="0"/>
              </a:rPr>
              <a:t>performed at least once a month</a:t>
            </a:r>
            <a:r>
              <a:rPr lang="en-US" sz="2000" b="1" dirty="0">
                <a:latin typeface="Calibri" panose="020F0502020204030204" pitchFamily="34" charset="0"/>
              </a:rPr>
              <a:t> </a:t>
            </a:r>
            <a:r>
              <a:rPr lang="en-US" sz="2000" dirty="0">
                <a:latin typeface="Calibri" panose="020F0502020204030204" pitchFamily="34" charset="0"/>
              </a:rPr>
              <a:t>and is reviewed by management at an aggregate (product family) level.</a:t>
            </a: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4" name="Slide Number Placeholder 3"/>
          <p:cNvSpPr>
            <a:spLocks noGrp="1"/>
          </p:cNvSpPr>
          <p:nvPr>
            <p:ph type="sldNum" sz="quarter" idx="4"/>
          </p:nvPr>
        </p:nvSpPr>
        <p:spPr/>
        <p:txBody>
          <a:bodyPr/>
          <a:lstStyle/>
          <a:p>
            <a:fld id="{E66AA3EA-0569-43EF-BBA3-83FDB109D582}" type="slidenum">
              <a:rPr lang="en-US" smtClean="0"/>
              <a:pPr/>
              <a:t>7</a:t>
            </a:fld>
            <a:endParaRPr lang="en-US" dirty="0"/>
          </a:p>
        </p:txBody>
      </p:sp>
    </p:spTree>
    <p:extLst>
      <p:ext uri="{BB962C8B-B14F-4D97-AF65-F5344CB8AC3E}">
        <p14:creationId xmlns:p14="http://schemas.microsoft.com/office/powerpoint/2010/main" val="3878830869"/>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228600" y="127660"/>
            <a:ext cx="6727825"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Aggregate Production Plan </a:t>
            </a:r>
            <a:r>
              <a:rPr lang="en-US" altLang="en-US" sz="3200" b="0"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(APP) </a:t>
            </a:r>
            <a:endParaRPr lang="en-US" altLang="en-US" sz="3200" b="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endParaRPr>
          </a:p>
        </p:txBody>
      </p:sp>
      <p:sp>
        <p:nvSpPr>
          <p:cNvPr id="22531" name="Rectangle 3"/>
          <p:cNvSpPr>
            <a:spLocks noGrp="1" noChangeArrowheads="1"/>
          </p:cNvSpPr>
          <p:nvPr>
            <p:ph type="body" sz="half" idx="4294967295"/>
          </p:nvPr>
        </p:nvSpPr>
        <p:spPr>
          <a:xfrm>
            <a:off x="228600" y="1041401"/>
            <a:ext cx="8686800" cy="1295400"/>
          </a:xfrm>
        </p:spPr>
        <p:txBody>
          <a:bodyPr/>
          <a:lstStyle/>
          <a:p>
            <a:pPr marL="0" indent="0">
              <a:spcBef>
                <a:spcPts val="1200"/>
              </a:spcBef>
              <a:spcAft>
                <a:spcPts val="1800"/>
              </a:spcAft>
              <a:buFontTx/>
              <a:buNone/>
            </a:pPr>
            <a:r>
              <a:rPr lang="en-US" altLang="en-US" sz="2400" dirty="0">
                <a:latin typeface="Calibri" panose="020F0502020204030204" pitchFamily="34" charset="0"/>
                <a:ea typeface="ＭＳ Ｐゴシック" panose="020B0600070205080204" pitchFamily="34" charset="-128"/>
              </a:rPr>
              <a:t>Hierarchical planning process that translates annual business,  marketing plans, and demand forecasts into a production plan for a </a:t>
            </a:r>
            <a:r>
              <a:rPr lang="en-US" altLang="en-US" sz="2400" b="1" u="sng" dirty="0">
                <a:latin typeface="Calibri" panose="020F0502020204030204" pitchFamily="34" charset="0"/>
                <a:ea typeface="ＭＳ Ｐゴシック" panose="020B0600070205080204" pitchFamily="34" charset="-128"/>
              </a:rPr>
              <a:t>product</a:t>
            </a:r>
            <a:r>
              <a:rPr lang="en-US" altLang="en-US" sz="2400" b="1" dirty="0">
                <a:latin typeface="Calibri" panose="020F0502020204030204" pitchFamily="34" charset="0"/>
                <a:ea typeface="ＭＳ Ｐゴシック" panose="020B0600070205080204" pitchFamily="34" charset="-128"/>
              </a:rPr>
              <a:t> </a:t>
            </a:r>
            <a:r>
              <a:rPr lang="en-US" altLang="en-US" sz="2400" b="1" u="sng" dirty="0">
                <a:latin typeface="Calibri" panose="020F0502020204030204" pitchFamily="34" charset="0"/>
                <a:ea typeface="ＭＳ Ｐゴシック" panose="020B0600070205080204" pitchFamily="34" charset="-128"/>
              </a:rPr>
              <a:t>family</a:t>
            </a:r>
            <a:r>
              <a:rPr lang="en-US" altLang="en-US" sz="2400" dirty="0">
                <a:latin typeface="Calibri" panose="020F0502020204030204" pitchFamily="34" charset="0"/>
                <a:ea typeface="ＭＳ Ｐゴシック" panose="020B0600070205080204" pitchFamily="34" charset="-128"/>
              </a:rPr>
              <a:t>* in a plant or facility.</a:t>
            </a:r>
          </a:p>
        </p:txBody>
      </p:sp>
      <p:sp>
        <p:nvSpPr>
          <p:cNvPr id="6" name="Rectangle 3"/>
          <p:cNvSpPr txBox="1">
            <a:spLocks noChangeArrowheads="1"/>
          </p:cNvSpPr>
          <p:nvPr/>
        </p:nvSpPr>
        <p:spPr bwMode="auto">
          <a:xfrm>
            <a:off x="5926666" y="2548346"/>
            <a:ext cx="3115733" cy="3960188"/>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lvl1pPr marL="192088" indent="-192088" algn="l" rtl="0" eaLnBrk="0" fontAlgn="base" hangingPunct="0">
              <a:spcBef>
                <a:spcPct val="50000"/>
              </a:spcBef>
              <a:spcAft>
                <a:spcPct val="0"/>
              </a:spcAft>
              <a:buClr>
                <a:schemeClr val="tx1"/>
              </a:buClr>
              <a:buFont typeface="Symbol" pitchFamily="18" charset="2"/>
              <a:buChar char="·"/>
              <a:defRPr sz="2200">
                <a:solidFill>
                  <a:schemeClr val="tx1"/>
                </a:solidFill>
                <a:latin typeface="+mn-lt"/>
                <a:ea typeface="+mn-ea"/>
                <a:cs typeface="+mn-cs"/>
              </a:defRPr>
            </a:lvl1pPr>
            <a:lvl2pPr marL="568325" indent="-185738" algn="l" rtl="0" eaLnBrk="0" fontAlgn="base" hangingPunct="0">
              <a:spcBef>
                <a:spcPct val="50000"/>
              </a:spcBef>
              <a:spcAft>
                <a:spcPct val="0"/>
              </a:spcAft>
              <a:buClr>
                <a:schemeClr val="tx1"/>
              </a:buClr>
              <a:buFont typeface="Symbol" pitchFamily="18" charset="2"/>
              <a:buChar char="-"/>
              <a:defRPr>
                <a:solidFill>
                  <a:schemeClr val="tx1"/>
                </a:solidFill>
                <a:latin typeface="+mn-lt"/>
              </a:defRPr>
            </a:lvl2pPr>
            <a:lvl3pPr marL="855663" indent="-96838" algn="l" rtl="0" eaLnBrk="0" fontAlgn="base" hangingPunct="0">
              <a:spcBef>
                <a:spcPct val="50000"/>
              </a:spcBef>
              <a:spcAft>
                <a:spcPct val="0"/>
              </a:spcAft>
              <a:buClr>
                <a:schemeClr val="tx1"/>
              </a:buClr>
              <a:buChar char="•"/>
              <a:defRPr>
                <a:solidFill>
                  <a:schemeClr val="tx1"/>
                </a:solidFill>
                <a:latin typeface="+mn-lt"/>
              </a:defRPr>
            </a:lvl3pPr>
            <a:lvl4pPr marL="1981200" indent="-228600" algn="l" rtl="0" eaLnBrk="0" fontAlgn="base" hangingPunct="0">
              <a:spcBef>
                <a:spcPct val="50000"/>
              </a:spcBef>
              <a:spcAft>
                <a:spcPct val="0"/>
              </a:spcAft>
              <a:buChar char="–"/>
              <a:defRPr sz="1600">
                <a:solidFill>
                  <a:schemeClr val="bg1"/>
                </a:solidFill>
                <a:latin typeface="+mn-lt"/>
              </a:defRPr>
            </a:lvl4pPr>
            <a:lvl5pPr marL="2400300" indent="-228600" algn="l" rtl="0" eaLnBrk="0" fontAlgn="base" hangingPunct="0">
              <a:spcBef>
                <a:spcPct val="50000"/>
              </a:spcBef>
              <a:spcAft>
                <a:spcPct val="0"/>
              </a:spcAft>
              <a:buChar char="•"/>
              <a:defRPr sz="1400">
                <a:solidFill>
                  <a:schemeClr val="bg1"/>
                </a:solidFill>
                <a:latin typeface="+mn-lt"/>
              </a:defRPr>
            </a:lvl5pPr>
            <a:lvl6pPr marL="2857500" indent="-228600" algn="l" rtl="0" eaLnBrk="0" fontAlgn="base" hangingPunct="0">
              <a:spcBef>
                <a:spcPct val="50000"/>
              </a:spcBef>
              <a:spcAft>
                <a:spcPct val="0"/>
              </a:spcAft>
              <a:buChar char="•"/>
              <a:defRPr sz="1400">
                <a:solidFill>
                  <a:schemeClr val="bg1"/>
                </a:solidFill>
                <a:latin typeface="+mn-lt"/>
              </a:defRPr>
            </a:lvl6pPr>
            <a:lvl7pPr marL="3314700" indent="-228600" algn="l" rtl="0" eaLnBrk="0" fontAlgn="base" hangingPunct="0">
              <a:spcBef>
                <a:spcPct val="50000"/>
              </a:spcBef>
              <a:spcAft>
                <a:spcPct val="0"/>
              </a:spcAft>
              <a:buChar char="•"/>
              <a:defRPr sz="1400">
                <a:solidFill>
                  <a:schemeClr val="bg1"/>
                </a:solidFill>
                <a:latin typeface="+mn-lt"/>
              </a:defRPr>
            </a:lvl7pPr>
            <a:lvl8pPr marL="3771900" indent="-228600" algn="l" rtl="0" eaLnBrk="0" fontAlgn="base" hangingPunct="0">
              <a:spcBef>
                <a:spcPct val="50000"/>
              </a:spcBef>
              <a:spcAft>
                <a:spcPct val="0"/>
              </a:spcAft>
              <a:buChar char="•"/>
              <a:defRPr sz="1400">
                <a:solidFill>
                  <a:schemeClr val="bg1"/>
                </a:solidFill>
                <a:latin typeface="+mn-lt"/>
              </a:defRPr>
            </a:lvl8pPr>
            <a:lvl9pPr marL="4229100" indent="-228600" algn="l" rtl="0" eaLnBrk="0" fontAlgn="base" hangingPunct="0">
              <a:spcBef>
                <a:spcPct val="50000"/>
              </a:spcBef>
              <a:spcAft>
                <a:spcPct val="0"/>
              </a:spcAft>
              <a:buChar char="•"/>
              <a:defRPr sz="1400">
                <a:solidFill>
                  <a:schemeClr val="bg1"/>
                </a:solidFill>
                <a:latin typeface="+mn-lt"/>
              </a:defRPr>
            </a:lvl9pPr>
          </a:lstStyle>
          <a:p>
            <a:pPr marL="228600" lvl="1" indent="-228600">
              <a:spcBef>
                <a:spcPts val="1200"/>
              </a:spcBef>
              <a:spcAft>
                <a:spcPts val="1800"/>
              </a:spcAft>
              <a:buClr>
                <a:srgbClr val="923222"/>
              </a:buClr>
              <a:buSzPct val="110000"/>
              <a:buFont typeface="Wingdings" panose="05000000000000000000" pitchFamily="2" charset="2"/>
              <a:buChar char="§"/>
            </a:pPr>
            <a:r>
              <a:rPr lang="en-US" altLang="en-US" sz="2000" kern="0" dirty="0">
                <a:latin typeface="Calibri" panose="020F0502020204030204" pitchFamily="34" charset="0"/>
                <a:ea typeface="ＭＳ Ｐゴシック" panose="020B0600070205080204" pitchFamily="34" charset="-128"/>
              </a:rPr>
              <a:t>The planning horizon of APP is </a:t>
            </a:r>
            <a:r>
              <a:rPr lang="en-US" altLang="en-US" sz="2000" u="sng" kern="0" dirty="0">
                <a:latin typeface="Calibri" panose="020F0502020204030204" pitchFamily="34" charset="0"/>
                <a:ea typeface="ＭＳ Ｐゴシック" panose="020B0600070205080204" pitchFamily="34" charset="-128"/>
              </a:rPr>
              <a:t>at least one year </a:t>
            </a:r>
            <a:r>
              <a:rPr lang="en-US" altLang="en-US" sz="2000" kern="0" dirty="0">
                <a:latin typeface="Calibri" panose="020F0502020204030204" pitchFamily="34" charset="0"/>
                <a:ea typeface="ＭＳ Ｐゴシック" panose="020B0600070205080204" pitchFamily="34" charset="-128"/>
              </a:rPr>
              <a:t>and is usually </a:t>
            </a:r>
            <a:r>
              <a:rPr lang="en-US" altLang="en-US" sz="2000" b="1" kern="0"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rolled forward by</a:t>
            </a:r>
            <a:r>
              <a:rPr lang="en-US" altLang="en-US" sz="2000" kern="0" dirty="0">
                <a:latin typeface="Calibri" panose="020F0502020204030204" pitchFamily="34" charset="0"/>
                <a:ea typeface="ＭＳ Ｐゴシック" panose="020B0600070205080204" pitchFamily="34" charset="-128"/>
              </a:rPr>
              <a:t> </a:t>
            </a:r>
            <a:r>
              <a:rPr lang="en-US" altLang="en-US" sz="2000" b="1" kern="0"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three months every quarter</a:t>
            </a:r>
            <a:r>
              <a:rPr lang="en-US" altLang="en-US" sz="2000" kern="0" dirty="0">
                <a:latin typeface="Calibri" panose="020F0502020204030204" pitchFamily="34" charset="0"/>
                <a:ea typeface="ＭＳ Ｐゴシック" panose="020B0600070205080204" pitchFamily="34" charset="-128"/>
              </a:rPr>
              <a:t>.</a:t>
            </a:r>
          </a:p>
          <a:p>
            <a:pPr marL="228600" lvl="1" indent="-228600">
              <a:spcBef>
                <a:spcPts val="1200"/>
              </a:spcBef>
              <a:spcAft>
                <a:spcPts val="600"/>
              </a:spcAft>
              <a:buClr>
                <a:srgbClr val="923222"/>
              </a:buClr>
              <a:buSzPct val="110000"/>
              <a:buFont typeface="Wingdings" panose="05000000000000000000" pitchFamily="2" charset="2"/>
              <a:buChar char="§"/>
            </a:pPr>
            <a:r>
              <a:rPr lang="en-US" altLang="en-US" sz="2000" kern="0" dirty="0">
                <a:latin typeface="Calibri" panose="020F0502020204030204" pitchFamily="34" charset="0"/>
                <a:ea typeface="ＭＳ Ｐゴシック" panose="020B0600070205080204" pitchFamily="34" charset="-128"/>
              </a:rPr>
              <a:t>Includes those costs relevant to aggregate planning decisions: </a:t>
            </a:r>
          </a:p>
          <a:p>
            <a:pPr marL="573088" lvl="2" indent="-285750">
              <a:spcBef>
                <a:spcPts val="0"/>
              </a:spcBef>
              <a:spcAft>
                <a:spcPts val="1800"/>
              </a:spcAft>
              <a:buClr>
                <a:srgbClr val="923222"/>
              </a:buClr>
              <a:buSzPct val="110000"/>
              <a:buFont typeface="Calibri" panose="020F0502020204030204" pitchFamily="34" charset="0"/>
              <a:buChar char="—"/>
            </a:pPr>
            <a:r>
              <a:rPr lang="en-US" altLang="en-US" sz="1600" i="1" kern="0" dirty="0">
                <a:latin typeface="Calibri" panose="020F0502020204030204" pitchFamily="34" charset="0"/>
                <a:ea typeface="ＭＳ Ｐゴシック" panose="020B0600070205080204" pitchFamily="34" charset="-128"/>
              </a:rPr>
              <a:t>inventory, setup, machine operation, hiring, firing, training, and overtime costs.</a:t>
            </a:r>
          </a:p>
        </p:txBody>
      </p:sp>
      <p:sp>
        <p:nvSpPr>
          <p:cNvPr id="7" name="Rectangle 6"/>
          <p:cNvSpPr/>
          <p:nvPr/>
        </p:nvSpPr>
        <p:spPr bwMode="auto">
          <a:xfrm>
            <a:off x="228600" y="3563416"/>
            <a:ext cx="5571067" cy="2095189"/>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137160" rIns="91440" bIns="45720" numCol="1" rtlCol="0" anchor="t" anchorCtr="0" compatLnSpc="1">
            <a:prstTxWarp prst="textNoShape">
              <a:avLst/>
            </a:prstTxWarp>
          </a:bodyPr>
          <a:lstStyle/>
          <a:p>
            <a:pPr algn="ctr" eaLnBrk="0" hangingPunct="0"/>
            <a:r>
              <a:rPr lang="en-US" sz="1800" b="1" dirty="0">
                <a:effectLst>
                  <a:outerShdw blurRad="38100" dist="38100" dir="2700000" algn="tl">
                    <a:srgbClr val="000000">
                      <a:alpha val="43137"/>
                    </a:srgbClr>
                  </a:outerShdw>
                </a:effectLst>
                <a:latin typeface="News Gothic MT" pitchFamily="34" charset="0"/>
              </a:rPr>
              <a:t>Sales &amp; Operations Planning </a:t>
            </a:r>
            <a:r>
              <a:rPr lang="en-US" sz="1100" dirty="0">
                <a:effectLst>
                  <a:outerShdw blurRad="38100" dist="38100" dir="2700000" algn="tl">
                    <a:srgbClr val="000000">
                      <a:alpha val="43137"/>
                    </a:srgbClr>
                  </a:outerShdw>
                </a:effectLst>
                <a:latin typeface="News Gothic MT" pitchFamily="34" charset="0"/>
              </a:rPr>
              <a:t>(S&amp;OP)</a:t>
            </a:r>
          </a:p>
        </p:txBody>
      </p:sp>
      <p:sp>
        <p:nvSpPr>
          <p:cNvPr id="8" name="Rectangle 27"/>
          <p:cNvSpPr>
            <a:spLocks noChangeArrowheads="1"/>
          </p:cNvSpPr>
          <p:nvPr/>
        </p:nvSpPr>
        <p:spPr bwMode="auto">
          <a:xfrm>
            <a:off x="4589345" y="4124130"/>
            <a:ext cx="1048873" cy="461819"/>
          </a:xfrm>
          <a:prstGeom prst="rect">
            <a:avLst/>
          </a:prstGeom>
          <a:solidFill>
            <a:schemeClr val="accent1">
              <a:lumMod val="40000"/>
              <a:lumOff val="60000"/>
            </a:schemeClr>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100" b="1" dirty="0">
                <a:solidFill>
                  <a:prstClr val="black"/>
                </a:solidFill>
                <a:latin typeface="News Gothic MT" pitchFamily="34" charset="0"/>
              </a:rPr>
              <a:t>Demand </a:t>
            </a:r>
          </a:p>
          <a:p>
            <a:pPr algn="ctr" eaLnBrk="0" hangingPunct="0">
              <a:lnSpc>
                <a:spcPct val="80000"/>
              </a:lnSpc>
            </a:pPr>
            <a:r>
              <a:rPr lang="en-US" sz="1100" b="1" dirty="0">
                <a:solidFill>
                  <a:prstClr val="black"/>
                </a:solidFill>
                <a:latin typeface="News Gothic MT" pitchFamily="34" charset="0"/>
              </a:rPr>
              <a:t>Management</a:t>
            </a:r>
          </a:p>
        </p:txBody>
      </p:sp>
      <p:sp>
        <p:nvSpPr>
          <p:cNvPr id="9" name="Rectangle 37"/>
          <p:cNvSpPr>
            <a:spLocks noChangeArrowheads="1"/>
          </p:cNvSpPr>
          <p:nvPr/>
        </p:nvSpPr>
        <p:spPr bwMode="auto">
          <a:xfrm>
            <a:off x="4590819" y="5098669"/>
            <a:ext cx="1045927" cy="461819"/>
          </a:xfrm>
          <a:prstGeom prst="rect">
            <a:avLst/>
          </a:prstGeom>
          <a:solidFill>
            <a:schemeClr val="accent1">
              <a:lumMod val="40000"/>
              <a:lumOff val="60000"/>
            </a:schemeClr>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90000"/>
              </a:lnSpc>
            </a:pPr>
            <a:r>
              <a:rPr lang="en-US" sz="1100" b="1" dirty="0">
                <a:solidFill>
                  <a:prstClr val="black"/>
                </a:solidFill>
                <a:latin typeface="News Gothic MT" pitchFamily="34" charset="0"/>
              </a:rPr>
              <a:t>Supply </a:t>
            </a:r>
          </a:p>
          <a:p>
            <a:pPr algn="ctr" eaLnBrk="0" hangingPunct="0">
              <a:lnSpc>
                <a:spcPct val="90000"/>
              </a:lnSpc>
            </a:pPr>
            <a:r>
              <a:rPr lang="en-US" sz="1100" b="1" dirty="0">
                <a:solidFill>
                  <a:prstClr val="black"/>
                </a:solidFill>
                <a:latin typeface="News Gothic MT" pitchFamily="34" charset="0"/>
              </a:rPr>
              <a:t>Management</a:t>
            </a:r>
          </a:p>
        </p:txBody>
      </p:sp>
      <p:sp>
        <p:nvSpPr>
          <p:cNvPr id="10" name="Rectangle 70"/>
          <p:cNvSpPr>
            <a:spLocks noChangeArrowheads="1"/>
          </p:cNvSpPr>
          <p:nvPr/>
        </p:nvSpPr>
        <p:spPr bwMode="auto">
          <a:xfrm>
            <a:off x="2416673" y="2775281"/>
            <a:ext cx="1220714" cy="203201"/>
          </a:xfrm>
          <a:prstGeom prst="rect">
            <a:avLst/>
          </a:prstGeom>
          <a:noFill/>
          <a:ln w="12700">
            <a:noFill/>
            <a:miter lim="800000"/>
            <a:headEnd/>
            <a:tailEnd/>
          </a:ln>
          <a:effectLst/>
        </p:spPr>
        <p:txBody>
          <a:bodyPr wrap="square" lIns="0" tIns="0" rIns="0" bIns="0" anchor="ctr" anchorCtr="1">
            <a:noAutofit/>
          </a:bodyPr>
          <a:lstStyle/>
          <a:p>
            <a:pPr algn="ctr" eaLnBrk="0" hangingPunct="0">
              <a:lnSpc>
                <a:spcPct val="80000"/>
              </a:lnSpc>
            </a:pPr>
            <a:endParaRPr lang="en-US" sz="1000" b="1" dirty="0">
              <a:solidFill>
                <a:prstClr val="white"/>
              </a:solidFill>
              <a:latin typeface="News Gothic MT"/>
            </a:endParaRPr>
          </a:p>
        </p:txBody>
      </p:sp>
      <p:sp>
        <p:nvSpPr>
          <p:cNvPr id="11" name="Oval 72"/>
          <p:cNvSpPr>
            <a:spLocks noChangeArrowheads="1"/>
          </p:cNvSpPr>
          <p:nvPr/>
        </p:nvSpPr>
        <p:spPr bwMode="auto">
          <a:xfrm>
            <a:off x="4584230" y="2581258"/>
            <a:ext cx="1059105" cy="591249"/>
          </a:xfrm>
          <a:prstGeom prst="ellipse">
            <a:avLst/>
          </a:prstGeom>
          <a:solidFill>
            <a:schemeClr val="accent5"/>
          </a:solidFill>
          <a:ln w="12700">
            <a:solidFill>
              <a:srgbClr val="000000"/>
            </a:solidFill>
            <a:round/>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200" b="1" dirty="0">
                <a:solidFill>
                  <a:prstClr val="white"/>
                </a:solidFill>
                <a:effectLst>
                  <a:outerShdw blurRad="38100" dist="38100" dir="2700000" algn="tl">
                    <a:srgbClr val="000000">
                      <a:alpha val="43137"/>
                    </a:srgbClr>
                  </a:outerShdw>
                </a:effectLst>
                <a:latin typeface="News Gothic MT" pitchFamily="34" charset="0"/>
              </a:rPr>
              <a:t>Financial  </a:t>
            </a:r>
          </a:p>
          <a:p>
            <a:pPr algn="ctr" eaLnBrk="0" hangingPunct="0">
              <a:lnSpc>
                <a:spcPct val="80000"/>
              </a:lnSpc>
            </a:pPr>
            <a:r>
              <a:rPr lang="en-US" sz="1200" b="1" dirty="0">
                <a:solidFill>
                  <a:prstClr val="white"/>
                </a:solidFill>
                <a:effectLst>
                  <a:outerShdw blurRad="38100" dist="38100" dir="2700000" algn="tl">
                    <a:srgbClr val="000000">
                      <a:alpha val="43137"/>
                    </a:srgbClr>
                  </a:outerShdw>
                </a:effectLst>
                <a:latin typeface="News Gothic MT" pitchFamily="34" charset="0"/>
              </a:rPr>
              <a:t>Plans</a:t>
            </a:r>
          </a:p>
        </p:txBody>
      </p:sp>
      <p:sp>
        <p:nvSpPr>
          <p:cNvPr id="12" name="Oval 91"/>
          <p:cNvSpPr>
            <a:spLocks noChangeArrowheads="1"/>
          </p:cNvSpPr>
          <p:nvPr/>
        </p:nvSpPr>
        <p:spPr bwMode="auto">
          <a:xfrm>
            <a:off x="426925" y="2581258"/>
            <a:ext cx="1059105" cy="591249"/>
          </a:xfrm>
          <a:prstGeom prst="ellipse">
            <a:avLst/>
          </a:prstGeom>
          <a:solidFill>
            <a:schemeClr val="accent5"/>
          </a:solidFill>
          <a:ln w="12700">
            <a:solidFill>
              <a:srgbClr val="000000"/>
            </a:solidFill>
            <a:round/>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200" b="1" dirty="0">
                <a:solidFill>
                  <a:prstClr val="white"/>
                </a:solidFill>
                <a:effectLst>
                  <a:outerShdw blurRad="38100" dist="38100" dir="2700000" algn="tl">
                    <a:srgbClr val="000000">
                      <a:alpha val="43137"/>
                    </a:srgbClr>
                  </a:outerShdw>
                </a:effectLst>
                <a:latin typeface="News Gothic MT" pitchFamily="34" charset="0"/>
              </a:rPr>
              <a:t>Strategic  </a:t>
            </a:r>
          </a:p>
          <a:p>
            <a:pPr algn="ctr" eaLnBrk="0" hangingPunct="0">
              <a:lnSpc>
                <a:spcPct val="80000"/>
              </a:lnSpc>
            </a:pPr>
            <a:r>
              <a:rPr lang="en-US" sz="1200" b="1" dirty="0">
                <a:solidFill>
                  <a:prstClr val="white"/>
                </a:solidFill>
                <a:effectLst>
                  <a:outerShdw blurRad="38100" dist="38100" dir="2700000" algn="tl">
                    <a:srgbClr val="000000">
                      <a:alpha val="43137"/>
                    </a:srgbClr>
                  </a:outerShdw>
                </a:effectLst>
                <a:latin typeface="News Gothic MT" pitchFamily="34" charset="0"/>
              </a:rPr>
              <a:t>Plans</a:t>
            </a:r>
          </a:p>
        </p:txBody>
      </p:sp>
      <p:cxnSp>
        <p:nvCxnSpPr>
          <p:cNvPr id="13" name="Straight Connector 12"/>
          <p:cNvCxnSpPr>
            <a:stCxn id="23" idx="2"/>
            <a:endCxn id="7" idx="0"/>
          </p:cNvCxnSpPr>
          <p:nvPr/>
        </p:nvCxnSpPr>
        <p:spPr bwMode="auto">
          <a:xfrm>
            <a:off x="3014133" y="3124200"/>
            <a:ext cx="1" cy="439216"/>
          </a:xfrm>
          <a:prstGeom prst="line">
            <a:avLst/>
          </a:prstGeom>
          <a:solidFill>
            <a:schemeClr val="accent1"/>
          </a:solidFill>
          <a:ln w="76200" cap="flat" cmpd="sng" algn="ctr">
            <a:solidFill>
              <a:schemeClr val="tx1"/>
            </a:solidFill>
            <a:prstDash val="solid"/>
            <a:round/>
            <a:headEnd type="none" w="med" len="med"/>
            <a:tailEnd type="triangle" w="sm" len="sm"/>
          </a:ln>
          <a:effectLst>
            <a:outerShdw blurRad="50800" dist="38100" dir="2700000" algn="tl" rotWithShape="0">
              <a:prstClr val="black">
                <a:alpha val="40000"/>
              </a:prstClr>
            </a:outerShdw>
          </a:effectLst>
        </p:spPr>
      </p:cxnSp>
      <p:cxnSp>
        <p:nvCxnSpPr>
          <p:cNvPr id="14" name="Straight Connector 13"/>
          <p:cNvCxnSpPr>
            <a:stCxn id="12" idx="6"/>
            <a:endCxn id="23" idx="1"/>
          </p:cNvCxnSpPr>
          <p:nvPr/>
        </p:nvCxnSpPr>
        <p:spPr bwMode="auto">
          <a:xfrm flipV="1">
            <a:off x="1486030" y="2876882"/>
            <a:ext cx="331304" cy="1"/>
          </a:xfrm>
          <a:prstGeom prst="line">
            <a:avLst/>
          </a:prstGeom>
          <a:solidFill>
            <a:schemeClr val="accent1"/>
          </a:solidFill>
          <a:ln w="28575" cap="flat" cmpd="sng" algn="ctr">
            <a:solidFill>
              <a:schemeClr val="tx1"/>
            </a:solidFill>
            <a:prstDash val="solid"/>
            <a:round/>
            <a:headEnd type="triangle" w="med" len="med"/>
            <a:tailEnd type="triangle" w="med" len="med"/>
          </a:ln>
          <a:effectLst/>
        </p:spPr>
      </p:cxnSp>
      <p:sp>
        <p:nvSpPr>
          <p:cNvPr id="15" name="Rectangle 41"/>
          <p:cNvSpPr>
            <a:spLocks noChangeArrowheads="1"/>
          </p:cNvSpPr>
          <p:nvPr/>
        </p:nvSpPr>
        <p:spPr bwMode="auto">
          <a:xfrm>
            <a:off x="375866" y="4498331"/>
            <a:ext cx="1161222" cy="744923"/>
          </a:xfrm>
          <a:prstGeom prst="rect">
            <a:avLst/>
          </a:prstGeom>
          <a:solidFill>
            <a:schemeClr val="accent1"/>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100" b="1" dirty="0">
                <a:solidFill>
                  <a:srgbClr val="000000"/>
                </a:solidFill>
                <a:latin typeface="News Gothic MT" pitchFamily="34" charset="0"/>
              </a:rPr>
              <a:t>Resource </a:t>
            </a:r>
          </a:p>
          <a:p>
            <a:pPr algn="ctr" eaLnBrk="0" hangingPunct="0">
              <a:lnSpc>
                <a:spcPct val="80000"/>
              </a:lnSpc>
            </a:pPr>
            <a:r>
              <a:rPr lang="en-US" sz="1100" b="1" dirty="0">
                <a:solidFill>
                  <a:srgbClr val="000000"/>
                </a:solidFill>
                <a:latin typeface="News Gothic MT" pitchFamily="34" charset="0"/>
              </a:rPr>
              <a:t>Requirements </a:t>
            </a:r>
          </a:p>
          <a:p>
            <a:pPr algn="ctr" eaLnBrk="0" hangingPunct="0">
              <a:lnSpc>
                <a:spcPct val="80000"/>
              </a:lnSpc>
            </a:pPr>
            <a:r>
              <a:rPr lang="en-US" sz="1100" b="1" dirty="0">
                <a:solidFill>
                  <a:srgbClr val="000000"/>
                </a:solidFill>
                <a:latin typeface="News Gothic MT" pitchFamily="34" charset="0"/>
              </a:rPr>
              <a:t>Planning</a:t>
            </a:r>
            <a:r>
              <a:rPr lang="en-US" sz="1000" b="1" dirty="0">
                <a:solidFill>
                  <a:srgbClr val="000000"/>
                </a:solidFill>
                <a:latin typeface="News Gothic MT" pitchFamily="34" charset="0"/>
              </a:rPr>
              <a:t> </a:t>
            </a:r>
            <a:r>
              <a:rPr lang="en-US" sz="1000" dirty="0">
                <a:solidFill>
                  <a:srgbClr val="000000"/>
                </a:solidFill>
                <a:latin typeface="News Gothic MT" pitchFamily="34" charset="0"/>
              </a:rPr>
              <a:t>(RRP)</a:t>
            </a:r>
            <a:endParaRPr lang="en-US" sz="1100" dirty="0">
              <a:solidFill>
                <a:srgbClr val="000000"/>
              </a:solidFill>
              <a:latin typeface="News Gothic MT" pitchFamily="34" charset="0"/>
            </a:endParaRPr>
          </a:p>
        </p:txBody>
      </p:sp>
      <p:cxnSp>
        <p:nvCxnSpPr>
          <p:cNvPr id="16" name="Straight Arrow Connector 15"/>
          <p:cNvCxnSpPr>
            <a:stCxn id="15" idx="3"/>
            <a:endCxn id="24" idx="1"/>
          </p:cNvCxnSpPr>
          <p:nvPr/>
        </p:nvCxnSpPr>
        <p:spPr bwMode="auto">
          <a:xfrm>
            <a:off x="1537088" y="4870792"/>
            <a:ext cx="301242" cy="1"/>
          </a:xfrm>
          <a:prstGeom prst="straightConnector1">
            <a:avLst/>
          </a:prstGeom>
          <a:solidFill>
            <a:schemeClr val="accent1"/>
          </a:solidFill>
          <a:ln w="28575" cap="flat" cmpd="sng" algn="ctr">
            <a:solidFill>
              <a:schemeClr val="tx1"/>
            </a:solidFill>
            <a:prstDash val="sysDot"/>
            <a:round/>
            <a:headEnd type="triangle"/>
            <a:tailEnd type="triangle"/>
          </a:ln>
          <a:effectLst/>
        </p:spPr>
      </p:cxnSp>
      <p:cxnSp>
        <p:nvCxnSpPr>
          <p:cNvPr id="17" name="Straight Connector 16"/>
          <p:cNvCxnSpPr>
            <a:stCxn id="23" idx="3"/>
            <a:endCxn id="11" idx="2"/>
          </p:cNvCxnSpPr>
          <p:nvPr/>
        </p:nvCxnSpPr>
        <p:spPr bwMode="auto">
          <a:xfrm>
            <a:off x="4210934" y="2876882"/>
            <a:ext cx="373297" cy="1"/>
          </a:xfrm>
          <a:prstGeom prst="line">
            <a:avLst/>
          </a:prstGeom>
          <a:solidFill>
            <a:schemeClr val="accent1"/>
          </a:solidFill>
          <a:ln w="28575" cap="flat" cmpd="sng" algn="ctr">
            <a:solidFill>
              <a:schemeClr val="tx1"/>
            </a:solidFill>
            <a:prstDash val="solid"/>
            <a:round/>
            <a:headEnd type="triangle" w="med" len="med"/>
            <a:tailEnd type="triangle" w="med" len="med"/>
          </a:ln>
          <a:effectLst/>
        </p:spPr>
      </p:cxnSp>
      <p:cxnSp>
        <p:nvCxnSpPr>
          <p:cNvPr id="19" name="Straight Arrow Connector 18"/>
          <p:cNvCxnSpPr>
            <a:stCxn id="8" idx="1"/>
            <a:endCxn id="24" idx="3"/>
          </p:cNvCxnSpPr>
          <p:nvPr/>
        </p:nvCxnSpPr>
        <p:spPr bwMode="auto">
          <a:xfrm flipH="1">
            <a:off x="4231930" y="4355040"/>
            <a:ext cx="357415" cy="515754"/>
          </a:xfrm>
          <a:prstGeom prst="straightConnector1">
            <a:avLst/>
          </a:prstGeom>
          <a:solidFill>
            <a:schemeClr val="accent1"/>
          </a:solidFill>
          <a:ln w="28575" cap="flat" cmpd="sng" algn="ctr">
            <a:solidFill>
              <a:schemeClr val="tx1"/>
            </a:solidFill>
            <a:prstDash val="solid"/>
            <a:round/>
            <a:headEnd type="triangle"/>
            <a:tailEnd type="triangle"/>
          </a:ln>
          <a:effectLst>
            <a:outerShdw blurRad="50800" dist="38100" dir="2700000" algn="tl" rotWithShape="0">
              <a:prstClr val="black">
                <a:alpha val="40000"/>
              </a:prstClr>
            </a:outerShdw>
          </a:effectLst>
        </p:spPr>
      </p:cxnSp>
      <p:cxnSp>
        <p:nvCxnSpPr>
          <p:cNvPr id="20" name="Straight Arrow Connector 19"/>
          <p:cNvCxnSpPr>
            <a:stCxn id="9" idx="1"/>
            <a:endCxn id="24" idx="3"/>
          </p:cNvCxnSpPr>
          <p:nvPr/>
        </p:nvCxnSpPr>
        <p:spPr bwMode="auto">
          <a:xfrm flipH="1" flipV="1">
            <a:off x="4231930" y="4870794"/>
            <a:ext cx="358889" cy="458785"/>
          </a:xfrm>
          <a:prstGeom prst="straightConnector1">
            <a:avLst/>
          </a:prstGeom>
          <a:solidFill>
            <a:schemeClr val="accent1"/>
          </a:solidFill>
          <a:ln w="28575" cap="flat" cmpd="sng" algn="ctr">
            <a:solidFill>
              <a:schemeClr val="tx1"/>
            </a:solidFill>
            <a:prstDash val="solid"/>
            <a:round/>
            <a:headEnd type="triangle"/>
            <a:tailEnd type="triangle"/>
          </a:ln>
          <a:effectLst>
            <a:outerShdw blurRad="50800" dist="38100" dir="2700000" algn="tl" rotWithShape="0">
              <a:prstClr val="black">
                <a:alpha val="40000"/>
              </a:prstClr>
            </a:outerShdw>
          </a:effectLst>
        </p:spPr>
      </p:cxnSp>
      <p:cxnSp>
        <p:nvCxnSpPr>
          <p:cNvPr id="21" name="Straight Arrow Connector 20"/>
          <p:cNvCxnSpPr>
            <a:stCxn id="9" idx="0"/>
            <a:endCxn id="8" idx="2"/>
          </p:cNvCxnSpPr>
          <p:nvPr/>
        </p:nvCxnSpPr>
        <p:spPr bwMode="auto">
          <a:xfrm flipV="1">
            <a:off x="5113783" y="4585949"/>
            <a:ext cx="0" cy="512720"/>
          </a:xfrm>
          <a:prstGeom prst="straightConnector1">
            <a:avLst/>
          </a:prstGeom>
          <a:solidFill>
            <a:schemeClr val="accent1"/>
          </a:solidFill>
          <a:ln w="28575" cap="flat" cmpd="sng" algn="ctr">
            <a:solidFill>
              <a:schemeClr val="tx1"/>
            </a:solidFill>
            <a:prstDash val="solid"/>
            <a:round/>
            <a:headEnd type="triangle"/>
            <a:tailEnd type="triangle"/>
          </a:ln>
          <a:effectLst>
            <a:outerShdw blurRad="50800" dist="38100" dir="2700000" algn="tl" rotWithShape="0">
              <a:prstClr val="black">
                <a:alpha val="40000"/>
              </a:prstClr>
            </a:outerShdw>
          </a:effectLst>
        </p:spPr>
      </p:cxnSp>
      <p:sp>
        <p:nvSpPr>
          <p:cNvPr id="23" name="Rectangle 69"/>
          <p:cNvSpPr>
            <a:spLocks noChangeArrowheads="1"/>
          </p:cNvSpPr>
          <p:nvPr/>
        </p:nvSpPr>
        <p:spPr bwMode="auto">
          <a:xfrm>
            <a:off x="1817333" y="2629563"/>
            <a:ext cx="2393600" cy="494637"/>
          </a:xfrm>
          <a:prstGeom prst="rect">
            <a:avLst/>
          </a:prstGeom>
          <a:solidFill>
            <a:schemeClr val="accent4"/>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200" b="1" dirty="0">
                <a:solidFill>
                  <a:prstClr val="white"/>
                </a:solidFill>
                <a:effectLst>
                  <a:outerShdw blurRad="38100" dist="38100" dir="2700000" algn="tl">
                    <a:srgbClr val="000000">
                      <a:alpha val="43137"/>
                    </a:srgbClr>
                  </a:outerShdw>
                </a:effectLst>
                <a:latin typeface="News Gothic MT" pitchFamily="34" charset="0"/>
              </a:rPr>
              <a:t>Business Planning</a:t>
            </a:r>
          </a:p>
        </p:txBody>
      </p:sp>
      <p:sp>
        <p:nvSpPr>
          <p:cNvPr id="24" name="Rectangle 52"/>
          <p:cNvSpPr>
            <a:spLocks noChangeArrowheads="1"/>
          </p:cNvSpPr>
          <p:nvPr/>
        </p:nvSpPr>
        <p:spPr bwMode="auto">
          <a:xfrm>
            <a:off x="1838330" y="4611011"/>
            <a:ext cx="2393600" cy="519564"/>
          </a:xfrm>
          <a:prstGeom prst="rect">
            <a:avLst/>
          </a:prstGeom>
          <a:solidFill>
            <a:schemeClr val="accent3"/>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200" b="1" dirty="0">
                <a:solidFill>
                  <a:schemeClr val="bg1"/>
                </a:solidFill>
                <a:effectLst>
                  <a:outerShdw blurRad="38100" dist="38100" dir="2700000" algn="tl">
                    <a:srgbClr val="000000">
                      <a:alpha val="43137"/>
                    </a:srgbClr>
                  </a:outerShdw>
                </a:effectLst>
                <a:latin typeface="News Gothic MT" pitchFamily="34" charset="0"/>
              </a:rPr>
              <a:t>Aggregate Production </a:t>
            </a:r>
          </a:p>
          <a:p>
            <a:pPr algn="ctr" eaLnBrk="0" hangingPunct="0">
              <a:lnSpc>
                <a:spcPct val="80000"/>
              </a:lnSpc>
            </a:pPr>
            <a:r>
              <a:rPr lang="en-US" sz="1200" b="1" dirty="0">
                <a:solidFill>
                  <a:schemeClr val="bg1"/>
                </a:solidFill>
                <a:effectLst>
                  <a:outerShdw blurRad="38100" dist="38100" dir="2700000" algn="tl">
                    <a:srgbClr val="000000">
                      <a:alpha val="43137"/>
                    </a:srgbClr>
                  </a:outerShdw>
                </a:effectLst>
                <a:latin typeface="News Gothic MT" pitchFamily="34" charset="0"/>
              </a:rPr>
              <a:t>Planning </a:t>
            </a:r>
            <a:r>
              <a:rPr lang="en-US" sz="1050" dirty="0">
                <a:solidFill>
                  <a:schemeClr val="bg1"/>
                </a:solidFill>
                <a:effectLst>
                  <a:outerShdw blurRad="38100" dist="38100" dir="2700000" algn="tl">
                    <a:srgbClr val="000000">
                      <a:alpha val="43137"/>
                    </a:srgbClr>
                  </a:outerShdw>
                </a:effectLst>
                <a:latin typeface="News Gothic MT" pitchFamily="34" charset="0"/>
              </a:rPr>
              <a:t>(APP)</a:t>
            </a:r>
          </a:p>
        </p:txBody>
      </p:sp>
      <p:sp>
        <p:nvSpPr>
          <p:cNvPr id="2" name="Rectangle 1"/>
          <p:cNvSpPr/>
          <p:nvPr/>
        </p:nvSpPr>
        <p:spPr>
          <a:xfrm>
            <a:off x="762000" y="6217735"/>
            <a:ext cx="8153400" cy="369332"/>
          </a:xfrm>
          <a:prstGeom prst="rect">
            <a:avLst/>
          </a:prstGeom>
        </p:spPr>
        <p:txBody>
          <a:bodyPr wrap="square">
            <a:spAutoFit/>
          </a:bodyPr>
          <a:lstStyle/>
          <a:p>
            <a:r>
              <a:rPr lang="en-US" altLang="en-US" sz="1800" i="1" dirty="0">
                <a:latin typeface="Calibri" panose="020F0502020204030204" pitchFamily="34" charset="0"/>
                <a:ea typeface="ＭＳ Ｐゴシック" panose="020B0600070205080204" pitchFamily="34" charset="-128"/>
              </a:rPr>
              <a:t>* Product Family = products that share similar characteristics </a:t>
            </a:r>
            <a:endParaRPr lang="en-US" sz="1800" i="1" dirty="0"/>
          </a:p>
        </p:txBody>
      </p:sp>
      <p:sp>
        <p:nvSpPr>
          <p:cNvPr id="3" name="Footer Placeholder 2"/>
          <p:cNvSpPr>
            <a:spLocks noGrp="1"/>
          </p:cNvSpPr>
          <p:nvPr>
            <p:ph type="ftr" sz="quarter" idx="3"/>
          </p:nvPr>
        </p:nvSpPr>
        <p:spPr/>
        <p:txBody>
          <a:bodyPr/>
          <a:lstStyle/>
          <a:p>
            <a:r>
              <a:rPr lang="en-US"/>
              <a:t>Fundamentals of Supply Chain Management – McLaury/Spiegle</a:t>
            </a:r>
            <a:endParaRPr lang="en-US" dirty="0"/>
          </a:p>
        </p:txBody>
      </p:sp>
      <p:sp>
        <p:nvSpPr>
          <p:cNvPr id="4" name="Slide Number Placeholder 3"/>
          <p:cNvSpPr>
            <a:spLocks noGrp="1"/>
          </p:cNvSpPr>
          <p:nvPr>
            <p:ph type="sldNum" sz="quarter" idx="4"/>
          </p:nvPr>
        </p:nvSpPr>
        <p:spPr/>
        <p:txBody>
          <a:bodyPr/>
          <a:lstStyle/>
          <a:p>
            <a:fld id="{E66AA3EA-0569-43EF-BBA3-83FDB109D582}" type="slidenum">
              <a:rPr lang="en-US" smtClean="0"/>
              <a:pPr/>
              <a:t>8</a:t>
            </a:fld>
            <a:endParaRPr lang="en-US" dirty="0"/>
          </a:p>
        </p:txBody>
      </p:sp>
    </p:spTree>
    <p:extLst>
      <p:ext uri="{BB962C8B-B14F-4D97-AF65-F5344CB8AC3E}">
        <p14:creationId xmlns:p14="http://schemas.microsoft.com/office/powerpoint/2010/main" val="2620793958"/>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 calcmode="lin" valueType="num">
                                      <p:cBhvr additive="base">
                                        <p:cTn id="7" dur="500" fill="hold"/>
                                        <p:tgtEl>
                                          <p:spTgt spid="225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 calcmode="lin" valueType="num">
                                      <p:cBhvr additive="base">
                                        <p:cTn id="1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 calcmode="lin" valueType="num">
                                      <p:cBhvr additive="base">
                                        <p:cTn id="2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0354" name="Rectangle 2"/>
          <p:cNvSpPr>
            <a:spLocks noGrp="1" noChangeArrowheads="1"/>
          </p:cNvSpPr>
          <p:nvPr>
            <p:ph type="body" idx="1"/>
          </p:nvPr>
        </p:nvSpPr>
        <p:spPr>
          <a:xfrm>
            <a:off x="228600" y="2667000"/>
            <a:ext cx="4572000" cy="4114800"/>
          </a:xfrm>
          <a:noFill/>
          <a:ln/>
        </p:spPr>
        <p:txBody>
          <a:bodyPr lIns="90475" tIns="44444" rIns="90475" bIns="44444"/>
          <a:lstStyle/>
          <a:p>
            <a:pPr marL="347663" indent="-347663">
              <a:buClr>
                <a:srgbClr val="923222"/>
              </a:buClr>
              <a:buSzPct val="115000"/>
              <a:buFont typeface="Wingdings" panose="05000000000000000000" pitchFamily="2" charset="2"/>
              <a:buChar char="§"/>
            </a:pPr>
            <a:r>
              <a:rPr lang="en-US" sz="2400" dirty="0">
                <a:latin typeface="Calibri" panose="020F0502020204030204" pitchFamily="34" charset="0"/>
              </a:rPr>
              <a:t>Meet demand</a:t>
            </a:r>
          </a:p>
          <a:p>
            <a:pPr marL="347663" indent="-347663">
              <a:buClr>
                <a:srgbClr val="923222"/>
              </a:buClr>
              <a:buSzPct val="115000"/>
              <a:buFont typeface="Wingdings" panose="05000000000000000000" pitchFamily="2" charset="2"/>
              <a:buChar char="§"/>
            </a:pPr>
            <a:r>
              <a:rPr lang="en-US" sz="2400" dirty="0">
                <a:latin typeface="Calibri" panose="020F0502020204030204" pitchFamily="34" charset="0"/>
              </a:rPr>
              <a:t>Use capacity efficiently</a:t>
            </a:r>
          </a:p>
          <a:p>
            <a:pPr marL="347663" indent="-347663">
              <a:buClr>
                <a:srgbClr val="923222"/>
              </a:buClr>
              <a:buSzPct val="115000"/>
              <a:buFont typeface="Wingdings" panose="05000000000000000000" pitchFamily="2" charset="2"/>
              <a:buChar char="§"/>
            </a:pPr>
            <a:r>
              <a:rPr lang="en-US" sz="2400" dirty="0">
                <a:latin typeface="Calibri" panose="020F0502020204030204" pitchFamily="34" charset="0"/>
              </a:rPr>
              <a:t>Meet inventory policy</a:t>
            </a:r>
          </a:p>
          <a:p>
            <a:pPr marL="347663" indent="-347663">
              <a:buClr>
                <a:srgbClr val="923222"/>
              </a:buClr>
              <a:buSzPct val="115000"/>
              <a:buFont typeface="Wingdings" panose="05000000000000000000" pitchFamily="2" charset="2"/>
              <a:buChar char="§"/>
            </a:pPr>
            <a:r>
              <a:rPr lang="en-US" sz="2400" dirty="0">
                <a:latin typeface="Calibri" panose="020F0502020204030204" pitchFamily="34" charset="0"/>
              </a:rPr>
              <a:t>Minimize cost:</a:t>
            </a:r>
          </a:p>
          <a:p>
            <a:pPr marL="804863" lvl="1" indent="-347663">
              <a:buClr>
                <a:srgbClr val="923222"/>
              </a:buClr>
              <a:buFontTx/>
              <a:buChar char="–"/>
            </a:pPr>
            <a:r>
              <a:rPr lang="en-US" sz="2000" dirty="0">
                <a:latin typeface="Calibri" panose="020F0502020204030204" pitchFamily="34" charset="0"/>
              </a:rPr>
              <a:t>Labor</a:t>
            </a:r>
          </a:p>
          <a:p>
            <a:pPr marL="804863" lvl="1" indent="-347663">
              <a:buClr>
                <a:srgbClr val="923222"/>
              </a:buClr>
              <a:buFontTx/>
              <a:buChar char="–"/>
            </a:pPr>
            <a:r>
              <a:rPr lang="en-US" sz="2000" dirty="0">
                <a:latin typeface="Calibri" panose="020F0502020204030204" pitchFamily="34" charset="0"/>
              </a:rPr>
              <a:t>Inventory</a:t>
            </a:r>
          </a:p>
          <a:p>
            <a:pPr marL="804863" lvl="1" indent="-347663">
              <a:buClr>
                <a:srgbClr val="923222"/>
              </a:buClr>
              <a:buFontTx/>
              <a:buChar char="–"/>
            </a:pPr>
            <a:r>
              <a:rPr lang="en-US" sz="2000" dirty="0">
                <a:latin typeface="Calibri" panose="020F0502020204030204" pitchFamily="34" charset="0"/>
              </a:rPr>
              <a:t>Plant and Equipment</a:t>
            </a:r>
          </a:p>
          <a:p>
            <a:pPr marL="804863" lvl="1" indent="-347663">
              <a:buClr>
                <a:srgbClr val="923222"/>
              </a:buClr>
              <a:buFontTx/>
              <a:buChar char="–"/>
            </a:pPr>
            <a:r>
              <a:rPr lang="en-US" sz="2000" dirty="0">
                <a:latin typeface="Calibri" panose="020F0502020204030204" pitchFamily="34" charset="0"/>
              </a:rPr>
              <a:t>Subcontract</a:t>
            </a:r>
          </a:p>
        </p:txBody>
      </p:sp>
      <p:sp>
        <p:nvSpPr>
          <p:cNvPr id="2660356" name="Rectangle 4"/>
          <p:cNvSpPr>
            <a:spLocks noGrp="1" noChangeArrowheads="1"/>
          </p:cNvSpPr>
          <p:nvPr>
            <p:ph type="title"/>
          </p:nvPr>
        </p:nvSpPr>
        <p:spPr>
          <a:xfrm>
            <a:off x="228600" y="127660"/>
            <a:ext cx="822960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Aggregate Planning - Purpose and Goals</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4067" y="2455823"/>
            <a:ext cx="4741333" cy="4325977"/>
          </a:xfrm>
          <a:prstGeom prst="rect">
            <a:avLst/>
          </a:prstGeom>
        </p:spPr>
      </p:pic>
      <p:sp>
        <p:nvSpPr>
          <p:cNvPr id="4" name="Rectangle 3"/>
          <p:cNvSpPr/>
          <p:nvPr/>
        </p:nvSpPr>
        <p:spPr>
          <a:xfrm>
            <a:off x="228600" y="914400"/>
            <a:ext cx="8686800" cy="1569660"/>
          </a:xfrm>
          <a:prstGeom prst="rect">
            <a:avLst/>
          </a:prstGeom>
        </p:spPr>
        <p:txBody>
          <a:bodyPr wrap="square">
            <a:spAutoFit/>
          </a:bodyPr>
          <a:lstStyle/>
          <a:p>
            <a:r>
              <a:rPr lang="en-US" dirty="0">
                <a:latin typeface="Calibri" panose="020F0502020204030204" pitchFamily="34" charset="0"/>
              </a:rPr>
              <a:t>Primary purpose is to </a:t>
            </a:r>
            <a:r>
              <a:rPr lang="en-US" dirty="0">
                <a:solidFill>
                  <a:srgbClr val="923222"/>
                </a:solidFill>
                <a:effectLst>
                  <a:outerShdw blurRad="38100" dist="38100" dir="2700000" algn="tl">
                    <a:srgbClr val="000000">
                      <a:alpha val="43137"/>
                    </a:srgbClr>
                  </a:outerShdw>
                </a:effectLst>
                <a:latin typeface="Calibri" panose="020F0502020204030204" pitchFamily="34" charset="0"/>
              </a:rPr>
              <a:t>establish production rates </a:t>
            </a:r>
            <a:r>
              <a:rPr lang="en-US" dirty="0">
                <a:latin typeface="Calibri" panose="020F0502020204030204" pitchFamily="34" charset="0"/>
              </a:rPr>
              <a:t>that will achieve management’s objective of satisfying customer demand by </a:t>
            </a:r>
            <a:r>
              <a:rPr lang="en-US" dirty="0">
                <a:solidFill>
                  <a:srgbClr val="923222"/>
                </a:solidFill>
                <a:effectLst>
                  <a:outerShdw blurRad="38100" dist="38100" dir="2700000" algn="tl">
                    <a:srgbClr val="000000">
                      <a:alpha val="43137"/>
                    </a:srgbClr>
                  </a:outerShdw>
                </a:effectLst>
                <a:latin typeface="Calibri" panose="020F0502020204030204" pitchFamily="34" charset="0"/>
              </a:rPr>
              <a:t>maintaining</a:t>
            </a:r>
            <a:r>
              <a:rPr lang="en-US" dirty="0">
                <a:latin typeface="Calibri" panose="020F0502020204030204" pitchFamily="34" charset="0"/>
              </a:rPr>
              <a:t>, </a:t>
            </a:r>
            <a:r>
              <a:rPr lang="en-US" dirty="0">
                <a:solidFill>
                  <a:srgbClr val="923222"/>
                </a:solidFill>
                <a:effectLst>
                  <a:outerShdw blurRad="38100" dist="38100" dir="2700000" algn="tl">
                    <a:srgbClr val="000000">
                      <a:alpha val="43137"/>
                    </a:srgbClr>
                  </a:outerShdw>
                </a:effectLst>
                <a:latin typeface="Calibri" panose="020F0502020204030204" pitchFamily="34" charset="0"/>
              </a:rPr>
              <a:t>raising</a:t>
            </a:r>
            <a:r>
              <a:rPr lang="en-US" dirty="0">
                <a:latin typeface="Calibri" panose="020F0502020204030204" pitchFamily="34" charset="0"/>
              </a:rPr>
              <a:t>, or </a:t>
            </a:r>
            <a:r>
              <a:rPr lang="en-US" dirty="0">
                <a:solidFill>
                  <a:srgbClr val="923222"/>
                </a:solidFill>
                <a:effectLst>
                  <a:outerShdw blurRad="38100" dist="38100" dir="2700000" algn="tl">
                    <a:srgbClr val="000000">
                      <a:alpha val="43137"/>
                    </a:srgbClr>
                  </a:outerShdw>
                </a:effectLst>
                <a:latin typeface="Calibri" panose="020F0502020204030204" pitchFamily="34" charset="0"/>
              </a:rPr>
              <a:t>lowering inventories</a:t>
            </a:r>
            <a:r>
              <a:rPr lang="en-US" dirty="0">
                <a:latin typeface="Calibri" panose="020F0502020204030204" pitchFamily="34" charset="0"/>
              </a:rPr>
              <a:t>, while attempting to keep the </a:t>
            </a:r>
            <a:r>
              <a:rPr lang="en-US" dirty="0">
                <a:solidFill>
                  <a:srgbClr val="923222"/>
                </a:solidFill>
                <a:effectLst>
                  <a:outerShdw blurRad="38100" dist="38100" dir="2700000" algn="tl">
                    <a:srgbClr val="000000">
                      <a:alpha val="43137"/>
                    </a:srgbClr>
                  </a:outerShdw>
                </a:effectLst>
                <a:latin typeface="Calibri" panose="020F0502020204030204" pitchFamily="34" charset="0"/>
              </a:rPr>
              <a:t>workforce relatively stable</a:t>
            </a:r>
            <a:r>
              <a:rPr lang="en-US" dirty="0">
                <a:latin typeface="Calibri" panose="020F0502020204030204" pitchFamily="34" charset="0"/>
              </a:rPr>
              <a:t>. </a:t>
            </a: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5" name="Slide Number Placeholder 4"/>
          <p:cNvSpPr>
            <a:spLocks noGrp="1"/>
          </p:cNvSpPr>
          <p:nvPr>
            <p:ph type="sldNum" sz="quarter" idx="4"/>
          </p:nvPr>
        </p:nvSpPr>
        <p:spPr/>
        <p:txBody>
          <a:bodyPr/>
          <a:lstStyle/>
          <a:p>
            <a:fld id="{E66AA3EA-0569-43EF-BBA3-83FDB109D582}" type="slidenum">
              <a:rPr lang="en-US" smtClean="0"/>
              <a:pPr/>
              <a:t>9</a:t>
            </a:fld>
            <a:endParaRPr lang="en-US" dirty="0"/>
          </a:p>
        </p:txBody>
      </p:sp>
    </p:spTree>
    <p:extLst>
      <p:ext uri="{BB962C8B-B14F-4D97-AF65-F5344CB8AC3E}">
        <p14:creationId xmlns:p14="http://schemas.microsoft.com/office/powerpoint/2010/main" val="3818556137"/>
      </p:ext>
    </p:extLst>
  </p:cSld>
  <p:clrMapOvr>
    <a:masterClrMapping/>
  </p:clrMapOvr>
  <p:transition spd="slow">
    <p:pull dir="ru"/>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6391" r="5155" b="7834"/>
          <a:stretch/>
        </p:blipFill>
        <p:spPr>
          <a:xfrm>
            <a:off x="4616450" y="1854200"/>
            <a:ext cx="2120900" cy="2209890"/>
          </a:xfrm>
          <a:prstGeom prst="rect">
            <a:avLst/>
          </a:prstGeom>
        </p:spPr>
      </p:pic>
      <p:sp>
        <p:nvSpPr>
          <p:cNvPr id="2662403" name="Rectangle 3"/>
          <p:cNvSpPr>
            <a:spLocks noGrp="1" noChangeArrowheads="1"/>
          </p:cNvSpPr>
          <p:nvPr>
            <p:ph type="body" idx="1"/>
          </p:nvPr>
        </p:nvSpPr>
        <p:spPr>
          <a:xfrm>
            <a:off x="228600" y="990600"/>
            <a:ext cx="8686800" cy="5791200"/>
          </a:xfrm>
          <a:noFill/>
          <a:ln/>
        </p:spPr>
        <p:txBody>
          <a:bodyPr lIns="90475" tIns="44444" rIns="90475" bIns="44444"/>
          <a:lstStyle/>
          <a:p>
            <a:pPr marL="347663" lvl="1" indent="-347663">
              <a:spcBef>
                <a:spcPts val="1200"/>
              </a:spcBef>
              <a:spcAft>
                <a:spcPts val="1200"/>
              </a:spcAft>
              <a:buClr>
                <a:srgbClr val="923222"/>
              </a:buClr>
              <a:buSzPct val="115000"/>
              <a:buFont typeface="Wingdings" panose="05000000000000000000" pitchFamily="2" charset="2"/>
              <a:buChar char="§"/>
            </a:pPr>
            <a:r>
              <a:rPr lang="en-US" sz="2400" dirty="0">
                <a:solidFill>
                  <a:srgbClr val="923222"/>
                </a:solidFill>
                <a:effectLst>
                  <a:outerShdw blurRad="38100" dist="38100" dir="2700000" algn="tl">
                    <a:srgbClr val="000000">
                      <a:alpha val="43137"/>
                    </a:srgbClr>
                  </a:outerShdw>
                </a:effectLst>
                <a:latin typeface="Calibri" panose="020F0502020204030204" pitchFamily="34" charset="0"/>
                <a:ea typeface="+mn-ea"/>
                <a:cs typeface="+mn-cs"/>
              </a:rPr>
              <a:t>Influencing demand </a:t>
            </a:r>
            <a:r>
              <a:rPr lang="en-US" sz="2400" dirty="0">
                <a:latin typeface="Calibri" panose="020F0502020204030204" pitchFamily="34" charset="0"/>
                <a:ea typeface="+mn-ea"/>
                <a:cs typeface="+mn-cs"/>
              </a:rPr>
              <a:t>- so that it aligns to available production capacity </a:t>
            </a:r>
            <a:r>
              <a:rPr lang="en-US" sz="2000" i="1" dirty="0">
                <a:latin typeface="Calibri" panose="020F0502020204030204" pitchFamily="34" charset="0"/>
                <a:ea typeface="+mn-ea"/>
                <a:cs typeface="+mn-cs"/>
              </a:rPr>
              <a:t>(e.g., airline and hotel weekend discounts, telecommunication companies’ weekend rates)</a:t>
            </a:r>
            <a:r>
              <a:rPr lang="en-US" sz="2400" dirty="0">
                <a:latin typeface="Calibri" panose="020F0502020204030204" pitchFamily="34" charset="0"/>
                <a:ea typeface="+mn-ea"/>
                <a:cs typeface="+mn-cs"/>
              </a:rPr>
              <a:t>:</a:t>
            </a:r>
          </a:p>
          <a:p>
            <a:pPr marL="804863" lvl="2" indent="-347663">
              <a:spcBef>
                <a:spcPts val="600"/>
              </a:spcBef>
              <a:spcAft>
                <a:spcPts val="1200"/>
              </a:spcAft>
              <a:buClr>
                <a:srgbClr val="923222"/>
              </a:buClr>
              <a:buSzPct val="115000"/>
              <a:buFont typeface="Arial" panose="020B0604020202020204" pitchFamily="34" charset="0"/>
              <a:buChar char="–"/>
            </a:pPr>
            <a:r>
              <a:rPr lang="en-US" sz="2000" dirty="0">
                <a:latin typeface="Calibri" panose="020F0502020204030204" pitchFamily="34" charset="0"/>
                <a:ea typeface="+mn-ea"/>
                <a:cs typeface="+mn-cs"/>
              </a:rPr>
              <a:t>Advertising</a:t>
            </a:r>
          </a:p>
          <a:p>
            <a:pPr marL="804863" lvl="2" indent="-347663">
              <a:spcBef>
                <a:spcPts val="600"/>
              </a:spcBef>
              <a:spcAft>
                <a:spcPts val="1200"/>
              </a:spcAft>
              <a:buClr>
                <a:srgbClr val="923222"/>
              </a:buClr>
              <a:buSzPct val="115000"/>
              <a:buFont typeface="Arial" panose="020B0604020202020204" pitchFamily="34" charset="0"/>
              <a:buChar char="–"/>
            </a:pPr>
            <a:r>
              <a:rPr lang="en-US" sz="2000" dirty="0">
                <a:latin typeface="Calibri" panose="020F0502020204030204" pitchFamily="34" charset="0"/>
                <a:ea typeface="+mn-ea"/>
                <a:cs typeface="+mn-cs"/>
              </a:rPr>
              <a:t>Promotional plans</a:t>
            </a:r>
          </a:p>
          <a:p>
            <a:pPr marL="804863" lvl="2" indent="-347663">
              <a:spcBef>
                <a:spcPts val="600"/>
              </a:spcBef>
              <a:spcAft>
                <a:spcPts val="1200"/>
              </a:spcAft>
              <a:buClr>
                <a:srgbClr val="923222"/>
              </a:buClr>
              <a:buSzPct val="115000"/>
              <a:buFont typeface="Arial" panose="020B0604020202020204" pitchFamily="34" charset="0"/>
              <a:buChar char="–"/>
            </a:pPr>
            <a:r>
              <a:rPr lang="en-US" sz="2000" dirty="0">
                <a:latin typeface="Calibri" panose="020F0502020204030204" pitchFamily="34" charset="0"/>
                <a:ea typeface="+mn-ea"/>
                <a:cs typeface="+mn-cs"/>
              </a:rPr>
              <a:t>Pricing</a:t>
            </a:r>
          </a:p>
          <a:p>
            <a:pPr marL="347663" lvl="1" indent="-347663">
              <a:spcBef>
                <a:spcPts val="1200"/>
              </a:spcBef>
              <a:spcAft>
                <a:spcPts val="1200"/>
              </a:spcAft>
              <a:buClr>
                <a:srgbClr val="923222"/>
              </a:buClr>
              <a:buSzPct val="115000"/>
              <a:buFont typeface="Wingdings" panose="05000000000000000000" pitchFamily="2" charset="2"/>
              <a:buChar char="§"/>
            </a:pPr>
            <a:r>
              <a:rPr lang="en-US" sz="2400" dirty="0">
                <a:solidFill>
                  <a:srgbClr val="923222"/>
                </a:solidFill>
                <a:effectLst>
                  <a:outerShdw blurRad="38100" dist="38100" dir="2700000" algn="tl">
                    <a:srgbClr val="000000">
                      <a:alpha val="43137"/>
                    </a:srgbClr>
                  </a:outerShdw>
                </a:effectLst>
                <a:latin typeface="Calibri" panose="020F0502020204030204" pitchFamily="34" charset="0"/>
                <a:ea typeface="+mn-ea"/>
                <a:cs typeface="+mn-cs"/>
              </a:rPr>
              <a:t>Backordering during high demand periods </a:t>
            </a:r>
            <a:r>
              <a:rPr lang="en-US" sz="2400" dirty="0">
                <a:latin typeface="Calibri" panose="020F0502020204030204" pitchFamily="34" charset="0"/>
                <a:ea typeface="+mn-ea"/>
                <a:cs typeface="+mn-cs"/>
              </a:rPr>
              <a:t>– accept demand greater than supply capabilities.  </a:t>
            </a:r>
          </a:p>
          <a:p>
            <a:pPr marL="347663" lvl="1" indent="-347663">
              <a:spcBef>
                <a:spcPts val="1200"/>
              </a:spcBef>
              <a:spcAft>
                <a:spcPts val="1200"/>
              </a:spcAft>
              <a:buClr>
                <a:srgbClr val="923222"/>
              </a:buClr>
              <a:buSzPct val="115000"/>
              <a:buFont typeface="Wingdings" panose="05000000000000000000" pitchFamily="2" charset="2"/>
              <a:buChar char="§"/>
            </a:pPr>
            <a:r>
              <a:rPr lang="en-US" sz="2400" dirty="0">
                <a:solidFill>
                  <a:srgbClr val="923222"/>
                </a:solidFill>
                <a:effectLst>
                  <a:outerShdw blurRad="38100" dist="38100" dir="2700000" algn="tl">
                    <a:srgbClr val="000000">
                      <a:alpha val="43137"/>
                    </a:srgbClr>
                  </a:outerShdw>
                </a:effectLst>
                <a:latin typeface="Calibri" panose="020F0502020204030204" pitchFamily="34" charset="0"/>
                <a:ea typeface="+mn-ea"/>
                <a:cs typeface="+mn-cs"/>
              </a:rPr>
              <a:t>Counter-seasonal product mixing</a:t>
            </a:r>
            <a:r>
              <a:rPr lang="en-US" sz="2400" dirty="0">
                <a:solidFill>
                  <a:srgbClr val="923222"/>
                </a:solidFill>
                <a:latin typeface="Calibri" panose="020F0502020204030204" pitchFamily="34" charset="0"/>
                <a:ea typeface="+mn-ea"/>
                <a:cs typeface="+mn-cs"/>
              </a:rPr>
              <a:t> </a:t>
            </a:r>
            <a:r>
              <a:rPr lang="en-US" sz="2400" dirty="0">
                <a:latin typeface="Calibri" panose="020F0502020204030204" pitchFamily="34" charset="0"/>
                <a:ea typeface="+mn-ea"/>
                <a:cs typeface="+mn-cs"/>
              </a:rPr>
              <a:t>- Develop a product mix with antithetic (seasonal) trends that level the cumulative required production capacity </a:t>
            </a:r>
            <a:r>
              <a:rPr lang="en-US" sz="2000" i="1" dirty="0">
                <a:latin typeface="Calibri" panose="020F0502020204030204" pitchFamily="34" charset="0"/>
                <a:ea typeface="+mn-ea"/>
                <a:cs typeface="+mn-cs"/>
              </a:rPr>
              <a:t>(e.g., lawn mowers and snow blowers)</a:t>
            </a:r>
          </a:p>
          <a:p>
            <a:pPr marL="347663" lvl="1" indent="-347663">
              <a:spcBef>
                <a:spcPts val="1200"/>
              </a:spcBef>
              <a:spcAft>
                <a:spcPts val="1200"/>
              </a:spcAft>
              <a:buClr>
                <a:srgbClr val="923222"/>
              </a:buClr>
              <a:buSzPct val="115000"/>
              <a:buFont typeface="Wingdings" panose="05000000000000000000" pitchFamily="2" charset="2"/>
              <a:buChar char="§"/>
            </a:pPr>
            <a:endParaRPr lang="en-US" sz="2400" dirty="0">
              <a:latin typeface="Calibri" panose="020F0502020204030204" pitchFamily="34" charset="0"/>
              <a:ea typeface="+mn-ea"/>
              <a:cs typeface="+mn-cs"/>
            </a:endParaRPr>
          </a:p>
          <a:p>
            <a:pPr marL="804863" lvl="1" indent="-347663">
              <a:spcBef>
                <a:spcPts val="1200"/>
              </a:spcBef>
              <a:spcAft>
                <a:spcPts val="1200"/>
              </a:spcAft>
              <a:buClr>
                <a:srgbClr val="923222"/>
              </a:buClr>
              <a:buSzPct val="115000"/>
              <a:buFontTx/>
              <a:buChar char="–"/>
            </a:pPr>
            <a:endParaRPr lang="en-US" sz="2000" dirty="0">
              <a:latin typeface="Calibri" panose="020F0502020204030204" pitchFamily="34" charset="0"/>
            </a:endParaRPr>
          </a:p>
        </p:txBody>
      </p:sp>
      <p:sp>
        <p:nvSpPr>
          <p:cNvPr id="2662402" name="Rectangle 2"/>
          <p:cNvSpPr>
            <a:spLocks noGrp="1" noChangeArrowheads="1"/>
          </p:cNvSpPr>
          <p:nvPr>
            <p:ph type="title"/>
          </p:nvPr>
        </p:nvSpPr>
        <p:spPr>
          <a:xfrm>
            <a:off x="228600" y="132598"/>
            <a:ext cx="868680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Aggregate Planning Strategies – Demand Options</a:t>
            </a: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3" name="Slide Number Placeholder 2"/>
          <p:cNvSpPr>
            <a:spLocks noGrp="1"/>
          </p:cNvSpPr>
          <p:nvPr>
            <p:ph type="sldNum" sz="quarter" idx="4"/>
          </p:nvPr>
        </p:nvSpPr>
        <p:spPr/>
        <p:txBody>
          <a:bodyPr/>
          <a:lstStyle/>
          <a:p>
            <a:fld id="{E66AA3EA-0569-43EF-BBA3-83FDB109D582}" type="slidenum">
              <a:rPr lang="en-US" smtClean="0"/>
              <a:pPr/>
              <a:t>10</a:t>
            </a:fld>
            <a:endParaRPr lang="en-US" dirty="0"/>
          </a:p>
        </p:txBody>
      </p:sp>
    </p:spTree>
    <p:extLst>
      <p:ext uri="{BB962C8B-B14F-4D97-AF65-F5344CB8AC3E}">
        <p14:creationId xmlns:p14="http://schemas.microsoft.com/office/powerpoint/2010/main" val="2237989232"/>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2403">
                                            <p:txEl>
                                              <p:pRg st="0" end="0"/>
                                            </p:txEl>
                                          </p:spTgt>
                                        </p:tgtEl>
                                        <p:attrNameLst>
                                          <p:attrName>style.visibility</p:attrName>
                                        </p:attrNameLst>
                                      </p:cBhvr>
                                      <p:to>
                                        <p:strVal val="visible"/>
                                      </p:to>
                                    </p:set>
                                    <p:anim calcmode="lin" valueType="num">
                                      <p:cBhvr additive="base">
                                        <p:cTn id="7" dur="500" fill="hold"/>
                                        <p:tgtEl>
                                          <p:spTgt spid="26624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40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662403">
                                            <p:txEl>
                                              <p:pRg st="1" end="1"/>
                                            </p:txEl>
                                          </p:spTgt>
                                        </p:tgtEl>
                                        <p:attrNameLst>
                                          <p:attrName>style.visibility</p:attrName>
                                        </p:attrNameLst>
                                      </p:cBhvr>
                                      <p:to>
                                        <p:strVal val="visible"/>
                                      </p:to>
                                    </p:set>
                                    <p:anim calcmode="lin" valueType="num">
                                      <p:cBhvr additive="base">
                                        <p:cTn id="11" dur="500" fill="hold"/>
                                        <p:tgtEl>
                                          <p:spTgt spid="266240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66240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662403">
                                            <p:txEl>
                                              <p:pRg st="2" end="2"/>
                                            </p:txEl>
                                          </p:spTgt>
                                        </p:tgtEl>
                                        <p:attrNameLst>
                                          <p:attrName>style.visibility</p:attrName>
                                        </p:attrNameLst>
                                      </p:cBhvr>
                                      <p:to>
                                        <p:strVal val="visible"/>
                                      </p:to>
                                    </p:set>
                                    <p:anim calcmode="lin" valueType="num">
                                      <p:cBhvr additive="base">
                                        <p:cTn id="15" dur="500" fill="hold"/>
                                        <p:tgtEl>
                                          <p:spTgt spid="266240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66240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662403">
                                            <p:txEl>
                                              <p:pRg st="3" end="3"/>
                                            </p:txEl>
                                          </p:spTgt>
                                        </p:tgtEl>
                                        <p:attrNameLst>
                                          <p:attrName>style.visibility</p:attrName>
                                        </p:attrNameLst>
                                      </p:cBhvr>
                                      <p:to>
                                        <p:strVal val="visible"/>
                                      </p:to>
                                    </p:set>
                                    <p:anim calcmode="lin" valueType="num">
                                      <p:cBhvr additive="base">
                                        <p:cTn id="19" dur="500" fill="hold"/>
                                        <p:tgtEl>
                                          <p:spTgt spid="266240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6240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662403">
                                            <p:txEl>
                                              <p:pRg st="4" end="4"/>
                                            </p:txEl>
                                          </p:spTgt>
                                        </p:tgtEl>
                                        <p:attrNameLst>
                                          <p:attrName>style.visibility</p:attrName>
                                        </p:attrNameLst>
                                      </p:cBhvr>
                                      <p:to>
                                        <p:strVal val="visible"/>
                                      </p:to>
                                    </p:set>
                                    <p:anim calcmode="lin" valueType="num">
                                      <p:cBhvr additive="base">
                                        <p:cTn id="25" dur="500" fill="hold"/>
                                        <p:tgtEl>
                                          <p:spTgt spid="266240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6240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662403">
                                            <p:txEl>
                                              <p:pRg st="5" end="5"/>
                                            </p:txEl>
                                          </p:spTgt>
                                        </p:tgtEl>
                                        <p:attrNameLst>
                                          <p:attrName>style.visibility</p:attrName>
                                        </p:attrNameLst>
                                      </p:cBhvr>
                                      <p:to>
                                        <p:strVal val="visible"/>
                                      </p:to>
                                    </p:set>
                                    <p:anim calcmode="lin" valueType="num">
                                      <p:cBhvr additive="base">
                                        <p:cTn id="31" dur="500" fill="hold"/>
                                        <p:tgtEl>
                                          <p:spTgt spid="266240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66240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402" name="Rectangle 2"/>
          <p:cNvSpPr>
            <a:spLocks noGrp="1" noChangeArrowheads="1"/>
          </p:cNvSpPr>
          <p:nvPr>
            <p:ph type="title"/>
          </p:nvPr>
        </p:nvSpPr>
        <p:spPr>
          <a:xfrm>
            <a:off x="228600" y="132598"/>
            <a:ext cx="868680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Aggregate Planning Strategies – Supply Options</a:t>
            </a:r>
          </a:p>
        </p:txBody>
      </p:sp>
      <p:sp>
        <p:nvSpPr>
          <p:cNvPr id="2662403" name="Rectangle 3"/>
          <p:cNvSpPr>
            <a:spLocks noGrp="1" noChangeArrowheads="1"/>
          </p:cNvSpPr>
          <p:nvPr>
            <p:ph type="body" idx="1"/>
          </p:nvPr>
        </p:nvSpPr>
        <p:spPr>
          <a:xfrm>
            <a:off x="228600" y="990600"/>
            <a:ext cx="8686800" cy="5791200"/>
          </a:xfrm>
          <a:noFill/>
          <a:ln/>
        </p:spPr>
        <p:txBody>
          <a:bodyPr lIns="90475" tIns="44444" rIns="90475" bIns="44444"/>
          <a:lstStyle/>
          <a:p>
            <a:pPr marL="347663" lvl="1" indent="-347663">
              <a:spcBef>
                <a:spcPts val="600"/>
              </a:spcBef>
              <a:spcAft>
                <a:spcPts val="600"/>
              </a:spcAft>
              <a:buClr>
                <a:srgbClr val="923222"/>
              </a:buClr>
              <a:buSzPct val="115000"/>
              <a:buFont typeface="Wingdings" panose="05000000000000000000" pitchFamily="2" charset="2"/>
              <a:buChar char="§"/>
            </a:pPr>
            <a:r>
              <a:rPr lang="en-US" sz="2400" dirty="0">
                <a:solidFill>
                  <a:srgbClr val="923222"/>
                </a:solidFill>
                <a:effectLst>
                  <a:outerShdw blurRad="38100" dist="38100" dir="2700000" algn="tl">
                    <a:srgbClr val="000000">
                      <a:alpha val="43137"/>
                    </a:srgbClr>
                  </a:outerShdw>
                </a:effectLst>
                <a:latin typeface="Calibri" panose="020F0502020204030204" pitchFamily="34" charset="0"/>
                <a:ea typeface="+mn-ea"/>
                <a:cs typeface="+mn-cs"/>
              </a:rPr>
              <a:t>Change inventory levels</a:t>
            </a:r>
          </a:p>
          <a:p>
            <a:pPr marL="804863" lvl="1" indent="-347663">
              <a:spcBef>
                <a:spcPts val="600"/>
              </a:spcBef>
              <a:spcAft>
                <a:spcPts val="600"/>
              </a:spcAft>
              <a:buClr>
                <a:srgbClr val="923222"/>
              </a:buClr>
              <a:buSzPct val="115000"/>
              <a:buFontTx/>
              <a:buChar char="–"/>
            </a:pPr>
            <a:r>
              <a:rPr lang="en-US" sz="2000" dirty="0">
                <a:latin typeface="Calibri" panose="020F0502020204030204" pitchFamily="34" charset="0"/>
              </a:rPr>
              <a:t>Increase inventories – build stock in advance of demand in order to use available capacity</a:t>
            </a:r>
          </a:p>
          <a:p>
            <a:pPr marL="804863" lvl="1" indent="-347663">
              <a:spcBef>
                <a:spcPts val="600"/>
              </a:spcBef>
              <a:spcAft>
                <a:spcPts val="600"/>
              </a:spcAft>
              <a:buClr>
                <a:srgbClr val="923222"/>
              </a:buClr>
              <a:buSzPct val="115000"/>
              <a:buFontTx/>
              <a:buChar char="–"/>
            </a:pPr>
            <a:r>
              <a:rPr lang="en-US" sz="2000" dirty="0">
                <a:latin typeface="Calibri" panose="020F0502020204030204" pitchFamily="34" charset="0"/>
              </a:rPr>
              <a:t>Decrease inventories – temporarily reduce inventory below normal safety stock levels during peak demand periods to meet customer requirements.</a:t>
            </a:r>
          </a:p>
          <a:p>
            <a:pPr marL="347663" lvl="1" indent="-347663">
              <a:spcBef>
                <a:spcPts val="600"/>
              </a:spcBef>
              <a:spcAft>
                <a:spcPts val="600"/>
              </a:spcAft>
              <a:buClr>
                <a:srgbClr val="923222"/>
              </a:buClr>
              <a:buSzPct val="115000"/>
              <a:buFont typeface="Wingdings" panose="05000000000000000000" pitchFamily="2" charset="2"/>
              <a:buChar char="§"/>
            </a:pPr>
            <a:r>
              <a:rPr lang="en-US" sz="2400" dirty="0">
                <a:solidFill>
                  <a:srgbClr val="923222"/>
                </a:solidFill>
                <a:effectLst>
                  <a:outerShdw blurRad="38100" dist="38100" dir="2700000" algn="tl">
                    <a:srgbClr val="000000">
                      <a:alpha val="43137"/>
                    </a:srgbClr>
                  </a:outerShdw>
                </a:effectLst>
                <a:latin typeface="Calibri" panose="020F0502020204030204" pitchFamily="34" charset="0"/>
                <a:ea typeface="+mn-ea"/>
                <a:cs typeface="+mn-cs"/>
              </a:rPr>
              <a:t>Change capacity</a:t>
            </a:r>
            <a:r>
              <a:rPr lang="en-US" sz="2400" dirty="0">
                <a:solidFill>
                  <a:srgbClr val="923222"/>
                </a:solidFill>
                <a:latin typeface="Calibri" panose="020F0502020204030204" pitchFamily="34" charset="0"/>
                <a:ea typeface="+mn-ea"/>
                <a:cs typeface="+mn-cs"/>
              </a:rPr>
              <a:t>:</a:t>
            </a:r>
          </a:p>
          <a:p>
            <a:pPr marL="804863" lvl="1" indent="-347663">
              <a:spcBef>
                <a:spcPts val="600"/>
              </a:spcBef>
              <a:spcAft>
                <a:spcPts val="600"/>
              </a:spcAft>
              <a:buClr>
                <a:srgbClr val="923222"/>
              </a:buClr>
              <a:buSzPct val="115000"/>
              <a:buFontTx/>
              <a:buChar char="–"/>
            </a:pPr>
            <a:r>
              <a:rPr lang="en-US" sz="2000" dirty="0">
                <a:latin typeface="Calibri" panose="020F0502020204030204" pitchFamily="34" charset="0"/>
              </a:rPr>
              <a:t>Vary production output through overtime or idle time</a:t>
            </a:r>
          </a:p>
          <a:p>
            <a:pPr marL="804863" lvl="1" indent="-347663">
              <a:spcBef>
                <a:spcPts val="600"/>
              </a:spcBef>
              <a:spcAft>
                <a:spcPts val="600"/>
              </a:spcAft>
              <a:buClr>
                <a:srgbClr val="923222"/>
              </a:buClr>
              <a:buSzPct val="115000"/>
              <a:buFontTx/>
              <a:buChar char="–"/>
            </a:pPr>
            <a:r>
              <a:rPr lang="en-US" sz="2000" dirty="0">
                <a:latin typeface="Calibri" panose="020F0502020204030204" pitchFamily="34" charset="0"/>
              </a:rPr>
              <a:t>Vary work force size by hiring or layoff</a:t>
            </a:r>
          </a:p>
          <a:p>
            <a:pPr marL="804863" lvl="1" indent="-347663">
              <a:spcBef>
                <a:spcPts val="600"/>
              </a:spcBef>
              <a:spcAft>
                <a:spcPts val="600"/>
              </a:spcAft>
              <a:buClr>
                <a:srgbClr val="923222"/>
              </a:buClr>
              <a:buSzPct val="115000"/>
              <a:buFontTx/>
              <a:buChar char="–"/>
            </a:pPr>
            <a:r>
              <a:rPr lang="en-US" sz="2000" dirty="0">
                <a:latin typeface="Calibri" panose="020F0502020204030204" pitchFamily="34" charset="0"/>
              </a:rPr>
              <a:t>Using part-time workers</a:t>
            </a:r>
          </a:p>
          <a:p>
            <a:pPr marL="804863" lvl="1" indent="-347663">
              <a:spcBef>
                <a:spcPts val="600"/>
              </a:spcBef>
              <a:spcAft>
                <a:spcPts val="600"/>
              </a:spcAft>
              <a:buClr>
                <a:srgbClr val="923222"/>
              </a:buClr>
              <a:buSzPct val="115000"/>
              <a:buFontTx/>
              <a:buChar char="–"/>
            </a:pPr>
            <a:r>
              <a:rPr lang="en-US" sz="2000" dirty="0">
                <a:latin typeface="Calibri" panose="020F0502020204030204" pitchFamily="34" charset="0"/>
              </a:rPr>
              <a:t>Subcontracting</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6333" y="4477173"/>
            <a:ext cx="3539067" cy="2380827"/>
          </a:xfrm>
          <a:prstGeom prst="rect">
            <a:avLst/>
          </a:prstGeom>
        </p:spPr>
      </p:pic>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4" name="Slide Number Placeholder 3"/>
          <p:cNvSpPr>
            <a:spLocks noGrp="1"/>
          </p:cNvSpPr>
          <p:nvPr>
            <p:ph type="sldNum" sz="quarter" idx="4"/>
          </p:nvPr>
        </p:nvSpPr>
        <p:spPr/>
        <p:txBody>
          <a:bodyPr/>
          <a:lstStyle/>
          <a:p>
            <a:fld id="{E66AA3EA-0569-43EF-BBA3-83FDB109D582}" type="slidenum">
              <a:rPr lang="en-US" smtClean="0"/>
              <a:pPr/>
              <a:t>11</a:t>
            </a:fld>
            <a:endParaRPr lang="en-US" dirty="0"/>
          </a:p>
        </p:txBody>
      </p:sp>
    </p:spTree>
    <p:extLst>
      <p:ext uri="{BB962C8B-B14F-4D97-AF65-F5344CB8AC3E}">
        <p14:creationId xmlns:p14="http://schemas.microsoft.com/office/powerpoint/2010/main" val="488168065"/>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2403">
                                            <p:txEl>
                                              <p:pRg st="0" end="0"/>
                                            </p:txEl>
                                          </p:spTgt>
                                        </p:tgtEl>
                                        <p:attrNameLst>
                                          <p:attrName>style.visibility</p:attrName>
                                        </p:attrNameLst>
                                      </p:cBhvr>
                                      <p:to>
                                        <p:strVal val="visible"/>
                                      </p:to>
                                    </p:set>
                                    <p:anim calcmode="lin" valueType="num">
                                      <p:cBhvr additive="base">
                                        <p:cTn id="7" dur="500" fill="hold"/>
                                        <p:tgtEl>
                                          <p:spTgt spid="26624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40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662403">
                                            <p:txEl>
                                              <p:pRg st="1" end="1"/>
                                            </p:txEl>
                                          </p:spTgt>
                                        </p:tgtEl>
                                        <p:attrNameLst>
                                          <p:attrName>style.visibility</p:attrName>
                                        </p:attrNameLst>
                                      </p:cBhvr>
                                      <p:to>
                                        <p:strVal val="visible"/>
                                      </p:to>
                                    </p:set>
                                    <p:anim calcmode="lin" valueType="num">
                                      <p:cBhvr additive="base">
                                        <p:cTn id="11" dur="500" fill="hold"/>
                                        <p:tgtEl>
                                          <p:spTgt spid="266240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66240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662403">
                                            <p:txEl>
                                              <p:pRg st="2" end="2"/>
                                            </p:txEl>
                                          </p:spTgt>
                                        </p:tgtEl>
                                        <p:attrNameLst>
                                          <p:attrName>style.visibility</p:attrName>
                                        </p:attrNameLst>
                                      </p:cBhvr>
                                      <p:to>
                                        <p:strVal val="visible"/>
                                      </p:to>
                                    </p:set>
                                    <p:anim calcmode="lin" valueType="num">
                                      <p:cBhvr additive="base">
                                        <p:cTn id="15" dur="500" fill="hold"/>
                                        <p:tgtEl>
                                          <p:spTgt spid="266240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6624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662403">
                                            <p:txEl>
                                              <p:pRg st="3" end="3"/>
                                            </p:txEl>
                                          </p:spTgt>
                                        </p:tgtEl>
                                        <p:attrNameLst>
                                          <p:attrName>style.visibility</p:attrName>
                                        </p:attrNameLst>
                                      </p:cBhvr>
                                      <p:to>
                                        <p:strVal val="visible"/>
                                      </p:to>
                                    </p:set>
                                    <p:anim calcmode="lin" valueType="num">
                                      <p:cBhvr additive="base">
                                        <p:cTn id="21" dur="500" fill="hold"/>
                                        <p:tgtEl>
                                          <p:spTgt spid="266240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66240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662403">
                                            <p:txEl>
                                              <p:pRg st="4" end="4"/>
                                            </p:txEl>
                                          </p:spTgt>
                                        </p:tgtEl>
                                        <p:attrNameLst>
                                          <p:attrName>style.visibility</p:attrName>
                                        </p:attrNameLst>
                                      </p:cBhvr>
                                      <p:to>
                                        <p:strVal val="visible"/>
                                      </p:to>
                                    </p:set>
                                    <p:anim calcmode="lin" valueType="num">
                                      <p:cBhvr additive="base">
                                        <p:cTn id="25" dur="500" fill="hold"/>
                                        <p:tgtEl>
                                          <p:spTgt spid="266240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6240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662403">
                                            <p:txEl>
                                              <p:pRg st="5" end="5"/>
                                            </p:txEl>
                                          </p:spTgt>
                                        </p:tgtEl>
                                        <p:attrNameLst>
                                          <p:attrName>style.visibility</p:attrName>
                                        </p:attrNameLst>
                                      </p:cBhvr>
                                      <p:to>
                                        <p:strVal val="visible"/>
                                      </p:to>
                                    </p:set>
                                    <p:anim calcmode="lin" valueType="num">
                                      <p:cBhvr additive="base">
                                        <p:cTn id="29" dur="500" fill="hold"/>
                                        <p:tgtEl>
                                          <p:spTgt spid="266240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66240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662403">
                                            <p:txEl>
                                              <p:pRg st="6" end="6"/>
                                            </p:txEl>
                                          </p:spTgt>
                                        </p:tgtEl>
                                        <p:attrNameLst>
                                          <p:attrName>style.visibility</p:attrName>
                                        </p:attrNameLst>
                                      </p:cBhvr>
                                      <p:to>
                                        <p:strVal val="visible"/>
                                      </p:to>
                                    </p:set>
                                    <p:anim calcmode="lin" valueType="num">
                                      <p:cBhvr additive="base">
                                        <p:cTn id="33" dur="500" fill="hold"/>
                                        <p:tgtEl>
                                          <p:spTgt spid="266240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66240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662403">
                                            <p:txEl>
                                              <p:pRg st="7" end="7"/>
                                            </p:txEl>
                                          </p:spTgt>
                                        </p:tgtEl>
                                        <p:attrNameLst>
                                          <p:attrName>style.visibility</p:attrName>
                                        </p:attrNameLst>
                                      </p:cBhvr>
                                      <p:to>
                                        <p:strVal val="visible"/>
                                      </p:to>
                                    </p:set>
                                    <p:anim calcmode="lin" valueType="num">
                                      <p:cBhvr additive="base">
                                        <p:cTn id="37" dur="500" fill="hold"/>
                                        <p:tgtEl>
                                          <p:spTgt spid="266240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66240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xfrm>
            <a:off x="228600" y="127660"/>
            <a:ext cx="701040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Master Production Schedule </a:t>
            </a:r>
            <a:r>
              <a:rPr lang="en-US" altLang="en-US" sz="3200" b="0"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(MPS) </a:t>
            </a:r>
            <a:endParaRPr lang="en-US" altLang="en-US" sz="3200" b="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endParaRPr>
          </a:p>
        </p:txBody>
      </p:sp>
      <p:sp>
        <p:nvSpPr>
          <p:cNvPr id="25603" name="Rectangle 3"/>
          <p:cNvSpPr>
            <a:spLocks noGrp="1" noChangeArrowheads="1"/>
          </p:cNvSpPr>
          <p:nvPr>
            <p:ph type="body" sz="half" idx="4294967295"/>
          </p:nvPr>
        </p:nvSpPr>
        <p:spPr>
          <a:xfrm>
            <a:off x="228601" y="914400"/>
            <a:ext cx="8509000" cy="1473200"/>
          </a:xfrm>
        </p:spPr>
        <p:txBody>
          <a:bodyPr/>
          <a:lstStyle/>
          <a:p>
            <a:pPr marL="0" indent="0">
              <a:spcBef>
                <a:spcPts val="1200"/>
              </a:spcBef>
              <a:spcAft>
                <a:spcPts val="1200"/>
              </a:spcAft>
              <a:buFontTx/>
              <a:buNone/>
            </a:pPr>
            <a:r>
              <a:rPr lang="en-US" altLang="en-US" sz="2800" dirty="0">
                <a:latin typeface="Calibri" panose="020F0502020204030204" pitchFamily="34" charset="0"/>
                <a:ea typeface="ＭＳ Ｐゴシック" panose="020B0600070205080204" pitchFamily="34" charset="-128"/>
              </a:rPr>
              <a:t>A detailed </a:t>
            </a:r>
            <a:r>
              <a:rPr lang="en-US" altLang="en-US" sz="2800" b="1" u="sng" dirty="0">
                <a:latin typeface="Calibri" panose="020F0502020204030204" pitchFamily="34" charset="0"/>
                <a:ea typeface="ＭＳ Ｐゴシック" panose="020B0600070205080204" pitchFamily="34" charset="-128"/>
              </a:rPr>
              <a:t>disaggregation</a:t>
            </a:r>
            <a:r>
              <a:rPr lang="en-US" altLang="en-US" sz="2800" dirty="0">
                <a:latin typeface="Calibri" panose="020F0502020204030204" pitchFamily="34" charset="0"/>
                <a:ea typeface="ＭＳ Ｐゴシック" panose="020B0600070205080204" pitchFamily="34" charset="-128"/>
              </a:rPr>
              <a:t> of the aggregate production plan (APP), listing the </a:t>
            </a:r>
            <a:r>
              <a:rPr lang="en-US" altLang="en-US" sz="2800"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exact end items </a:t>
            </a:r>
            <a:r>
              <a:rPr lang="en-US" altLang="en-US" sz="2800" dirty="0">
                <a:latin typeface="Calibri" panose="020F0502020204030204" pitchFamily="34" charset="0"/>
                <a:ea typeface="ＭＳ Ｐゴシック" panose="020B0600070205080204" pitchFamily="34" charset="-128"/>
              </a:rPr>
              <a:t>to be produced by a </a:t>
            </a:r>
            <a:r>
              <a:rPr lang="en-US" altLang="en-US" sz="2800"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specific period</a:t>
            </a:r>
            <a:r>
              <a:rPr lang="en-US" altLang="en-US" sz="2800" dirty="0">
                <a:latin typeface="Calibri" panose="020F0502020204030204" pitchFamily="34" charset="0"/>
                <a:ea typeface="ＭＳ Ｐゴシック" panose="020B0600070205080204" pitchFamily="34" charset="-128"/>
              </a:rPr>
              <a:t>. </a:t>
            </a:r>
          </a:p>
        </p:txBody>
      </p:sp>
      <p:sp>
        <p:nvSpPr>
          <p:cNvPr id="8" name="Rectangle 41"/>
          <p:cNvSpPr>
            <a:spLocks noChangeArrowheads="1"/>
          </p:cNvSpPr>
          <p:nvPr/>
        </p:nvSpPr>
        <p:spPr bwMode="auto">
          <a:xfrm>
            <a:off x="4191000" y="2931167"/>
            <a:ext cx="1402317" cy="595743"/>
          </a:xfrm>
          <a:prstGeom prst="rect">
            <a:avLst/>
          </a:prstGeom>
          <a:solidFill>
            <a:schemeClr val="bg1"/>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400" b="1" dirty="0">
                <a:solidFill>
                  <a:schemeClr val="bg2"/>
                </a:solidFill>
                <a:latin typeface="News Gothic MT"/>
              </a:rPr>
              <a:t>Rough-Cut </a:t>
            </a:r>
          </a:p>
          <a:p>
            <a:pPr algn="ctr" eaLnBrk="0" hangingPunct="0">
              <a:lnSpc>
                <a:spcPct val="80000"/>
              </a:lnSpc>
            </a:pPr>
            <a:r>
              <a:rPr lang="en-US" sz="1400" b="1" dirty="0">
                <a:solidFill>
                  <a:schemeClr val="bg2"/>
                </a:solidFill>
                <a:latin typeface="News Gothic MT"/>
              </a:rPr>
              <a:t>Capacity </a:t>
            </a:r>
          </a:p>
          <a:p>
            <a:pPr algn="ctr" eaLnBrk="0" hangingPunct="0">
              <a:lnSpc>
                <a:spcPct val="80000"/>
              </a:lnSpc>
            </a:pPr>
            <a:r>
              <a:rPr lang="en-US" sz="1400" b="1" dirty="0">
                <a:solidFill>
                  <a:schemeClr val="bg2"/>
                </a:solidFill>
                <a:latin typeface="News Gothic MT"/>
              </a:rPr>
              <a:t>Planning (RCCP)</a:t>
            </a:r>
          </a:p>
        </p:txBody>
      </p:sp>
      <p:sp>
        <p:nvSpPr>
          <p:cNvPr id="9" name="Rectangle 12"/>
          <p:cNvSpPr>
            <a:spLocks noChangeArrowheads="1"/>
          </p:cNvSpPr>
          <p:nvPr/>
        </p:nvSpPr>
        <p:spPr bwMode="auto">
          <a:xfrm>
            <a:off x="4211177" y="3932692"/>
            <a:ext cx="1361962" cy="597344"/>
          </a:xfrm>
          <a:prstGeom prst="rect">
            <a:avLst/>
          </a:prstGeom>
          <a:solidFill>
            <a:schemeClr val="bg1"/>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400" b="1" dirty="0">
                <a:solidFill>
                  <a:schemeClr val="bg2"/>
                </a:solidFill>
                <a:latin typeface="News Gothic MT"/>
              </a:rPr>
              <a:t>Capacity </a:t>
            </a:r>
          </a:p>
          <a:p>
            <a:pPr algn="ctr" eaLnBrk="0" hangingPunct="0">
              <a:lnSpc>
                <a:spcPct val="80000"/>
              </a:lnSpc>
            </a:pPr>
            <a:r>
              <a:rPr lang="en-US" sz="1400" b="1" dirty="0">
                <a:solidFill>
                  <a:schemeClr val="bg2"/>
                </a:solidFill>
                <a:latin typeface="News Gothic MT"/>
              </a:rPr>
              <a:t>Requirements</a:t>
            </a:r>
          </a:p>
          <a:p>
            <a:pPr algn="ctr" eaLnBrk="0" hangingPunct="0">
              <a:lnSpc>
                <a:spcPct val="80000"/>
              </a:lnSpc>
            </a:pPr>
            <a:r>
              <a:rPr lang="en-US" sz="1400" b="1" dirty="0">
                <a:solidFill>
                  <a:schemeClr val="bg2"/>
                </a:solidFill>
                <a:latin typeface="News Gothic MT"/>
              </a:rPr>
              <a:t>Planning </a:t>
            </a:r>
            <a:r>
              <a:rPr lang="en-US" sz="1100" b="1" dirty="0">
                <a:solidFill>
                  <a:schemeClr val="bg2"/>
                </a:solidFill>
                <a:latin typeface="News Gothic MT"/>
              </a:rPr>
              <a:t>(CRP)</a:t>
            </a:r>
            <a:endParaRPr lang="en-US" sz="1050" b="1" dirty="0">
              <a:solidFill>
                <a:schemeClr val="bg2"/>
              </a:solidFill>
              <a:latin typeface="News Gothic MT"/>
            </a:endParaRPr>
          </a:p>
        </p:txBody>
      </p:sp>
      <p:cxnSp>
        <p:nvCxnSpPr>
          <p:cNvPr id="12" name="Straight Arrow Connector 11"/>
          <p:cNvCxnSpPr>
            <a:stCxn id="9" idx="3"/>
            <a:endCxn id="31" idx="1"/>
          </p:cNvCxnSpPr>
          <p:nvPr/>
        </p:nvCxnSpPr>
        <p:spPr bwMode="auto">
          <a:xfrm flipV="1">
            <a:off x="5573139" y="4231363"/>
            <a:ext cx="388190" cy="1"/>
          </a:xfrm>
          <a:prstGeom prst="straightConnector1">
            <a:avLst/>
          </a:prstGeom>
          <a:solidFill>
            <a:schemeClr val="accent1"/>
          </a:solidFill>
          <a:ln w="28575" cap="flat" cmpd="sng" algn="ctr">
            <a:solidFill>
              <a:schemeClr val="bg1">
                <a:lumMod val="65000"/>
              </a:schemeClr>
            </a:solidFill>
            <a:prstDash val="sysDot"/>
            <a:round/>
            <a:headEnd type="triangle"/>
            <a:tailEnd type="triangle"/>
          </a:ln>
          <a:effectLst/>
        </p:spPr>
      </p:cxnSp>
      <p:cxnSp>
        <p:nvCxnSpPr>
          <p:cNvPr id="13" name="Straight Arrow Connector 12"/>
          <p:cNvCxnSpPr>
            <a:stCxn id="8" idx="3"/>
            <a:endCxn id="28" idx="1"/>
          </p:cNvCxnSpPr>
          <p:nvPr/>
        </p:nvCxnSpPr>
        <p:spPr bwMode="auto">
          <a:xfrm>
            <a:off x="5593317" y="3229039"/>
            <a:ext cx="363786" cy="1"/>
          </a:xfrm>
          <a:prstGeom prst="straightConnector1">
            <a:avLst/>
          </a:prstGeom>
          <a:solidFill>
            <a:schemeClr val="accent1"/>
          </a:solidFill>
          <a:ln w="28575" cap="flat" cmpd="sng" algn="ctr">
            <a:solidFill>
              <a:schemeClr val="bg1">
                <a:lumMod val="65000"/>
              </a:schemeClr>
            </a:solidFill>
            <a:prstDash val="sysDot"/>
            <a:round/>
            <a:headEnd type="triangle"/>
            <a:tailEnd type="triangle"/>
          </a:ln>
          <a:effectLst/>
        </p:spPr>
      </p:cxnSp>
      <p:sp>
        <p:nvSpPr>
          <p:cNvPr id="15" name="Rectangle 37"/>
          <p:cNvSpPr>
            <a:spLocks noChangeArrowheads="1"/>
          </p:cNvSpPr>
          <p:nvPr/>
        </p:nvSpPr>
        <p:spPr bwMode="auto">
          <a:xfrm>
            <a:off x="7540434" y="4957794"/>
            <a:ext cx="1307233" cy="642906"/>
          </a:xfrm>
          <a:prstGeom prst="rect">
            <a:avLst/>
          </a:prstGeom>
          <a:solidFill>
            <a:schemeClr val="bg1"/>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90000"/>
              </a:lnSpc>
            </a:pPr>
            <a:r>
              <a:rPr lang="en-US" sz="1400" b="1" dirty="0">
                <a:solidFill>
                  <a:schemeClr val="bg2"/>
                </a:solidFill>
                <a:latin typeface="News Gothic MT" pitchFamily="34" charset="0"/>
              </a:rPr>
              <a:t>Manufacturing </a:t>
            </a:r>
          </a:p>
          <a:p>
            <a:pPr algn="ctr" eaLnBrk="0" hangingPunct="0">
              <a:lnSpc>
                <a:spcPct val="90000"/>
              </a:lnSpc>
            </a:pPr>
            <a:r>
              <a:rPr lang="en-US" sz="1000" b="1" i="1" dirty="0">
                <a:solidFill>
                  <a:schemeClr val="bg2"/>
                </a:solidFill>
                <a:latin typeface="News Gothic MT" pitchFamily="34" charset="0"/>
              </a:rPr>
              <a:t>(Internal or External)</a:t>
            </a:r>
          </a:p>
        </p:txBody>
      </p:sp>
      <p:cxnSp>
        <p:nvCxnSpPr>
          <p:cNvPr id="16" name="Straight Arrow Connector 15"/>
          <p:cNvCxnSpPr>
            <a:stCxn id="31" idx="2"/>
            <a:endCxn id="30" idx="0"/>
          </p:cNvCxnSpPr>
          <p:nvPr/>
        </p:nvCxnSpPr>
        <p:spPr bwMode="auto">
          <a:xfrm>
            <a:off x="6616354" y="4550284"/>
            <a:ext cx="0" cy="410042"/>
          </a:xfrm>
          <a:prstGeom prst="straightConnector1">
            <a:avLst/>
          </a:prstGeom>
          <a:solidFill>
            <a:schemeClr val="accent1"/>
          </a:solidFill>
          <a:ln w="38100" cap="flat" cmpd="sng" algn="ctr">
            <a:solidFill>
              <a:schemeClr val="bg1">
                <a:lumMod val="65000"/>
              </a:schemeClr>
            </a:solidFill>
            <a:prstDash val="solid"/>
            <a:round/>
            <a:headEnd type="none" w="med" len="med"/>
            <a:tailEnd type="triangle"/>
          </a:ln>
          <a:effectLst/>
        </p:spPr>
      </p:cxnSp>
      <p:cxnSp>
        <p:nvCxnSpPr>
          <p:cNvPr id="17" name="Straight Arrow Connector 16"/>
          <p:cNvCxnSpPr/>
          <p:nvPr/>
        </p:nvCxnSpPr>
        <p:spPr bwMode="auto">
          <a:xfrm>
            <a:off x="8239127" y="3442603"/>
            <a:ext cx="0" cy="1518039"/>
          </a:xfrm>
          <a:prstGeom prst="straightConnector1">
            <a:avLst/>
          </a:prstGeom>
          <a:solidFill>
            <a:schemeClr val="accent1"/>
          </a:solidFill>
          <a:ln w="38100" cap="flat" cmpd="sng" algn="ctr">
            <a:solidFill>
              <a:schemeClr val="bg1">
                <a:lumMod val="65000"/>
              </a:schemeClr>
            </a:solidFill>
            <a:prstDash val="solid"/>
            <a:round/>
            <a:headEnd type="none" w="med" len="med"/>
            <a:tailEnd type="triangle"/>
          </a:ln>
          <a:effectLst/>
        </p:spPr>
      </p:cxnSp>
      <p:cxnSp>
        <p:nvCxnSpPr>
          <p:cNvPr id="19" name="Straight Arrow Connector 18"/>
          <p:cNvCxnSpPr>
            <a:endCxn id="31" idx="0"/>
          </p:cNvCxnSpPr>
          <p:nvPr/>
        </p:nvCxnSpPr>
        <p:spPr bwMode="auto">
          <a:xfrm>
            <a:off x="6614945" y="3425201"/>
            <a:ext cx="1410" cy="487240"/>
          </a:xfrm>
          <a:prstGeom prst="straightConnector1">
            <a:avLst/>
          </a:prstGeom>
          <a:solidFill>
            <a:schemeClr val="accent1"/>
          </a:solidFill>
          <a:ln w="38100" cap="flat" cmpd="sng" algn="ctr">
            <a:solidFill>
              <a:schemeClr val="bg1">
                <a:lumMod val="65000"/>
              </a:schemeClr>
            </a:solidFill>
            <a:prstDash val="solid"/>
            <a:round/>
            <a:headEnd type="none" w="med" len="med"/>
            <a:tailEnd type="triangle"/>
          </a:ln>
          <a:effectLst/>
        </p:spPr>
      </p:cxnSp>
      <p:cxnSp>
        <p:nvCxnSpPr>
          <p:cNvPr id="20" name="Straight Arrow Connector 19"/>
          <p:cNvCxnSpPr>
            <a:endCxn id="15" idx="1"/>
          </p:cNvCxnSpPr>
          <p:nvPr/>
        </p:nvCxnSpPr>
        <p:spPr bwMode="auto">
          <a:xfrm>
            <a:off x="7275606" y="5279247"/>
            <a:ext cx="264828" cy="0"/>
          </a:xfrm>
          <a:prstGeom prst="straightConnector1">
            <a:avLst/>
          </a:prstGeom>
          <a:solidFill>
            <a:schemeClr val="accent1"/>
          </a:solidFill>
          <a:ln w="38100" cap="flat" cmpd="sng" algn="ctr">
            <a:solidFill>
              <a:schemeClr val="bg1">
                <a:lumMod val="65000"/>
              </a:schemeClr>
            </a:solidFill>
            <a:prstDash val="solid"/>
            <a:round/>
            <a:headEnd type="none" w="med" len="med"/>
            <a:tailEnd type="triangle"/>
          </a:ln>
          <a:effectLst/>
        </p:spPr>
      </p:cxnSp>
      <p:cxnSp>
        <p:nvCxnSpPr>
          <p:cNvPr id="21" name="Straight Connector 20"/>
          <p:cNvCxnSpPr/>
          <p:nvPr/>
        </p:nvCxnSpPr>
        <p:spPr bwMode="auto">
          <a:xfrm>
            <a:off x="7402385" y="2398831"/>
            <a:ext cx="0" cy="610176"/>
          </a:xfrm>
          <a:prstGeom prst="line">
            <a:avLst/>
          </a:prstGeom>
          <a:solidFill>
            <a:schemeClr val="accent1"/>
          </a:solidFill>
          <a:ln w="38100" cap="flat" cmpd="sng" algn="ctr">
            <a:solidFill>
              <a:schemeClr val="bg1">
                <a:lumMod val="65000"/>
              </a:schemeClr>
            </a:solidFill>
            <a:prstDash val="solid"/>
            <a:round/>
            <a:headEnd type="none" w="med" len="med"/>
            <a:tailEnd type="triangle" w="med" len="med"/>
          </a:ln>
          <a:effectLst/>
        </p:spPr>
      </p:cxnSp>
      <p:sp>
        <p:nvSpPr>
          <p:cNvPr id="27" name="Rectangle 52"/>
          <p:cNvSpPr>
            <a:spLocks noChangeArrowheads="1"/>
          </p:cNvSpPr>
          <p:nvPr/>
        </p:nvSpPr>
        <p:spPr bwMode="auto">
          <a:xfrm>
            <a:off x="5957103" y="1983316"/>
            <a:ext cx="2890564" cy="415515"/>
          </a:xfrm>
          <a:prstGeom prst="rect">
            <a:avLst/>
          </a:prstGeom>
          <a:solidFill>
            <a:schemeClr val="bg1"/>
          </a:solidFill>
          <a:ln w="12700">
            <a:solidFill>
              <a:schemeClr val="bg1">
                <a:lumMod val="65000"/>
              </a:schemeClr>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400" b="1" dirty="0">
                <a:solidFill>
                  <a:schemeClr val="bg2"/>
                </a:solidFill>
                <a:latin typeface="News Gothic MT" pitchFamily="34" charset="0"/>
              </a:rPr>
              <a:t>Aggregate Production </a:t>
            </a:r>
          </a:p>
          <a:p>
            <a:pPr algn="ctr" eaLnBrk="0" hangingPunct="0">
              <a:lnSpc>
                <a:spcPct val="80000"/>
              </a:lnSpc>
            </a:pPr>
            <a:r>
              <a:rPr lang="en-US" sz="1400" b="1" dirty="0">
                <a:solidFill>
                  <a:schemeClr val="bg2"/>
                </a:solidFill>
                <a:latin typeface="News Gothic MT" pitchFamily="34" charset="0"/>
              </a:rPr>
              <a:t>Planning </a:t>
            </a:r>
            <a:r>
              <a:rPr lang="en-US" sz="1100" b="1" dirty="0">
                <a:solidFill>
                  <a:schemeClr val="bg2"/>
                </a:solidFill>
                <a:latin typeface="News Gothic MT" pitchFamily="34" charset="0"/>
              </a:rPr>
              <a:t>(APP)</a:t>
            </a:r>
          </a:p>
        </p:txBody>
      </p:sp>
      <p:sp>
        <p:nvSpPr>
          <p:cNvPr id="28" name="Rectangle 39"/>
          <p:cNvSpPr>
            <a:spLocks noChangeArrowheads="1"/>
          </p:cNvSpPr>
          <p:nvPr/>
        </p:nvSpPr>
        <p:spPr bwMode="auto">
          <a:xfrm>
            <a:off x="5957103" y="3009007"/>
            <a:ext cx="2890564" cy="440065"/>
          </a:xfrm>
          <a:prstGeom prst="rect">
            <a:avLst/>
          </a:prstGeom>
          <a:solidFill>
            <a:schemeClr val="accent3"/>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400" b="1" dirty="0">
                <a:solidFill>
                  <a:schemeClr val="bg1"/>
                </a:solidFill>
                <a:effectLst>
                  <a:outerShdw blurRad="38100" dist="38100" dir="2700000" algn="tl">
                    <a:srgbClr val="000000">
                      <a:alpha val="43137"/>
                    </a:srgbClr>
                  </a:outerShdw>
                </a:effectLst>
                <a:latin typeface="News Gothic MT" pitchFamily="34" charset="0"/>
              </a:rPr>
              <a:t>Master Production</a:t>
            </a:r>
          </a:p>
          <a:p>
            <a:pPr algn="ctr" eaLnBrk="0" hangingPunct="0">
              <a:lnSpc>
                <a:spcPct val="80000"/>
              </a:lnSpc>
            </a:pPr>
            <a:r>
              <a:rPr lang="en-US" sz="1400" b="1" dirty="0">
                <a:solidFill>
                  <a:schemeClr val="bg1"/>
                </a:solidFill>
                <a:effectLst>
                  <a:outerShdw blurRad="38100" dist="38100" dir="2700000" algn="tl">
                    <a:srgbClr val="000000">
                      <a:alpha val="43137"/>
                    </a:srgbClr>
                  </a:outerShdw>
                </a:effectLst>
                <a:latin typeface="News Gothic MT" pitchFamily="34" charset="0"/>
              </a:rPr>
              <a:t>Scheduling </a:t>
            </a:r>
            <a:r>
              <a:rPr lang="en-US" sz="1100" b="1" dirty="0">
                <a:solidFill>
                  <a:schemeClr val="bg1"/>
                </a:solidFill>
                <a:effectLst>
                  <a:outerShdw blurRad="38100" dist="38100" dir="2700000" algn="tl">
                    <a:srgbClr val="000000">
                      <a:alpha val="43137"/>
                    </a:srgbClr>
                  </a:outerShdw>
                </a:effectLst>
                <a:latin typeface="News Gothic MT" pitchFamily="34" charset="0"/>
              </a:rPr>
              <a:t>(MPS)</a:t>
            </a:r>
          </a:p>
        </p:txBody>
      </p:sp>
      <p:cxnSp>
        <p:nvCxnSpPr>
          <p:cNvPr id="29" name="Elbow Connector 28"/>
          <p:cNvCxnSpPr>
            <a:stCxn id="31" idx="3"/>
          </p:cNvCxnSpPr>
          <p:nvPr/>
        </p:nvCxnSpPr>
        <p:spPr bwMode="auto">
          <a:xfrm>
            <a:off x="7271380" y="4231363"/>
            <a:ext cx="515217" cy="707448"/>
          </a:xfrm>
          <a:prstGeom prst="bentConnector2">
            <a:avLst/>
          </a:prstGeom>
          <a:solidFill>
            <a:schemeClr val="accent1"/>
          </a:solidFill>
          <a:ln w="38100" cap="flat" cmpd="sng" algn="ctr">
            <a:solidFill>
              <a:schemeClr val="bg1">
                <a:lumMod val="65000"/>
              </a:schemeClr>
            </a:solidFill>
            <a:prstDash val="solid"/>
            <a:round/>
            <a:headEnd type="none" w="med" len="med"/>
            <a:tailEnd type="triangle"/>
          </a:ln>
          <a:effectLst/>
        </p:spPr>
      </p:cxnSp>
      <p:sp>
        <p:nvSpPr>
          <p:cNvPr id="30" name="Rectangle 37"/>
          <p:cNvSpPr>
            <a:spLocks noChangeArrowheads="1"/>
          </p:cNvSpPr>
          <p:nvPr/>
        </p:nvSpPr>
        <p:spPr bwMode="auto">
          <a:xfrm>
            <a:off x="5957103" y="4960326"/>
            <a:ext cx="1318503" cy="637843"/>
          </a:xfrm>
          <a:prstGeom prst="rect">
            <a:avLst/>
          </a:prstGeom>
          <a:solidFill>
            <a:schemeClr val="bg1"/>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90000"/>
              </a:lnSpc>
            </a:pPr>
            <a:r>
              <a:rPr lang="en-US" sz="1400" b="1" dirty="0">
                <a:solidFill>
                  <a:schemeClr val="bg2"/>
                </a:solidFill>
                <a:latin typeface="News Gothic MT" pitchFamily="34" charset="0"/>
              </a:rPr>
              <a:t>Suppliers</a:t>
            </a:r>
          </a:p>
        </p:txBody>
      </p:sp>
      <p:sp>
        <p:nvSpPr>
          <p:cNvPr id="31" name="Rectangle 48"/>
          <p:cNvSpPr>
            <a:spLocks noChangeArrowheads="1"/>
          </p:cNvSpPr>
          <p:nvPr/>
        </p:nvSpPr>
        <p:spPr bwMode="auto">
          <a:xfrm>
            <a:off x="5961329" y="3912442"/>
            <a:ext cx="1310051" cy="637843"/>
          </a:xfrm>
          <a:prstGeom prst="rect">
            <a:avLst/>
          </a:prstGeom>
          <a:solidFill>
            <a:schemeClr val="bg1"/>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400" b="1" dirty="0">
                <a:solidFill>
                  <a:schemeClr val="bg2"/>
                </a:solidFill>
                <a:latin typeface="News Gothic MT" pitchFamily="34" charset="0"/>
              </a:rPr>
              <a:t>Material </a:t>
            </a:r>
          </a:p>
          <a:p>
            <a:pPr algn="ctr" eaLnBrk="0" hangingPunct="0">
              <a:lnSpc>
                <a:spcPct val="80000"/>
              </a:lnSpc>
            </a:pPr>
            <a:r>
              <a:rPr lang="en-US" sz="1400" b="1" dirty="0">
                <a:solidFill>
                  <a:schemeClr val="bg2"/>
                </a:solidFill>
                <a:latin typeface="News Gothic MT" pitchFamily="34" charset="0"/>
              </a:rPr>
              <a:t>Requirements </a:t>
            </a:r>
          </a:p>
          <a:p>
            <a:pPr algn="ctr" eaLnBrk="0" hangingPunct="0">
              <a:lnSpc>
                <a:spcPct val="80000"/>
              </a:lnSpc>
            </a:pPr>
            <a:r>
              <a:rPr lang="en-US" sz="1400" b="1" dirty="0">
                <a:solidFill>
                  <a:schemeClr val="bg2"/>
                </a:solidFill>
                <a:latin typeface="News Gothic MT" pitchFamily="34" charset="0"/>
              </a:rPr>
              <a:t>Planning </a:t>
            </a:r>
            <a:r>
              <a:rPr lang="en-US" sz="1100" b="1" dirty="0">
                <a:solidFill>
                  <a:schemeClr val="bg2"/>
                </a:solidFill>
                <a:latin typeface="News Gothic MT" pitchFamily="34" charset="0"/>
              </a:rPr>
              <a:t>(MRP)</a:t>
            </a:r>
          </a:p>
        </p:txBody>
      </p:sp>
      <p:sp>
        <p:nvSpPr>
          <p:cNvPr id="37" name="Rectangle 36"/>
          <p:cNvSpPr/>
          <p:nvPr/>
        </p:nvSpPr>
        <p:spPr>
          <a:xfrm>
            <a:off x="228600" y="5647267"/>
            <a:ext cx="8686800" cy="369332"/>
          </a:xfrm>
          <a:prstGeom prst="rect">
            <a:avLst/>
          </a:prstGeom>
        </p:spPr>
        <p:txBody>
          <a:bodyPr wrap="square">
            <a:spAutoFit/>
          </a:bodyPr>
          <a:lstStyle/>
          <a:p>
            <a:pPr marL="0" lvl="1" indent="0">
              <a:spcBef>
                <a:spcPts val="1200"/>
              </a:spcBef>
              <a:spcAft>
                <a:spcPts val="1200"/>
              </a:spcAft>
              <a:buFont typeface="Wingdings" panose="05000000000000000000" pitchFamily="2" charset="2"/>
              <a:buNone/>
            </a:pPr>
            <a:endParaRPr lang="en-US" altLang="en-US" sz="1800" dirty="0">
              <a:latin typeface="Calibri" panose="020F0502020204030204" pitchFamily="34" charset="0"/>
              <a:ea typeface="ＭＳ Ｐゴシック" panose="020B0600070205080204" pitchFamily="34" charset="-128"/>
            </a:endParaRPr>
          </a:p>
        </p:txBody>
      </p:sp>
      <p:sp>
        <p:nvSpPr>
          <p:cNvPr id="38" name="Rectangle 37"/>
          <p:cNvSpPr/>
          <p:nvPr/>
        </p:nvSpPr>
        <p:spPr>
          <a:xfrm>
            <a:off x="228600" y="2500350"/>
            <a:ext cx="3962400" cy="2985433"/>
          </a:xfrm>
          <a:prstGeom prst="rect">
            <a:avLst/>
          </a:prstGeom>
        </p:spPr>
        <p:txBody>
          <a:bodyPr wrap="square">
            <a:spAutoFit/>
          </a:bodyPr>
          <a:lstStyle/>
          <a:p>
            <a:pPr marL="287338" lvl="1" indent="-287338">
              <a:spcBef>
                <a:spcPts val="1200"/>
              </a:spcBef>
              <a:spcAft>
                <a:spcPts val="1200"/>
              </a:spcAft>
              <a:buClr>
                <a:srgbClr val="923222"/>
              </a:buClr>
              <a:buSzPct val="110000"/>
              <a:buFont typeface="Wingdings" panose="05000000000000000000" pitchFamily="2" charset="2"/>
              <a:buChar char="§"/>
            </a:pPr>
            <a:r>
              <a:rPr lang="en-US" altLang="en-US" dirty="0">
                <a:latin typeface="Calibri" panose="020F0502020204030204" pitchFamily="34" charset="0"/>
                <a:ea typeface="ＭＳ Ｐゴシック" panose="020B0600070205080204" pitchFamily="34" charset="-128"/>
              </a:rPr>
              <a:t>More detailed than APP and easier to plan under stable demand.</a:t>
            </a:r>
          </a:p>
          <a:p>
            <a:pPr marL="287338" lvl="1" indent="-287338">
              <a:spcBef>
                <a:spcPts val="1200"/>
              </a:spcBef>
              <a:spcAft>
                <a:spcPts val="1200"/>
              </a:spcAft>
              <a:buClr>
                <a:srgbClr val="923222"/>
              </a:buClr>
              <a:buSzPct val="110000"/>
              <a:buFont typeface="Wingdings" panose="05000000000000000000" pitchFamily="2" charset="2"/>
              <a:buChar char="§"/>
            </a:pPr>
            <a:r>
              <a:rPr lang="en-US" altLang="en-US" dirty="0">
                <a:latin typeface="Calibri" panose="020F0502020204030204" pitchFamily="34" charset="0"/>
                <a:ea typeface="ＭＳ Ｐゴシック" panose="020B0600070205080204" pitchFamily="34" charset="-128"/>
              </a:rPr>
              <a:t>Planning horizon is shorter than APP, but longer than the lead time to produce the item.</a:t>
            </a: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3" name="Slide Number Placeholder 2"/>
          <p:cNvSpPr>
            <a:spLocks noGrp="1"/>
          </p:cNvSpPr>
          <p:nvPr>
            <p:ph type="sldNum" sz="quarter" idx="4"/>
          </p:nvPr>
        </p:nvSpPr>
        <p:spPr/>
        <p:txBody>
          <a:bodyPr/>
          <a:lstStyle/>
          <a:p>
            <a:fld id="{E66AA3EA-0569-43EF-BBA3-83FDB109D582}" type="slidenum">
              <a:rPr lang="en-US" smtClean="0"/>
              <a:pPr/>
              <a:t>12</a:t>
            </a:fld>
            <a:endParaRPr lang="en-US" dirty="0"/>
          </a:p>
        </p:txBody>
      </p:sp>
    </p:spTree>
    <p:extLst>
      <p:ext uri="{BB962C8B-B14F-4D97-AF65-F5344CB8AC3E}">
        <p14:creationId xmlns:p14="http://schemas.microsoft.com/office/powerpoint/2010/main" val="2073357654"/>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 calcmode="lin" valueType="num">
                                      <p:cBhvr additive="base">
                                        <p:cTn id="7" dur="500" fill="hold"/>
                                        <p:tgtEl>
                                          <p:spTgt spid="256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8">
                                            <p:txEl>
                                              <p:pRg st="0" end="0"/>
                                            </p:txEl>
                                          </p:spTgt>
                                        </p:tgtEl>
                                        <p:attrNameLst>
                                          <p:attrName>style.visibility</p:attrName>
                                        </p:attrNameLst>
                                      </p:cBhvr>
                                      <p:to>
                                        <p:strVal val="visible"/>
                                      </p:to>
                                    </p:set>
                                    <p:anim calcmode="lin" valueType="num">
                                      <p:cBhvr additive="base">
                                        <p:cTn id="13" dur="500" fill="hold"/>
                                        <p:tgtEl>
                                          <p:spTgt spid="3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8">
                                            <p:txEl>
                                              <p:pRg st="1" end="1"/>
                                            </p:txEl>
                                          </p:spTgt>
                                        </p:tgtEl>
                                        <p:attrNameLst>
                                          <p:attrName>style.visibility</p:attrName>
                                        </p:attrNameLst>
                                      </p:cBhvr>
                                      <p:to>
                                        <p:strVal val="visible"/>
                                      </p:to>
                                    </p:set>
                                    <p:anim calcmode="lin" valueType="num">
                                      <p:cBhvr additive="base">
                                        <p:cTn id="19" dur="500" fill="hold"/>
                                        <p:tgtEl>
                                          <p:spTgt spid="38">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28600" y="119390"/>
            <a:ext cx="8872942" cy="523220"/>
          </a:xfrm>
          <a:prstGeom prst="rect">
            <a:avLst/>
          </a:prstGeom>
          <a:noFill/>
        </p:spPr>
        <p:txBody>
          <a:bodyPr wrap="none" rtlCol="0">
            <a:spAutoFit/>
          </a:bodyPr>
          <a:lstStyle/>
          <a:p>
            <a:r>
              <a:rPr lang="en-US" sz="2800" b="1" dirty="0">
                <a:solidFill>
                  <a:srgbClr val="923222"/>
                </a:solidFill>
                <a:effectLst>
                  <a:outerShdw blurRad="38100" dist="38100" dir="2700000" algn="tl">
                    <a:srgbClr val="C0C0C0"/>
                  </a:outerShdw>
                </a:effectLst>
                <a:latin typeface="Calibri" panose="020F0502020204030204" pitchFamily="34" charset="0"/>
                <a:cs typeface="Arial" charset="0"/>
              </a:rPr>
              <a:t>Aggregate Production Plan </a:t>
            </a:r>
            <a:r>
              <a:rPr lang="en-US" sz="2800" b="1" dirty="0">
                <a:solidFill>
                  <a:srgbClr val="923222"/>
                </a:solidFill>
                <a:effectLst>
                  <a:outerShdw blurRad="38100" dist="38100" dir="2700000" algn="tl">
                    <a:srgbClr val="C0C0C0"/>
                  </a:outerShdw>
                </a:effectLst>
                <a:latin typeface="Calibri" panose="020F0502020204030204" pitchFamily="34" charset="0"/>
                <a:cs typeface="Arial" charset="0"/>
                <a:sym typeface="Wingdings" panose="05000000000000000000" pitchFamily="2" charset="2"/>
              </a:rPr>
              <a:t> </a:t>
            </a:r>
            <a:r>
              <a:rPr lang="en-US" sz="2800" b="1" dirty="0">
                <a:solidFill>
                  <a:srgbClr val="923222"/>
                </a:solidFill>
                <a:effectLst>
                  <a:outerShdw blurRad="38100" dist="38100" dir="2700000" algn="tl">
                    <a:srgbClr val="C0C0C0"/>
                  </a:outerShdw>
                </a:effectLst>
                <a:latin typeface="Calibri" panose="020F0502020204030204" pitchFamily="34" charset="0"/>
                <a:cs typeface="Arial" charset="0"/>
              </a:rPr>
              <a:t>Master Production Schedule</a:t>
            </a:r>
          </a:p>
        </p:txBody>
      </p:sp>
      <p:sp>
        <p:nvSpPr>
          <p:cNvPr id="3" name="Footer Placeholder 2"/>
          <p:cNvSpPr>
            <a:spLocks noGrp="1"/>
          </p:cNvSpPr>
          <p:nvPr>
            <p:ph type="ftr" sz="quarter" idx="3"/>
          </p:nvPr>
        </p:nvSpPr>
        <p:spPr/>
        <p:txBody>
          <a:bodyPr/>
          <a:lstStyle/>
          <a:p>
            <a:r>
              <a:rPr lang="en-US"/>
              <a:t>Fundamentals of Supply Chain Management – McLaury/Spiegle</a:t>
            </a:r>
            <a:endParaRPr lang="en-US" dirty="0"/>
          </a:p>
        </p:txBody>
      </p:sp>
      <p:sp>
        <p:nvSpPr>
          <p:cNvPr id="4" name="Slide Number Placeholder 3"/>
          <p:cNvSpPr>
            <a:spLocks noGrp="1"/>
          </p:cNvSpPr>
          <p:nvPr>
            <p:ph type="sldNum" sz="quarter" idx="4"/>
          </p:nvPr>
        </p:nvSpPr>
        <p:spPr/>
        <p:txBody>
          <a:bodyPr/>
          <a:lstStyle/>
          <a:p>
            <a:fld id="{E66AA3EA-0569-43EF-BBA3-83FDB109D582}" type="slidenum">
              <a:rPr lang="en-US" smtClean="0"/>
              <a:pPr/>
              <a:t>13</a:t>
            </a:fld>
            <a:endParaRPr lang="en-US" dirty="0"/>
          </a:p>
        </p:txBody>
      </p:sp>
      <p:sp>
        <p:nvSpPr>
          <p:cNvPr id="7" name="TextBox 6"/>
          <p:cNvSpPr txBox="1"/>
          <p:nvPr/>
        </p:nvSpPr>
        <p:spPr>
          <a:xfrm rot="19786633">
            <a:off x="38100" y="4313366"/>
            <a:ext cx="1143000" cy="430887"/>
          </a:xfrm>
          <a:prstGeom prst="rect">
            <a:avLst/>
          </a:prstGeom>
          <a:solidFill>
            <a:srgbClr val="FFFF00"/>
          </a:solidFill>
        </p:spPr>
        <p:txBody>
          <a:bodyPr wrap="square" lIns="0" tIns="0" rIns="0" bIns="0" rtlCol="0">
            <a:spAutoFit/>
          </a:bodyPr>
          <a:lstStyle/>
          <a:p>
            <a:pPr algn="ctr"/>
            <a:r>
              <a:rPr lang="en-US" sz="1400" dirty="0">
                <a:latin typeface="Calibri" panose="020F0502020204030204" pitchFamily="34" charset="0"/>
                <a:cs typeface="Calibri" panose="020F0502020204030204" pitchFamily="34" charset="0"/>
              </a:rPr>
              <a:t>Textbook </a:t>
            </a:r>
          </a:p>
          <a:p>
            <a:pPr algn="ctr"/>
            <a:r>
              <a:rPr lang="en-US" sz="1400" dirty="0">
                <a:latin typeface="Calibri" panose="020F0502020204030204" pitchFamily="34" charset="0"/>
                <a:cs typeface="Calibri" panose="020F0502020204030204" pitchFamily="34" charset="0"/>
              </a:rPr>
              <a:t>Pages 73 - 75</a:t>
            </a:r>
          </a:p>
        </p:txBody>
      </p:sp>
      <p:sp>
        <p:nvSpPr>
          <p:cNvPr id="18" name="Rectangle 17"/>
          <p:cNvSpPr/>
          <p:nvPr/>
        </p:nvSpPr>
        <p:spPr>
          <a:xfrm>
            <a:off x="177799" y="5181600"/>
            <a:ext cx="8788401" cy="261610"/>
          </a:xfrm>
          <a:prstGeom prst="rect">
            <a:avLst/>
          </a:prstGeom>
          <a:solidFill>
            <a:srgbClr val="99CCFF"/>
          </a:solidFill>
        </p:spPr>
        <p:txBody>
          <a:bodyPr wrap="square">
            <a:spAutoFit/>
          </a:bodyPr>
          <a:lstStyle/>
          <a:p>
            <a:pPr algn="ctr"/>
            <a:r>
              <a:rPr lang="en-US" sz="1100" b="1" dirty="0">
                <a:latin typeface="Calibri" panose="020F0502020204030204" pitchFamily="34" charset="0"/>
                <a:cs typeface="Calibri" panose="020F0502020204030204" pitchFamily="34" charset="0"/>
              </a:rPr>
              <a:t>Projected Available Balance </a:t>
            </a:r>
            <a:r>
              <a:rPr lang="en-US" sz="800" i="1" dirty="0">
                <a:latin typeface="Calibri" panose="020F0502020204030204" pitchFamily="34" charset="0"/>
                <a:cs typeface="Calibri" panose="020F0502020204030204" pitchFamily="34" charset="0"/>
              </a:rPr>
              <a:t>(from the previous period) </a:t>
            </a:r>
            <a:r>
              <a:rPr lang="en-US" sz="1100" b="1" dirty="0">
                <a:solidFill>
                  <a:srgbClr val="FF0000"/>
                </a:solidFill>
                <a:latin typeface="Calibri" panose="020F0502020204030204" pitchFamily="34" charset="0"/>
                <a:cs typeface="Calibri" panose="020F0502020204030204" pitchFamily="34" charset="0"/>
              </a:rPr>
              <a:t>+</a:t>
            </a:r>
            <a:r>
              <a:rPr lang="en-US" sz="1100" dirty="0">
                <a:latin typeface="Calibri" panose="020F0502020204030204" pitchFamily="34" charset="0"/>
                <a:cs typeface="Calibri" panose="020F0502020204030204" pitchFamily="34" charset="0"/>
              </a:rPr>
              <a:t> </a:t>
            </a:r>
            <a:r>
              <a:rPr lang="en-US" sz="1100" b="1" dirty="0">
                <a:latin typeface="Calibri" panose="020F0502020204030204" pitchFamily="34" charset="0"/>
                <a:cs typeface="Calibri" panose="020F0502020204030204" pitchFamily="34" charset="0"/>
              </a:rPr>
              <a:t>MPS</a:t>
            </a:r>
            <a:r>
              <a:rPr lang="en-US" sz="1100" dirty="0">
                <a:latin typeface="Calibri" panose="020F0502020204030204" pitchFamily="34" charset="0"/>
                <a:cs typeface="Calibri" panose="020F0502020204030204" pitchFamily="34" charset="0"/>
              </a:rPr>
              <a:t> </a:t>
            </a:r>
            <a:r>
              <a:rPr lang="en-US" sz="1100" b="1" dirty="0">
                <a:solidFill>
                  <a:srgbClr val="FF0000"/>
                </a:solidFill>
                <a:latin typeface="Calibri" panose="020F0502020204030204" pitchFamily="34" charset="0"/>
                <a:cs typeface="Calibri" panose="020F0502020204030204" pitchFamily="34" charset="0"/>
              </a:rPr>
              <a:t>–</a:t>
            </a:r>
            <a:r>
              <a:rPr lang="en-US" sz="1100" dirty="0">
                <a:latin typeface="Calibri" panose="020F0502020204030204" pitchFamily="34" charset="0"/>
                <a:cs typeface="Calibri" panose="020F0502020204030204" pitchFamily="34" charset="0"/>
              </a:rPr>
              <a:t> </a:t>
            </a:r>
            <a:r>
              <a:rPr lang="en-US" sz="1100" b="1" dirty="0">
                <a:latin typeface="Calibri" panose="020F0502020204030204" pitchFamily="34" charset="0"/>
                <a:cs typeface="Calibri" panose="020F0502020204030204" pitchFamily="34" charset="0"/>
              </a:rPr>
              <a:t>Customer Orders </a:t>
            </a:r>
            <a:r>
              <a:rPr lang="en-US" sz="1100" u="sng" dirty="0">
                <a:latin typeface="Calibri" panose="020F0502020204030204" pitchFamily="34" charset="0"/>
                <a:cs typeface="Calibri" panose="020F0502020204030204" pitchFamily="34" charset="0"/>
              </a:rPr>
              <a:t>or</a:t>
            </a:r>
            <a:r>
              <a:rPr lang="en-US" sz="1100" dirty="0">
                <a:latin typeface="Calibri" panose="020F0502020204030204" pitchFamily="34" charset="0"/>
                <a:cs typeface="Calibri" panose="020F0502020204030204" pitchFamily="34" charset="0"/>
              </a:rPr>
              <a:t> </a:t>
            </a:r>
            <a:r>
              <a:rPr lang="en-US" sz="1100" b="1" dirty="0">
                <a:latin typeface="Calibri" panose="020F0502020204030204" pitchFamily="34" charset="0"/>
                <a:cs typeface="Calibri" panose="020F0502020204030204" pitchFamily="34" charset="0"/>
              </a:rPr>
              <a:t>Forecast</a:t>
            </a:r>
            <a:r>
              <a:rPr lang="en-US" sz="1100" dirty="0">
                <a:latin typeface="Calibri" panose="020F0502020204030204" pitchFamily="34" charset="0"/>
                <a:cs typeface="Calibri" panose="020F0502020204030204" pitchFamily="34" charset="0"/>
              </a:rPr>
              <a:t> </a:t>
            </a:r>
            <a:r>
              <a:rPr lang="en-US" sz="800" i="1" dirty="0">
                <a:latin typeface="Calibri" panose="020F0502020204030204" pitchFamily="34" charset="0"/>
                <a:cs typeface="Calibri" panose="020F0502020204030204" pitchFamily="34" charset="0"/>
              </a:rPr>
              <a:t>(for the current period) </a:t>
            </a:r>
            <a:r>
              <a:rPr lang="en-US" sz="1100" b="1" dirty="0">
                <a:solidFill>
                  <a:srgbClr val="FF0000"/>
                </a:solidFill>
                <a:latin typeface="Calibri" panose="020F0502020204030204" pitchFamily="34" charset="0"/>
                <a:cs typeface="Calibri" panose="020F0502020204030204" pitchFamily="34" charset="0"/>
              </a:rPr>
              <a:t>=</a:t>
            </a:r>
            <a:r>
              <a:rPr lang="en-US" sz="1100" dirty="0">
                <a:solidFill>
                  <a:srgbClr val="FF0000"/>
                </a:solidFill>
                <a:latin typeface="Calibri" panose="020F0502020204030204" pitchFamily="34" charset="0"/>
                <a:cs typeface="Calibri" panose="020F0502020204030204" pitchFamily="34" charset="0"/>
              </a:rPr>
              <a:t> </a:t>
            </a:r>
            <a:r>
              <a:rPr lang="en-US" sz="1100" b="1" dirty="0">
                <a:latin typeface="Calibri" panose="020F0502020204030204" pitchFamily="34" charset="0"/>
                <a:cs typeface="Calibri" panose="020F0502020204030204" pitchFamily="34" charset="0"/>
              </a:rPr>
              <a:t>Projected Available Balance </a:t>
            </a:r>
            <a:r>
              <a:rPr lang="en-US" sz="800" i="1" dirty="0">
                <a:latin typeface="Calibri" panose="020F0502020204030204" pitchFamily="34" charset="0"/>
                <a:cs typeface="Calibri" panose="020F0502020204030204" pitchFamily="34" charset="0"/>
              </a:rPr>
              <a:t>(for the current period)</a:t>
            </a:r>
          </a:p>
        </p:txBody>
      </p:sp>
      <p:pic>
        <p:nvPicPr>
          <p:cNvPr id="24" name="Picture 23"/>
          <p:cNvPicPr>
            <a:picLocks noChangeAspect="1"/>
          </p:cNvPicPr>
          <p:nvPr/>
        </p:nvPicPr>
        <p:blipFill>
          <a:blip r:embed="rId2"/>
          <a:stretch>
            <a:fillRect/>
          </a:stretch>
        </p:blipFill>
        <p:spPr>
          <a:xfrm>
            <a:off x="2082468" y="5491074"/>
            <a:ext cx="5187654" cy="1146792"/>
          </a:xfrm>
          <a:prstGeom prst="rect">
            <a:avLst/>
          </a:prstGeom>
        </p:spPr>
      </p:pic>
      <p:pic>
        <p:nvPicPr>
          <p:cNvPr id="2" name="Picture 1"/>
          <p:cNvPicPr>
            <a:picLocks noChangeAspect="1"/>
          </p:cNvPicPr>
          <p:nvPr/>
        </p:nvPicPr>
        <p:blipFill>
          <a:blip r:embed="rId3"/>
          <a:stretch>
            <a:fillRect/>
          </a:stretch>
        </p:blipFill>
        <p:spPr>
          <a:xfrm>
            <a:off x="808227" y="685800"/>
            <a:ext cx="7573773" cy="4572000"/>
          </a:xfrm>
          <a:prstGeom prst="rect">
            <a:avLst/>
          </a:prstGeom>
        </p:spPr>
      </p:pic>
    </p:spTree>
    <p:extLst>
      <p:ext uri="{BB962C8B-B14F-4D97-AF65-F5344CB8AC3E}">
        <p14:creationId xmlns:p14="http://schemas.microsoft.com/office/powerpoint/2010/main" val="1012159057"/>
      </p:ext>
    </p:extLst>
  </p:cSld>
  <p:clrMapOvr>
    <a:masterClrMapping/>
  </p:clrMapOvr>
  <p:transition spd="slow">
    <p:pull dir="l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xfrm>
            <a:off x="228600" y="132598"/>
            <a:ext cx="876353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Time Fencing</a:t>
            </a:r>
            <a:endParaRPr lang="en-US" altLang="en-US" sz="2000" b="0" i="1"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endParaRPr>
          </a:p>
        </p:txBody>
      </p:sp>
      <p:sp>
        <p:nvSpPr>
          <p:cNvPr id="26627" name="Rectangle 3"/>
          <p:cNvSpPr>
            <a:spLocks noGrp="1" noChangeArrowheads="1"/>
          </p:cNvSpPr>
          <p:nvPr>
            <p:ph type="body" idx="4294967295"/>
          </p:nvPr>
        </p:nvSpPr>
        <p:spPr>
          <a:xfrm>
            <a:off x="228600" y="914400"/>
            <a:ext cx="8678332" cy="4868333"/>
          </a:xfrm>
        </p:spPr>
        <p:txBody>
          <a:bodyPr/>
          <a:lstStyle/>
          <a:p>
            <a:pPr marL="287338" lvl="1" indent="-282575">
              <a:lnSpc>
                <a:spcPct val="90000"/>
              </a:lnSpc>
              <a:spcBef>
                <a:spcPts val="600"/>
              </a:spcBef>
              <a:spcAft>
                <a:spcPts val="600"/>
              </a:spcAft>
              <a:buClr>
                <a:srgbClr val="923222"/>
              </a:buClr>
              <a:buSzPct val="115000"/>
              <a:buFont typeface="Wingdings" panose="05000000000000000000" pitchFamily="2" charset="2"/>
              <a:buChar char="§"/>
            </a:pPr>
            <a:r>
              <a:rPr lang="en-US" altLang="en-US" sz="2000" dirty="0">
                <a:latin typeface="Calibri" panose="020F0502020204030204" pitchFamily="34" charset="0"/>
                <a:ea typeface="ＭＳ Ｐゴシック" panose="020B0600070205080204" pitchFamily="34" charset="-128"/>
              </a:rPr>
              <a:t>MPS (Master Production Schedule) is the plan that drives the business.  Even </a:t>
            </a:r>
            <a:r>
              <a:rPr lang="en-US" altLang="en-US" sz="2000" u="sng" dirty="0">
                <a:latin typeface="Calibri" panose="020F0502020204030204" pitchFamily="34" charset="0"/>
                <a:ea typeface="ＭＳ Ｐゴシック" panose="020B0600070205080204" pitchFamily="34" charset="-128"/>
              </a:rPr>
              <a:t>small changes in the MPS can cause major changes </a:t>
            </a:r>
            <a:r>
              <a:rPr lang="en-US" altLang="en-US" sz="2000" dirty="0">
                <a:latin typeface="Calibri" panose="020F0502020204030204" pitchFamily="34" charset="0"/>
                <a:ea typeface="ＭＳ Ｐゴシック" panose="020B0600070205080204" pitchFamily="34" charset="-128"/>
              </a:rPr>
              <a:t>in the detailed production schedule and the material plan, creating nervousness and instability throughout the organization</a:t>
            </a:r>
          </a:p>
          <a:p>
            <a:pPr marL="287338" lvl="1" indent="-282575">
              <a:lnSpc>
                <a:spcPct val="90000"/>
              </a:lnSpc>
              <a:spcBef>
                <a:spcPts val="600"/>
              </a:spcBef>
              <a:spcAft>
                <a:spcPts val="600"/>
              </a:spcAft>
              <a:buClr>
                <a:srgbClr val="923222"/>
              </a:buClr>
              <a:buSzPct val="115000"/>
              <a:buFont typeface="Wingdings" panose="05000000000000000000" pitchFamily="2" charset="2"/>
              <a:buChar char="§"/>
            </a:pPr>
            <a:r>
              <a:rPr lang="en-US" altLang="en-US" sz="2000" dirty="0">
                <a:latin typeface="Calibri" panose="020F0502020204030204" pitchFamily="34" charset="0"/>
                <a:ea typeface="ＭＳ Ｐゴシック" panose="020B0600070205080204" pitchFamily="34" charset="-128"/>
              </a:rPr>
              <a:t>To minimize the impact of changes in the MPS, many companies have adopted a time fencing policy separating the planning horizon into a firmed time period and a planned time period:</a:t>
            </a:r>
          </a:p>
          <a:p>
            <a:pPr marL="287337" lvl="1" indent="0">
              <a:spcBef>
                <a:spcPts val="600"/>
              </a:spcBef>
              <a:spcAft>
                <a:spcPts val="0"/>
              </a:spcAft>
              <a:buNone/>
            </a:pPr>
            <a:r>
              <a:rPr lang="en-US" sz="2000" b="1" dirty="0">
                <a:solidFill>
                  <a:srgbClr val="923222"/>
                </a:solidFill>
                <a:effectLst>
                  <a:outerShdw blurRad="38100" dist="38100" dir="2700000" algn="tl">
                    <a:srgbClr val="000000">
                      <a:alpha val="43137"/>
                    </a:srgbClr>
                  </a:outerShdw>
                </a:effectLst>
                <a:latin typeface="Calibri" panose="020F0502020204030204" pitchFamily="34" charset="0"/>
              </a:rPr>
              <a:t>Firmed Time Period</a:t>
            </a:r>
            <a:r>
              <a:rPr lang="en-US" sz="2000" dirty="0">
                <a:latin typeface="Calibri" panose="020F0502020204030204" pitchFamily="34" charset="0"/>
              </a:rPr>
              <a:t>:  From the current date out several weeks into future. </a:t>
            </a:r>
          </a:p>
          <a:p>
            <a:pPr marL="804863" lvl="2" indent="-347663">
              <a:spcBef>
                <a:spcPts val="300"/>
              </a:spcBef>
              <a:spcAft>
                <a:spcPts val="300"/>
              </a:spcAft>
              <a:buFont typeface="Calibri" panose="020F0502020204030204" pitchFamily="34" charset="0"/>
              <a:buChar char="—"/>
            </a:pPr>
            <a:r>
              <a:rPr lang="en-US" dirty="0">
                <a:solidFill>
                  <a:schemeClr val="tx1"/>
                </a:solidFill>
                <a:latin typeface="Calibri" panose="020F0502020204030204" pitchFamily="34" charset="0"/>
              </a:rPr>
              <a:t>A </a:t>
            </a:r>
            <a:r>
              <a:rPr lang="en-US" b="1" dirty="0">
                <a:effectLst>
                  <a:outerShdw blurRad="38100" dist="38100" dir="2700000" algn="tl">
                    <a:srgbClr val="000000">
                      <a:alpha val="43137"/>
                    </a:srgbClr>
                  </a:outerShdw>
                </a:effectLst>
                <a:latin typeface="Calibri" panose="020F0502020204030204" pitchFamily="34" charset="0"/>
              </a:rPr>
              <a:t>Firm Time Fence </a:t>
            </a:r>
            <a:r>
              <a:rPr lang="en-US" dirty="0">
                <a:solidFill>
                  <a:schemeClr val="tx1"/>
                </a:solidFill>
                <a:latin typeface="Calibri" panose="020F0502020204030204" pitchFamily="34" charset="0"/>
              </a:rPr>
              <a:t>is established at the outer limit of this period to signify when </a:t>
            </a:r>
            <a:r>
              <a:rPr lang="en-US" u="sng" dirty="0">
                <a:solidFill>
                  <a:schemeClr val="tx1"/>
                </a:solidFill>
                <a:latin typeface="Calibri" panose="020F0502020204030204" pitchFamily="34" charset="0"/>
              </a:rPr>
              <a:t>changes can no longer be made </a:t>
            </a:r>
            <a:r>
              <a:rPr lang="en-US" dirty="0">
                <a:solidFill>
                  <a:schemeClr val="tx1"/>
                </a:solidFill>
                <a:latin typeface="Calibri" panose="020F0502020204030204" pitchFamily="34" charset="0"/>
              </a:rPr>
              <a:t>automatically by t</a:t>
            </a:r>
            <a:r>
              <a:rPr lang="en-US" dirty="0">
                <a:latin typeface="Calibri" panose="020F0502020204030204" pitchFamily="34" charset="0"/>
              </a:rPr>
              <a:t>he planning system.</a:t>
            </a:r>
            <a:endParaRPr lang="en-US" dirty="0">
              <a:solidFill>
                <a:schemeClr val="tx1"/>
              </a:solidFill>
              <a:latin typeface="Calibri" panose="020F0502020204030204" pitchFamily="34" charset="0"/>
            </a:endParaRPr>
          </a:p>
          <a:p>
            <a:pPr marL="804863" lvl="2" indent="-347663">
              <a:spcBef>
                <a:spcPts val="300"/>
              </a:spcBef>
              <a:spcAft>
                <a:spcPts val="300"/>
              </a:spcAft>
              <a:buFont typeface="Calibri" panose="020F0502020204030204" pitchFamily="34" charset="0"/>
              <a:buChar char="—"/>
            </a:pPr>
            <a:r>
              <a:rPr lang="en-US" dirty="0">
                <a:solidFill>
                  <a:schemeClr val="tx1"/>
                </a:solidFill>
                <a:latin typeface="Calibri" panose="020F0502020204030204" pitchFamily="34" charset="0"/>
              </a:rPr>
              <a:t>Recommended changes must be reviewed and approved by the M</a:t>
            </a:r>
            <a:r>
              <a:rPr lang="en-US" dirty="0">
                <a:latin typeface="Calibri" panose="020F0502020204030204" pitchFamily="34" charset="0"/>
              </a:rPr>
              <a:t>aster Production Scheduler or </a:t>
            </a:r>
            <a:r>
              <a:rPr lang="en-US" dirty="0">
                <a:solidFill>
                  <a:schemeClr val="tx1"/>
                </a:solidFill>
                <a:latin typeface="Calibri" panose="020F0502020204030204" pitchFamily="34" charset="0"/>
              </a:rPr>
              <a:t>an authorized person(s).</a:t>
            </a:r>
          </a:p>
          <a:p>
            <a:pPr marL="287337" lvl="1" indent="0">
              <a:spcBef>
                <a:spcPts val="600"/>
              </a:spcBef>
              <a:spcAft>
                <a:spcPts val="0"/>
              </a:spcAft>
              <a:buNone/>
            </a:pPr>
            <a:r>
              <a:rPr lang="en-US" sz="2000" b="1" dirty="0">
                <a:solidFill>
                  <a:srgbClr val="923222"/>
                </a:solidFill>
                <a:effectLst>
                  <a:outerShdw blurRad="38100" dist="38100" dir="2700000" algn="tl">
                    <a:srgbClr val="000000">
                      <a:alpha val="43137"/>
                    </a:srgbClr>
                  </a:outerShdw>
                </a:effectLst>
                <a:latin typeface="Calibri" panose="020F0502020204030204" pitchFamily="34" charset="0"/>
              </a:rPr>
              <a:t>Planned Time Period</a:t>
            </a:r>
            <a:r>
              <a:rPr lang="en-US" dirty="0">
                <a:latin typeface="Calibri" panose="020F0502020204030204" pitchFamily="34" charset="0"/>
              </a:rPr>
              <a:t>: From the end of the Firmed Time Period to the end of the planning horizon.</a:t>
            </a:r>
            <a:endParaRPr lang="en-US" sz="1600" dirty="0">
              <a:latin typeface="Calibri" panose="020F0502020204030204" pitchFamily="34" charset="0"/>
            </a:endParaRPr>
          </a:p>
          <a:p>
            <a:pPr marL="804863" lvl="2" indent="-347663">
              <a:spcBef>
                <a:spcPts val="300"/>
              </a:spcBef>
              <a:spcAft>
                <a:spcPts val="0"/>
              </a:spcAft>
              <a:buFont typeface="Calibri" panose="020F0502020204030204" pitchFamily="34" charset="0"/>
              <a:buChar char="—"/>
            </a:pPr>
            <a:r>
              <a:rPr lang="en-US" dirty="0">
                <a:latin typeface="Calibri" panose="020F0502020204030204" pitchFamily="34" charset="0"/>
              </a:rPr>
              <a:t>The planning system is </a:t>
            </a:r>
            <a:r>
              <a:rPr lang="en-US" u="sng" dirty="0">
                <a:latin typeface="Calibri" panose="020F0502020204030204" pitchFamily="34" charset="0"/>
              </a:rPr>
              <a:t>free to create or make changes </a:t>
            </a:r>
            <a:r>
              <a:rPr lang="en-US" dirty="0">
                <a:latin typeface="Calibri" panose="020F0502020204030204" pitchFamily="34" charset="0"/>
              </a:rPr>
              <a:t>to planned orders in this time period based on the data and planning logic determined by the company.</a:t>
            </a:r>
          </a:p>
        </p:txBody>
      </p:sp>
      <p:grpSp>
        <p:nvGrpSpPr>
          <p:cNvPr id="26624" name="Group 26623"/>
          <p:cNvGrpSpPr/>
          <p:nvPr/>
        </p:nvGrpSpPr>
        <p:grpSpPr>
          <a:xfrm>
            <a:off x="297779" y="5769689"/>
            <a:ext cx="8692656" cy="830822"/>
            <a:chOff x="280846" y="5896689"/>
            <a:chExt cx="8692656" cy="830822"/>
          </a:xfrm>
        </p:grpSpPr>
        <p:sp>
          <p:nvSpPr>
            <p:cNvPr id="4" name="Rectangle 3"/>
            <p:cNvSpPr/>
            <p:nvPr/>
          </p:nvSpPr>
          <p:spPr bwMode="auto">
            <a:xfrm>
              <a:off x="838200" y="6155267"/>
              <a:ext cx="2133600" cy="262467"/>
            </a:xfrm>
            <a:prstGeom prst="rect">
              <a:avLst/>
            </a:prstGeom>
            <a:solidFill>
              <a:srgbClr val="923222"/>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outerShdw blurRad="38100" dist="38100" dir="2700000" algn="tl">
                      <a:srgbClr val="000000">
                        <a:alpha val="43137"/>
                      </a:srgbClr>
                    </a:outerShdw>
                  </a:effectLst>
                  <a:latin typeface="Calibri" panose="020F0502020204030204" pitchFamily="34" charset="0"/>
                </a:rPr>
                <a:t>Firmed Time Period</a:t>
              </a:r>
            </a:p>
          </p:txBody>
        </p:sp>
        <p:sp>
          <p:nvSpPr>
            <p:cNvPr id="7" name="Rectangle 6"/>
            <p:cNvSpPr/>
            <p:nvPr/>
          </p:nvSpPr>
          <p:spPr bwMode="auto">
            <a:xfrm>
              <a:off x="2971800" y="6155267"/>
              <a:ext cx="5943600" cy="262467"/>
            </a:xfrm>
            <a:prstGeom prst="rect">
              <a:avLst/>
            </a:prstGeom>
            <a:solidFill>
              <a:schemeClr val="accent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outerShdw blurRad="38100" dist="38100" dir="2700000" algn="tl">
                      <a:srgbClr val="000000">
                        <a:alpha val="43137"/>
                      </a:srgbClr>
                    </a:outerShdw>
                  </a:effectLst>
                  <a:latin typeface="Calibri" panose="020F0502020204030204" pitchFamily="34" charset="0"/>
                </a:rPr>
                <a:t>Planned Time Period</a:t>
              </a:r>
            </a:p>
          </p:txBody>
        </p:sp>
        <p:sp>
          <p:nvSpPr>
            <p:cNvPr id="5" name="TextBox 4"/>
            <p:cNvSpPr txBox="1"/>
            <p:nvPr/>
          </p:nvSpPr>
          <p:spPr>
            <a:xfrm>
              <a:off x="280846" y="6404346"/>
              <a:ext cx="490840" cy="246221"/>
            </a:xfrm>
            <a:prstGeom prst="rect">
              <a:avLst/>
            </a:prstGeom>
            <a:noFill/>
          </p:spPr>
          <p:txBody>
            <a:bodyPr wrap="none" rtlCol="0">
              <a:spAutoFit/>
            </a:bodyPr>
            <a:lstStyle/>
            <a:p>
              <a:r>
                <a:rPr lang="en-US" sz="1000" b="1" dirty="0">
                  <a:latin typeface="Calibri" panose="020F0502020204030204" pitchFamily="34" charset="0"/>
                </a:rPr>
                <a:t>Week</a:t>
              </a:r>
            </a:p>
          </p:txBody>
        </p:sp>
        <p:cxnSp>
          <p:nvCxnSpPr>
            <p:cNvPr id="12" name="Straight Connector 11"/>
            <p:cNvCxnSpPr/>
            <p:nvPr/>
          </p:nvCxnSpPr>
          <p:spPr bwMode="auto">
            <a:xfrm>
              <a:off x="838200" y="6443135"/>
              <a:ext cx="0" cy="14816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a:off x="1263056" y="6443135"/>
              <a:ext cx="0" cy="14816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6" name="Straight Connector 15"/>
            <p:cNvCxnSpPr/>
            <p:nvPr/>
          </p:nvCxnSpPr>
          <p:spPr bwMode="auto">
            <a:xfrm>
              <a:off x="1687911" y="6443135"/>
              <a:ext cx="0" cy="14816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7" name="Straight Connector 16"/>
            <p:cNvCxnSpPr/>
            <p:nvPr/>
          </p:nvCxnSpPr>
          <p:spPr bwMode="auto">
            <a:xfrm>
              <a:off x="2112767" y="6443135"/>
              <a:ext cx="0" cy="14816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8" name="Straight Connector 17"/>
            <p:cNvCxnSpPr/>
            <p:nvPr/>
          </p:nvCxnSpPr>
          <p:spPr bwMode="auto">
            <a:xfrm>
              <a:off x="2537622" y="6443135"/>
              <a:ext cx="0" cy="14816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9" name="Straight Connector 18"/>
            <p:cNvCxnSpPr/>
            <p:nvPr/>
          </p:nvCxnSpPr>
          <p:spPr bwMode="auto">
            <a:xfrm>
              <a:off x="2971800" y="6443135"/>
              <a:ext cx="0" cy="14816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0" name="Straight Connector 19"/>
            <p:cNvCxnSpPr/>
            <p:nvPr/>
          </p:nvCxnSpPr>
          <p:spPr bwMode="auto">
            <a:xfrm>
              <a:off x="3387333" y="6443135"/>
              <a:ext cx="0" cy="14816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1" name="Straight Connector 20"/>
            <p:cNvCxnSpPr/>
            <p:nvPr/>
          </p:nvCxnSpPr>
          <p:spPr bwMode="auto">
            <a:xfrm>
              <a:off x="3812189" y="6443135"/>
              <a:ext cx="0" cy="14816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2" name="Straight Connector 21"/>
            <p:cNvCxnSpPr/>
            <p:nvPr/>
          </p:nvCxnSpPr>
          <p:spPr bwMode="auto">
            <a:xfrm>
              <a:off x="4237044" y="6443135"/>
              <a:ext cx="0" cy="14816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a:off x="4661900" y="6443135"/>
              <a:ext cx="0" cy="14816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a:off x="5086755" y="6443135"/>
              <a:ext cx="0" cy="14816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5511611" y="6443135"/>
              <a:ext cx="0" cy="14816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a:off x="5936466" y="6443135"/>
              <a:ext cx="0" cy="14816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a:off x="6361322" y="6443135"/>
              <a:ext cx="0" cy="14816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8" name="Straight Connector 27"/>
            <p:cNvCxnSpPr/>
            <p:nvPr/>
          </p:nvCxnSpPr>
          <p:spPr bwMode="auto">
            <a:xfrm>
              <a:off x="6786177" y="6443135"/>
              <a:ext cx="0" cy="14816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9" name="Straight Connector 28"/>
            <p:cNvCxnSpPr/>
            <p:nvPr/>
          </p:nvCxnSpPr>
          <p:spPr bwMode="auto">
            <a:xfrm>
              <a:off x="7211033" y="6443135"/>
              <a:ext cx="0" cy="14816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0" name="Straight Connector 29"/>
            <p:cNvCxnSpPr/>
            <p:nvPr/>
          </p:nvCxnSpPr>
          <p:spPr bwMode="auto">
            <a:xfrm>
              <a:off x="7635888" y="6443135"/>
              <a:ext cx="0" cy="14816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1" name="Straight Connector 30"/>
            <p:cNvCxnSpPr/>
            <p:nvPr/>
          </p:nvCxnSpPr>
          <p:spPr bwMode="auto">
            <a:xfrm>
              <a:off x="8060744" y="6443135"/>
              <a:ext cx="0" cy="14816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2" name="Straight Connector 31"/>
            <p:cNvCxnSpPr/>
            <p:nvPr/>
          </p:nvCxnSpPr>
          <p:spPr bwMode="auto">
            <a:xfrm>
              <a:off x="8485599" y="6443135"/>
              <a:ext cx="0" cy="14816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3" name="Straight Connector 32"/>
            <p:cNvCxnSpPr/>
            <p:nvPr/>
          </p:nvCxnSpPr>
          <p:spPr bwMode="auto">
            <a:xfrm>
              <a:off x="8910462" y="6443135"/>
              <a:ext cx="0" cy="148166"/>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14" name="TextBox 13"/>
            <p:cNvSpPr txBox="1"/>
            <p:nvPr/>
          </p:nvSpPr>
          <p:spPr>
            <a:xfrm>
              <a:off x="1226819" y="6573623"/>
              <a:ext cx="65724" cy="153888"/>
            </a:xfrm>
            <a:prstGeom prst="rect">
              <a:avLst/>
            </a:prstGeom>
            <a:noFill/>
          </p:spPr>
          <p:txBody>
            <a:bodyPr wrap="none" lIns="0" tIns="0" rIns="0" bIns="0" rtlCol="0" anchor="ctr" anchorCtr="1">
              <a:spAutoFit/>
            </a:bodyPr>
            <a:lstStyle/>
            <a:p>
              <a:r>
                <a:rPr lang="en-US" sz="1000" dirty="0">
                  <a:latin typeface="Calibri" panose="020F0502020204030204" pitchFamily="34" charset="0"/>
                </a:rPr>
                <a:t>1</a:t>
              </a:r>
            </a:p>
          </p:txBody>
        </p:sp>
        <p:sp>
          <p:nvSpPr>
            <p:cNvPr id="36" name="TextBox 35"/>
            <p:cNvSpPr txBox="1"/>
            <p:nvPr/>
          </p:nvSpPr>
          <p:spPr>
            <a:xfrm>
              <a:off x="1657825" y="6573623"/>
              <a:ext cx="65724" cy="153888"/>
            </a:xfrm>
            <a:prstGeom prst="rect">
              <a:avLst/>
            </a:prstGeom>
            <a:noFill/>
          </p:spPr>
          <p:txBody>
            <a:bodyPr wrap="none" lIns="0" tIns="0" rIns="0" bIns="0" rtlCol="0" anchor="ctr" anchorCtr="1">
              <a:spAutoFit/>
            </a:bodyPr>
            <a:lstStyle/>
            <a:p>
              <a:r>
                <a:rPr lang="en-US" sz="1000" dirty="0">
                  <a:latin typeface="Calibri" panose="020F0502020204030204" pitchFamily="34" charset="0"/>
                </a:rPr>
                <a:t>2</a:t>
              </a:r>
            </a:p>
          </p:txBody>
        </p:sp>
        <p:sp>
          <p:nvSpPr>
            <p:cNvPr id="37" name="TextBox 36"/>
            <p:cNvSpPr txBox="1"/>
            <p:nvPr/>
          </p:nvSpPr>
          <p:spPr>
            <a:xfrm>
              <a:off x="2079307" y="6573623"/>
              <a:ext cx="65724" cy="153888"/>
            </a:xfrm>
            <a:prstGeom prst="rect">
              <a:avLst/>
            </a:prstGeom>
            <a:noFill/>
          </p:spPr>
          <p:txBody>
            <a:bodyPr wrap="none" lIns="0" tIns="0" rIns="0" bIns="0" rtlCol="0" anchor="ctr" anchorCtr="1">
              <a:spAutoFit/>
            </a:bodyPr>
            <a:lstStyle/>
            <a:p>
              <a:r>
                <a:rPr lang="en-US" sz="1000" dirty="0">
                  <a:latin typeface="Calibri" panose="020F0502020204030204" pitchFamily="34" charset="0"/>
                </a:rPr>
                <a:t>3</a:t>
              </a:r>
            </a:p>
          </p:txBody>
        </p:sp>
        <p:sp>
          <p:nvSpPr>
            <p:cNvPr id="38" name="TextBox 37"/>
            <p:cNvSpPr txBox="1"/>
            <p:nvPr/>
          </p:nvSpPr>
          <p:spPr>
            <a:xfrm>
              <a:off x="2500788" y="6573623"/>
              <a:ext cx="65724" cy="153888"/>
            </a:xfrm>
            <a:prstGeom prst="rect">
              <a:avLst/>
            </a:prstGeom>
            <a:noFill/>
          </p:spPr>
          <p:txBody>
            <a:bodyPr wrap="none" lIns="0" tIns="0" rIns="0" bIns="0" rtlCol="0" anchor="ctr" anchorCtr="1">
              <a:spAutoFit/>
            </a:bodyPr>
            <a:lstStyle/>
            <a:p>
              <a:r>
                <a:rPr lang="en-US" sz="1000" dirty="0">
                  <a:latin typeface="Calibri" panose="020F0502020204030204" pitchFamily="34" charset="0"/>
                </a:rPr>
                <a:t>4</a:t>
              </a:r>
            </a:p>
          </p:txBody>
        </p:sp>
        <p:sp>
          <p:nvSpPr>
            <p:cNvPr id="39" name="TextBox 38"/>
            <p:cNvSpPr txBox="1"/>
            <p:nvPr/>
          </p:nvSpPr>
          <p:spPr>
            <a:xfrm>
              <a:off x="2938938" y="6573623"/>
              <a:ext cx="65724" cy="153888"/>
            </a:xfrm>
            <a:prstGeom prst="rect">
              <a:avLst/>
            </a:prstGeom>
            <a:noFill/>
          </p:spPr>
          <p:txBody>
            <a:bodyPr wrap="none" lIns="0" tIns="0" rIns="0" bIns="0" rtlCol="0" anchor="ctr" anchorCtr="1">
              <a:spAutoFit/>
            </a:bodyPr>
            <a:lstStyle/>
            <a:p>
              <a:r>
                <a:rPr lang="en-US" sz="1000" dirty="0">
                  <a:latin typeface="Calibri" panose="020F0502020204030204" pitchFamily="34" charset="0"/>
                </a:rPr>
                <a:t>5</a:t>
              </a:r>
            </a:p>
          </p:txBody>
        </p:sp>
        <p:sp>
          <p:nvSpPr>
            <p:cNvPr id="40" name="TextBox 39"/>
            <p:cNvSpPr txBox="1"/>
            <p:nvPr/>
          </p:nvSpPr>
          <p:spPr>
            <a:xfrm>
              <a:off x="3350894" y="6573623"/>
              <a:ext cx="65724" cy="153888"/>
            </a:xfrm>
            <a:prstGeom prst="rect">
              <a:avLst/>
            </a:prstGeom>
            <a:noFill/>
          </p:spPr>
          <p:txBody>
            <a:bodyPr wrap="none" lIns="0" tIns="0" rIns="0" bIns="0" rtlCol="0" anchor="ctr" anchorCtr="1">
              <a:spAutoFit/>
            </a:bodyPr>
            <a:lstStyle/>
            <a:p>
              <a:r>
                <a:rPr lang="en-US" sz="1000" dirty="0">
                  <a:latin typeface="Calibri" panose="020F0502020204030204" pitchFamily="34" charset="0"/>
                </a:rPr>
                <a:t>6</a:t>
              </a:r>
            </a:p>
          </p:txBody>
        </p:sp>
        <p:sp>
          <p:nvSpPr>
            <p:cNvPr id="41" name="TextBox 40"/>
            <p:cNvSpPr txBox="1"/>
            <p:nvPr/>
          </p:nvSpPr>
          <p:spPr>
            <a:xfrm>
              <a:off x="3779519" y="6573623"/>
              <a:ext cx="65724" cy="153888"/>
            </a:xfrm>
            <a:prstGeom prst="rect">
              <a:avLst/>
            </a:prstGeom>
            <a:noFill/>
          </p:spPr>
          <p:txBody>
            <a:bodyPr wrap="none" lIns="0" tIns="0" rIns="0" bIns="0" rtlCol="0" anchor="ctr" anchorCtr="1">
              <a:spAutoFit/>
            </a:bodyPr>
            <a:lstStyle/>
            <a:p>
              <a:r>
                <a:rPr lang="en-US" sz="1000" dirty="0">
                  <a:latin typeface="Calibri" panose="020F0502020204030204" pitchFamily="34" charset="0"/>
                </a:rPr>
                <a:t>7</a:t>
              </a:r>
            </a:p>
          </p:txBody>
        </p:sp>
        <p:sp>
          <p:nvSpPr>
            <p:cNvPr id="42" name="TextBox 41"/>
            <p:cNvSpPr txBox="1"/>
            <p:nvPr/>
          </p:nvSpPr>
          <p:spPr>
            <a:xfrm>
              <a:off x="4201000" y="6573623"/>
              <a:ext cx="65724" cy="153888"/>
            </a:xfrm>
            <a:prstGeom prst="rect">
              <a:avLst/>
            </a:prstGeom>
            <a:noFill/>
          </p:spPr>
          <p:txBody>
            <a:bodyPr wrap="none" lIns="0" tIns="0" rIns="0" bIns="0" rtlCol="0" anchor="ctr" anchorCtr="1">
              <a:spAutoFit/>
            </a:bodyPr>
            <a:lstStyle/>
            <a:p>
              <a:r>
                <a:rPr lang="en-US" sz="1000" dirty="0">
                  <a:latin typeface="Calibri" panose="020F0502020204030204" pitchFamily="34" charset="0"/>
                </a:rPr>
                <a:t>8</a:t>
              </a:r>
            </a:p>
          </p:txBody>
        </p:sp>
        <p:sp>
          <p:nvSpPr>
            <p:cNvPr id="43" name="TextBox 42"/>
            <p:cNvSpPr txBox="1"/>
            <p:nvPr/>
          </p:nvSpPr>
          <p:spPr>
            <a:xfrm>
              <a:off x="4627244" y="6573623"/>
              <a:ext cx="65724" cy="153888"/>
            </a:xfrm>
            <a:prstGeom prst="rect">
              <a:avLst/>
            </a:prstGeom>
            <a:noFill/>
          </p:spPr>
          <p:txBody>
            <a:bodyPr wrap="none" lIns="0" tIns="0" rIns="0" bIns="0" rtlCol="0" anchor="ctr" anchorCtr="1">
              <a:spAutoFit/>
            </a:bodyPr>
            <a:lstStyle/>
            <a:p>
              <a:r>
                <a:rPr lang="en-US" sz="1000" dirty="0">
                  <a:latin typeface="Calibri" panose="020F0502020204030204" pitchFamily="34" charset="0"/>
                </a:rPr>
                <a:t>9</a:t>
              </a:r>
            </a:p>
          </p:txBody>
        </p:sp>
        <p:sp>
          <p:nvSpPr>
            <p:cNvPr id="44" name="TextBox 43"/>
            <p:cNvSpPr txBox="1"/>
            <p:nvPr/>
          </p:nvSpPr>
          <p:spPr>
            <a:xfrm>
              <a:off x="5022531" y="6573623"/>
              <a:ext cx="131446" cy="153888"/>
            </a:xfrm>
            <a:prstGeom prst="rect">
              <a:avLst/>
            </a:prstGeom>
            <a:noFill/>
          </p:spPr>
          <p:txBody>
            <a:bodyPr wrap="none" lIns="0" tIns="0" rIns="0" bIns="0" rtlCol="0" anchor="ctr" anchorCtr="1">
              <a:spAutoFit/>
            </a:bodyPr>
            <a:lstStyle/>
            <a:p>
              <a:r>
                <a:rPr lang="en-US" sz="1000" dirty="0">
                  <a:latin typeface="Calibri" panose="020F0502020204030204" pitchFamily="34" charset="0"/>
                </a:rPr>
                <a:t>10</a:t>
              </a:r>
            </a:p>
          </p:txBody>
        </p:sp>
        <p:sp>
          <p:nvSpPr>
            <p:cNvPr id="45" name="TextBox 44"/>
            <p:cNvSpPr txBox="1"/>
            <p:nvPr/>
          </p:nvSpPr>
          <p:spPr>
            <a:xfrm>
              <a:off x="5448300" y="6573623"/>
              <a:ext cx="131446" cy="153888"/>
            </a:xfrm>
            <a:prstGeom prst="rect">
              <a:avLst/>
            </a:prstGeom>
            <a:noFill/>
          </p:spPr>
          <p:txBody>
            <a:bodyPr wrap="none" lIns="0" tIns="0" rIns="0" bIns="0" rtlCol="0" anchor="ctr" anchorCtr="1">
              <a:spAutoFit/>
            </a:bodyPr>
            <a:lstStyle/>
            <a:p>
              <a:r>
                <a:rPr lang="en-US" sz="1000" dirty="0">
                  <a:latin typeface="Calibri" panose="020F0502020204030204" pitchFamily="34" charset="0"/>
                </a:rPr>
                <a:t>11</a:t>
              </a:r>
            </a:p>
          </p:txBody>
        </p:sp>
        <p:sp>
          <p:nvSpPr>
            <p:cNvPr id="46" name="TextBox 45"/>
            <p:cNvSpPr txBox="1"/>
            <p:nvPr/>
          </p:nvSpPr>
          <p:spPr>
            <a:xfrm>
              <a:off x="5867875" y="6573623"/>
              <a:ext cx="131446" cy="153888"/>
            </a:xfrm>
            <a:prstGeom prst="rect">
              <a:avLst/>
            </a:prstGeom>
            <a:noFill/>
          </p:spPr>
          <p:txBody>
            <a:bodyPr wrap="none" lIns="0" tIns="0" rIns="0" bIns="0" rtlCol="0" anchor="ctr" anchorCtr="1">
              <a:spAutoFit/>
            </a:bodyPr>
            <a:lstStyle/>
            <a:p>
              <a:r>
                <a:rPr lang="en-US" sz="1000" dirty="0">
                  <a:latin typeface="Calibri" panose="020F0502020204030204" pitchFamily="34" charset="0"/>
                </a:rPr>
                <a:t>12</a:t>
              </a:r>
            </a:p>
          </p:txBody>
        </p:sp>
        <p:sp>
          <p:nvSpPr>
            <p:cNvPr id="47" name="TextBox 46"/>
            <p:cNvSpPr txBox="1"/>
            <p:nvPr/>
          </p:nvSpPr>
          <p:spPr>
            <a:xfrm>
              <a:off x="6296500" y="6573623"/>
              <a:ext cx="131446" cy="153888"/>
            </a:xfrm>
            <a:prstGeom prst="rect">
              <a:avLst/>
            </a:prstGeom>
            <a:noFill/>
          </p:spPr>
          <p:txBody>
            <a:bodyPr wrap="none" lIns="0" tIns="0" rIns="0" bIns="0" rtlCol="0" anchor="ctr" anchorCtr="1">
              <a:spAutoFit/>
            </a:bodyPr>
            <a:lstStyle/>
            <a:p>
              <a:r>
                <a:rPr lang="en-US" sz="1000" dirty="0">
                  <a:latin typeface="Calibri" panose="020F0502020204030204" pitchFamily="34" charset="0"/>
                </a:rPr>
                <a:t>13</a:t>
              </a:r>
            </a:p>
          </p:txBody>
        </p:sp>
        <p:sp>
          <p:nvSpPr>
            <p:cNvPr id="48" name="TextBox 47"/>
            <p:cNvSpPr txBox="1"/>
            <p:nvPr/>
          </p:nvSpPr>
          <p:spPr>
            <a:xfrm>
              <a:off x="6724650" y="6573623"/>
              <a:ext cx="131446" cy="153888"/>
            </a:xfrm>
            <a:prstGeom prst="rect">
              <a:avLst/>
            </a:prstGeom>
            <a:noFill/>
          </p:spPr>
          <p:txBody>
            <a:bodyPr wrap="none" lIns="0" tIns="0" rIns="0" bIns="0" rtlCol="0" anchor="ctr" anchorCtr="1">
              <a:spAutoFit/>
            </a:bodyPr>
            <a:lstStyle/>
            <a:p>
              <a:r>
                <a:rPr lang="en-US" sz="1000" dirty="0">
                  <a:latin typeface="Calibri" panose="020F0502020204030204" pitchFamily="34" charset="0"/>
                </a:rPr>
                <a:t>14</a:t>
              </a:r>
            </a:p>
          </p:txBody>
        </p:sp>
        <p:sp>
          <p:nvSpPr>
            <p:cNvPr id="49" name="TextBox 48"/>
            <p:cNvSpPr txBox="1"/>
            <p:nvPr/>
          </p:nvSpPr>
          <p:spPr>
            <a:xfrm>
              <a:off x="7144225" y="6573623"/>
              <a:ext cx="131446" cy="153888"/>
            </a:xfrm>
            <a:prstGeom prst="rect">
              <a:avLst/>
            </a:prstGeom>
            <a:noFill/>
          </p:spPr>
          <p:txBody>
            <a:bodyPr wrap="none" lIns="0" tIns="0" rIns="0" bIns="0" rtlCol="0" anchor="ctr" anchorCtr="1">
              <a:spAutoFit/>
            </a:bodyPr>
            <a:lstStyle/>
            <a:p>
              <a:r>
                <a:rPr lang="en-US" sz="1000" dirty="0">
                  <a:latin typeface="Calibri" panose="020F0502020204030204" pitchFamily="34" charset="0"/>
                </a:rPr>
                <a:t>15</a:t>
              </a:r>
            </a:p>
          </p:txBody>
        </p:sp>
        <p:sp>
          <p:nvSpPr>
            <p:cNvPr id="50" name="TextBox 49"/>
            <p:cNvSpPr txBox="1"/>
            <p:nvPr/>
          </p:nvSpPr>
          <p:spPr>
            <a:xfrm>
              <a:off x="7575232" y="6573623"/>
              <a:ext cx="131446" cy="153888"/>
            </a:xfrm>
            <a:prstGeom prst="rect">
              <a:avLst/>
            </a:prstGeom>
            <a:noFill/>
          </p:spPr>
          <p:txBody>
            <a:bodyPr wrap="none" lIns="0" tIns="0" rIns="0" bIns="0" rtlCol="0" anchor="ctr" anchorCtr="1">
              <a:spAutoFit/>
            </a:bodyPr>
            <a:lstStyle/>
            <a:p>
              <a:r>
                <a:rPr lang="en-US" sz="1000" dirty="0">
                  <a:latin typeface="Calibri" panose="020F0502020204030204" pitchFamily="34" charset="0"/>
                </a:rPr>
                <a:t>16</a:t>
              </a:r>
            </a:p>
          </p:txBody>
        </p:sp>
        <p:sp>
          <p:nvSpPr>
            <p:cNvPr id="51" name="TextBox 50"/>
            <p:cNvSpPr txBox="1"/>
            <p:nvPr/>
          </p:nvSpPr>
          <p:spPr>
            <a:xfrm>
              <a:off x="7987188" y="6573623"/>
              <a:ext cx="131446" cy="153888"/>
            </a:xfrm>
            <a:prstGeom prst="rect">
              <a:avLst/>
            </a:prstGeom>
            <a:noFill/>
          </p:spPr>
          <p:txBody>
            <a:bodyPr wrap="none" lIns="0" tIns="0" rIns="0" bIns="0" rtlCol="0" anchor="ctr" anchorCtr="1">
              <a:spAutoFit/>
            </a:bodyPr>
            <a:lstStyle/>
            <a:p>
              <a:r>
                <a:rPr lang="en-US" sz="1000" dirty="0">
                  <a:latin typeface="Calibri" panose="020F0502020204030204" pitchFamily="34" charset="0"/>
                </a:rPr>
                <a:t>17</a:t>
              </a:r>
            </a:p>
          </p:txBody>
        </p:sp>
        <p:sp>
          <p:nvSpPr>
            <p:cNvPr id="52" name="TextBox 51"/>
            <p:cNvSpPr txBox="1"/>
            <p:nvPr/>
          </p:nvSpPr>
          <p:spPr>
            <a:xfrm>
              <a:off x="8415813" y="6573623"/>
              <a:ext cx="131446" cy="153888"/>
            </a:xfrm>
            <a:prstGeom prst="rect">
              <a:avLst/>
            </a:prstGeom>
            <a:noFill/>
          </p:spPr>
          <p:txBody>
            <a:bodyPr wrap="none" lIns="0" tIns="0" rIns="0" bIns="0" rtlCol="0" anchor="ctr" anchorCtr="1">
              <a:spAutoFit/>
            </a:bodyPr>
            <a:lstStyle/>
            <a:p>
              <a:r>
                <a:rPr lang="en-US" sz="1000" dirty="0">
                  <a:latin typeface="Calibri" panose="020F0502020204030204" pitchFamily="34" charset="0"/>
                </a:rPr>
                <a:t>18</a:t>
              </a:r>
            </a:p>
          </p:txBody>
        </p:sp>
        <p:sp>
          <p:nvSpPr>
            <p:cNvPr id="53" name="TextBox 52"/>
            <p:cNvSpPr txBox="1"/>
            <p:nvPr/>
          </p:nvSpPr>
          <p:spPr>
            <a:xfrm>
              <a:off x="8842056" y="6573623"/>
              <a:ext cx="131446" cy="153888"/>
            </a:xfrm>
            <a:prstGeom prst="rect">
              <a:avLst/>
            </a:prstGeom>
            <a:noFill/>
          </p:spPr>
          <p:txBody>
            <a:bodyPr wrap="none" lIns="0" tIns="0" rIns="0" bIns="0" rtlCol="0" anchor="ctr" anchorCtr="1">
              <a:spAutoFit/>
            </a:bodyPr>
            <a:lstStyle/>
            <a:p>
              <a:r>
                <a:rPr lang="en-US" sz="1000" dirty="0">
                  <a:latin typeface="Calibri" panose="020F0502020204030204" pitchFamily="34" charset="0"/>
                </a:rPr>
                <a:t>19</a:t>
              </a:r>
            </a:p>
          </p:txBody>
        </p:sp>
        <p:sp>
          <p:nvSpPr>
            <p:cNvPr id="54" name="TextBox 53"/>
            <p:cNvSpPr txBox="1"/>
            <p:nvPr/>
          </p:nvSpPr>
          <p:spPr>
            <a:xfrm>
              <a:off x="805338" y="6573623"/>
              <a:ext cx="65724" cy="153888"/>
            </a:xfrm>
            <a:prstGeom prst="rect">
              <a:avLst/>
            </a:prstGeom>
            <a:noFill/>
          </p:spPr>
          <p:txBody>
            <a:bodyPr wrap="none" lIns="0" tIns="0" rIns="0" bIns="0" rtlCol="0" anchor="ctr" anchorCtr="1">
              <a:spAutoFit/>
            </a:bodyPr>
            <a:lstStyle/>
            <a:p>
              <a:r>
                <a:rPr lang="en-US" sz="1000" dirty="0">
                  <a:latin typeface="Calibri" panose="020F0502020204030204" pitchFamily="34" charset="0"/>
                </a:rPr>
                <a:t>0</a:t>
              </a:r>
            </a:p>
          </p:txBody>
        </p:sp>
        <p:cxnSp>
          <p:nvCxnSpPr>
            <p:cNvPr id="57" name="Straight Connector 56"/>
            <p:cNvCxnSpPr/>
            <p:nvPr/>
          </p:nvCxnSpPr>
          <p:spPr bwMode="auto">
            <a:xfrm>
              <a:off x="2971800" y="5905500"/>
              <a:ext cx="0" cy="226219"/>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35" name="TextBox 34"/>
            <p:cNvSpPr txBox="1"/>
            <p:nvPr/>
          </p:nvSpPr>
          <p:spPr>
            <a:xfrm>
              <a:off x="1382260" y="5896689"/>
              <a:ext cx="1045479" cy="246221"/>
            </a:xfrm>
            <a:prstGeom prst="rect">
              <a:avLst/>
            </a:prstGeom>
            <a:noFill/>
          </p:spPr>
          <p:txBody>
            <a:bodyPr wrap="none" rtlCol="0">
              <a:spAutoFit/>
            </a:bodyPr>
            <a:lstStyle/>
            <a:p>
              <a:r>
                <a:rPr lang="en-US" sz="1000" dirty="0">
                  <a:latin typeface="Calibri" panose="020F0502020204030204" pitchFamily="34" charset="0"/>
                </a:rPr>
                <a:t>Firm Time Fence</a:t>
              </a:r>
            </a:p>
          </p:txBody>
        </p:sp>
        <p:cxnSp>
          <p:nvCxnSpPr>
            <p:cNvPr id="62" name="Straight Arrow Connector 61"/>
            <p:cNvCxnSpPr>
              <a:stCxn id="35" idx="3"/>
            </p:cNvCxnSpPr>
            <p:nvPr/>
          </p:nvCxnSpPr>
          <p:spPr bwMode="auto">
            <a:xfrm>
              <a:off x="2427739" y="6019800"/>
              <a:ext cx="525011" cy="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gr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3" name="Slide Number Placeholder 2"/>
          <p:cNvSpPr>
            <a:spLocks noGrp="1"/>
          </p:cNvSpPr>
          <p:nvPr>
            <p:ph type="sldNum" sz="quarter" idx="4"/>
          </p:nvPr>
        </p:nvSpPr>
        <p:spPr/>
        <p:txBody>
          <a:bodyPr/>
          <a:lstStyle/>
          <a:p>
            <a:fld id="{E66AA3EA-0569-43EF-BBA3-83FDB109D582}" type="slidenum">
              <a:rPr lang="en-US" smtClean="0"/>
              <a:pPr/>
              <a:t>14</a:t>
            </a:fld>
            <a:endParaRPr lang="en-US" dirty="0"/>
          </a:p>
        </p:txBody>
      </p:sp>
    </p:spTree>
    <p:extLst>
      <p:ext uri="{BB962C8B-B14F-4D97-AF65-F5344CB8AC3E}">
        <p14:creationId xmlns:p14="http://schemas.microsoft.com/office/powerpoint/2010/main" val="697660200"/>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 calcmode="lin" valueType="num">
                                      <p:cBhvr additive="base">
                                        <p:cTn id="7" dur="500" fill="hold"/>
                                        <p:tgtEl>
                                          <p:spTgt spid="266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627">
                                            <p:txEl>
                                              <p:pRg st="1" end="1"/>
                                            </p:txEl>
                                          </p:spTgt>
                                        </p:tgtEl>
                                        <p:attrNameLst>
                                          <p:attrName>style.visibility</p:attrName>
                                        </p:attrNameLst>
                                      </p:cBhvr>
                                      <p:to>
                                        <p:strVal val="visible"/>
                                      </p:to>
                                    </p:set>
                                    <p:anim calcmode="lin" valueType="num">
                                      <p:cBhvr additive="base">
                                        <p:cTn id="13" dur="500" fill="hold"/>
                                        <p:tgtEl>
                                          <p:spTgt spid="266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6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6627">
                                            <p:txEl>
                                              <p:pRg st="2" end="2"/>
                                            </p:txEl>
                                          </p:spTgt>
                                        </p:tgtEl>
                                        <p:attrNameLst>
                                          <p:attrName>style.visibility</p:attrName>
                                        </p:attrNameLst>
                                      </p:cBhvr>
                                      <p:to>
                                        <p:strVal val="visible"/>
                                      </p:to>
                                    </p:set>
                                    <p:anim calcmode="lin" valueType="num">
                                      <p:cBhvr additive="base">
                                        <p:cTn id="19" dur="500" fill="hold"/>
                                        <p:tgtEl>
                                          <p:spTgt spid="266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627">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6627">
                                            <p:txEl>
                                              <p:pRg st="3" end="3"/>
                                            </p:txEl>
                                          </p:spTgt>
                                        </p:tgtEl>
                                        <p:attrNameLst>
                                          <p:attrName>style.visibility</p:attrName>
                                        </p:attrNameLst>
                                      </p:cBhvr>
                                      <p:to>
                                        <p:strVal val="visible"/>
                                      </p:to>
                                    </p:set>
                                    <p:anim calcmode="lin" valueType="num">
                                      <p:cBhvr additive="base">
                                        <p:cTn id="23" dur="500" fill="hold"/>
                                        <p:tgtEl>
                                          <p:spTgt spid="2662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6627">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6627">
                                            <p:txEl>
                                              <p:pRg st="4" end="4"/>
                                            </p:txEl>
                                          </p:spTgt>
                                        </p:tgtEl>
                                        <p:attrNameLst>
                                          <p:attrName>style.visibility</p:attrName>
                                        </p:attrNameLst>
                                      </p:cBhvr>
                                      <p:to>
                                        <p:strVal val="visible"/>
                                      </p:to>
                                    </p:set>
                                    <p:anim calcmode="lin" valueType="num">
                                      <p:cBhvr additive="base">
                                        <p:cTn id="27" dur="500" fill="hold"/>
                                        <p:tgtEl>
                                          <p:spTgt spid="2662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662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6627">
                                            <p:txEl>
                                              <p:pRg st="5" end="5"/>
                                            </p:txEl>
                                          </p:spTgt>
                                        </p:tgtEl>
                                        <p:attrNameLst>
                                          <p:attrName>style.visibility</p:attrName>
                                        </p:attrNameLst>
                                      </p:cBhvr>
                                      <p:to>
                                        <p:strVal val="visible"/>
                                      </p:to>
                                    </p:set>
                                    <p:anim calcmode="lin" valueType="num">
                                      <p:cBhvr additive="base">
                                        <p:cTn id="33" dur="500" fill="hold"/>
                                        <p:tgtEl>
                                          <p:spTgt spid="2662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6627">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6627">
                                            <p:txEl>
                                              <p:pRg st="6" end="6"/>
                                            </p:txEl>
                                          </p:spTgt>
                                        </p:tgtEl>
                                        <p:attrNameLst>
                                          <p:attrName>style.visibility</p:attrName>
                                        </p:attrNameLst>
                                      </p:cBhvr>
                                      <p:to>
                                        <p:strVal val="visible"/>
                                      </p:to>
                                    </p:set>
                                    <p:anim calcmode="lin" valueType="num">
                                      <p:cBhvr additive="base">
                                        <p:cTn id="37" dur="500" fill="hold"/>
                                        <p:tgtEl>
                                          <p:spTgt spid="2662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662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rot="16200000">
            <a:off x="4284134" y="4182531"/>
            <a:ext cx="2810935" cy="1947336"/>
          </a:xfrm>
          <a:prstGeom prst="rect">
            <a:avLst/>
          </a:prstGeom>
          <a:solidFill>
            <a:srgbClr val="FFFF99"/>
          </a:solidFill>
          <a:ln>
            <a:solidFill>
              <a:schemeClr val="tx1"/>
            </a:solidFill>
          </a:ln>
          <a:effectLst>
            <a:outerShdw blurRad="50800" dist="38100" dir="2700000" algn="tl" rotWithShape="0">
              <a:prstClr val="black">
                <a:alpha val="40000"/>
              </a:prstClr>
            </a:outerShdw>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22" name="Rectangle 21"/>
          <p:cNvSpPr/>
          <p:nvPr/>
        </p:nvSpPr>
        <p:spPr>
          <a:xfrm rot="16200000">
            <a:off x="2175934" y="4182531"/>
            <a:ext cx="2810935" cy="1947336"/>
          </a:xfrm>
          <a:prstGeom prst="rect">
            <a:avLst/>
          </a:prstGeom>
          <a:solidFill>
            <a:srgbClr val="FFFF99"/>
          </a:solidFill>
          <a:ln>
            <a:solidFill>
              <a:schemeClr val="tx1"/>
            </a:solidFill>
          </a:ln>
          <a:effectLst>
            <a:outerShdw blurRad="50800" dist="38100" dir="2700000" algn="tl" rotWithShape="0">
              <a:prstClr val="black">
                <a:alpha val="40000"/>
              </a:prstClr>
            </a:outerShdw>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24578" name="Rectangle 2"/>
          <p:cNvSpPr>
            <a:spLocks noGrp="1" noChangeArrowheads="1"/>
          </p:cNvSpPr>
          <p:nvPr>
            <p:ph type="title" idx="4294967295"/>
          </p:nvPr>
        </p:nvSpPr>
        <p:spPr>
          <a:xfrm>
            <a:off x="228600" y="132598"/>
            <a:ext cx="678180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Basic Production Strategies</a:t>
            </a:r>
            <a:endParaRPr lang="en-US" altLang="en-US" sz="2000" b="0" i="1"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endParaRPr>
          </a:p>
        </p:txBody>
      </p:sp>
      <p:sp>
        <p:nvSpPr>
          <p:cNvPr id="24579" name="Rectangle 3"/>
          <p:cNvSpPr>
            <a:spLocks noGrp="1" noChangeArrowheads="1"/>
          </p:cNvSpPr>
          <p:nvPr>
            <p:ph type="body" idx="4294967295"/>
          </p:nvPr>
        </p:nvSpPr>
        <p:spPr>
          <a:xfrm>
            <a:off x="228600" y="839259"/>
            <a:ext cx="8695267" cy="2970741"/>
          </a:xfrm>
        </p:spPr>
        <p:txBody>
          <a:bodyPr/>
          <a:lstStyle/>
          <a:p>
            <a:pPr marL="0" indent="0">
              <a:spcBef>
                <a:spcPts val="600"/>
              </a:spcBef>
              <a:spcAft>
                <a:spcPts val="600"/>
              </a:spcAft>
              <a:buNone/>
            </a:pPr>
            <a:r>
              <a:rPr lang="en-US" altLang="en-US" sz="2800" b="1" dirty="0">
                <a:latin typeface="Calibri" panose="020F0502020204030204" pitchFamily="34" charset="0"/>
                <a:ea typeface="ＭＳ Ｐゴシック" panose="020B0600070205080204" pitchFamily="34" charset="-128"/>
              </a:rPr>
              <a:t>Three basic production strategies:</a:t>
            </a:r>
          </a:p>
          <a:p>
            <a:pPr marL="457200" indent="-457200">
              <a:spcBef>
                <a:spcPts val="600"/>
              </a:spcBef>
              <a:spcAft>
                <a:spcPts val="600"/>
              </a:spcAft>
              <a:buFont typeface="+mj-lt"/>
              <a:buAutoNum type="arabicPeriod"/>
            </a:pPr>
            <a:r>
              <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Level Production Strategy </a:t>
            </a:r>
            <a:r>
              <a:rPr lang="en-US" altLang="en-US" sz="2400" dirty="0">
                <a:latin typeface="Calibri" panose="020F0502020204030204" pitchFamily="34" charset="0"/>
                <a:ea typeface="ＭＳ Ｐゴシック" panose="020B0600070205080204" pitchFamily="34" charset="-128"/>
              </a:rPr>
              <a:t>- Relies on a </a:t>
            </a:r>
            <a:r>
              <a:rPr lang="en-US" altLang="en-US" sz="2400" b="1" u="sng" dirty="0">
                <a:latin typeface="Calibri" panose="020F0502020204030204" pitchFamily="34" charset="0"/>
                <a:ea typeface="ＭＳ Ｐゴシック" panose="020B0600070205080204" pitchFamily="34" charset="-128"/>
              </a:rPr>
              <a:t>constant output rate </a:t>
            </a:r>
            <a:r>
              <a:rPr lang="en-US" altLang="en-US" sz="2400" dirty="0">
                <a:latin typeface="Calibri" panose="020F0502020204030204" pitchFamily="34" charset="0"/>
                <a:ea typeface="ＭＳ Ｐゴシック" panose="020B0600070205080204" pitchFamily="34" charset="-128"/>
              </a:rPr>
              <a:t>while varying inventory and backlog according to fluctuating demand. Firm relies on fluctuating finished goods and backlogs to meet demand.    Works well for </a:t>
            </a:r>
            <a:r>
              <a:rPr lang="en-US" altLang="en-US" sz="2400"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make-to-stock firms</a:t>
            </a:r>
          </a:p>
          <a:p>
            <a:pPr marL="804863" lvl="1" indent="-347663">
              <a:spcBef>
                <a:spcPts val="600"/>
              </a:spcBef>
              <a:spcAft>
                <a:spcPts val="600"/>
              </a:spcAft>
            </a:pPr>
            <a:r>
              <a:rPr lang="en-US" altLang="en-US" sz="2000" dirty="0">
                <a:latin typeface="Calibri" panose="020F0502020204030204" pitchFamily="34" charset="0"/>
                <a:ea typeface="ＭＳ Ｐゴシック" panose="020B0600070205080204" pitchFamily="34" charset="-128"/>
              </a:rPr>
              <a:t>Plywood, steel,  light bulbs, razors are examples. Maybe the changeover is long, or its inefficient to stop/ start.</a:t>
            </a:r>
          </a:p>
        </p:txBody>
      </p:sp>
      <p:grpSp>
        <p:nvGrpSpPr>
          <p:cNvPr id="4" name="Group 3"/>
          <p:cNvGrpSpPr/>
          <p:nvPr/>
        </p:nvGrpSpPr>
        <p:grpSpPr>
          <a:xfrm>
            <a:off x="152401" y="3803121"/>
            <a:ext cx="8906933" cy="2944813"/>
            <a:chOff x="128588" y="1717675"/>
            <a:chExt cx="8601074" cy="3641659"/>
          </a:xfrm>
        </p:grpSpPr>
        <p:sp>
          <p:nvSpPr>
            <p:cNvPr id="5" name="TextBox 4"/>
            <p:cNvSpPr txBox="1"/>
            <p:nvPr/>
          </p:nvSpPr>
          <p:spPr>
            <a:xfrm>
              <a:off x="128588" y="1994675"/>
              <a:ext cx="2414587" cy="420540"/>
            </a:xfrm>
            <a:prstGeom prst="rect">
              <a:avLst/>
            </a:prstGeom>
            <a:noFill/>
          </p:spPr>
          <p:txBody>
            <a:bodyPr wrap="square">
              <a:spAutoFit/>
            </a:bodyPr>
            <a:lstStyle/>
            <a:p>
              <a:pPr algn="ctr">
                <a:lnSpc>
                  <a:spcPct val="90000"/>
                </a:lnSpc>
                <a:defRPr/>
              </a:pPr>
              <a:r>
                <a:rPr lang="en-US" sz="1800" b="1" u="sng" dirty="0">
                  <a:latin typeface="Calibri" panose="020F0502020204030204" pitchFamily="34" charset="0"/>
                </a:rPr>
                <a:t>Customer Demand</a:t>
              </a:r>
            </a:p>
          </p:txBody>
        </p:sp>
        <p:sp>
          <p:nvSpPr>
            <p:cNvPr id="6" name="TextBox 5"/>
            <p:cNvSpPr txBox="1"/>
            <p:nvPr/>
          </p:nvSpPr>
          <p:spPr>
            <a:xfrm>
              <a:off x="743744" y="2644773"/>
              <a:ext cx="1179512" cy="420540"/>
            </a:xfrm>
            <a:prstGeom prst="rect">
              <a:avLst/>
            </a:prstGeom>
            <a:noFill/>
          </p:spPr>
          <p:txBody>
            <a:bodyPr>
              <a:spAutoFit/>
            </a:bodyPr>
            <a:lstStyle/>
            <a:p>
              <a:pPr algn="ctr">
                <a:lnSpc>
                  <a:spcPct val="90000"/>
                </a:lnSpc>
                <a:defRPr/>
              </a:pPr>
              <a:r>
                <a:rPr lang="en-US" sz="1800" dirty="0">
                  <a:latin typeface="Calibri" panose="020F0502020204030204" pitchFamily="34" charset="0"/>
                </a:rPr>
                <a:t>10</a:t>
              </a:r>
            </a:p>
          </p:txBody>
        </p:sp>
        <p:sp>
          <p:nvSpPr>
            <p:cNvPr id="7" name="TextBox 6"/>
            <p:cNvSpPr txBox="1"/>
            <p:nvPr/>
          </p:nvSpPr>
          <p:spPr>
            <a:xfrm>
              <a:off x="742950" y="3563937"/>
              <a:ext cx="1181100" cy="420540"/>
            </a:xfrm>
            <a:prstGeom prst="rect">
              <a:avLst/>
            </a:prstGeom>
            <a:noFill/>
          </p:spPr>
          <p:txBody>
            <a:bodyPr>
              <a:spAutoFit/>
            </a:bodyPr>
            <a:lstStyle/>
            <a:p>
              <a:pPr algn="ctr">
                <a:lnSpc>
                  <a:spcPct val="90000"/>
                </a:lnSpc>
                <a:defRPr/>
              </a:pPr>
              <a:r>
                <a:rPr lang="en-US" sz="1800" dirty="0">
                  <a:latin typeface="Calibri" panose="020F0502020204030204" pitchFamily="34" charset="0"/>
                </a:rPr>
                <a:t>20</a:t>
              </a:r>
            </a:p>
          </p:txBody>
        </p:sp>
        <p:sp>
          <p:nvSpPr>
            <p:cNvPr id="8" name="TextBox 7"/>
            <p:cNvSpPr txBox="1"/>
            <p:nvPr/>
          </p:nvSpPr>
          <p:spPr>
            <a:xfrm>
              <a:off x="742950" y="4483099"/>
              <a:ext cx="1181100" cy="420540"/>
            </a:xfrm>
            <a:prstGeom prst="rect">
              <a:avLst/>
            </a:prstGeom>
            <a:noFill/>
          </p:spPr>
          <p:txBody>
            <a:bodyPr>
              <a:spAutoFit/>
            </a:bodyPr>
            <a:lstStyle/>
            <a:p>
              <a:pPr algn="ctr">
                <a:lnSpc>
                  <a:spcPct val="90000"/>
                </a:lnSpc>
                <a:defRPr/>
              </a:pPr>
              <a:r>
                <a:rPr lang="en-US" sz="1800" dirty="0">
                  <a:latin typeface="Calibri" panose="020F0502020204030204" pitchFamily="34" charset="0"/>
                </a:rPr>
                <a:t>80</a:t>
              </a:r>
            </a:p>
          </p:txBody>
        </p:sp>
        <p:sp>
          <p:nvSpPr>
            <p:cNvPr id="9" name="TextBox 19"/>
            <p:cNvSpPr txBox="1">
              <a:spLocks noChangeArrowheads="1"/>
            </p:cNvSpPr>
            <p:nvPr/>
          </p:nvSpPr>
          <p:spPr bwMode="auto">
            <a:xfrm>
              <a:off x="2378868" y="2534334"/>
              <a:ext cx="2100263" cy="727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algn="ctr">
                <a:lnSpc>
                  <a:spcPct val="90000"/>
                </a:lnSpc>
              </a:pPr>
              <a:r>
                <a:rPr lang="en-US" altLang="en-US" sz="1800" dirty="0">
                  <a:latin typeface="Calibri" panose="020F0502020204030204" pitchFamily="34" charset="0"/>
                  <a:cs typeface="Arial" panose="020B0604020202020204" pitchFamily="34" charset="0"/>
                </a:rPr>
                <a:t>Constant Number </a:t>
              </a:r>
            </a:p>
            <a:p>
              <a:pPr algn="ctr">
                <a:lnSpc>
                  <a:spcPct val="90000"/>
                </a:lnSpc>
              </a:pPr>
              <a:r>
                <a:rPr lang="en-US" altLang="en-US" sz="1800" dirty="0">
                  <a:latin typeface="Calibri" panose="020F0502020204030204" pitchFamily="34" charset="0"/>
                  <a:cs typeface="Arial" panose="020B0604020202020204" pitchFamily="34" charset="0"/>
                </a:rPr>
                <a:t>of Workers</a:t>
              </a:r>
            </a:p>
          </p:txBody>
        </p:sp>
        <p:sp>
          <p:nvSpPr>
            <p:cNvPr id="10" name="TextBox 9"/>
            <p:cNvSpPr txBox="1"/>
            <p:nvPr/>
          </p:nvSpPr>
          <p:spPr>
            <a:xfrm>
              <a:off x="4323820" y="1717675"/>
              <a:ext cx="2263775" cy="727420"/>
            </a:xfrm>
            <a:prstGeom prst="rect">
              <a:avLst/>
            </a:prstGeom>
            <a:noFill/>
          </p:spPr>
          <p:txBody>
            <a:bodyPr wrap="square">
              <a:spAutoFit/>
            </a:bodyPr>
            <a:lstStyle/>
            <a:p>
              <a:pPr algn="ctr">
                <a:lnSpc>
                  <a:spcPct val="90000"/>
                </a:lnSpc>
                <a:defRPr/>
              </a:pPr>
              <a:r>
                <a:rPr lang="en-US" sz="1800" b="1" dirty="0">
                  <a:latin typeface="Calibri" panose="020F0502020204030204" pitchFamily="34" charset="0"/>
                </a:rPr>
                <a:t>Finished Output of </a:t>
              </a:r>
            </a:p>
            <a:p>
              <a:pPr algn="ctr">
                <a:lnSpc>
                  <a:spcPct val="90000"/>
                </a:lnSpc>
                <a:defRPr/>
              </a:pPr>
              <a:r>
                <a:rPr lang="en-US" sz="1800" b="1" u="sng" dirty="0">
                  <a:latin typeface="Calibri" panose="020F0502020204030204" pitchFamily="34" charset="0"/>
                </a:rPr>
                <a:t>Goods or Services</a:t>
              </a:r>
            </a:p>
          </p:txBody>
        </p:sp>
        <p:sp>
          <p:nvSpPr>
            <p:cNvPr id="11" name="TextBox 10"/>
            <p:cNvSpPr txBox="1"/>
            <p:nvPr/>
          </p:nvSpPr>
          <p:spPr>
            <a:xfrm>
              <a:off x="4857750" y="2672835"/>
              <a:ext cx="1181100" cy="420540"/>
            </a:xfrm>
            <a:prstGeom prst="rect">
              <a:avLst/>
            </a:prstGeom>
            <a:noFill/>
          </p:spPr>
          <p:txBody>
            <a:bodyPr>
              <a:spAutoFit/>
            </a:bodyPr>
            <a:lstStyle/>
            <a:p>
              <a:pPr algn="ctr">
                <a:lnSpc>
                  <a:spcPct val="90000"/>
                </a:lnSpc>
                <a:defRPr/>
              </a:pPr>
              <a:r>
                <a:rPr lang="en-US" sz="1800" dirty="0">
                  <a:latin typeface="Calibri" panose="020F0502020204030204" pitchFamily="34" charset="0"/>
                </a:rPr>
                <a:t>50</a:t>
              </a:r>
            </a:p>
          </p:txBody>
        </p:sp>
        <p:sp>
          <p:nvSpPr>
            <p:cNvPr id="12" name="TextBox 11"/>
            <p:cNvSpPr txBox="1"/>
            <p:nvPr/>
          </p:nvSpPr>
          <p:spPr>
            <a:xfrm>
              <a:off x="4857750" y="3587234"/>
              <a:ext cx="1181100" cy="420540"/>
            </a:xfrm>
            <a:prstGeom prst="rect">
              <a:avLst/>
            </a:prstGeom>
            <a:noFill/>
          </p:spPr>
          <p:txBody>
            <a:bodyPr>
              <a:spAutoFit/>
            </a:bodyPr>
            <a:lstStyle/>
            <a:p>
              <a:pPr algn="ctr">
                <a:lnSpc>
                  <a:spcPct val="90000"/>
                </a:lnSpc>
                <a:defRPr/>
              </a:pPr>
              <a:r>
                <a:rPr lang="en-US" sz="1800" dirty="0">
                  <a:latin typeface="Calibri" panose="020F0502020204030204" pitchFamily="34" charset="0"/>
                </a:rPr>
                <a:t>50</a:t>
              </a:r>
            </a:p>
          </p:txBody>
        </p:sp>
        <p:sp>
          <p:nvSpPr>
            <p:cNvPr id="13" name="TextBox 12"/>
            <p:cNvSpPr txBox="1"/>
            <p:nvPr/>
          </p:nvSpPr>
          <p:spPr>
            <a:xfrm>
              <a:off x="4858544" y="4463534"/>
              <a:ext cx="1179512" cy="420540"/>
            </a:xfrm>
            <a:prstGeom prst="rect">
              <a:avLst/>
            </a:prstGeom>
            <a:noFill/>
          </p:spPr>
          <p:txBody>
            <a:bodyPr>
              <a:spAutoFit/>
            </a:bodyPr>
            <a:lstStyle/>
            <a:p>
              <a:pPr algn="ctr">
                <a:lnSpc>
                  <a:spcPct val="90000"/>
                </a:lnSpc>
                <a:defRPr/>
              </a:pPr>
              <a:r>
                <a:rPr lang="en-US" sz="1800" dirty="0">
                  <a:latin typeface="Calibri" panose="020F0502020204030204" pitchFamily="34" charset="0"/>
                </a:rPr>
                <a:t>50</a:t>
              </a:r>
            </a:p>
          </p:txBody>
        </p:sp>
        <p:sp>
          <p:nvSpPr>
            <p:cNvPr id="14" name="TextBox 13"/>
            <p:cNvSpPr txBox="1"/>
            <p:nvPr/>
          </p:nvSpPr>
          <p:spPr>
            <a:xfrm>
              <a:off x="6775450" y="1717675"/>
              <a:ext cx="1768475" cy="727420"/>
            </a:xfrm>
            <a:prstGeom prst="rect">
              <a:avLst/>
            </a:prstGeom>
            <a:noFill/>
          </p:spPr>
          <p:txBody>
            <a:bodyPr wrap="square">
              <a:spAutoFit/>
            </a:bodyPr>
            <a:lstStyle/>
            <a:p>
              <a:pPr algn="ctr">
                <a:lnSpc>
                  <a:spcPct val="90000"/>
                </a:lnSpc>
                <a:defRPr/>
              </a:pPr>
              <a:r>
                <a:rPr lang="en-US" sz="1800" b="1" dirty="0">
                  <a:latin typeface="Calibri" panose="020F0502020204030204" pitchFamily="34" charset="0"/>
                </a:rPr>
                <a:t>Backlog or </a:t>
              </a:r>
            </a:p>
            <a:p>
              <a:pPr algn="ctr">
                <a:lnSpc>
                  <a:spcPct val="90000"/>
                </a:lnSpc>
                <a:defRPr/>
              </a:pPr>
              <a:r>
                <a:rPr lang="en-US" sz="1800" b="1" u="sng" dirty="0">
                  <a:latin typeface="Calibri" panose="020F0502020204030204" pitchFamily="34" charset="0"/>
                </a:rPr>
                <a:t>Inventory</a:t>
              </a:r>
            </a:p>
          </p:txBody>
        </p:sp>
        <p:sp>
          <p:nvSpPr>
            <p:cNvPr id="15" name="TextBox 14"/>
            <p:cNvSpPr txBox="1"/>
            <p:nvPr/>
          </p:nvSpPr>
          <p:spPr>
            <a:xfrm>
              <a:off x="6898481" y="2672835"/>
              <a:ext cx="1519237" cy="420540"/>
            </a:xfrm>
            <a:prstGeom prst="rect">
              <a:avLst/>
            </a:prstGeom>
            <a:noFill/>
          </p:spPr>
          <p:txBody>
            <a:bodyPr>
              <a:spAutoFit/>
            </a:bodyPr>
            <a:lstStyle/>
            <a:p>
              <a:pPr algn="ctr">
                <a:lnSpc>
                  <a:spcPct val="90000"/>
                </a:lnSpc>
                <a:defRPr/>
              </a:pPr>
              <a:r>
                <a:rPr lang="en-US" sz="1800" dirty="0">
                  <a:latin typeface="Calibri" panose="020F0502020204030204" pitchFamily="34" charset="0"/>
                </a:rPr>
                <a:t>40 Inventory</a:t>
              </a:r>
            </a:p>
          </p:txBody>
        </p:sp>
        <p:sp>
          <p:nvSpPr>
            <p:cNvPr id="16" name="TextBox 15"/>
            <p:cNvSpPr txBox="1"/>
            <p:nvPr/>
          </p:nvSpPr>
          <p:spPr>
            <a:xfrm>
              <a:off x="6898481" y="3587234"/>
              <a:ext cx="1519237" cy="420540"/>
            </a:xfrm>
            <a:prstGeom prst="rect">
              <a:avLst/>
            </a:prstGeom>
            <a:noFill/>
          </p:spPr>
          <p:txBody>
            <a:bodyPr>
              <a:spAutoFit/>
            </a:bodyPr>
            <a:lstStyle/>
            <a:p>
              <a:pPr algn="ctr">
                <a:lnSpc>
                  <a:spcPct val="90000"/>
                </a:lnSpc>
                <a:defRPr/>
              </a:pPr>
              <a:r>
                <a:rPr lang="en-US" sz="1800" dirty="0">
                  <a:latin typeface="Calibri" panose="020F0502020204030204" pitchFamily="34" charset="0"/>
                </a:rPr>
                <a:t>30 Inventory</a:t>
              </a:r>
            </a:p>
          </p:txBody>
        </p:sp>
        <p:sp>
          <p:nvSpPr>
            <p:cNvPr id="17" name="TextBox 16"/>
            <p:cNvSpPr txBox="1"/>
            <p:nvPr/>
          </p:nvSpPr>
          <p:spPr>
            <a:xfrm>
              <a:off x="6586537" y="4325034"/>
              <a:ext cx="2143125" cy="1034300"/>
            </a:xfrm>
            <a:prstGeom prst="rect">
              <a:avLst/>
            </a:prstGeom>
            <a:noFill/>
          </p:spPr>
          <p:txBody>
            <a:bodyPr wrap="square">
              <a:spAutoFit/>
            </a:bodyPr>
            <a:lstStyle/>
            <a:p>
              <a:pPr algn="ctr">
                <a:lnSpc>
                  <a:spcPct val="90000"/>
                </a:lnSpc>
                <a:defRPr/>
              </a:pPr>
              <a:r>
                <a:rPr lang="en-US" sz="1800" dirty="0">
                  <a:latin typeface="Calibri" panose="020F0502020204030204" pitchFamily="34" charset="0"/>
                </a:rPr>
                <a:t>30 Backlog</a:t>
              </a:r>
            </a:p>
            <a:p>
              <a:pPr algn="ctr">
                <a:lnSpc>
                  <a:spcPct val="90000"/>
                </a:lnSpc>
                <a:defRPr/>
              </a:pPr>
              <a:r>
                <a:rPr lang="en-US" sz="1800" dirty="0">
                  <a:solidFill>
                    <a:srgbClr val="923222"/>
                  </a:solidFill>
                  <a:effectLst>
                    <a:outerShdw blurRad="38100" dist="38100" dir="2700000" algn="tl">
                      <a:srgbClr val="000000">
                        <a:alpha val="43137"/>
                      </a:srgbClr>
                    </a:outerShdw>
                  </a:effectLst>
                  <a:latin typeface="Calibri" panose="020F0502020204030204" pitchFamily="34" charset="0"/>
                </a:rPr>
                <a:t>get shortfall from inventory</a:t>
              </a:r>
            </a:p>
          </p:txBody>
        </p:sp>
        <p:sp>
          <p:nvSpPr>
            <p:cNvPr id="18" name="TextBox 17"/>
            <p:cNvSpPr txBox="1"/>
            <p:nvPr/>
          </p:nvSpPr>
          <p:spPr>
            <a:xfrm>
              <a:off x="2731029" y="1994673"/>
              <a:ext cx="1404937" cy="420540"/>
            </a:xfrm>
            <a:prstGeom prst="rect">
              <a:avLst/>
            </a:prstGeom>
            <a:noFill/>
          </p:spPr>
          <p:txBody>
            <a:bodyPr wrap="square">
              <a:spAutoFit/>
            </a:bodyPr>
            <a:lstStyle/>
            <a:p>
              <a:pPr algn="ctr">
                <a:lnSpc>
                  <a:spcPct val="90000"/>
                </a:lnSpc>
                <a:defRPr/>
              </a:pPr>
              <a:r>
                <a:rPr lang="en-US" sz="1800" b="1" u="sng" dirty="0">
                  <a:latin typeface="Calibri" panose="020F0502020204030204" pitchFamily="34" charset="0"/>
                </a:rPr>
                <a:t>Workforce</a:t>
              </a:r>
            </a:p>
          </p:txBody>
        </p:sp>
        <p:sp>
          <p:nvSpPr>
            <p:cNvPr id="19" name="TextBox 18"/>
            <p:cNvSpPr txBox="1">
              <a:spLocks noChangeArrowheads="1"/>
            </p:cNvSpPr>
            <p:nvPr/>
          </p:nvSpPr>
          <p:spPr bwMode="auto">
            <a:xfrm>
              <a:off x="2378868" y="3448734"/>
              <a:ext cx="2100263" cy="727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algn="ctr">
                <a:lnSpc>
                  <a:spcPct val="90000"/>
                </a:lnSpc>
              </a:pPr>
              <a:r>
                <a:rPr lang="en-US" altLang="en-US" sz="1800" dirty="0">
                  <a:latin typeface="Calibri" panose="020F0502020204030204" pitchFamily="34" charset="0"/>
                  <a:cs typeface="Arial" panose="020B0604020202020204" pitchFamily="34" charset="0"/>
                </a:rPr>
                <a:t>Constant Number </a:t>
              </a:r>
            </a:p>
            <a:p>
              <a:pPr algn="ctr">
                <a:lnSpc>
                  <a:spcPct val="90000"/>
                </a:lnSpc>
              </a:pPr>
              <a:r>
                <a:rPr lang="en-US" altLang="en-US" sz="1800" dirty="0">
                  <a:latin typeface="Calibri" panose="020F0502020204030204" pitchFamily="34" charset="0"/>
                  <a:cs typeface="Arial" panose="020B0604020202020204" pitchFamily="34" charset="0"/>
                </a:rPr>
                <a:t>of Workers</a:t>
              </a:r>
            </a:p>
          </p:txBody>
        </p:sp>
        <p:sp>
          <p:nvSpPr>
            <p:cNvPr id="20" name="TextBox 19"/>
            <p:cNvSpPr txBox="1">
              <a:spLocks noChangeArrowheads="1"/>
            </p:cNvSpPr>
            <p:nvPr/>
          </p:nvSpPr>
          <p:spPr bwMode="auto">
            <a:xfrm>
              <a:off x="2378868" y="4325034"/>
              <a:ext cx="2100263" cy="727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algn="ctr">
                <a:lnSpc>
                  <a:spcPct val="90000"/>
                </a:lnSpc>
              </a:pPr>
              <a:r>
                <a:rPr lang="en-US" altLang="en-US" sz="1800" dirty="0">
                  <a:latin typeface="Calibri" panose="020F0502020204030204" pitchFamily="34" charset="0"/>
                  <a:cs typeface="Arial" panose="020B0604020202020204" pitchFamily="34" charset="0"/>
                </a:rPr>
                <a:t>Constant Number </a:t>
              </a:r>
            </a:p>
            <a:p>
              <a:pPr algn="ctr">
                <a:lnSpc>
                  <a:spcPct val="90000"/>
                </a:lnSpc>
              </a:pPr>
              <a:r>
                <a:rPr lang="en-US" altLang="en-US" sz="1800" dirty="0">
                  <a:latin typeface="Calibri" panose="020F0502020204030204" pitchFamily="34" charset="0"/>
                  <a:cs typeface="Arial" panose="020B0604020202020204" pitchFamily="34" charset="0"/>
                </a:rPr>
                <a:t>of Workers</a:t>
              </a:r>
            </a:p>
          </p:txBody>
        </p:sp>
      </p:grpSp>
      <p:cxnSp>
        <p:nvCxnSpPr>
          <p:cNvPr id="24" name="Straight Connector 23"/>
          <p:cNvCxnSpPr/>
          <p:nvPr/>
        </p:nvCxnSpPr>
        <p:spPr bwMode="auto">
          <a:xfrm>
            <a:off x="2596507" y="5105400"/>
            <a:ext cx="1947337"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9" name="Straight Connector 28"/>
          <p:cNvCxnSpPr/>
          <p:nvPr/>
        </p:nvCxnSpPr>
        <p:spPr bwMode="auto">
          <a:xfrm>
            <a:off x="2596508" y="5829300"/>
            <a:ext cx="1947337"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0" name="Straight Connector 29"/>
          <p:cNvCxnSpPr/>
          <p:nvPr/>
        </p:nvCxnSpPr>
        <p:spPr bwMode="auto">
          <a:xfrm>
            <a:off x="4715933" y="5105400"/>
            <a:ext cx="1947337"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1" name="Straight Connector 30"/>
          <p:cNvCxnSpPr/>
          <p:nvPr/>
        </p:nvCxnSpPr>
        <p:spPr bwMode="auto">
          <a:xfrm>
            <a:off x="4715933" y="5829300"/>
            <a:ext cx="1947337"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3" name="Slide Number Placeholder 2"/>
          <p:cNvSpPr>
            <a:spLocks noGrp="1"/>
          </p:cNvSpPr>
          <p:nvPr>
            <p:ph type="sldNum" sz="quarter" idx="4"/>
          </p:nvPr>
        </p:nvSpPr>
        <p:spPr/>
        <p:txBody>
          <a:bodyPr/>
          <a:lstStyle/>
          <a:p>
            <a:fld id="{E66AA3EA-0569-43EF-BBA3-83FDB109D582}" type="slidenum">
              <a:rPr lang="en-US" smtClean="0"/>
              <a:pPr/>
              <a:t>15</a:t>
            </a:fld>
            <a:endParaRPr lang="en-US" dirty="0"/>
          </a:p>
        </p:txBody>
      </p:sp>
    </p:spTree>
    <p:extLst>
      <p:ext uri="{BB962C8B-B14F-4D97-AF65-F5344CB8AC3E}">
        <p14:creationId xmlns:p14="http://schemas.microsoft.com/office/powerpoint/2010/main" val="2424274868"/>
      </p:ext>
    </p:extLst>
  </p:cSld>
  <p:clrMapOvr>
    <a:masterClrMapping/>
  </p:clrMapOvr>
  <p:transition spd="slow">
    <p:pull dir="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228600" y="132598"/>
            <a:ext cx="678180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Basic Production Strategies </a:t>
            </a:r>
            <a:r>
              <a:rPr lang="en-US" altLang="en-US" sz="2000" b="0" i="1" kern="1200" dirty="0">
                <a:solidFill>
                  <a:srgbClr val="923222"/>
                </a:solidFill>
                <a:effectLst>
                  <a:outerShdw blurRad="38100" dist="38100" dir="2700000" algn="tl">
                    <a:srgbClr val="C0C0C0"/>
                  </a:outerShdw>
                </a:effectLst>
                <a:latin typeface="Calibri" panose="020F0502020204030204" pitchFamily="34" charset="0"/>
                <a:cs typeface="Arial" charset="0"/>
              </a:rPr>
              <a:t>(continued)</a:t>
            </a:r>
            <a:endParaRPr lang="en-US" altLang="en-US" sz="20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endParaRPr>
          </a:p>
        </p:txBody>
      </p:sp>
      <p:sp>
        <p:nvSpPr>
          <p:cNvPr id="24579" name="Rectangle 3"/>
          <p:cNvSpPr>
            <a:spLocks noGrp="1" noChangeArrowheads="1"/>
          </p:cNvSpPr>
          <p:nvPr>
            <p:ph type="body" idx="4294967295"/>
          </p:nvPr>
        </p:nvSpPr>
        <p:spPr>
          <a:xfrm>
            <a:off x="228601" y="889001"/>
            <a:ext cx="8686800" cy="2683932"/>
          </a:xfrm>
        </p:spPr>
        <p:txBody>
          <a:bodyPr/>
          <a:lstStyle/>
          <a:p>
            <a:pPr marL="457200" indent="-457200">
              <a:spcBef>
                <a:spcPts val="600"/>
              </a:spcBef>
              <a:spcAft>
                <a:spcPts val="600"/>
              </a:spcAft>
              <a:buClr>
                <a:schemeClr val="tx1"/>
              </a:buClr>
              <a:buFont typeface="+mj-lt"/>
              <a:buAutoNum type="arabicPeriod" startAt="2"/>
            </a:pPr>
            <a:r>
              <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Chase Production Strategy </a:t>
            </a:r>
            <a:r>
              <a:rPr lang="en-US" altLang="en-US" sz="2400" dirty="0">
                <a:latin typeface="Calibri" panose="020F0502020204030204" pitchFamily="34" charset="0"/>
                <a:ea typeface="ＭＳ Ｐゴシック" panose="020B0600070205080204" pitchFamily="34" charset="-128"/>
              </a:rPr>
              <a:t>- </a:t>
            </a:r>
            <a:r>
              <a:rPr lang="en-US" altLang="en-US" sz="2400" b="1" u="sng" dirty="0">
                <a:latin typeface="Calibri" panose="020F0502020204030204" pitchFamily="34" charset="0"/>
                <a:ea typeface="ＭＳ Ｐゴシック" panose="020B0600070205080204" pitchFamily="34" charset="-128"/>
              </a:rPr>
              <a:t>Adjusts capacity to match demand</a:t>
            </a:r>
            <a:r>
              <a:rPr lang="en-US" altLang="en-US" sz="2400" dirty="0">
                <a:latin typeface="Calibri" panose="020F0502020204030204" pitchFamily="34" charset="0"/>
                <a:ea typeface="ＭＳ Ｐゴシック" panose="020B0600070205080204" pitchFamily="34" charset="-128"/>
              </a:rPr>
              <a:t>.  Firm hires and lays off workers to match finished output to demand. Finished goods inventory remains constant.    Works well for </a:t>
            </a:r>
            <a:r>
              <a:rPr lang="en-US" altLang="en-US" sz="2400"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make-to-order firms</a:t>
            </a:r>
          </a:p>
          <a:p>
            <a:pPr marL="804863" lvl="1" indent="-347663">
              <a:spcBef>
                <a:spcPts val="600"/>
              </a:spcBef>
              <a:spcAft>
                <a:spcPts val="600"/>
              </a:spcAft>
            </a:pPr>
            <a:r>
              <a:rPr lang="en-US" altLang="en-US" sz="2000" dirty="0">
                <a:latin typeface="Calibri" panose="020F0502020204030204" pitchFamily="34" charset="0"/>
                <a:ea typeface="ＭＳ Ｐゴシック" panose="020B0600070205080204" pitchFamily="34" charset="-128"/>
              </a:rPr>
              <a:t>Airplane companies do this since training takes time.  Union employees are sent back to the union hall, waiting to be recalled. They collect unemployment.    Another example are workers that harvest crops.</a:t>
            </a:r>
          </a:p>
        </p:txBody>
      </p:sp>
      <p:sp>
        <p:nvSpPr>
          <p:cNvPr id="2" name="Rectangle 1"/>
          <p:cNvSpPr/>
          <p:nvPr/>
        </p:nvSpPr>
        <p:spPr>
          <a:xfrm>
            <a:off x="1246187" y="5355147"/>
            <a:ext cx="6829425" cy="528638"/>
          </a:xfrm>
          <a:prstGeom prst="rect">
            <a:avLst/>
          </a:prstGeom>
          <a:solidFill>
            <a:srgbClr val="FFFF99"/>
          </a:solidFill>
          <a:ln>
            <a:solidFill>
              <a:schemeClr val="tx1"/>
            </a:solidFill>
          </a:ln>
          <a:effectLst>
            <a:outerShdw blurRad="50800" dist="38100" dir="2700000" algn="tl" rotWithShape="0">
              <a:prstClr val="black">
                <a:alpha val="40000"/>
              </a:prstClr>
            </a:outerShdw>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4" name="TextBox 3"/>
          <p:cNvSpPr txBox="1"/>
          <p:nvPr/>
        </p:nvSpPr>
        <p:spPr>
          <a:xfrm>
            <a:off x="443970" y="3860800"/>
            <a:ext cx="2951162" cy="830997"/>
          </a:xfrm>
          <a:prstGeom prst="rect">
            <a:avLst/>
          </a:prstGeom>
          <a:noFill/>
        </p:spPr>
        <p:txBody>
          <a:bodyPr anchor="ctr" anchorCtr="1">
            <a:spAutoFit/>
          </a:bodyPr>
          <a:lstStyle/>
          <a:p>
            <a:pPr algn="ctr">
              <a:defRPr/>
            </a:pPr>
            <a:r>
              <a:rPr lang="en-US" b="1" dirty="0">
                <a:latin typeface="Calibri" panose="020F0502020204030204" pitchFamily="34" charset="0"/>
              </a:rPr>
              <a:t>Customer</a:t>
            </a:r>
            <a:r>
              <a:rPr lang="en-US" b="1" u="sng" dirty="0">
                <a:latin typeface="Calibri" panose="020F0502020204030204" pitchFamily="34" charset="0"/>
              </a:rPr>
              <a:t> </a:t>
            </a:r>
          </a:p>
          <a:p>
            <a:pPr algn="ctr">
              <a:defRPr/>
            </a:pPr>
            <a:r>
              <a:rPr lang="en-US" b="1" u="sng" dirty="0">
                <a:latin typeface="Calibri" panose="020F0502020204030204" pitchFamily="34" charset="0"/>
              </a:rPr>
              <a:t>Demand</a:t>
            </a:r>
          </a:p>
        </p:txBody>
      </p:sp>
      <p:sp>
        <p:nvSpPr>
          <p:cNvPr id="5" name="TextBox 4"/>
          <p:cNvSpPr txBox="1"/>
          <p:nvPr/>
        </p:nvSpPr>
        <p:spPr>
          <a:xfrm>
            <a:off x="1302807" y="4811046"/>
            <a:ext cx="1181100" cy="461665"/>
          </a:xfrm>
          <a:prstGeom prst="rect">
            <a:avLst/>
          </a:prstGeom>
          <a:noFill/>
        </p:spPr>
        <p:txBody>
          <a:bodyPr anchor="ctr" anchorCtr="1">
            <a:spAutoFit/>
          </a:bodyPr>
          <a:lstStyle/>
          <a:p>
            <a:pPr algn="ctr">
              <a:defRPr/>
            </a:pPr>
            <a:r>
              <a:rPr lang="en-US" dirty="0">
                <a:latin typeface="Calibri" panose="020F0502020204030204" pitchFamily="34" charset="0"/>
              </a:rPr>
              <a:t>10</a:t>
            </a:r>
          </a:p>
        </p:txBody>
      </p:sp>
      <p:sp>
        <p:nvSpPr>
          <p:cNvPr id="6" name="TextBox 5"/>
          <p:cNvSpPr txBox="1"/>
          <p:nvPr/>
        </p:nvSpPr>
        <p:spPr>
          <a:xfrm>
            <a:off x="1302807" y="5387171"/>
            <a:ext cx="1181100" cy="461665"/>
          </a:xfrm>
          <a:prstGeom prst="rect">
            <a:avLst/>
          </a:prstGeom>
          <a:noFill/>
        </p:spPr>
        <p:txBody>
          <a:bodyPr anchor="ctr" anchorCtr="1">
            <a:spAutoFit/>
          </a:bodyPr>
          <a:lstStyle/>
          <a:p>
            <a:pPr algn="ctr">
              <a:defRPr/>
            </a:pPr>
            <a:r>
              <a:rPr lang="en-US" dirty="0">
                <a:latin typeface="Calibri" panose="020F0502020204030204" pitchFamily="34" charset="0"/>
              </a:rPr>
              <a:t>20</a:t>
            </a:r>
          </a:p>
        </p:txBody>
      </p:sp>
      <p:sp>
        <p:nvSpPr>
          <p:cNvPr id="7" name="TextBox 6"/>
          <p:cNvSpPr txBox="1"/>
          <p:nvPr/>
        </p:nvSpPr>
        <p:spPr>
          <a:xfrm>
            <a:off x="1302807" y="5889753"/>
            <a:ext cx="1181100" cy="461665"/>
          </a:xfrm>
          <a:prstGeom prst="rect">
            <a:avLst/>
          </a:prstGeom>
          <a:noFill/>
        </p:spPr>
        <p:txBody>
          <a:bodyPr anchor="ctr" anchorCtr="1">
            <a:spAutoFit/>
          </a:bodyPr>
          <a:lstStyle/>
          <a:p>
            <a:pPr algn="ctr">
              <a:defRPr/>
            </a:pPr>
            <a:r>
              <a:rPr lang="en-US" dirty="0">
                <a:latin typeface="Calibri" panose="020F0502020204030204" pitchFamily="34" charset="0"/>
              </a:rPr>
              <a:t>30</a:t>
            </a:r>
          </a:p>
        </p:txBody>
      </p:sp>
      <p:sp>
        <p:nvSpPr>
          <p:cNvPr id="8" name="TextBox 7"/>
          <p:cNvSpPr txBox="1"/>
          <p:nvPr/>
        </p:nvSpPr>
        <p:spPr>
          <a:xfrm>
            <a:off x="3480858" y="4811046"/>
            <a:ext cx="1895475" cy="461665"/>
          </a:xfrm>
          <a:prstGeom prst="rect">
            <a:avLst/>
          </a:prstGeom>
          <a:noFill/>
        </p:spPr>
        <p:txBody>
          <a:bodyPr anchor="ctr" anchorCtr="1">
            <a:spAutoFit/>
          </a:bodyPr>
          <a:lstStyle/>
          <a:p>
            <a:pPr algn="ctr">
              <a:defRPr/>
            </a:pPr>
            <a:r>
              <a:rPr lang="en-US" dirty="0">
                <a:latin typeface="Calibri" panose="020F0502020204030204" pitchFamily="34" charset="0"/>
              </a:rPr>
              <a:t>Fire / Lay-off</a:t>
            </a:r>
          </a:p>
        </p:txBody>
      </p:sp>
      <p:sp>
        <p:nvSpPr>
          <p:cNvPr id="9" name="TextBox 8"/>
          <p:cNvSpPr txBox="1"/>
          <p:nvPr/>
        </p:nvSpPr>
        <p:spPr>
          <a:xfrm>
            <a:off x="2964391" y="5378704"/>
            <a:ext cx="2888721" cy="461665"/>
          </a:xfrm>
          <a:prstGeom prst="rect">
            <a:avLst/>
          </a:prstGeom>
          <a:noFill/>
        </p:spPr>
        <p:txBody>
          <a:bodyPr wrap="square" anchor="ctr" anchorCtr="1">
            <a:spAutoFit/>
          </a:bodyPr>
          <a:lstStyle/>
          <a:p>
            <a:pPr algn="ctr">
              <a:defRPr/>
            </a:pPr>
            <a:r>
              <a:rPr lang="en-US" dirty="0">
                <a:latin typeface="Calibri" panose="020F0502020204030204" pitchFamily="34" charset="0"/>
              </a:rPr>
              <a:t>Stable Workforce</a:t>
            </a:r>
          </a:p>
        </p:txBody>
      </p:sp>
      <p:sp>
        <p:nvSpPr>
          <p:cNvPr id="10" name="TextBox 9"/>
          <p:cNvSpPr txBox="1"/>
          <p:nvPr/>
        </p:nvSpPr>
        <p:spPr>
          <a:xfrm>
            <a:off x="3437995" y="5889753"/>
            <a:ext cx="1895475" cy="461665"/>
          </a:xfrm>
          <a:prstGeom prst="rect">
            <a:avLst/>
          </a:prstGeom>
          <a:noFill/>
        </p:spPr>
        <p:txBody>
          <a:bodyPr anchor="ctr" anchorCtr="1">
            <a:spAutoFit/>
          </a:bodyPr>
          <a:lstStyle/>
          <a:p>
            <a:pPr algn="ctr">
              <a:defRPr/>
            </a:pPr>
            <a:r>
              <a:rPr lang="en-US" dirty="0">
                <a:latin typeface="Calibri" panose="020F0502020204030204" pitchFamily="34" charset="0"/>
              </a:rPr>
              <a:t>Hire</a:t>
            </a:r>
          </a:p>
        </p:txBody>
      </p:sp>
      <p:sp>
        <p:nvSpPr>
          <p:cNvPr id="11" name="TextBox 10"/>
          <p:cNvSpPr txBox="1"/>
          <p:nvPr/>
        </p:nvSpPr>
        <p:spPr>
          <a:xfrm>
            <a:off x="5568420" y="3867183"/>
            <a:ext cx="2951162" cy="830997"/>
          </a:xfrm>
          <a:prstGeom prst="rect">
            <a:avLst/>
          </a:prstGeom>
          <a:noFill/>
        </p:spPr>
        <p:txBody>
          <a:bodyPr anchor="ctr" anchorCtr="1">
            <a:spAutoFit/>
          </a:bodyPr>
          <a:lstStyle/>
          <a:p>
            <a:pPr algn="ctr">
              <a:defRPr/>
            </a:pPr>
            <a:r>
              <a:rPr lang="en-US" b="1" dirty="0">
                <a:latin typeface="Calibri" panose="020F0502020204030204" pitchFamily="34" charset="0"/>
              </a:rPr>
              <a:t>Finished Output of </a:t>
            </a:r>
          </a:p>
          <a:p>
            <a:pPr algn="ctr">
              <a:defRPr/>
            </a:pPr>
            <a:r>
              <a:rPr lang="en-US" b="1" u="sng" dirty="0">
                <a:latin typeface="Calibri" panose="020F0502020204030204" pitchFamily="34" charset="0"/>
              </a:rPr>
              <a:t>Goods or Services</a:t>
            </a:r>
          </a:p>
        </p:txBody>
      </p:sp>
      <p:sp>
        <p:nvSpPr>
          <p:cNvPr id="12" name="TextBox 11"/>
          <p:cNvSpPr txBox="1"/>
          <p:nvPr/>
        </p:nvSpPr>
        <p:spPr>
          <a:xfrm>
            <a:off x="6457420" y="4811046"/>
            <a:ext cx="1179512" cy="461665"/>
          </a:xfrm>
          <a:prstGeom prst="rect">
            <a:avLst/>
          </a:prstGeom>
          <a:noFill/>
        </p:spPr>
        <p:txBody>
          <a:bodyPr anchor="ctr" anchorCtr="1">
            <a:spAutoFit/>
          </a:bodyPr>
          <a:lstStyle/>
          <a:p>
            <a:pPr algn="ctr">
              <a:defRPr/>
            </a:pPr>
            <a:r>
              <a:rPr lang="en-US" dirty="0">
                <a:latin typeface="Calibri" panose="020F0502020204030204" pitchFamily="34" charset="0"/>
              </a:rPr>
              <a:t>10</a:t>
            </a:r>
          </a:p>
        </p:txBody>
      </p:sp>
      <p:sp>
        <p:nvSpPr>
          <p:cNvPr id="13" name="TextBox 12"/>
          <p:cNvSpPr txBox="1"/>
          <p:nvPr/>
        </p:nvSpPr>
        <p:spPr>
          <a:xfrm>
            <a:off x="6456626" y="5387171"/>
            <a:ext cx="1181100" cy="461665"/>
          </a:xfrm>
          <a:prstGeom prst="rect">
            <a:avLst/>
          </a:prstGeom>
          <a:noFill/>
        </p:spPr>
        <p:txBody>
          <a:bodyPr anchor="ctr" anchorCtr="1">
            <a:spAutoFit/>
          </a:bodyPr>
          <a:lstStyle/>
          <a:p>
            <a:pPr algn="ctr">
              <a:defRPr/>
            </a:pPr>
            <a:r>
              <a:rPr lang="en-US" dirty="0">
                <a:latin typeface="Calibri" panose="020F0502020204030204" pitchFamily="34" charset="0"/>
              </a:rPr>
              <a:t>20</a:t>
            </a:r>
          </a:p>
        </p:txBody>
      </p:sp>
      <p:sp>
        <p:nvSpPr>
          <p:cNvPr id="14" name="TextBox 13"/>
          <p:cNvSpPr txBox="1"/>
          <p:nvPr/>
        </p:nvSpPr>
        <p:spPr>
          <a:xfrm>
            <a:off x="6456626" y="5889753"/>
            <a:ext cx="1181100" cy="461665"/>
          </a:xfrm>
          <a:prstGeom prst="rect">
            <a:avLst/>
          </a:prstGeom>
          <a:noFill/>
        </p:spPr>
        <p:txBody>
          <a:bodyPr anchor="ctr" anchorCtr="1">
            <a:spAutoFit/>
          </a:bodyPr>
          <a:lstStyle/>
          <a:p>
            <a:pPr algn="ctr">
              <a:defRPr/>
            </a:pPr>
            <a:r>
              <a:rPr lang="en-US" dirty="0">
                <a:latin typeface="Calibri" panose="020F0502020204030204" pitchFamily="34" charset="0"/>
              </a:rPr>
              <a:t>30</a:t>
            </a:r>
          </a:p>
        </p:txBody>
      </p:sp>
      <p:sp>
        <p:nvSpPr>
          <p:cNvPr id="16" name="TextBox 15"/>
          <p:cNvSpPr txBox="1"/>
          <p:nvPr/>
        </p:nvSpPr>
        <p:spPr>
          <a:xfrm>
            <a:off x="2873903" y="4239547"/>
            <a:ext cx="2951162" cy="461665"/>
          </a:xfrm>
          <a:prstGeom prst="rect">
            <a:avLst/>
          </a:prstGeom>
          <a:noFill/>
        </p:spPr>
        <p:txBody>
          <a:bodyPr anchor="ctr" anchorCtr="1">
            <a:spAutoFit/>
          </a:bodyPr>
          <a:lstStyle/>
          <a:p>
            <a:pPr algn="ctr">
              <a:defRPr/>
            </a:pPr>
            <a:r>
              <a:rPr lang="en-US" b="1" dirty="0">
                <a:latin typeface="Calibri" panose="020F0502020204030204" pitchFamily="34" charset="0"/>
              </a:rPr>
              <a:t>  </a:t>
            </a:r>
            <a:r>
              <a:rPr lang="en-US" b="1" u="sng" dirty="0">
                <a:latin typeface="Calibri" panose="020F0502020204030204" pitchFamily="34" charset="0"/>
              </a:rPr>
              <a:t>Workforce</a:t>
            </a:r>
          </a:p>
        </p:txBody>
      </p:sp>
      <p:sp>
        <p:nvSpPr>
          <p:cNvPr id="3" name="Footer Placeholder 2"/>
          <p:cNvSpPr>
            <a:spLocks noGrp="1"/>
          </p:cNvSpPr>
          <p:nvPr>
            <p:ph type="ftr" sz="quarter" idx="3"/>
          </p:nvPr>
        </p:nvSpPr>
        <p:spPr/>
        <p:txBody>
          <a:bodyPr/>
          <a:lstStyle/>
          <a:p>
            <a:r>
              <a:rPr lang="en-US"/>
              <a:t>Fundamentals of Supply Chain Management – McLaury/Spiegle</a:t>
            </a:r>
            <a:endParaRPr lang="en-US" dirty="0"/>
          </a:p>
        </p:txBody>
      </p:sp>
      <p:sp>
        <p:nvSpPr>
          <p:cNvPr id="15" name="Slide Number Placeholder 14"/>
          <p:cNvSpPr>
            <a:spLocks noGrp="1"/>
          </p:cNvSpPr>
          <p:nvPr>
            <p:ph type="sldNum" sz="quarter" idx="4"/>
          </p:nvPr>
        </p:nvSpPr>
        <p:spPr/>
        <p:txBody>
          <a:bodyPr/>
          <a:lstStyle/>
          <a:p>
            <a:fld id="{E66AA3EA-0569-43EF-BBA3-83FDB109D582}" type="slidenum">
              <a:rPr lang="en-US" smtClean="0"/>
              <a:pPr/>
              <a:t>16</a:t>
            </a:fld>
            <a:endParaRPr lang="en-US" dirty="0"/>
          </a:p>
        </p:txBody>
      </p:sp>
    </p:spTree>
    <p:extLst>
      <p:ext uri="{BB962C8B-B14F-4D97-AF65-F5344CB8AC3E}">
        <p14:creationId xmlns:p14="http://schemas.microsoft.com/office/powerpoint/2010/main" val="1374103052"/>
      </p:ext>
    </p:extLst>
  </p:cSld>
  <p:clrMapOvr>
    <a:masterClrMapping/>
  </p:clrMapOvr>
  <p:transition spd="slow">
    <p:pull dir="l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rot="16200000">
            <a:off x="2979211" y="3636431"/>
            <a:ext cx="2785532" cy="2709336"/>
          </a:xfrm>
          <a:prstGeom prst="rect">
            <a:avLst/>
          </a:prstGeom>
          <a:solidFill>
            <a:srgbClr val="FFFF99"/>
          </a:solidFill>
          <a:ln>
            <a:solidFill>
              <a:schemeClr val="tx1"/>
            </a:solidFill>
          </a:ln>
          <a:effectLst>
            <a:outerShdw blurRad="50800" dist="38100" dir="2700000" algn="tl" rotWithShape="0">
              <a:prstClr val="black">
                <a:alpha val="40000"/>
              </a:prstClr>
            </a:outerShdw>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24578" name="Rectangle 2"/>
          <p:cNvSpPr>
            <a:spLocks noGrp="1" noChangeArrowheads="1"/>
          </p:cNvSpPr>
          <p:nvPr>
            <p:ph type="title" idx="4294967295"/>
          </p:nvPr>
        </p:nvSpPr>
        <p:spPr>
          <a:xfrm>
            <a:off x="228600" y="132598"/>
            <a:ext cx="678180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Basic Production Strategies </a:t>
            </a:r>
            <a:r>
              <a:rPr lang="en-US" altLang="en-US" sz="2000" b="0" i="1"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(continued)</a:t>
            </a:r>
          </a:p>
        </p:txBody>
      </p:sp>
      <p:sp>
        <p:nvSpPr>
          <p:cNvPr id="24579" name="Rectangle 3"/>
          <p:cNvSpPr>
            <a:spLocks noGrp="1" noChangeArrowheads="1"/>
          </p:cNvSpPr>
          <p:nvPr>
            <p:ph type="body" idx="4294967295"/>
          </p:nvPr>
        </p:nvSpPr>
        <p:spPr>
          <a:xfrm>
            <a:off x="228600" y="983193"/>
            <a:ext cx="8686800" cy="2141008"/>
          </a:xfrm>
        </p:spPr>
        <p:txBody>
          <a:bodyPr/>
          <a:lstStyle/>
          <a:p>
            <a:pPr marL="457200" indent="-457200">
              <a:spcBef>
                <a:spcPts val="600"/>
              </a:spcBef>
              <a:spcAft>
                <a:spcPts val="600"/>
              </a:spcAft>
              <a:buFont typeface="+mj-lt"/>
              <a:buAutoNum type="arabicPeriod" startAt="3"/>
            </a:pPr>
            <a:r>
              <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Mixed Production Strategy </a:t>
            </a:r>
            <a:r>
              <a:rPr lang="en-US" altLang="en-US" sz="2400" dirty="0">
                <a:latin typeface="Calibri" panose="020F0502020204030204" pitchFamily="34" charset="0"/>
                <a:ea typeface="ＭＳ Ｐゴシック" panose="020B0600070205080204" pitchFamily="34" charset="-128"/>
              </a:rPr>
              <a:t>- </a:t>
            </a:r>
            <a:r>
              <a:rPr lang="en-US" altLang="en-US" sz="2400" u="sng" dirty="0">
                <a:latin typeface="Calibri" panose="020F0502020204030204" pitchFamily="34" charset="0"/>
                <a:ea typeface="ＭＳ Ｐゴシック" panose="020B0600070205080204" pitchFamily="34" charset="-128"/>
              </a:rPr>
              <a:t>Maintains stable core workforce while using other short-term means, such as overtime</a:t>
            </a:r>
            <a:r>
              <a:rPr lang="en-US" altLang="en-US" sz="2400" dirty="0">
                <a:latin typeface="Calibri" panose="020F0502020204030204" pitchFamily="34" charset="0"/>
                <a:ea typeface="ＭＳ Ｐゴシック" panose="020B0600070205080204" pitchFamily="34" charset="-128"/>
              </a:rPr>
              <a:t>, </a:t>
            </a:r>
            <a:r>
              <a:rPr lang="en-US" altLang="en-US" sz="2400" u="sng" dirty="0">
                <a:latin typeface="Calibri" panose="020F0502020204030204" pitchFamily="34" charset="0"/>
                <a:ea typeface="ＭＳ Ｐゴシック" panose="020B0600070205080204" pitchFamily="34" charset="-128"/>
              </a:rPr>
              <a:t>subcontracting and part time helpers </a:t>
            </a:r>
            <a:r>
              <a:rPr lang="en-US" altLang="en-US" sz="2400" dirty="0">
                <a:latin typeface="Calibri" panose="020F0502020204030204" pitchFamily="34" charset="0"/>
                <a:ea typeface="ＭＳ Ｐゴシック" panose="020B0600070205080204" pitchFamily="34" charset="-128"/>
              </a:rPr>
              <a:t>to manage short-term demand. </a:t>
            </a:r>
          </a:p>
          <a:p>
            <a:pPr marL="804863" lvl="1" indent="-347663">
              <a:spcBef>
                <a:spcPts val="600"/>
              </a:spcBef>
              <a:spcAft>
                <a:spcPts val="600"/>
              </a:spcAft>
            </a:pPr>
            <a:r>
              <a:rPr lang="en-US" altLang="en-US" sz="2000" dirty="0">
                <a:latin typeface="Calibri" panose="020F0502020204030204" pitchFamily="34" charset="0"/>
                <a:ea typeface="ＭＳ Ｐゴシック" panose="020B0600070205080204" pitchFamily="34" charset="-128"/>
              </a:rPr>
              <a:t>Construction co., retail stores at holiday season.</a:t>
            </a:r>
          </a:p>
        </p:txBody>
      </p:sp>
      <p:grpSp>
        <p:nvGrpSpPr>
          <p:cNvPr id="66" name="Group 65"/>
          <p:cNvGrpSpPr/>
          <p:nvPr/>
        </p:nvGrpSpPr>
        <p:grpSpPr>
          <a:xfrm>
            <a:off x="414337" y="3353857"/>
            <a:ext cx="8315325" cy="3038534"/>
            <a:chOff x="400050" y="1792069"/>
            <a:chExt cx="8315325" cy="3451317"/>
          </a:xfrm>
        </p:grpSpPr>
        <p:grpSp>
          <p:nvGrpSpPr>
            <p:cNvPr id="67" name="Group 66"/>
            <p:cNvGrpSpPr/>
            <p:nvPr/>
          </p:nvGrpSpPr>
          <p:grpSpPr>
            <a:xfrm>
              <a:off x="400050" y="1792069"/>
              <a:ext cx="8315325" cy="3451317"/>
              <a:chOff x="400050" y="1792069"/>
              <a:chExt cx="8315325" cy="3451317"/>
            </a:xfrm>
          </p:grpSpPr>
          <p:grpSp>
            <p:nvGrpSpPr>
              <p:cNvPr id="69" name="Group 68"/>
              <p:cNvGrpSpPr/>
              <p:nvPr/>
            </p:nvGrpSpPr>
            <p:grpSpPr>
              <a:xfrm>
                <a:off x="400050" y="1792069"/>
                <a:ext cx="8315325" cy="3451317"/>
                <a:chOff x="400050" y="1792069"/>
                <a:chExt cx="8315325" cy="3451317"/>
              </a:xfrm>
            </p:grpSpPr>
            <p:sp>
              <p:nvSpPr>
                <p:cNvPr id="71" name="TextBox 70"/>
                <p:cNvSpPr txBox="1"/>
                <p:nvPr/>
              </p:nvSpPr>
              <p:spPr>
                <a:xfrm>
                  <a:off x="400050" y="2069069"/>
                  <a:ext cx="2586211" cy="454465"/>
                </a:xfrm>
                <a:prstGeom prst="rect">
                  <a:avLst/>
                </a:prstGeom>
                <a:noFill/>
              </p:spPr>
              <p:txBody>
                <a:bodyPr wrap="square">
                  <a:spAutoFit/>
                </a:bodyPr>
                <a:lstStyle/>
                <a:p>
                  <a:pPr algn="ctr">
                    <a:defRPr/>
                  </a:pPr>
                  <a:r>
                    <a:rPr lang="en-US" sz="2000" b="1" u="sng" dirty="0">
                      <a:latin typeface="Calibri" panose="020F0502020204030204" pitchFamily="34" charset="0"/>
                    </a:rPr>
                    <a:t>Customer Demand</a:t>
                  </a:r>
                </a:p>
              </p:txBody>
            </p:sp>
            <p:sp>
              <p:nvSpPr>
                <p:cNvPr id="72" name="TextBox 71"/>
                <p:cNvSpPr txBox="1"/>
                <p:nvPr/>
              </p:nvSpPr>
              <p:spPr>
                <a:xfrm>
                  <a:off x="1007432" y="2596634"/>
                  <a:ext cx="1371448" cy="454465"/>
                </a:xfrm>
                <a:prstGeom prst="rect">
                  <a:avLst/>
                </a:prstGeom>
                <a:noFill/>
              </p:spPr>
              <p:txBody>
                <a:bodyPr>
                  <a:spAutoFit/>
                </a:bodyPr>
                <a:lstStyle/>
                <a:p>
                  <a:pPr algn="ctr">
                    <a:defRPr/>
                  </a:pPr>
                  <a:r>
                    <a:rPr lang="en-US" sz="2000" dirty="0">
                      <a:latin typeface="Calibri" panose="020F0502020204030204" pitchFamily="34" charset="0"/>
                    </a:rPr>
                    <a:t>10</a:t>
                  </a:r>
                </a:p>
              </p:txBody>
            </p:sp>
            <p:sp>
              <p:nvSpPr>
                <p:cNvPr id="73" name="TextBox 72"/>
                <p:cNvSpPr txBox="1"/>
                <p:nvPr/>
              </p:nvSpPr>
              <p:spPr>
                <a:xfrm>
                  <a:off x="1007432" y="3244334"/>
                  <a:ext cx="1371448" cy="454465"/>
                </a:xfrm>
                <a:prstGeom prst="rect">
                  <a:avLst/>
                </a:prstGeom>
                <a:noFill/>
              </p:spPr>
              <p:txBody>
                <a:bodyPr>
                  <a:spAutoFit/>
                </a:bodyPr>
                <a:lstStyle/>
                <a:p>
                  <a:pPr algn="ctr">
                    <a:defRPr/>
                  </a:pPr>
                  <a:r>
                    <a:rPr lang="en-US" sz="2000" dirty="0">
                      <a:latin typeface="Calibri" panose="020F0502020204030204" pitchFamily="34" charset="0"/>
                    </a:rPr>
                    <a:t>20</a:t>
                  </a:r>
                </a:p>
              </p:txBody>
            </p:sp>
            <p:sp>
              <p:nvSpPr>
                <p:cNvPr id="74" name="TextBox 73"/>
                <p:cNvSpPr txBox="1"/>
                <p:nvPr/>
              </p:nvSpPr>
              <p:spPr>
                <a:xfrm>
                  <a:off x="1007432" y="3861603"/>
                  <a:ext cx="1371448" cy="454465"/>
                </a:xfrm>
                <a:prstGeom prst="rect">
                  <a:avLst/>
                </a:prstGeom>
                <a:noFill/>
              </p:spPr>
              <p:txBody>
                <a:bodyPr>
                  <a:spAutoFit/>
                </a:bodyPr>
                <a:lstStyle/>
                <a:p>
                  <a:pPr algn="ctr">
                    <a:defRPr/>
                  </a:pPr>
                  <a:r>
                    <a:rPr lang="en-US" sz="2000" dirty="0">
                      <a:latin typeface="Calibri" panose="020F0502020204030204" pitchFamily="34" charset="0"/>
                    </a:rPr>
                    <a:t>50</a:t>
                  </a:r>
                </a:p>
              </p:txBody>
            </p:sp>
            <p:sp>
              <p:nvSpPr>
                <p:cNvPr id="75" name="TextBox 17"/>
                <p:cNvSpPr txBox="1">
                  <a:spLocks noChangeArrowheads="1"/>
                </p:cNvSpPr>
                <p:nvPr/>
              </p:nvSpPr>
              <p:spPr bwMode="auto">
                <a:xfrm>
                  <a:off x="3050778" y="2596634"/>
                  <a:ext cx="2593586" cy="454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algn="ctr"/>
                  <a:r>
                    <a:rPr lang="en-US" altLang="en-US" sz="2000" dirty="0">
                      <a:latin typeface="Calibri" panose="020F0502020204030204" pitchFamily="34" charset="0"/>
                      <a:cs typeface="Arial" panose="020B0604020202020204" pitchFamily="34" charset="0"/>
                    </a:rPr>
                    <a:t>Stable Workforce</a:t>
                  </a:r>
                </a:p>
              </p:txBody>
            </p:sp>
            <p:sp>
              <p:nvSpPr>
                <p:cNvPr id="76" name="TextBox 75"/>
                <p:cNvSpPr txBox="1"/>
                <p:nvPr/>
              </p:nvSpPr>
              <p:spPr>
                <a:xfrm>
                  <a:off x="3246173" y="3244334"/>
                  <a:ext cx="2202796" cy="454465"/>
                </a:xfrm>
                <a:prstGeom prst="rect">
                  <a:avLst/>
                </a:prstGeom>
                <a:noFill/>
              </p:spPr>
              <p:txBody>
                <a:bodyPr>
                  <a:spAutoFit/>
                </a:bodyPr>
                <a:lstStyle/>
                <a:p>
                  <a:pPr algn="ctr">
                    <a:defRPr/>
                  </a:pPr>
                  <a:r>
                    <a:rPr lang="en-US" sz="2000" dirty="0">
                      <a:latin typeface="Calibri" panose="020F0502020204030204" pitchFamily="34" charset="0"/>
                    </a:rPr>
                    <a:t>Work Overtime</a:t>
                  </a:r>
                </a:p>
              </p:txBody>
            </p:sp>
            <p:sp>
              <p:nvSpPr>
                <p:cNvPr id="77" name="TextBox 76"/>
                <p:cNvSpPr txBox="1"/>
                <p:nvPr/>
              </p:nvSpPr>
              <p:spPr>
                <a:xfrm>
                  <a:off x="5288599" y="1792069"/>
                  <a:ext cx="3426776" cy="804052"/>
                </a:xfrm>
                <a:prstGeom prst="rect">
                  <a:avLst/>
                </a:prstGeom>
                <a:noFill/>
              </p:spPr>
              <p:txBody>
                <a:bodyPr>
                  <a:spAutoFit/>
                </a:bodyPr>
                <a:lstStyle/>
                <a:p>
                  <a:pPr algn="ctr">
                    <a:defRPr/>
                  </a:pPr>
                  <a:r>
                    <a:rPr lang="en-US" sz="2000" b="1" dirty="0">
                      <a:latin typeface="Calibri" panose="020F0502020204030204" pitchFamily="34" charset="0"/>
                    </a:rPr>
                    <a:t>Finished Output of </a:t>
                  </a:r>
                </a:p>
                <a:p>
                  <a:pPr algn="ctr">
                    <a:defRPr/>
                  </a:pPr>
                  <a:r>
                    <a:rPr lang="en-US" sz="2000" b="1" u="sng" dirty="0">
                      <a:latin typeface="Calibri" panose="020F0502020204030204" pitchFamily="34" charset="0"/>
                    </a:rPr>
                    <a:t>Goods or Services</a:t>
                  </a:r>
                </a:p>
              </p:txBody>
            </p:sp>
            <p:sp>
              <p:nvSpPr>
                <p:cNvPr id="78" name="TextBox 77"/>
                <p:cNvSpPr txBox="1"/>
                <p:nvPr/>
              </p:nvSpPr>
              <p:spPr>
                <a:xfrm>
                  <a:off x="6323636" y="2596634"/>
                  <a:ext cx="1369604" cy="454465"/>
                </a:xfrm>
                <a:prstGeom prst="rect">
                  <a:avLst/>
                </a:prstGeom>
                <a:noFill/>
              </p:spPr>
              <p:txBody>
                <a:bodyPr>
                  <a:spAutoFit/>
                </a:bodyPr>
                <a:lstStyle/>
                <a:p>
                  <a:pPr algn="ctr">
                    <a:defRPr/>
                  </a:pPr>
                  <a:r>
                    <a:rPr lang="en-US" sz="2000" dirty="0">
                      <a:latin typeface="Calibri" panose="020F0502020204030204" pitchFamily="34" charset="0"/>
                    </a:rPr>
                    <a:t>10</a:t>
                  </a:r>
                </a:p>
              </p:txBody>
            </p:sp>
            <p:sp>
              <p:nvSpPr>
                <p:cNvPr id="79" name="TextBox 78"/>
                <p:cNvSpPr txBox="1"/>
                <p:nvPr/>
              </p:nvSpPr>
              <p:spPr>
                <a:xfrm>
                  <a:off x="6316263" y="3244334"/>
                  <a:ext cx="1371448" cy="454465"/>
                </a:xfrm>
                <a:prstGeom prst="rect">
                  <a:avLst/>
                </a:prstGeom>
                <a:noFill/>
              </p:spPr>
              <p:txBody>
                <a:bodyPr>
                  <a:spAutoFit/>
                </a:bodyPr>
                <a:lstStyle/>
                <a:p>
                  <a:pPr algn="ctr">
                    <a:defRPr/>
                  </a:pPr>
                  <a:r>
                    <a:rPr lang="en-US" sz="2000" dirty="0">
                      <a:latin typeface="Calibri" panose="020F0502020204030204" pitchFamily="34" charset="0"/>
                    </a:rPr>
                    <a:t>20</a:t>
                  </a:r>
                </a:p>
              </p:txBody>
            </p:sp>
            <p:sp>
              <p:nvSpPr>
                <p:cNvPr id="80" name="TextBox 79"/>
                <p:cNvSpPr txBox="1"/>
                <p:nvPr/>
              </p:nvSpPr>
              <p:spPr>
                <a:xfrm>
                  <a:off x="6316263" y="3853934"/>
                  <a:ext cx="1371448" cy="454465"/>
                </a:xfrm>
                <a:prstGeom prst="rect">
                  <a:avLst/>
                </a:prstGeom>
                <a:noFill/>
              </p:spPr>
              <p:txBody>
                <a:bodyPr>
                  <a:spAutoFit/>
                </a:bodyPr>
                <a:lstStyle/>
                <a:p>
                  <a:pPr algn="ctr">
                    <a:defRPr/>
                  </a:pPr>
                  <a:r>
                    <a:rPr lang="en-US" sz="2000" dirty="0">
                      <a:latin typeface="Calibri" panose="020F0502020204030204" pitchFamily="34" charset="0"/>
                    </a:rPr>
                    <a:t>50</a:t>
                  </a:r>
                </a:p>
              </p:txBody>
            </p:sp>
            <p:sp>
              <p:nvSpPr>
                <p:cNvPr id="81" name="TextBox 80"/>
                <p:cNvSpPr txBox="1"/>
                <p:nvPr/>
              </p:nvSpPr>
              <p:spPr>
                <a:xfrm>
                  <a:off x="1008352" y="4577834"/>
                  <a:ext cx="1369605" cy="454465"/>
                </a:xfrm>
                <a:prstGeom prst="rect">
                  <a:avLst/>
                </a:prstGeom>
                <a:noFill/>
              </p:spPr>
              <p:txBody>
                <a:bodyPr>
                  <a:spAutoFit/>
                </a:bodyPr>
                <a:lstStyle/>
                <a:p>
                  <a:pPr algn="ctr">
                    <a:defRPr/>
                  </a:pPr>
                  <a:r>
                    <a:rPr lang="en-US" sz="2000" dirty="0">
                      <a:latin typeface="Calibri" panose="020F0502020204030204" pitchFamily="34" charset="0"/>
                    </a:rPr>
                    <a:t>80</a:t>
                  </a:r>
                </a:p>
              </p:txBody>
            </p:sp>
            <p:sp>
              <p:nvSpPr>
                <p:cNvPr id="82" name="TextBox 81"/>
                <p:cNvSpPr txBox="1"/>
                <p:nvPr/>
              </p:nvSpPr>
              <p:spPr>
                <a:xfrm>
                  <a:off x="6317184" y="4577834"/>
                  <a:ext cx="1369605" cy="454465"/>
                </a:xfrm>
                <a:prstGeom prst="rect">
                  <a:avLst/>
                </a:prstGeom>
                <a:noFill/>
              </p:spPr>
              <p:txBody>
                <a:bodyPr>
                  <a:spAutoFit/>
                </a:bodyPr>
                <a:lstStyle/>
                <a:p>
                  <a:pPr algn="ctr">
                    <a:defRPr/>
                  </a:pPr>
                  <a:r>
                    <a:rPr lang="en-US" sz="2000" dirty="0">
                      <a:latin typeface="Calibri" panose="020F0502020204030204" pitchFamily="34" charset="0"/>
                    </a:rPr>
                    <a:t>80</a:t>
                  </a:r>
                </a:p>
              </p:txBody>
            </p:sp>
            <p:sp>
              <p:nvSpPr>
                <p:cNvPr id="83" name="Rectangle 82"/>
                <p:cNvSpPr/>
                <p:nvPr/>
              </p:nvSpPr>
              <p:spPr>
                <a:xfrm>
                  <a:off x="2984530" y="4439334"/>
                  <a:ext cx="2726081" cy="804052"/>
                </a:xfrm>
                <a:prstGeom prst="rect">
                  <a:avLst/>
                </a:prstGeom>
              </p:spPr>
              <p:txBody>
                <a:bodyPr wrap="square">
                  <a:spAutoFit/>
                </a:bodyPr>
                <a:lstStyle/>
                <a:p>
                  <a:pPr algn="ctr">
                    <a:defRPr/>
                  </a:pPr>
                  <a:r>
                    <a:rPr lang="en-US" sz="2000" dirty="0">
                      <a:latin typeface="Calibri" panose="020F0502020204030204" pitchFamily="34" charset="0"/>
                    </a:rPr>
                    <a:t>Overtime, Part Time Help and Outsource</a:t>
                  </a:r>
                </a:p>
              </p:txBody>
            </p:sp>
          </p:grpSp>
          <p:sp>
            <p:nvSpPr>
              <p:cNvPr id="70" name="Rectangle 69"/>
              <p:cNvSpPr/>
              <p:nvPr/>
            </p:nvSpPr>
            <p:spPr>
              <a:xfrm>
                <a:off x="2992997" y="3771280"/>
                <a:ext cx="2700804" cy="734135"/>
              </a:xfrm>
              <a:prstGeom prst="rect">
                <a:avLst/>
              </a:prstGeom>
            </p:spPr>
            <p:txBody>
              <a:bodyPr wrap="none">
                <a:spAutoFit/>
              </a:bodyPr>
              <a:lstStyle/>
              <a:p>
                <a:pPr algn="ctr">
                  <a:lnSpc>
                    <a:spcPct val="90000"/>
                  </a:lnSpc>
                  <a:defRPr/>
                </a:pPr>
                <a:r>
                  <a:rPr lang="en-US" sz="2000" dirty="0">
                    <a:latin typeface="Calibri" panose="020F0502020204030204" pitchFamily="34" charset="0"/>
                  </a:rPr>
                  <a:t>Work Overtime and </a:t>
                </a:r>
              </a:p>
              <a:p>
                <a:pPr algn="ctr">
                  <a:lnSpc>
                    <a:spcPct val="90000"/>
                  </a:lnSpc>
                  <a:defRPr/>
                </a:pPr>
                <a:r>
                  <a:rPr lang="en-US" sz="2000" dirty="0">
                    <a:latin typeface="Calibri" panose="020F0502020204030204" pitchFamily="34" charset="0"/>
                  </a:rPr>
                  <a:t>Outsource some Output</a:t>
                </a:r>
              </a:p>
            </p:txBody>
          </p:sp>
        </p:grpSp>
        <p:sp>
          <p:nvSpPr>
            <p:cNvPr id="68" name="TextBox 67"/>
            <p:cNvSpPr txBox="1"/>
            <p:nvPr/>
          </p:nvSpPr>
          <p:spPr>
            <a:xfrm>
              <a:off x="3050294" y="2069067"/>
              <a:ext cx="2586211" cy="454465"/>
            </a:xfrm>
            <a:prstGeom prst="rect">
              <a:avLst/>
            </a:prstGeom>
            <a:noFill/>
          </p:spPr>
          <p:txBody>
            <a:bodyPr wrap="square">
              <a:spAutoFit/>
            </a:bodyPr>
            <a:lstStyle/>
            <a:p>
              <a:pPr algn="ctr">
                <a:defRPr/>
              </a:pPr>
              <a:r>
                <a:rPr lang="en-US" sz="2000" b="1" u="sng" dirty="0">
                  <a:latin typeface="Calibri" panose="020F0502020204030204" pitchFamily="34" charset="0"/>
                </a:rPr>
                <a:t>Workforce</a:t>
              </a:r>
            </a:p>
          </p:txBody>
        </p:sp>
      </p:grpSp>
      <p:cxnSp>
        <p:nvCxnSpPr>
          <p:cNvPr id="4" name="Straight Connector 3"/>
          <p:cNvCxnSpPr/>
          <p:nvPr/>
        </p:nvCxnSpPr>
        <p:spPr bwMode="auto">
          <a:xfrm>
            <a:off x="3017309" y="4525433"/>
            <a:ext cx="2707589"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a:off x="3017309" y="5058833"/>
            <a:ext cx="2707589"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a:off x="3007284" y="5706533"/>
            <a:ext cx="2707589"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3" name="Slide Number Placeholder 2"/>
          <p:cNvSpPr>
            <a:spLocks noGrp="1"/>
          </p:cNvSpPr>
          <p:nvPr>
            <p:ph type="sldNum" sz="quarter" idx="4"/>
          </p:nvPr>
        </p:nvSpPr>
        <p:spPr/>
        <p:txBody>
          <a:bodyPr/>
          <a:lstStyle/>
          <a:p>
            <a:fld id="{E66AA3EA-0569-43EF-BBA3-83FDB109D582}" type="slidenum">
              <a:rPr lang="en-US" smtClean="0"/>
              <a:pPr/>
              <a:t>17</a:t>
            </a:fld>
            <a:endParaRPr lang="en-US" dirty="0"/>
          </a:p>
        </p:txBody>
      </p:sp>
    </p:spTree>
    <p:extLst>
      <p:ext uri="{BB962C8B-B14F-4D97-AF65-F5344CB8AC3E}">
        <p14:creationId xmlns:p14="http://schemas.microsoft.com/office/powerpoint/2010/main" val="3106846546"/>
      </p:ext>
    </p:extLst>
  </p:cSld>
  <p:clrMapOvr>
    <a:masterClrMapping/>
  </p:clrMapOvr>
  <p:transition spd="slow">
    <p:pull dir="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a:xfrm>
            <a:off x="228600" y="137535"/>
            <a:ext cx="7018338" cy="486929"/>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The Bill of Materials </a:t>
            </a:r>
          </a:p>
        </p:txBody>
      </p:sp>
      <p:sp>
        <p:nvSpPr>
          <p:cNvPr id="29699" name="Rectangle 3"/>
          <p:cNvSpPr>
            <a:spLocks noGrp="1" noChangeArrowheads="1"/>
          </p:cNvSpPr>
          <p:nvPr>
            <p:ph type="body" idx="4294967295"/>
          </p:nvPr>
        </p:nvSpPr>
        <p:spPr>
          <a:xfrm>
            <a:off x="228600" y="1004888"/>
            <a:ext cx="8686800" cy="3795712"/>
          </a:xfrm>
        </p:spPr>
        <p:txBody>
          <a:bodyPr/>
          <a:lstStyle/>
          <a:p>
            <a:pPr marL="0" indent="0">
              <a:spcBef>
                <a:spcPts val="1200"/>
              </a:spcBef>
              <a:spcAft>
                <a:spcPts val="1200"/>
              </a:spcAft>
              <a:buClr>
                <a:schemeClr val="tx1"/>
              </a:buClr>
              <a:buSzPct val="110000"/>
              <a:buNone/>
            </a:pPr>
            <a:r>
              <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Bill of Materials (BOM) </a:t>
            </a:r>
            <a:r>
              <a:rPr lang="en-US" altLang="en-US" sz="2000" dirty="0">
                <a:latin typeface="Calibri" panose="020F0502020204030204" pitchFamily="34" charset="0"/>
                <a:ea typeface="ＭＳ Ｐゴシック" panose="020B0600070205080204" pitchFamily="34" charset="-128"/>
              </a:rPr>
              <a:t>- document that shows </a:t>
            </a:r>
            <a:r>
              <a:rPr lang="en-US" altLang="en-US" sz="2000" u="sng" dirty="0">
                <a:latin typeface="Calibri" panose="020F0502020204030204" pitchFamily="34" charset="0"/>
                <a:ea typeface="ＭＳ Ｐゴシック" panose="020B0600070205080204" pitchFamily="34" charset="-128"/>
              </a:rPr>
              <a:t>an inclusive listing of all component parts and assemblies </a:t>
            </a:r>
            <a:r>
              <a:rPr lang="en-US" altLang="en-US" sz="2000" dirty="0">
                <a:latin typeface="Calibri" panose="020F0502020204030204" pitchFamily="34" charset="0"/>
                <a:ea typeface="ＭＳ Ｐゴシック" panose="020B0600070205080204" pitchFamily="34" charset="-128"/>
              </a:rPr>
              <a:t>making up the final product.</a:t>
            </a:r>
          </a:p>
          <a:p>
            <a:pPr marL="571500" lvl="1" indent="-342900">
              <a:spcBef>
                <a:spcPts val="1200"/>
              </a:spcBef>
              <a:spcAft>
                <a:spcPts val="1200"/>
              </a:spcAft>
              <a:buClr>
                <a:srgbClr val="923222"/>
              </a:buClr>
              <a:buSzPct val="110000"/>
              <a:buFont typeface="Wingdings" panose="05000000000000000000" pitchFamily="2" charset="2"/>
              <a:buChar char="§"/>
            </a:pPr>
            <a:r>
              <a:rPr lang="en-US" altLang="en-US" sz="20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Single Level Bill of Materials </a:t>
            </a:r>
            <a:r>
              <a:rPr lang="en-US" altLang="en-US" sz="2000" dirty="0">
                <a:latin typeface="Calibri" panose="020F0502020204030204" pitchFamily="34" charset="0"/>
                <a:ea typeface="ＭＳ Ｐゴシック" panose="020B0600070205080204" pitchFamily="34" charset="-128"/>
              </a:rPr>
              <a:t>- Display of </a:t>
            </a:r>
            <a:r>
              <a:rPr lang="en-US" altLang="en-US" sz="2000" b="1" u="sng" dirty="0">
                <a:latin typeface="Calibri" panose="020F0502020204030204" pitchFamily="34" charset="0"/>
                <a:ea typeface="ＭＳ Ｐゴシック" panose="020B0600070205080204" pitchFamily="34" charset="-128"/>
              </a:rPr>
              <a:t>components that are directly used </a:t>
            </a:r>
            <a:r>
              <a:rPr lang="en-US" altLang="en-US" sz="2000" dirty="0">
                <a:latin typeface="Calibri" panose="020F0502020204030204" pitchFamily="34" charset="0"/>
                <a:ea typeface="ＭＳ Ｐゴシック" panose="020B0600070205080204" pitchFamily="34" charset="-128"/>
              </a:rPr>
              <a:t>in a parent item, together with the quantity required of each component (i.e., the planning factor). Shows only the relationships one level down</a:t>
            </a:r>
          </a:p>
          <a:p>
            <a:pPr marL="571500" lvl="1" indent="-342900">
              <a:spcBef>
                <a:spcPts val="1200"/>
              </a:spcBef>
              <a:spcAft>
                <a:spcPts val="1200"/>
              </a:spcAft>
              <a:buClr>
                <a:srgbClr val="923222"/>
              </a:buClr>
              <a:buSzPct val="110000"/>
              <a:buFont typeface="Wingdings" panose="05000000000000000000" pitchFamily="2" charset="2"/>
              <a:buChar char="§"/>
            </a:pPr>
            <a:r>
              <a:rPr lang="en-US" altLang="en-US" sz="20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Multilevel Bill of Materials </a:t>
            </a:r>
            <a:r>
              <a:rPr lang="en-US" altLang="en-US" sz="2000" dirty="0">
                <a:latin typeface="Calibri" panose="020F0502020204030204" pitchFamily="34" charset="0"/>
                <a:ea typeface="ＭＳ Ｐゴシック" panose="020B0600070205080204" pitchFamily="34" charset="-128"/>
              </a:rPr>
              <a:t>- A display of all the components </a:t>
            </a:r>
            <a:r>
              <a:rPr lang="en-US" altLang="en-US" sz="2000" b="1" u="sng" dirty="0">
                <a:latin typeface="Calibri" panose="020F0502020204030204" pitchFamily="34" charset="0"/>
                <a:ea typeface="ＭＳ Ｐゴシック" panose="020B0600070205080204" pitchFamily="34" charset="-128"/>
              </a:rPr>
              <a:t>directly or indirectly used </a:t>
            </a:r>
            <a:r>
              <a:rPr lang="en-US" altLang="en-US" sz="2000" dirty="0">
                <a:latin typeface="Calibri" panose="020F0502020204030204" pitchFamily="34" charset="0"/>
                <a:ea typeface="ＭＳ Ｐゴシック" panose="020B0600070205080204" pitchFamily="34" charset="-128"/>
              </a:rPr>
              <a:t>in a parent, together with the quantity required of each component (i.e., the planning factor). If a component is a subassembly, blend, intermediate, etc., all its components and all their components also will be exhibited, down to purchased parts and raw materials</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9995" t="5455" r="9993" b="7258"/>
          <a:stretch/>
        </p:blipFill>
        <p:spPr>
          <a:xfrm>
            <a:off x="4076699" y="0"/>
            <a:ext cx="783168" cy="762000"/>
          </a:xfrm>
          <a:prstGeom prst="rect">
            <a:avLst/>
          </a:prstGeom>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5055" t="5242" r="4717" b="5555"/>
          <a:stretch/>
        </p:blipFill>
        <p:spPr>
          <a:xfrm>
            <a:off x="6172201" y="4839175"/>
            <a:ext cx="2370666" cy="1904525"/>
          </a:xfrm>
          <a:prstGeom prst="rect">
            <a:avLst/>
          </a:prstGeom>
        </p:spPr>
      </p:pic>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3" name="Slide Number Placeholder 2"/>
          <p:cNvSpPr>
            <a:spLocks noGrp="1"/>
          </p:cNvSpPr>
          <p:nvPr>
            <p:ph type="sldNum" sz="quarter" idx="4"/>
          </p:nvPr>
        </p:nvSpPr>
        <p:spPr/>
        <p:txBody>
          <a:bodyPr/>
          <a:lstStyle/>
          <a:p>
            <a:fld id="{E66AA3EA-0569-43EF-BBA3-83FDB109D582}" type="slidenum">
              <a:rPr lang="en-US" smtClean="0"/>
              <a:pPr/>
              <a:t>18</a:t>
            </a:fld>
            <a:endParaRPr lang="en-US" dirty="0"/>
          </a:p>
        </p:txBody>
      </p:sp>
    </p:spTree>
    <p:extLst>
      <p:ext uri="{BB962C8B-B14F-4D97-AF65-F5344CB8AC3E}">
        <p14:creationId xmlns:p14="http://schemas.microsoft.com/office/powerpoint/2010/main" val="3131526606"/>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 calcmode="lin" valueType="num">
                                      <p:cBhvr additive="base">
                                        <p:cTn id="7" dur="500" fill="hold"/>
                                        <p:tgtEl>
                                          <p:spTgt spid="296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9699">
                                            <p:txEl>
                                              <p:pRg st="1" end="1"/>
                                            </p:txEl>
                                          </p:spTgt>
                                        </p:tgtEl>
                                        <p:attrNameLst>
                                          <p:attrName>style.visibility</p:attrName>
                                        </p:attrNameLst>
                                      </p:cBhvr>
                                      <p:to>
                                        <p:strVal val="visible"/>
                                      </p:to>
                                    </p:set>
                                    <p:anim calcmode="lin" valueType="num">
                                      <p:cBhvr additive="base">
                                        <p:cTn id="13" dur="500" fill="hold"/>
                                        <p:tgtEl>
                                          <p:spTgt spid="296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6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9699">
                                            <p:txEl>
                                              <p:pRg st="2" end="2"/>
                                            </p:txEl>
                                          </p:spTgt>
                                        </p:tgtEl>
                                        <p:attrNameLst>
                                          <p:attrName>style.visibility</p:attrName>
                                        </p:attrNameLst>
                                      </p:cBhvr>
                                      <p:to>
                                        <p:strVal val="visible"/>
                                      </p:to>
                                    </p:set>
                                    <p:anim calcmode="lin" valueType="num">
                                      <p:cBhvr additive="base">
                                        <p:cTn id="19" dur="500" fill="hold"/>
                                        <p:tgtEl>
                                          <p:spTgt spid="296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69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43933"/>
            <a:ext cx="5943600" cy="474133"/>
          </a:xfrm>
        </p:spPr>
        <p:txBody>
          <a:bodyPr/>
          <a:lstStyle/>
          <a:p>
            <a:r>
              <a:rPr 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Single Level Bill of Materials</a:t>
            </a:r>
            <a:endParaRPr lang="en-US" sz="3200" b="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endParaRPr>
          </a:p>
        </p:txBody>
      </p:sp>
      <p:graphicFrame>
        <p:nvGraphicFramePr>
          <p:cNvPr id="7" name="Table 6"/>
          <p:cNvGraphicFramePr>
            <a:graphicFrameLocks noGrp="1"/>
          </p:cNvGraphicFramePr>
          <p:nvPr/>
        </p:nvGraphicFramePr>
        <p:xfrm>
          <a:off x="5308599" y="1485900"/>
          <a:ext cx="3530599" cy="4251960"/>
        </p:xfrm>
        <a:graphic>
          <a:graphicData uri="http://schemas.openxmlformats.org/drawingml/2006/table">
            <a:tbl>
              <a:tblPr firstRow="1" bandRow="1">
                <a:tableStyleId>{5C22544A-7EE6-4342-B048-85BDC9FD1C3A}</a:tableStyleId>
              </a:tblPr>
              <a:tblGrid>
                <a:gridCol w="2125135">
                  <a:extLst>
                    <a:ext uri="{9D8B030D-6E8A-4147-A177-3AD203B41FA5}">
                      <a16:colId xmlns:a16="http://schemas.microsoft.com/office/drawing/2014/main" val="20000"/>
                    </a:ext>
                  </a:extLst>
                </a:gridCol>
                <a:gridCol w="1405464">
                  <a:extLst>
                    <a:ext uri="{9D8B030D-6E8A-4147-A177-3AD203B41FA5}">
                      <a16:colId xmlns:a16="http://schemas.microsoft.com/office/drawing/2014/main" val="20001"/>
                    </a:ext>
                  </a:extLst>
                </a:gridCol>
              </a:tblGrid>
              <a:tr h="685800">
                <a:tc>
                  <a:txBody>
                    <a:bodyPr/>
                    <a:lstStyle/>
                    <a:p>
                      <a:r>
                        <a:rPr lang="en-US" sz="2800" dirty="0">
                          <a:effectLst>
                            <a:outerShdw blurRad="38100" dist="38100" dir="2700000" algn="tl">
                              <a:srgbClr val="000000">
                                <a:alpha val="43137"/>
                              </a:srgbClr>
                            </a:outerShdw>
                          </a:effectLst>
                          <a:latin typeface="Calibri" panose="020F0502020204030204" pitchFamily="34" charset="0"/>
                        </a:rPr>
                        <a:t>Table</a:t>
                      </a:r>
                    </a:p>
                  </a:txBody>
                  <a:tcPr anchor="ctr"/>
                </a:tc>
                <a:tc>
                  <a:txBody>
                    <a:bodyPr/>
                    <a:lstStyle/>
                    <a:p>
                      <a:pPr algn="ctr"/>
                      <a:r>
                        <a:rPr lang="en-US" sz="2400" dirty="0">
                          <a:effectLst>
                            <a:outerShdw blurRad="38100" dist="38100" dir="2700000" algn="tl">
                              <a:srgbClr val="000000">
                                <a:alpha val="43137"/>
                              </a:srgbClr>
                            </a:outerShdw>
                          </a:effectLst>
                          <a:latin typeface="Calibri" panose="020F0502020204030204" pitchFamily="34" charset="0"/>
                        </a:rPr>
                        <a:t>Quantity Per </a:t>
                      </a:r>
                      <a:r>
                        <a:rPr lang="en-US" sz="2400" dirty="0">
                          <a:solidFill>
                            <a:schemeClr val="tx1"/>
                          </a:solidFill>
                          <a:effectLst>
                            <a:outerShdw blurRad="38100" dist="38100" dir="2700000" algn="tl">
                              <a:srgbClr val="000000">
                                <a:alpha val="43137"/>
                              </a:srgbClr>
                            </a:outerShdw>
                          </a:effectLst>
                          <a:latin typeface="Calibri" panose="020F0502020204030204" pitchFamily="34" charset="0"/>
                        </a:rPr>
                        <a:t>*</a:t>
                      </a:r>
                    </a:p>
                  </a:txBody>
                  <a:tcPr/>
                </a:tc>
                <a:extLst>
                  <a:ext uri="{0D108BD9-81ED-4DB2-BD59-A6C34878D82A}">
                    <a16:rowId xmlns:a16="http://schemas.microsoft.com/office/drawing/2014/main" val="10000"/>
                  </a:ext>
                </a:extLst>
              </a:tr>
              <a:tr h="685800">
                <a:tc>
                  <a:txBody>
                    <a:bodyPr/>
                    <a:lstStyle/>
                    <a:p>
                      <a:r>
                        <a:rPr lang="en-US" sz="2800" dirty="0">
                          <a:latin typeface="Calibri" panose="020F0502020204030204" pitchFamily="34" charset="0"/>
                        </a:rPr>
                        <a:t>Leg</a:t>
                      </a:r>
                    </a:p>
                  </a:txBody>
                  <a:tcPr anchor="ctr"/>
                </a:tc>
                <a:tc>
                  <a:txBody>
                    <a:bodyPr/>
                    <a:lstStyle/>
                    <a:p>
                      <a:pPr algn="ctr"/>
                      <a:r>
                        <a:rPr lang="en-US" sz="2800" dirty="0">
                          <a:latin typeface="Calibri" panose="020F0502020204030204" pitchFamily="34" charset="0"/>
                        </a:rPr>
                        <a:t>4</a:t>
                      </a:r>
                    </a:p>
                  </a:txBody>
                  <a:tcPr anchor="ctr"/>
                </a:tc>
                <a:extLst>
                  <a:ext uri="{0D108BD9-81ED-4DB2-BD59-A6C34878D82A}">
                    <a16:rowId xmlns:a16="http://schemas.microsoft.com/office/drawing/2014/main" val="10001"/>
                  </a:ext>
                </a:extLst>
              </a:tr>
              <a:tr h="685800">
                <a:tc>
                  <a:txBody>
                    <a:bodyPr/>
                    <a:lstStyle/>
                    <a:p>
                      <a:r>
                        <a:rPr lang="en-US" sz="2800" dirty="0">
                          <a:latin typeface="Calibri" panose="020F0502020204030204" pitchFamily="34" charset="0"/>
                        </a:rPr>
                        <a:t>End</a:t>
                      </a:r>
                    </a:p>
                  </a:txBody>
                  <a:tcPr anchor="ctr"/>
                </a:tc>
                <a:tc>
                  <a:txBody>
                    <a:bodyPr/>
                    <a:lstStyle/>
                    <a:p>
                      <a:pPr algn="ctr"/>
                      <a:r>
                        <a:rPr lang="en-US" sz="2800" dirty="0">
                          <a:latin typeface="Calibri" panose="020F0502020204030204" pitchFamily="34" charset="0"/>
                        </a:rPr>
                        <a:t>2</a:t>
                      </a:r>
                    </a:p>
                  </a:txBody>
                  <a:tcPr anchor="ctr"/>
                </a:tc>
                <a:extLst>
                  <a:ext uri="{0D108BD9-81ED-4DB2-BD59-A6C34878D82A}">
                    <a16:rowId xmlns:a16="http://schemas.microsoft.com/office/drawing/2014/main" val="10002"/>
                  </a:ext>
                </a:extLst>
              </a:tr>
              <a:tr h="685800">
                <a:tc>
                  <a:txBody>
                    <a:bodyPr/>
                    <a:lstStyle/>
                    <a:p>
                      <a:r>
                        <a:rPr lang="en-US" sz="2800" dirty="0">
                          <a:latin typeface="Calibri" panose="020F0502020204030204" pitchFamily="34" charset="0"/>
                        </a:rPr>
                        <a:t>Side</a:t>
                      </a:r>
                    </a:p>
                  </a:txBody>
                  <a:tcPr anchor="ctr"/>
                </a:tc>
                <a:tc>
                  <a:txBody>
                    <a:bodyPr/>
                    <a:lstStyle/>
                    <a:p>
                      <a:pPr algn="ctr"/>
                      <a:r>
                        <a:rPr lang="en-US" sz="2800" dirty="0">
                          <a:latin typeface="Calibri" panose="020F0502020204030204" pitchFamily="34" charset="0"/>
                        </a:rPr>
                        <a:t>2</a:t>
                      </a:r>
                    </a:p>
                  </a:txBody>
                  <a:tcPr anchor="ctr"/>
                </a:tc>
                <a:extLst>
                  <a:ext uri="{0D108BD9-81ED-4DB2-BD59-A6C34878D82A}">
                    <a16:rowId xmlns:a16="http://schemas.microsoft.com/office/drawing/2014/main" val="10003"/>
                  </a:ext>
                </a:extLst>
              </a:tr>
              <a:tr h="685800">
                <a:tc>
                  <a:txBody>
                    <a:bodyPr/>
                    <a:lstStyle/>
                    <a:p>
                      <a:r>
                        <a:rPr lang="en-US" sz="2800" dirty="0">
                          <a:latin typeface="Calibri" panose="020F0502020204030204" pitchFamily="34" charset="0"/>
                        </a:rPr>
                        <a:t>Top</a:t>
                      </a:r>
                    </a:p>
                  </a:txBody>
                  <a:tcPr anchor="ctr"/>
                </a:tc>
                <a:tc>
                  <a:txBody>
                    <a:bodyPr/>
                    <a:lstStyle/>
                    <a:p>
                      <a:pPr algn="ctr"/>
                      <a:r>
                        <a:rPr lang="en-US" sz="2800" dirty="0">
                          <a:latin typeface="Calibri" panose="020F0502020204030204" pitchFamily="34" charset="0"/>
                        </a:rPr>
                        <a:t>1</a:t>
                      </a:r>
                    </a:p>
                  </a:txBody>
                  <a:tcPr anchor="ctr"/>
                </a:tc>
                <a:extLst>
                  <a:ext uri="{0D108BD9-81ED-4DB2-BD59-A6C34878D82A}">
                    <a16:rowId xmlns:a16="http://schemas.microsoft.com/office/drawing/2014/main" val="10004"/>
                  </a:ext>
                </a:extLst>
              </a:tr>
              <a:tr h="685800">
                <a:tc>
                  <a:txBody>
                    <a:bodyPr/>
                    <a:lstStyle/>
                    <a:p>
                      <a:r>
                        <a:rPr lang="en-US" sz="2800" dirty="0">
                          <a:latin typeface="Calibri" panose="020F0502020204030204" pitchFamily="34" charset="0"/>
                        </a:rPr>
                        <a:t>Hardware Kit</a:t>
                      </a:r>
                    </a:p>
                  </a:txBody>
                  <a:tcPr anchor="ctr"/>
                </a:tc>
                <a:tc>
                  <a:txBody>
                    <a:bodyPr/>
                    <a:lstStyle/>
                    <a:p>
                      <a:pPr algn="ctr"/>
                      <a:r>
                        <a:rPr lang="en-US" sz="2800" dirty="0">
                          <a:latin typeface="Calibri" panose="020F0502020204030204" pitchFamily="34" charset="0"/>
                        </a:rPr>
                        <a:t>1</a:t>
                      </a:r>
                    </a:p>
                  </a:txBody>
                  <a:tcPr anchor="ctr"/>
                </a:tc>
                <a:extLst>
                  <a:ext uri="{0D108BD9-81ED-4DB2-BD59-A6C34878D82A}">
                    <a16:rowId xmlns:a16="http://schemas.microsoft.com/office/drawing/2014/main" val="10005"/>
                  </a:ext>
                </a:extLst>
              </a:tr>
            </a:tbl>
          </a:graphicData>
        </a:graphic>
      </p:graphicFrame>
      <p:sp>
        <p:nvSpPr>
          <p:cNvPr id="10" name="Left Brace 9"/>
          <p:cNvSpPr/>
          <p:nvPr/>
        </p:nvSpPr>
        <p:spPr bwMode="auto">
          <a:xfrm>
            <a:off x="4783667" y="2336800"/>
            <a:ext cx="482600" cy="3369733"/>
          </a:xfrm>
          <a:prstGeom prst="leftBrace">
            <a:avLst>
              <a:gd name="adj1" fmla="val 52193"/>
              <a:gd name="adj2" fmla="val 50000"/>
            </a:avLst>
          </a:prstGeom>
          <a:noFill/>
          <a:ln w="28575" cap="flat" cmpd="sng" algn="ctr">
            <a:solidFill>
              <a:schemeClr val="tx1"/>
            </a:solidFill>
            <a:prstDash val="solid"/>
            <a:round/>
            <a:headEnd type="none" w="med" len="med"/>
            <a:tailEnd type="none" w="med" len="med"/>
          </a:ln>
          <a:effectLst/>
        </p:spPr>
        <p:txBody>
          <a:bodyPr rtlCol="0" anchor="ctr"/>
          <a:lstStyle/>
          <a:p>
            <a:pPr algn="ctr"/>
            <a:endParaRPr lang="en-US"/>
          </a:p>
        </p:txBody>
      </p:sp>
      <p:sp>
        <p:nvSpPr>
          <p:cNvPr id="3" name="TextBox 2"/>
          <p:cNvSpPr txBox="1"/>
          <p:nvPr/>
        </p:nvSpPr>
        <p:spPr>
          <a:xfrm>
            <a:off x="6105380" y="5891711"/>
            <a:ext cx="1980286" cy="400110"/>
          </a:xfrm>
          <a:prstGeom prst="rect">
            <a:avLst/>
          </a:prstGeom>
          <a:noFill/>
        </p:spPr>
        <p:txBody>
          <a:bodyPr wrap="none" rtlCol="0">
            <a:spAutoFit/>
          </a:bodyPr>
          <a:lstStyle/>
          <a:p>
            <a:r>
              <a:rPr lang="en-US" sz="2000" dirty="0">
                <a:latin typeface="Calibri" panose="020F0502020204030204" pitchFamily="34" charset="0"/>
              </a:rPr>
              <a:t>* Planning Factor</a:t>
            </a:r>
          </a:p>
        </p:txBody>
      </p:sp>
      <p:sp>
        <p:nvSpPr>
          <p:cNvPr id="5" name="Rectangle 4"/>
          <p:cNvSpPr/>
          <p:nvPr/>
        </p:nvSpPr>
        <p:spPr>
          <a:xfrm>
            <a:off x="228599" y="1422275"/>
            <a:ext cx="4969933" cy="1477328"/>
          </a:xfrm>
          <a:prstGeom prst="rect">
            <a:avLst/>
          </a:prstGeom>
        </p:spPr>
        <p:txBody>
          <a:bodyPr wrap="square">
            <a:spAutoFit/>
          </a:bodyPr>
          <a:lstStyle/>
          <a:p>
            <a:pPr marL="0" indent="-147637">
              <a:spcBef>
                <a:spcPts val="600"/>
              </a:spcBef>
              <a:spcAft>
                <a:spcPts val="1200"/>
              </a:spcAft>
              <a:buSzPct val="110000"/>
              <a:buNone/>
            </a:pPr>
            <a:r>
              <a:rPr lang="en-US" altLang="en-US" sz="18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Independent Demand </a:t>
            </a:r>
            <a:r>
              <a:rPr lang="en-US" altLang="en-US" sz="1800" dirty="0">
                <a:latin typeface="Calibri" panose="020F0502020204030204" pitchFamily="34" charset="0"/>
                <a:ea typeface="ＭＳ Ｐゴシック" panose="020B0600070205080204" pitchFamily="34" charset="-128"/>
              </a:rPr>
              <a:t>- The external demand for an item that is unrelated to the demand for other items (e.g., finished product).  The demand for these items is forecasted and can be affected by trends, seasonal patterns, and market conditions.</a:t>
            </a:r>
          </a:p>
        </p:txBody>
      </p:sp>
      <p:sp>
        <p:nvSpPr>
          <p:cNvPr id="6" name="Rectangle 5"/>
          <p:cNvSpPr/>
          <p:nvPr/>
        </p:nvSpPr>
        <p:spPr>
          <a:xfrm>
            <a:off x="228600" y="3374304"/>
            <a:ext cx="4580467" cy="1754326"/>
          </a:xfrm>
          <a:prstGeom prst="rect">
            <a:avLst/>
          </a:prstGeom>
        </p:spPr>
        <p:txBody>
          <a:bodyPr wrap="square">
            <a:spAutoFit/>
          </a:bodyPr>
          <a:lstStyle/>
          <a:p>
            <a:pPr marL="0" indent="-147637">
              <a:spcBef>
                <a:spcPts val="600"/>
              </a:spcBef>
              <a:spcAft>
                <a:spcPts val="1200"/>
              </a:spcAft>
              <a:buSzPct val="110000"/>
              <a:buNone/>
            </a:pPr>
            <a:r>
              <a:rPr lang="en-US" altLang="en-US" sz="18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Dependent Demand </a:t>
            </a:r>
            <a:r>
              <a:rPr lang="en-US" altLang="en-US" sz="1800" dirty="0">
                <a:latin typeface="Calibri" panose="020F0502020204030204" pitchFamily="34" charset="0"/>
                <a:ea typeface="ＭＳ Ｐゴシック" panose="020B0600070205080204" pitchFamily="34" charset="-128"/>
              </a:rPr>
              <a:t>- the internal demand for items that are assembled or combined to make up the final product (e.g., component parts).  Demand for these items is calculated based on the demand of the final product in which the parts are used, by using the planning factor.</a:t>
            </a:r>
          </a:p>
        </p:txBody>
      </p:sp>
      <p:sp>
        <p:nvSpPr>
          <p:cNvPr id="11" name="Rectangle 10"/>
          <p:cNvSpPr/>
          <p:nvPr/>
        </p:nvSpPr>
        <p:spPr>
          <a:xfrm>
            <a:off x="7425306" y="150167"/>
            <a:ext cx="1241878" cy="461665"/>
          </a:xfrm>
          <a:prstGeom prst="rect">
            <a:avLst/>
          </a:prstGeom>
        </p:spPr>
        <p:txBody>
          <a:bodyPr wrap="none">
            <a:spAutoFit/>
          </a:bodyPr>
          <a:lstStyle/>
          <a:p>
            <a:r>
              <a:rPr lang="en-US" altLang="en-US" dirty="0">
                <a:effectLst>
                  <a:outerShdw blurRad="38100" dist="38100" dir="2700000" algn="tl">
                    <a:srgbClr val="C0C0C0"/>
                  </a:outerShdw>
                </a:effectLst>
                <a:latin typeface="Calibri" panose="020F0502020204030204" pitchFamily="34" charset="0"/>
                <a:cs typeface="Arial" charset="0"/>
              </a:rPr>
              <a:t>Example</a:t>
            </a:r>
            <a:endParaRPr lang="en-US" dirty="0"/>
          </a:p>
        </p:txBody>
      </p:sp>
      <p:sp>
        <p:nvSpPr>
          <p:cNvPr id="8" name="Rectangle 7"/>
          <p:cNvSpPr/>
          <p:nvPr/>
        </p:nvSpPr>
        <p:spPr>
          <a:xfrm>
            <a:off x="5579851" y="996835"/>
            <a:ext cx="3161891" cy="400110"/>
          </a:xfrm>
          <a:prstGeom prst="rect">
            <a:avLst/>
          </a:prstGeom>
        </p:spPr>
        <p:txBody>
          <a:bodyPr wrap="none">
            <a:spAutoFit/>
          </a:bodyPr>
          <a:lstStyle/>
          <a:p>
            <a:r>
              <a:rPr lang="en-US" sz="2000" b="1" u="sng" dirty="0">
                <a:effectLst>
                  <a:outerShdw blurRad="38100" dist="38100" dir="2700000" algn="tl">
                    <a:srgbClr val="C0C0C0"/>
                  </a:outerShdw>
                </a:effectLst>
                <a:latin typeface="Calibri" panose="020F0502020204030204" pitchFamily="34" charset="0"/>
                <a:cs typeface="Arial" charset="0"/>
              </a:rPr>
              <a:t>Single Level Bill of Materials</a:t>
            </a:r>
            <a:endParaRPr lang="en-US" sz="2000" b="1" u="sng" dirty="0"/>
          </a:p>
        </p:txBody>
      </p:sp>
      <p:sp>
        <p:nvSpPr>
          <p:cNvPr id="4" name="Footer Placeholder 3"/>
          <p:cNvSpPr>
            <a:spLocks noGrp="1"/>
          </p:cNvSpPr>
          <p:nvPr>
            <p:ph type="ftr" sz="quarter" idx="3"/>
          </p:nvPr>
        </p:nvSpPr>
        <p:spPr/>
        <p:txBody>
          <a:bodyPr/>
          <a:lstStyle/>
          <a:p>
            <a:r>
              <a:rPr lang="en-US"/>
              <a:t>Fundamentals of Supply Chain Management – McLaury/Spiegle</a:t>
            </a:r>
            <a:endParaRPr lang="en-US" dirty="0"/>
          </a:p>
        </p:txBody>
      </p:sp>
      <p:sp>
        <p:nvSpPr>
          <p:cNvPr id="9" name="Slide Number Placeholder 8"/>
          <p:cNvSpPr>
            <a:spLocks noGrp="1"/>
          </p:cNvSpPr>
          <p:nvPr>
            <p:ph type="sldNum" sz="quarter" idx="4"/>
          </p:nvPr>
        </p:nvSpPr>
        <p:spPr/>
        <p:txBody>
          <a:bodyPr/>
          <a:lstStyle/>
          <a:p>
            <a:fld id="{E66AA3EA-0569-43EF-BBA3-83FDB109D582}" type="slidenum">
              <a:rPr lang="en-US" smtClean="0"/>
              <a:pPr/>
              <a:t>19</a:t>
            </a:fld>
            <a:endParaRPr lang="en-US" dirty="0"/>
          </a:p>
        </p:txBody>
      </p:sp>
    </p:spTree>
    <p:extLst>
      <p:ext uri="{BB962C8B-B14F-4D97-AF65-F5344CB8AC3E}">
        <p14:creationId xmlns:p14="http://schemas.microsoft.com/office/powerpoint/2010/main" val="1405652282"/>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648654" y="1464311"/>
            <a:ext cx="1182160" cy="516887"/>
          </a:xfrm>
          <a:prstGeom prst="rect">
            <a:avLst/>
          </a:prstGeom>
          <a:solidFill>
            <a:srgbClr val="92322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effectLst>
                  <a:outerShdw blurRad="38100" dist="38100" dir="2700000" algn="tl">
                    <a:srgbClr val="000000">
                      <a:alpha val="43137"/>
                    </a:srgbClr>
                  </a:outerShdw>
                </a:effectLst>
                <a:latin typeface="Calibri" panose="020F0502020204030204" pitchFamily="34" charset="0"/>
              </a:rPr>
              <a:t>Bicycle</a:t>
            </a:r>
          </a:p>
        </p:txBody>
      </p:sp>
      <p:sp>
        <p:nvSpPr>
          <p:cNvPr id="6" name="Rectangle 5"/>
          <p:cNvSpPr/>
          <p:nvPr/>
        </p:nvSpPr>
        <p:spPr>
          <a:xfrm>
            <a:off x="838200" y="2847407"/>
            <a:ext cx="945729" cy="657793"/>
          </a:xfrm>
          <a:prstGeom prst="rect">
            <a:avLst/>
          </a:prstGeom>
          <a:solidFill>
            <a:srgbClr val="FF66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libri" panose="020F0502020204030204" pitchFamily="34" charset="0"/>
              </a:rPr>
              <a:t>Frame</a:t>
            </a:r>
          </a:p>
        </p:txBody>
      </p:sp>
      <p:sp>
        <p:nvSpPr>
          <p:cNvPr id="7" name="Rectangle 6"/>
          <p:cNvSpPr/>
          <p:nvPr/>
        </p:nvSpPr>
        <p:spPr>
          <a:xfrm>
            <a:off x="2005265" y="2847407"/>
            <a:ext cx="945729" cy="657793"/>
          </a:xfrm>
          <a:prstGeom prst="rect">
            <a:avLst/>
          </a:prstGeom>
          <a:solidFill>
            <a:srgbClr val="FF66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libri" panose="020F0502020204030204" pitchFamily="34" charset="0"/>
              </a:rPr>
              <a:t>Front Fork</a:t>
            </a:r>
          </a:p>
        </p:txBody>
      </p:sp>
      <p:sp>
        <p:nvSpPr>
          <p:cNvPr id="8" name="Rectangle 7"/>
          <p:cNvSpPr/>
          <p:nvPr/>
        </p:nvSpPr>
        <p:spPr>
          <a:xfrm>
            <a:off x="3175380" y="2847407"/>
            <a:ext cx="945729" cy="657793"/>
          </a:xfrm>
          <a:prstGeom prst="rect">
            <a:avLst/>
          </a:prstGeom>
          <a:solidFill>
            <a:srgbClr val="FF66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bIns="91440" rtlCol="0" anchor="ctr"/>
          <a:lstStyle/>
          <a:p>
            <a:pPr algn="ctr"/>
            <a:r>
              <a:rPr lang="en-US" sz="1400" b="1" dirty="0">
                <a:solidFill>
                  <a:schemeClr val="tx1"/>
                </a:solidFill>
                <a:latin typeface="Calibri" panose="020F0502020204030204" pitchFamily="34" charset="0"/>
              </a:rPr>
              <a:t>Wheel</a:t>
            </a:r>
          </a:p>
          <a:p>
            <a:pPr algn="ctr"/>
            <a:r>
              <a:rPr lang="en-US" sz="1400" b="1" dirty="0">
                <a:solidFill>
                  <a:schemeClr val="tx1"/>
                </a:solidFill>
                <a:latin typeface="Calibri" panose="020F0502020204030204" pitchFamily="34" charset="0"/>
              </a:rPr>
              <a:t>Assembly</a:t>
            </a:r>
          </a:p>
        </p:txBody>
      </p:sp>
      <p:sp>
        <p:nvSpPr>
          <p:cNvPr id="9" name="Rectangle 8"/>
          <p:cNvSpPr/>
          <p:nvPr/>
        </p:nvSpPr>
        <p:spPr>
          <a:xfrm>
            <a:off x="4339396" y="2847407"/>
            <a:ext cx="945729" cy="657793"/>
          </a:xfrm>
          <a:prstGeom prst="rect">
            <a:avLst/>
          </a:prstGeom>
          <a:solidFill>
            <a:srgbClr val="FF66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libri" panose="020F0502020204030204" pitchFamily="34" charset="0"/>
              </a:rPr>
              <a:t>Handle Bar</a:t>
            </a:r>
          </a:p>
        </p:txBody>
      </p:sp>
      <p:sp>
        <p:nvSpPr>
          <p:cNvPr id="10" name="Rectangle 9"/>
          <p:cNvSpPr/>
          <p:nvPr/>
        </p:nvSpPr>
        <p:spPr>
          <a:xfrm>
            <a:off x="5506462" y="2847407"/>
            <a:ext cx="945729" cy="657793"/>
          </a:xfrm>
          <a:prstGeom prst="rect">
            <a:avLst/>
          </a:prstGeom>
          <a:solidFill>
            <a:srgbClr val="FF66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libri" panose="020F0502020204030204" pitchFamily="34" charset="0"/>
              </a:rPr>
              <a:t>Seat</a:t>
            </a:r>
          </a:p>
        </p:txBody>
      </p:sp>
      <p:sp>
        <p:nvSpPr>
          <p:cNvPr id="11" name="Rectangle 10"/>
          <p:cNvSpPr/>
          <p:nvPr/>
        </p:nvSpPr>
        <p:spPr>
          <a:xfrm>
            <a:off x="6673525" y="2847407"/>
            <a:ext cx="945729" cy="657793"/>
          </a:xfrm>
          <a:prstGeom prst="rect">
            <a:avLst/>
          </a:prstGeom>
          <a:solidFill>
            <a:srgbClr val="FF66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bIns="91440" rtlCol="0" anchor="ctr"/>
          <a:lstStyle/>
          <a:p>
            <a:pPr algn="ctr"/>
            <a:r>
              <a:rPr lang="en-US" sz="1400" b="1" dirty="0">
                <a:solidFill>
                  <a:schemeClr val="tx1"/>
                </a:solidFill>
                <a:latin typeface="Calibri" panose="020F0502020204030204" pitchFamily="34" charset="0"/>
              </a:rPr>
              <a:t>Gear Assembly</a:t>
            </a:r>
          </a:p>
        </p:txBody>
      </p:sp>
      <p:sp>
        <p:nvSpPr>
          <p:cNvPr id="12" name="Rectangle 11"/>
          <p:cNvSpPr/>
          <p:nvPr/>
        </p:nvSpPr>
        <p:spPr>
          <a:xfrm>
            <a:off x="1866901" y="4168150"/>
            <a:ext cx="990600" cy="657793"/>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libri" panose="020F0502020204030204" pitchFamily="34" charset="0"/>
              </a:rPr>
              <a:t>Rim</a:t>
            </a:r>
          </a:p>
        </p:txBody>
      </p:sp>
      <p:sp>
        <p:nvSpPr>
          <p:cNvPr id="13" name="Rectangle 12"/>
          <p:cNvSpPr/>
          <p:nvPr/>
        </p:nvSpPr>
        <p:spPr>
          <a:xfrm>
            <a:off x="3124200" y="4168150"/>
            <a:ext cx="1028700" cy="657793"/>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libri" panose="020F0502020204030204" pitchFamily="34" charset="0"/>
              </a:rPr>
              <a:t>Spokes</a:t>
            </a:r>
          </a:p>
        </p:txBody>
      </p:sp>
      <p:sp>
        <p:nvSpPr>
          <p:cNvPr id="14" name="Rectangle 13"/>
          <p:cNvSpPr/>
          <p:nvPr/>
        </p:nvSpPr>
        <p:spPr>
          <a:xfrm>
            <a:off x="4419600" y="4168150"/>
            <a:ext cx="1028699" cy="657793"/>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libri" panose="020F0502020204030204" pitchFamily="34" charset="0"/>
              </a:rPr>
              <a:t>Tire</a:t>
            </a:r>
          </a:p>
        </p:txBody>
      </p:sp>
      <p:cxnSp>
        <p:nvCxnSpPr>
          <p:cNvPr id="15" name="Elbow Connector 14"/>
          <p:cNvCxnSpPr>
            <a:stCxn id="5" idx="2"/>
            <a:endCxn id="6" idx="0"/>
          </p:cNvCxnSpPr>
          <p:nvPr/>
        </p:nvCxnSpPr>
        <p:spPr>
          <a:xfrm rot="5400000">
            <a:off x="2342296" y="949968"/>
            <a:ext cx="866209" cy="2928669"/>
          </a:xfrm>
          <a:prstGeom prst="bentConnector3">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Elbow Connector 15"/>
          <p:cNvCxnSpPr>
            <a:stCxn id="5" idx="2"/>
            <a:endCxn id="7" idx="0"/>
          </p:cNvCxnSpPr>
          <p:nvPr/>
        </p:nvCxnSpPr>
        <p:spPr>
          <a:xfrm rot="5400000">
            <a:off x="2925828" y="1533500"/>
            <a:ext cx="866209" cy="1761604"/>
          </a:xfrm>
          <a:prstGeom prst="bentConnector3">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Elbow Connector 16"/>
          <p:cNvCxnSpPr>
            <a:stCxn id="5" idx="2"/>
            <a:endCxn id="8" idx="0"/>
          </p:cNvCxnSpPr>
          <p:nvPr/>
        </p:nvCxnSpPr>
        <p:spPr>
          <a:xfrm rot="5400000">
            <a:off x="3510886" y="2118558"/>
            <a:ext cx="866209" cy="591489"/>
          </a:xfrm>
          <a:prstGeom prst="bentConnector3">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Elbow Connector 17"/>
          <p:cNvCxnSpPr>
            <a:stCxn id="5" idx="2"/>
            <a:endCxn id="9" idx="0"/>
          </p:cNvCxnSpPr>
          <p:nvPr/>
        </p:nvCxnSpPr>
        <p:spPr>
          <a:xfrm rot="16200000" flipH="1">
            <a:off x="4092893" y="2128038"/>
            <a:ext cx="866209" cy="572527"/>
          </a:xfrm>
          <a:prstGeom prst="bentConnector3">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Elbow Connector 18"/>
          <p:cNvCxnSpPr>
            <a:stCxn id="5" idx="2"/>
            <a:endCxn id="10" idx="0"/>
          </p:cNvCxnSpPr>
          <p:nvPr/>
        </p:nvCxnSpPr>
        <p:spPr>
          <a:xfrm rot="16200000" flipH="1">
            <a:off x="4676426" y="1544505"/>
            <a:ext cx="866209" cy="1739593"/>
          </a:xfrm>
          <a:prstGeom prst="bentConnector3">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Elbow Connector 19"/>
          <p:cNvCxnSpPr>
            <a:stCxn id="5" idx="2"/>
            <a:endCxn id="11" idx="0"/>
          </p:cNvCxnSpPr>
          <p:nvPr/>
        </p:nvCxnSpPr>
        <p:spPr>
          <a:xfrm rot="16200000" flipH="1">
            <a:off x="5259958" y="960974"/>
            <a:ext cx="866209" cy="2906656"/>
          </a:xfrm>
          <a:prstGeom prst="bentConnector3">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Elbow Connector 20"/>
          <p:cNvCxnSpPr>
            <a:stCxn id="8" idx="2"/>
            <a:endCxn id="12" idx="0"/>
          </p:cNvCxnSpPr>
          <p:nvPr/>
        </p:nvCxnSpPr>
        <p:spPr>
          <a:xfrm rot="5400000">
            <a:off x="2673748" y="3193653"/>
            <a:ext cx="662950" cy="1286044"/>
          </a:xfrm>
          <a:prstGeom prst="bentConnector3">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Elbow Connector 21"/>
          <p:cNvCxnSpPr>
            <a:stCxn id="8" idx="2"/>
            <a:endCxn id="14" idx="0"/>
          </p:cNvCxnSpPr>
          <p:nvPr/>
        </p:nvCxnSpPr>
        <p:spPr>
          <a:xfrm rot="16200000" flipH="1">
            <a:off x="3959622" y="3193822"/>
            <a:ext cx="662950" cy="1285705"/>
          </a:xfrm>
          <a:prstGeom prst="bentConnector3">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8" idx="2"/>
            <a:endCxn id="13" idx="0"/>
          </p:cNvCxnSpPr>
          <p:nvPr/>
        </p:nvCxnSpPr>
        <p:spPr>
          <a:xfrm flipH="1">
            <a:off x="3638550" y="3505200"/>
            <a:ext cx="9695" cy="6629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7641666" y="1426633"/>
            <a:ext cx="1502334" cy="630942"/>
          </a:xfrm>
          <a:prstGeom prst="rect">
            <a:avLst/>
          </a:prstGeom>
          <a:noFill/>
        </p:spPr>
        <p:txBody>
          <a:bodyPr wrap="none" rtlCol="0">
            <a:spAutoFit/>
          </a:bodyPr>
          <a:lstStyle/>
          <a:p>
            <a:pPr algn="ctr"/>
            <a:r>
              <a:rPr lang="en-US" b="1" dirty="0">
                <a:solidFill>
                  <a:srgbClr val="923222"/>
                </a:solidFill>
                <a:effectLst>
                  <a:outerShdw blurRad="38100" dist="38100" dir="2700000" algn="tl">
                    <a:srgbClr val="000000">
                      <a:alpha val="43137"/>
                    </a:srgbClr>
                  </a:outerShdw>
                </a:effectLst>
                <a:latin typeface="Calibri" panose="020F0502020204030204" pitchFamily="34" charset="0"/>
              </a:rPr>
              <a:t>Level 0</a:t>
            </a:r>
            <a:endParaRPr lang="en-US" sz="1200" dirty="0">
              <a:latin typeface="Calibri" panose="020F0502020204030204" pitchFamily="34" charset="0"/>
            </a:endParaRPr>
          </a:p>
          <a:p>
            <a:pPr algn="ctr"/>
            <a:r>
              <a:rPr lang="en-US" sz="1100" i="1" dirty="0">
                <a:latin typeface="Calibri" panose="020F0502020204030204" pitchFamily="34" charset="0"/>
              </a:rPr>
              <a:t>(Independent Demand)</a:t>
            </a:r>
            <a:endParaRPr lang="en-US" sz="2000" i="1" dirty="0">
              <a:latin typeface="Calibri" panose="020F0502020204030204" pitchFamily="34" charset="0"/>
            </a:endParaRPr>
          </a:p>
        </p:txBody>
      </p:sp>
      <p:sp>
        <p:nvSpPr>
          <p:cNvPr id="25" name="TextBox 24"/>
          <p:cNvSpPr txBox="1"/>
          <p:nvPr/>
        </p:nvSpPr>
        <p:spPr>
          <a:xfrm>
            <a:off x="7734640" y="2819400"/>
            <a:ext cx="1409360" cy="630942"/>
          </a:xfrm>
          <a:prstGeom prst="rect">
            <a:avLst/>
          </a:prstGeom>
          <a:noFill/>
        </p:spPr>
        <p:txBody>
          <a:bodyPr wrap="none" rtlCol="0">
            <a:spAutoFit/>
          </a:bodyPr>
          <a:lstStyle/>
          <a:p>
            <a:pPr algn="ctr"/>
            <a:r>
              <a:rPr lang="en-US" b="1" dirty="0">
                <a:solidFill>
                  <a:srgbClr val="FF6600"/>
                </a:solidFill>
                <a:effectLst>
                  <a:outerShdw blurRad="38100" dist="38100" dir="2700000" algn="tl">
                    <a:srgbClr val="000000">
                      <a:alpha val="43137"/>
                    </a:srgbClr>
                  </a:outerShdw>
                </a:effectLst>
                <a:latin typeface="Calibri" panose="020F0502020204030204" pitchFamily="34" charset="0"/>
              </a:rPr>
              <a:t>Level 1</a:t>
            </a:r>
          </a:p>
          <a:p>
            <a:pPr algn="ctr"/>
            <a:r>
              <a:rPr lang="en-US" sz="1100" i="1" dirty="0">
                <a:latin typeface="Calibri" panose="020F0502020204030204" pitchFamily="34" charset="0"/>
              </a:rPr>
              <a:t>(Dependent Demand)</a:t>
            </a:r>
            <a:endParaRPr lang="en-US" b="1" dirty="0">
              <a:solidFill>
                <a:srgbClr val="FF6600"/>
              </a:solidFill>
              <a:effectLst>
                <a:outerShdw blurRad="38100" dist="38100" dir="2700000" algn="tl">
                  <a:srgbClr val="000000">
                    <a:alpha val="43137"/>
                  </a:srgbClr>
                </a:outerShdw>
              </a:effectLst>
              <a:latin typeface="Calibri" panose="020F0502020204030204" pitchFamily="34" charset="0"/>
            </a:endParaRPr>
          </a:p>
        </p:txBody>
      </p:sp>
      <p:sp>
        <p:nvSpPr>
          <p:cNvPr id="26" name="TextBox 25"/>
          <p:cNvSpPr txBox="1"/>
          <p:nvPr/>
        </p:nvSpPr>
        <p:spPr>
          <a:xfrm>
            <a:off x="7734640" y="4180329"/>
            <a:ext cx="1409360" cy="630942"/>
          </a:xfrm>
          <a:prstGeom prst="rect">
            <a:avLst/>
          </a:prstGeom>
          <a:noFill/>
        </p:spPr>
        <p:txBody>
          <a:bodyPr wrap="none" rtlCol="0">
            <a:spAutoFit/>
          </a:bodyPr>
          <a:lstStyle/>
          <a:p>
            <a:pPr algn="ctr"/>
            <a:r>
              <a:rPr lang="en-US" b="1" dirty="0">
                <a:solidFill>
                  <a:schemeClr val="accent1"/>
                </a:solidFill>
                <a:effectLst>
                  <a:outerShdw blurRad="38100" dist="38100" dir="2700000" algn="tl">
                    <a:srgbClr val="000000">
                      <a:alpha val="43137"/>
                    </a:srgbClr>
                  </a:outerShdw>
                </a:effectLst>
                <a:latin typeface="Calibri" panose="020F0502020204030204" pitchFamily="34" charset="0"/>
              </a:rPr>
              <a:t>Level 2</a:t>
            </a:r>
            <a:endParaRPr lang="en-US" b="1" dirty="0">
              <a:solidFill>
                <a:srgbClr val="FF6600"/>
              </a:solidFill>
              <a:effectLst>
                <a:outerShdw blurRad="38100" dist="38100" dir="2700000" algn="tl">
                  <a:srgbClr val="000000">
                    <a:alpha val="43137"/>
                  </a:srgbClr>
                </a:outerShdw>
              </a:effectLst>
              <a:latin typeface="Calibri" panose="020F0502020204030204" pitchFamily="34" charset="0"/>
            </a:endParaRPr>
          </a:p>
          <a:p>
            <a:pPr algn="ctr"/>
            <a:r>
              <a:rPr lang="en-US" sz="1100" i="1" dirty="0">
                <a:latin typeface="Calibri" panose="020F0502020204030204" pitchFamily="34" charset="0"/>
              </a:rPr>
              <a:t>(Dependent Demand)</a:t>
            </a:r>
            <a:endParaRPr lang="en-US" sz="1100" b="1" dirty="0">
              <a:solidFill>
                <a:srgbClr val="FF6600"/>
              </a:solidFill>
              <a:effectLst>
                <a:outerShdw blurRad="38100" dist="38100" dir="2700000" algn="tl">
                  <a:srgbClr val="000000">
                    <a:alpha val="43137"/>
                  </a:srgbClr>
                </a:outerShdw>
              </a:effectLst>
              <a:latin typeface="Calibri" panose="020F0502020204030204" pitchFamily="34" charset="0"/>
            </a:endParaRPr>
          </a:p>
        </p:txBody>
      </p:sp>
      <p:sp>
        <p:nvSpPr>
          <p:cNvPr id="27" name="Rectangle 2"/>
          <p:cNvSpPr>
            <a:spLocks noGrp="1" noChangeArrowheads="1"/>
          </p:cNvSpPr>
          <p:nvPr>
            <p:ph type="title" idx="4294967295"/>
          </p:nvPr>
        </p:nvSpPr>
        <p:spPr>
          <a:xfrm>
            <a:off x="228600" y="132598"/>
            <a:ext cx="5300133"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Multilevel Bill of Materials</a:t>
            </a:r>
            <a:endParaRPr lang="en-US" altLang="en-US" sz="2000" b="0" i="1"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endParaRPr>
          </a:p>
        </p:txBody>
      </p:sp>
      <p:sp>
        <p:nvSpPr>
          <p:cNvPr id="28" name="TextBox 27"/>
          <p:cNvSpPr txBox="1"/>
          <p:nvPr/>
        </p:nvSpPr>
        <p:spPr>
          <a:xfrm>
            <a:off x="228600" y="1357214"/>
            <a:ext cx="1226618" cy="757130"/>
          </a:xfrm>
          <a:prstGeom prst="rect">
            <a:avLst/>
          </a:prstGeom>
          <a:noFill/>
        </p:spPr>
        <p:txBody>
          <a:bodyPr wrap="none" rtlCol="0">
            <a:spAutoFit/>
          </a:bodyPr>
          <a:lstStyle/>
          <a:p>
            <a:pPr algn="ctr">
              <a:lnSpc>
                <a:spcPct val="90000"/>
              </a:lnSpc>
            </a:pPr>
            <a:r>
              <a:rPr lang="en-US" dirty="0">
                <a:solidFill>
                  <a:srgbClr val="923222"/>
                </a:solidFill>
                <a:effectLst>
                  <a:outerShdw blurRad="38100" dist="38100" dir="2700000" algn="tl">
                    <a:srgbClr val="000000">
                      <a:alpha val="43137"/>
                    </a:srgbClr>
                  </a:outerShdw>
                </a:effectLst>
                <a:latin typeface="Calibri" panose="020F0502020204030204" pitchFamily="34" charset="0"/>
              </a:rPr>
              <a:t>Finished</a:t>
            </a:r>
          </a:p>
          <a:p>
            <a:pPr algn="ctr">
              <a:lnSpc>
                <a:spcPct val="90000"/>
              </a:lnSpc>
            </a:pPr>
            <a:r>
              <a:rPr lang="en-US" dirty="0">
                <a:solidFill>
                  <a:srgbClr val="923222"/>
                </a:solidFill>
                <a:effectLst>
                  <a:outerShdw blurRad="38100" dist="38100" dir="2700000" algn="tl">
                    <a:srgbClr val="000000">
                      <a:alpha val="43137"/>
                    </a:srgbClr>
                  </a:outerShdw>
                </a:effectLst>
                <a:latin typeface="Calibri" panose="020F0502020204030204" pitchFamily="34" charset="0"/>
              </a:rPr>
              <a:t>Product</a:t>
            </a:r>
          </a:p>
        </p:txBody>
      </p:sp>
      <p:sp>
        <p:nvSpPr>
          <p:cNvPr id="29" name="TextBox 28"/>
          <p:cNvSpPr txBox="1"/>
          <p:nvPr/>
        </p:nvSpPr>
        <p:spPr>
          <a:xfrm rot="16200000">
            <a:off x="-448617" y="3763319"/>
            <a:ext cx="1816102" cy="461665"/>
          </a:xfrm>
          <a:prstGeom prst="rect">
            <a:avLst/>
          </a:prstGeom>
          <a:noFill/>
        </p:spPr>
        <p:txBody>
          <a:bodyPr wrap="square" rtlCol="0">
            <a:spAutoFit/>
          </a:bodyPr>
          <a:lstStyle/>
          <a:p>
            <a:pPr algn="ctr"/>
            <a:r>
              <a:rPr lang="en-US" dirty="0">
                <a:solidFill>
                  <a:schemeClr val="accent1"/>
                </a:solidFill>
                <a:effectLst>
                  <a:outerShdw blurRad="38100" dist="38100" dir="2700000" algn="tl">
                    <a:srgbClr val="000000">
                      <a:alpha val="43137"/>
                    </a:srgbClr>
                  </a:outerShdw>
                </a:effectLst>
                <a:latin typeface="Calibri" panose="020F0502020204030204" pitchFamily="34" charset="0"/>
              </a:rPr>
              <a:t>Comp</a:t>
            </a:r>
            <a:r>
              <a:rPr lang="en-US" dirty="0">
                <a:solidFill>
                  <a:schemeClr val="accent3"/>
                </a:solidFill>
                <a:effectLst>
                  <a:outerShdw blurRad="38100" dist="38100" dir="2700000" algn="tl">
                    <a:srgbClr val="000000">
                      <a:alpha val="43137"/>
                    </a:srgbClr>
                  </a:outerShdw>
                </a:effectLst>
                <a:latin typeface="Calibri" panose="020F0502020204030204" pitchFamily="34" charset="0"/>
              </a:rPr>
              <a:t>onents</a:t>
            </a:r>
          </a:p>
        </p:txBody>
      </p:sp>
      <p:sp>
        <p:nvSpPr>
          <p:cNvPr id="30" name="Rectangle 29"/>
          <p:cNvSpPr/>
          <p:nvPr/>
        </p:nvSpPr>
        <p:spPr>
          <a:xfrm>
            <a:off x="2514600" y="5309903"/>
            <a:ext cx="990599" cy="657793"/>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bIns="91440" rtlCol="0" anchor="ctr"/>
          <a:lstStyle/>
          <a:p>
            <a:pPr algn="ctr"/>
            <a:r>
              <a:rPr lang="en-US" sz="1400" b="1" dirty="0">
                <a:solidFill>
                  <a:schemeClr val="bg1"/>
                </a:solidFill>
                <a:latin typeface="Calibri" panose="020F0502020204030204" pitchFamily="34" charset="0"/>
              </a:rPr>
              <a:t>12” Bar Aluminum</a:t>
            </a:r>
          </a:p>
        </p:txBody>
      </p:sp>
      <p:sp>
        <p:nvSpPr>
          <p:cNvPr id="31" name="Rectangle 30"/>
          <p:cNvSpPr/>
          <p:nvPr/>
        </p:nvSpPr>
        <p:spPr>
          <a:xfrm>
            <a:off x="4466225" y="5312411"/>
            <a:ext cx="945729" cy="657793"/>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bIns="91440" rtlCol="0" anchor="ctr"/>
          <a:lstStyle/>
          <a:p>
            <a:pPr algn="ctr"/>
            <a:r>
              <a:rPr lang="en-US" sz="1400" b="1" dirty="0">
                <a:solidFill>
                  <a:schemeClr val="bg1"/>
                </a:solidFill>
                <a:latin typeface="Calibri" panose="020F0502020204030204" pitchFamily="34" charset="0"/>
              </a:rPr>
              <a:t>1 kg Rubber</a:t>
            </a:r>
          </a:p>
        </p:txBody>
      </p:sp>
      <p:cxnSp>
        <p:nvCxnSpPr>
          <p:cNvPr id="3" name="Elbow Connector 2"/>
          <p:cNvCxnSpPr>
            <a:stCxn id="12" idx="2"/>
            <a:endCxn id="30" idx="0"/>
          </p:cNvCxnSpPr>
          <p:nvPr/>
        </p:nvCxnSpPr>
        <p:spPr bwMode="auto">
          <a:xfrm rot="16200000" flipH="1">
            <a:off x="2444070" y="4744073"/>
            <a:ext cx="483960" cy="647699"/>
          </a:xfrm>
          <a:prstGeom prst="bentConnector3">
            <a:avLst/>
          </a:prstGeom>
          <a:solidFill>
            <a:schemeClr val="accent1"/>
          </a:solidFill>
          <a:ln w="28575" cap="flat" cmpd="sng" algn="ctr">
            <a:solidFill>
              <a:schemeClr val="tx1"/>
            </a:solidFill>
            <a:prstDash val="solid"/>
            <a:round/>
            <a:headEnd type="none" w="med" len="med"/>
            <a:tailEnd type="none" w="med" len="med"/>
          </a:ln>
          <a:effectLst/>
        </p:spPr>
      </p:cxnSp>
      <p:cxnSp>
        <p:nvCxnSpPr>
          <p:cNvPr id="35" name="Straight Connector 34"/>
          <p:cNvCxnSpPr>
            <a:stCxn id="14" idx="2"/>
            <a:endCxn id="31" idx="0"/>
          </p:cNvCxnSpPr>
          <p:nvPr/>
        </p:nvCxnSpPr>
        <p:spPr bwMode="auto">
          <a:xfrm>
            <a:off x="4933950" y="4825943"/>
            <a:ext cx="5140" cy="486468"/>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40" name="TextBox 39"/>
          <p:cNvSpPr txBox="1"/>
          <p:nvPr/>
        </p:nvSpPr>
        <p:spPr>
          <a:xfrm>
            <a:off x="7734640" y="5323329"/>
            <a:ext cx="1409360" cy="630942"/>
          </a:xfrm>
          <a:prstGeom prst="rect">
            <a:avLst/>
          </a:prstGeom>
          <a:noFill/>
        </p:spPr>
        <p:txBody>
          <a:bodyPr wrap="none" rtlCol="0">
            <a:spAutoFit/>
          </a:bodyPr>
          <a:lstStyle/>
          <a:p>
            <a:pPr algn="ctr"/>
            <a:r>
              <a:rPr lang="en-US" b="1" dirty="0">
                <a:solidFill>
                  <a:schemeClr val="accent5"/>
                </a:solidFill>
                <a:effectLst>
                  <a:outerShdw blurRad="38100" dist="38100" dir="2700000" algn="tl">
                    <a:srgbClr val="000000">
                      <a:alpha val="43137"/>
                    </a:srgbClr>
                  </a:outerShdw>
                </a:effectLst>
                <a:latin typeface="Calibri" panose="020F0502020204030204" pitchFamily="34" charset="0"/>
              </a:rPr>
              <a:t>Level 3</a:t>
            </a:r>
            <a:endParaRPr lang="en-US" b="1" dirty="0">
              <a:solidFill>
                <a:srgbClr val="FF6600"/>
              </a:solidFill>
              <a:effectLst>
                <a:outerShdw blurRad="38100" dist="38100" dir="2700000" algn="tl">
                  <a:srgbClr val="000000">
                    <a:alpha val="43137"/>
                  </a:srgbClr>
                </a:outerShdw>
              </a:effectLst>
              <a:latin typeface="Calibri" panose="020F0502020204030204" pitchFamily="34" charset="0"/>
            </a:endParaRPr>
          </a:p>
          <a:p>
            <a:pPr algn="ctr"/>
            <a:r>
              <a:rPr lang="en-US" sz="1100" i="1" dirty="0">
                <a:latin typeface="Calibri" panose="020F0502020204030204" pitchFamily="34" charset="0"/>
              </a:rPr>
              <a:t>(Dependent Demand)</a:t>
            </a:r>
            <a:endParaRPr lang="en-US" sz="1100" b="1" dirty="0">
              <a:solidFill>
                <a:srgbClr val="FF6600"/>
              </a:solidFill>
              <a:effectLst>
                <a:outerShdw blurRad="38100" dist="38100" dir="2700000" algn="tl">
                  <a:srgbClr val="000000">
                    <a:alpha val="43137"/>
                  </a:srgbClr>
                </a:outerShdw>
              </a:effectLst>
              <a:latin typeface="Calibri" panose="020F0502020204030204" pitchFamily="34" charset="0"/>
            </a:endParaRPr>
          </a:p>
        </p:txBody>
      </p:sp>
      <p:sp>
        <p:nvSpPr>
          <p:cNvPr id="42" name="TextBox 41"/>
          <p:cNvSpPr txBox="1"/>
          <p:nvPr/>
        </p:nvSpPr>
        <p:spPr>
          <a:xfrm>
            <a:off x="3832306" y="3292846"/>
            <a:ext cx="341760" cy="246221"/>
          </a:xfrm>
          <a:prstGeom prst="rect">
            <a:avLst/>
          </a:prstGeom>
          <a:noFill/>
        </p:spPr>
        <p:txBody>
          <a:bodyPr wrap="none" rtlCol="0">
            <a:spAutoFit/>
          </a:bodyPr>
          <a:lstStyle/>
          <a:p>
            <a:r>
              <a:rPr lang="en-US" sz="1000" dirty="0"/>
              <a:t>(2)</a:t>
            </a:r>
          </a:p>
        </p:txBody>
      </p:sp>
      <p:sp>
        <p:nvSpPr>
          <p:cNvPr id="44" name="TextBox 43"/>
          <p:cNvSpPr txBox="1"/>
          <p:nvPr/>
        </p:nvSpPr>
        <p:spPr>
          <a:xfrm>
            <a:off x="5119240" y="4622112"/>
            <a:ext cx="341760" cy="246221"/>
          </a:xfrm>
          <a:prstGeom prst="rect">
            <a:avLst/>
          </a:prstGeom>
          <a:noFill/>
        </p:spPr>
        <p:txBody>
          <a:bodyPr wrap="none" rtlCol="0">
            <a:spAutoFit/>
          </a:bodyPr>
          <a:lstStyle/>
          <a:p>
            <a:r>
              <a:rPr lang="en-US" sz="1000" dirty="0"/>
              <a:t>(1)</a:t>
            </a:r>
          </a:p>
        </p:txBody>
      </p:sp>
      <p:sp>
        <p:nvSpPr>
          <p:cNvPr id="45" name="TextBox 44"/>
          <p:cNvSpPr txBox="1"/>
          <p:nvPr/>
        </p:nvSpPr>
        <p:spPr>
          <a:xfrm>
            <a:off x="3826934" y="4613646"/>
            <a:ext cx="412292" cy="246221"/>
          </a:xfrm>
          <a:prstGeom prst="rect">
            <a:avLst/>
          </a:prstGeom>
          <a:noFill/>
        </p:spPr>
        <p:txBody>
          <a:bodyPr wrap="none" rtlCol="0">
            <a:spAutoFit/>
          </a:bodyPr>
          <a:lstStyle/>
          <a:p>
            <a:r>
              <a:rPr lang="en-US" sz="1000" dirty="0"/>
              <a:t>(10)</a:t>
            </a:r>
          </a:p>
        </p:txBody>
      </p:sp>
      <p:sp>
        <p:nvSpPr>
          <p:cNvPr id="46" name="TextBox 45"/>
          <p:cNvSpPr txBox="1"/>
          <p:nvPr/>
        </p:nvSpPr>
        <p:spPr>
          <a:xfrm>
            <a:off x="7322120" y="3297079"/>
            <a:ext cx="341760" cy="246221"/>
          </a:xfrm>
          <a:prstGeom prst="rect">
            <a:avLst/>
          </a:prstGeom>
          <a:noFill/>
        </p:spPr>
        <p:txBody>
          <a:bodyPr wrap="none" rtlCol="0">
            <a:spAutoFit/>
          </a:bodyPr>
          <a:lstStyle/>
          <a:p>
            <a:r>
              <a:rPr lang="en-US" sz="1000" dirty="0"/>
              <a:t>(1)</a:t>
            </a:r>
          </a:p>
        </p:txBody>
      </p:sp>
      <p:sp>
        <p:nvSpPr>
          <p:cNvPr id="47" name="TextBox 46"/>
          <p:cNvSpPr txBox="1"/>
          <p:nvPr/>
        </p:nvSpPr>
        <p:spPr>
          <a:xfrm>
            <a:off x="6163733" y="3297079"/>
            <a:ext cx="341760" cy="246221"/>
          </a:xfrm>
          <a:prstGeom prst="rect">
            <a:avLst/>
          </a:prstGeom>
          <a:noFill/>
        </p:spPr>
        <p:txBody>
          <a:bodyPr wrap="none" rtlCol="0">
            <a:spAutoFit/>
          </a:bodyPr>
          <a:lstStyle/>
          <a:p>
            <a:r>
              <a:rPr lang="en-US" sz="1000" dirty="0"/>
              <a:t>(1)</a:t>
            </a:r>
          </a:p>
        </p:txBody>
      </p:sp>
      <p:sp>
        <p:nvSpPr>
          <p:cNvPr id="48" name="TextBox 47"/>
          <p:cNvSpPr txBox="1"/>
          <p:nvPr/>
        </p:nvSpPr>
        <p:spPr>
          <a:xfrm>
            <a:off x="4986867" y="3297079"/>
            <a:ext cx="341760" cy="246221"/>
          </a:xfrm>
          <a:prstGeom prst="rect">
            <a:avLst/>
          </a:prstGeom>
          <a:noFill/>
        </p:spPr>
        <p:txBody>
          <a:bodyPr wrap="none" rtlCol="0">
            <a:spAutoFit/>
          </a:bodyPr>
          <a:lstStyle/>
          <a:p>
            <a:r>
              <a:rPr lang="en-US" sz="1000" dirty="0"/>
              <a:t>(1)</a:t>
            </a:r>
          </a:p>
        </p:txBody>
      </p:sp>
      <p:sp>
        <p:nvSpPr>
          <p:cNvPr id="49" name="TextBox 48"/>
          <p:cNvSpPr txBox="1"/>
          <p:nvPr/>
        </p:nvSpPr>
        <p:spPr>
          <a:xfrm>
            <a:off x="2659673" y="3297079"/>
            <a:ext cx="341760" cy="246221"/>
          </a:xfrm>
          <a:prstGeom prst="rect">
            <a:avLst/>
          </a:prstGeom>
          <a:noFill/>
        </p:spPr>
        <p:txBody>
          <a:bodyPr wrap="none" rtlCol="0">
            <a:spAutoFit/>
          </a:bodyPr>
          <a:lstStyle/>
          <a:p>
            <a:r>
              <a:rPr lang="en-US" sz="1000" dirty="0"/>
              <a:t>(1)</a:t>
            </a:r>
          </a:p>
        </p:txBody>
      </p:sp>
      <p:sp>
        <p:nvSpPr>
          <p:cNvPr id="50" name="TextBox 49"/>
          <p:cNvSpPr txBox="1"/>
          <p:nvPr/>
        </p:nvSpPr>
        <p:spPr>
          <a:xfrm>
            <a:off x="1488587" y="3297079"/>
            <a:ext cx="341760" cy="246221"/>
          </a:xfrm>
          <a:prstGeom prst="rect">
            <a:avLst/>
          </a:prstGeom>
          <a:noFill/>
        </p:spPr>
        <p:txBody>
          <a:bodyPr wrap="none" rtlCol="0">
            <a:spAutoFit/>
          </a:bodyPr>
          <a:lstStyle/>
          <a:p>
            <a:r>
              <a:rPr lang="en-US" sz="1000" dirty="0"/>
              <a:t>(1)</a:t>
            </a:r>
          </a:p>
        </p:txBody>
      </p:sp>
      <p:sp>
        <p:nvSpPr>
          <p:cNvPr id="57" name="TextBox 56"/>
          <p:cNvSpPr txBox="1"/>
          <p:nvPr/>
        </p:nvSpPr>
        <p:spPr>
          <a:xfrm>
            <a:off x="2524729" y="4610100"/>
            <a:ext cx="341760" cy="246221"/>
          </a:xfrm>
          <a:prstGeom prst="rect">
            <a:avLst/>
          </a:prstGeom>
          <a:noFill/>
        </p:spPr>
        <p:txBody>
          <a:bodyPr wrap="none" rtlCol="0">
            <a:spAutoFit/>
          </a:bodyPr>
          <a:lstStyle/>
          <a:p>
            <a:r>
              <a:rPr lang="en-US" sz="1000" dirty="0"/>
              <a:t>(1)</a:t>
            </a:r>
          </a:p>
        </p:txBody>
      </p:sp>
      <p:sp>
        <p:nvSpPr>
          <p:cNvPr id="58" name="TextBox 57"/>
          <p:cNvSpPr txBox="1"/>
          <p:nvPr/>
        </p:nvSpPr>
        <p:spPr>
          <a:xfrm>
            <a:off x="3009900" y="5753100"/>
            <a:ext cx="518091" cy="246221"/>
          </a:xfrm>
          <a:prstGeom prst="rect">
            <a:avLst/>
          </a:prstGeom>
          <a:noFill/>
        </p:spPr>
        <p:txBody>
          <a:bodyPr wrap="none" rtlCol="0">
            <a:spAutoFit/>
          </a:bodyPr>
          <a:lstStyle/>
          <a:p>
            <a:r>
              <a:rPr lang="en-US" sz="1000" dirty="0">
                <a:solidFill>
                  <a:schemeClr val="bg1"/>
                </a:solidFill>
              </a:rPr>
              <a:t>(1/10)</a:t>
            </a:r>
          </a:p>
        </p:txBody>
      </p:sp>
      <p:sp>
        <p:nvSpPr>
          <p:cNvPr id="59" name="TextBox 58"/>
          <p:cNvSpPr txBox="1"/>
          <p:nvPr/>
        </p:nvSpPr>
        <p:spPr>
          <a:xfrm>
            <a:off x="5090127" y="5744289"/>
            <a:ext cx="378630" cy="246221"/>
          </a:xfrm>
          <a:prstGeom prst="rect">
            <a:avLst/>
          </a:prstGeom>
          <a:noFill/>
        </p:spPr>
        <p:txBody>
          <a:bodyPr wrap="none" rtlCol="0">
            <a:spAutoFit/>
          </a:bodyPr>
          <a:lstStyle/>
          <a:p>
            <a:r>
              <a:rPr lang="en-US" sz="1000" dirty="0">
                <a:solidFill>
                  <a:schemeClr val="bg1"/>
                </a:solidFill>
              </a:rPr>
              <a:t>(¼)</a:t>
            </a:r>
          </a:p>
        </p:txBody>
      </p:sp>
      <p:sp>
        <p:nvSpPr>
          <p:cNvPr id="60" name="TextBox 59"/>
          <p:cNvSpPr txBox="1"/>
          <p:nvPr/>
        </p:nvSpPr>
        <p:spPr>
          <a:xfrm>
            <a:off x="0" y="5325797"/>
            <a:ext cx="1371599" cy="626005"/>
          </a:xfrm>
          <a:prstGeom prst="rect">
            <a:avLst/>
          </a:prstGeom>
          <a:noFill/>
        </p:spPr>
        <p:txBody>
          <a:bodyPr wrap="square" rtlCol="0">
            <a:spAutoFit/>
          </a:bodyPr>
          <a:lstStyle/>
          <a:p>
            <a:pPr algn="ctr">
              <a:lnSpc>
                <a:spcPct val="70000"/>
              </a:lnSpc>
            </a:pPr>
            <a:r>
              <a:rPr lang="en-US" dirty="0">
                <a:solidFill>
                  <a:schemeClr val="accent5"/>
                </a:solidFill>
                <a:effectLst>
                  <a:outerShdw blurRad="38100" dist="38100" dir="2700000" algn="tl">
                    <a:srgbClr val="000000">
                      <a:alpha val="43137"/>
                    </a:srgbClr>
                  </a:outerShdw>
                </a:effectLst>
                <a:latin typeface="Calibri" panose="020F0502020204030204" pitchFamily="34" charset="0"/>
              </a:rPr>
              <a:t>Raw</a:t>
            </a:r>
          </a:p>
          <a:p>
            <a:pPr algn="ctr">
              <a:lnSpc>
                <a:spcPct val="70000"/>
              </a:lnSpc>
            </a:pPr>
            <a:r>
              <a:rPr lang="en-US" dirty="0">
                <a:solidFill>
                  <a:schemeClr val="accent5"/>
                </a:solidFill>
                <a:effectLst>
                  <a:outerShdw blurRad="38100" dist="38100" dir="2700000" algn="tl">
                    <a:srgbClr val="000000">
                      <a:alpha val="43137"/>
                    </a:srgbClr>
                  </a:outerShdw>
                </a:effectLst>
                <a:latin typeface="Calibri" panose="020F0502020204030204" pitchFamily="34" charset="0"/>
              </a:rPr>
              <a:t>Materials</a:t>
            </a:r>
          </a:p>
        </p:txBody>
      </p:sp>
      <p:sp>
        <p:nvSpPr>
          <p:cNvPr id="87" name="TextBox 86"/>
          <p:cNvSpPr txBox="1"/>
          <p:nvPr/>
        </p:nvSpPr>
        <p:spPr>
          <a:xfrm>
            <a:off x="2478870" y="5753100"/>
            <a:ext cx="378630" cy="246221"/>
          </a:xfrm>
          <a:prstGeom prst="rect">
            <a:avLst/>
          </a:prstGeom>
          <a:noFill/>
        </p:spPr>
        <p:txBody>
          <a:bodyPr wrap="none" rtlCol="0">
            <a:spAutoFit/>
          </a:bodyPr>
          <a:lstStyle/>
          <a:p>
            <a:r>
              <a:rPr lang="en-US" sz="1000" dirty="0">
                <a:solidFill>
                  <a:schemeClr val="bg1"/>
                </a:solidFill>
              </a:rPr>
              <a:t>(½)</a:t>
            </a:r>
          </a:p>
        </p:txBody>
      </p:sp>
      <p:sp>
        <p:nvSpPr>
          <p:cNvPr id="34" name="TextBox 33"/>
          <p:cNvSpPr txBox="1"/>
          <p:nvPr/>
        </p:nvSpPr>
        <p:spPr>
          <a:xfrm>
            <a:off x="5760213" y="6324600"/>
            <a:ext cx="1890774" cy="338554"/>
          </a:xfrm>
          <a:prstGeom prst="rect">
            <a:avLst/>
          </a:prstGeom>
          <a:noFill/>
        </p:spPr>
        <p:txBody>
          <a:bodyPr wrap="none" rtlCol="0">
            <a:spAutoFit/>
          </a:bodyPr>
          <a:lstStyle/>
          <a:p>
            <a:r>
              <a:rPr lang="en-US" sz="1600" dirty="0">
                <a:latin typeface="Calibri" panose="020F0502020204030204" pitchFamily="34" charset="0"/>
              </a:rPr>
              <a:t>(#) = Planning Factor</a:t>
            </a:r>
          </a:p>
        </p:txBody>
      </p:sp>
      <p:sp>
        <p:nvSpPr>
          <p:cNvPr id="2" name="Rectangle 1"/>
          <p:cNvSpPr/>
          <p:nvPr/>
        </p:nvSpPr>
        <p:spPr>
          <a:xfrm>
            <a:off x="7425306" y="150167"/>
            <a:ext cx="1241878" cy="461665"/>
          </a:xfrm>
          <a:prstGeom prst="rect">
            <a:avLst/>
          </a:prstGeom>
        </p:spPr>
        <p:txBody>
          <a:bodyPr wrap="none">
            <a:spAutoFit/>
          </a:bodyPr>
          <a:lstStyle/>
          <a:p>
            <a:r>
              <a:rPr lang="en-US" altLang="en-US" dirty="0">
                <a:effectLst>
                  <a:outerShdw blurRad="38100" dist="38100" dir="2700000" algn="tl">
                    <a:srgbClr val="C0C0C0"/>
                  </a:outerShdw>
                </a:effectLst>
                <a:latin typeface="Calibri" panose="020F0502020204030204" pitchFamily="34" charset="0"/>
                <a:cs typeface="Arial" charset="0"/>
              </a:rPr>
              <a:t>Example</a:t>
            </a:r>
            <a:endParaRPr lang="en-US" dirty="0"/>
          </a:p>
        </p:txBody>
      </p:sp>
      <p:cxnSp>
        <p:nvCxnSpPr>
          <p:cNvPr id="51" name="Elbow Connector 50"/>
          <p:cNvCxnSpPr>
            <a:stCxn id="13" idx="2"/>
            <a:endCxn id="30" idx="0"/>
          </p:cNvCxnSpPr>
          <p:nvPr/>
        </p:nvCxnSpPr>
        <p:spPr bwMode="auto">
          <a:xfrm rot="5400000">
            <a:off x="3082245" y="4753598"/>
            <a:ext cx="483960" cy="628650"/>
          </a:xfrm>
          <a:prstGeom prst="bentConnector3">
            <a:avLst/>
          </a:prstGeom>
          <a:solidFill>
            <a:schemeClr val="accent1"/>
          </a:solidFill>
          <a:ln w="28575" cap="flat" cmpd="sng" algn="ctr">
            <a:solidFill>
              <a:schemeClr val="tx1"/>
            </a:solidFill>
            <a:prstDash val="solid"/>
            <a:round/>
            <a:headEnd type="none" w="med" len="med"/>
            <a:tailEnd type="none" w="med" len="med"/>
          </a:ln>
          <a:effectLst/>
        </p:spPr>
      </p:cxnSp>
      <p:sp>
        <p:nvSpPr>
          <p:cNvPr id="4" name="Footer Placeholder 3"/>
          <p:cNvSpPr>
            <a:spLocks noGrp="1"/>
          </p:cNvSpPr>
          <p:nvPr>
            <p:ph type="ftr" sz="quarter" idx="3"/>
          </p:nvPr>
        </p:nvSpPr>
        <p:spPr/>
        <p:txBody>
          <a:bodyPr/>
          <a:lstStyle/>
          <a:p>
            <a:r>
              <a:rPr lang="en-US"/>
              <a:t>Fundamentals of Supply Chain Management – McLaury/Spiegle</a:t>
            </a:r>
            <a:endParaRPr lang="en-US" dirty="0"/>
          </a:p>
        </p:txBody>
      </p:sp>
      <p:sp>
        <p:nvSpPr>
          <p:cNvPr id="32" name="Slide Number Placeholder 31"/>
          <p:cNvSpPr>
            <a:spLocks noGrp="1"/>
          </p:cNvSpPr>
          <p:nvPr>
            <p:ph type="sldNum" sz="quarter" idx="4"/>
          </p:nvPr>
        </p:nvSpPr>
        <p:spPr/>
        <p:txBody>
          <a:bodyPr/>
          <a:lstStyle/>
          <a:p>
            <a:fld id="{E66AA3EA-0569-43EF-BBA3-83FDB109D582}" type="slidenum">
              <a:rPr lang="en-US" smtClean="0"/>
              <a:pPr/>
              <a:t>20</a:t>
            </a:fld>
            <a:endParaRPr lang="en-US" dirty="0"/>
          </a:p>
        </p:txBody>
      </p:sp>
    </p:spTree>
    <p:extLst>
      <p:ext uri="{BB962C8B-B14F-4D97-AF65-F5344CB8AC3E}">
        <p14:creationId xmlns:p14="http://schemas.microsoft.com/office/powerpoint/2010/main" val="3581712096"/>
      </p:ext>
    </p:extLst>
  </p:cSld>
  <p:clrMapOvr>
    <a:masterClrMapping/>
  </p:clrMapOvr>
  <p:transition spd="slow">
    <p:pull dir="l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 name="Object 121"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122" name="Object 12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386" name="Rectangle 122"/>
          <p:cNvSpPr>
            <a:spLocks noGrp="1" noChangeArrowheads="1"/>
          </p:cNvSpPr>
          <p:nvPr>
            <p:ph type="title"/>
          </p:nvPr>
        </p:nvSpPr>
        <p:spPr bwMode="auto">
          <a:xfrm>
            <a:off x="233362" y="127660"/>
            <a:ext cx="8910638"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cs typeface="Arial" charset="0"/>
              </a:rPr>
              <a:t>Supply Chain Planning </a:t>
            </a:r>
            <a:r>
              <a:rPr 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Diagram</a:t>
            </a:r>
          </a:p>
        </p:txBody>
      </p:sp>
      <p:sp>
        <p:nvSpPr>
          <p:cNvPr id="95" name="Rectangle 94"/>
          <p:cNvSpPr/>
          <p:nvPr/>
        </p:nvSpPr>
        <p:spPr bwMode="auto">
          <a:xfrm>
            <a:off x="939801" y="1871133"/>
            <a:ext cx="5054598" cy="1401233"/>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r>
              <a:rPr lang="en-US" sz="1400" b="1" dirty="0">
                <a:effectLst>
                  <a:outerShdw blurRad="38100" dist="38100" dir="2700000" algn="tl">
                    <a:srgbClr val="000000">
                      <a:alpha val="43137"/>
                    </a:srgbClr>
                  </a:outerShdw>
                </a:effectLst>
                <a:latin typeface="News Gothic MT" pitchFamily="34" charset="0"/>
              </a:rPr>
              <a:t>Sales &amp; Operations Planning </a:t>
            </a:r>
            <a:r>
              <a:rPr lang="en-US" sz="1000" dirty="0">
                <a:effectLst>
                  <a:outerShdw blurRad="38100" dist="38100" dir="2700000" algn="tl">
                    <a:srgbClr val="000000">
                      <a:alpha val="43137"/>
                    </a:srgbClr>
                  </a:outerShdw>
                </a:effectLst>
                <a:latin typeface="News Gothic MT" pitchFamily="34" charset="0"/>
              </a:rPr>
              <a:t>(S&amp;OP)</a:t>
            </a:r>
          </a:p>
        </p:txBody>
      </p:sp>
      <p:sp>
        <p:nvSpPr>
          <p:cNvPr id="67" name="Rectangle 27"/>
          <p:cNvSpPr>
            <a:spLocks noChangeArrowheads="1"/>
          </p:cNvSpPr>
          <p:nvPr/>
        </p:nvSpPr>
        <p:spPr bwMode="auto">
          <a:xfrm>
            <a:off x="4896281" y="2209975"/>
            <a:ext cx="951637" cy="308858"/>
          </a:xfrm>
          <a:prstGeom prst="rect">
            <a:avLst/>
          </a:prstGeom>
          <a:solidFill>
            <a:schemeClr val="accent1">
              <a:lumMod val="40000"/>
              <a:lumOff val="60000"/>
            </a:schemeClr>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black"/>
                </a:solidFill>
                <a:latin typeface="News Gothic MT" pitchFamily="34" charset="0"/>
              </a:rPr>
              <a:t>Demand </a:t>
            </a:r>
          </a:p>
          <a:p>
            <a:pPr algn="ctr" eaLnBrk="0" hangingPunct="0">
              <a:lnSpc>
                <a:spcPct val="80000"/>
              </a:lnSpc>
            </a:pPr>
            <a:r>
              <a:rPr lang="en-US" sz="1000" b="1" dirty="0">
                <a:solidFill>
                  <a:prstClr val="black"/>
                </a:solidFill>
                <a:latin typeface="News Gothic MT" pitchFamily="34" charset="0"/>
              </a:rPr>
              <a:t>Management</a:t>
            </a:r>
          </a:p>
        </p:txBody>
      </p:sp>
      <p:sp>
        <p:nvSpPr>
          <p:cNvPr id="73" name="Rectangle 37"/>
          <p:cNvSpPr>
            <a:spLocks noChangeArrowheads="1"/>
          </p:cNvSpPr>
          <p:nvPr/>
        </p:nvSpPr>
        <p:spPr bwMode="auto">
          <a:xfrm>
            <a:off x="4897618" y="2861733"/>
            <a:ext cx="948964" cy="308858"/>
          </a:xfrm>
          <a:prstGeom prst="rect">
            <a:avLst/>
          </a:prstGeom>
          <a:solidFill>
            <a:schemeClr val="accent1">
              <a:lumMod val="40000"/>
              <a:lumOff val="60000"/>
            </a:schemeClr>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90000"/>
              </a:lnSpc>
            </a:pPr>
            <a:r>
              <a:rPr lang="en-US" sz="1000" b="1" dirty="0">
                <a:solidFill>
                  <a:prstClr val="black"/>
                </a:solidFill>
                <a:latin typeface="News Gothic MT" pitchFamily="34" charset="0"/>
              </a:rPr>
              <a:t>Supply </a:t>
            </a:r>
          </a:p>
          <a:p>
            <a:pPr algn="ctr" eaLnBrk="0" hangingPunct="0">
              <a:lnSpc>
                <a:spcPct val="90000"/>
              </a:lnSpc>
            </a:pPr>
            <a:r>
              <a:rPr lang="en-US" sz="1000" b="1" dirty="0">
                <a:solidFill>
                  <a:prstClr val="black"/>
                </a:solidFill>
                <a:latin typeface="News Gothic MT" pitchFamily="34" charset="0"/>
              </a:rPr>
              <a:t>Management</a:t>
            </a:r>
          </a:p>
        </p:txBody>
      </p:sp>
      <p:sp>
        <p:nvSpPr>
          <p:cNvPr id="75" name="Rectangle 41"/>
          <p:cNvSpPr>
            <a:spLocks noChangeArrowheads="1"/>
          </p:cNvSpPr>
          <p:nvPr/>
        </p:nvSpPr>
        <p:spPr bwMode="auto">
          <a:xfrm>
            <a:off x="1073415" y="3711063"/>
            <a:ext cx="1053570" cy="498194"/>
          </a:xfrm>
          <a:prstGeom prst="rect">
            <a:avLst/>
          </a:prstGeom>
          <a:solidFill>
            <a:schemeClr val="accent1"/>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srgbClr val="000000"/>
                </a:solidFill>
                <a:latin typeface="News Gothic MT" pitchFamily="34" charset="0"/>
              </a:rPr>
              <a:t>Rough-Cut </a:t>
            </a:r>
          </a:p>
          <a:p>
            <a:pPr algn="ctr" eaLnBrk="0" hangingPunct="0">
              <a:lnSpc>
                <a:spcPct val="80000"/>
              </a:lnSpc>
            </a:pPr>
            <a:r>
              <a:rPr lang="en-US" sz="1000" b="1" dirty="0">
                <a:solidFill>
                  <a:srgbClr val="000000"/>
                </a:solidFill>
                <a:latin typeface="News Gothic MT" pitchFamily="34" charset="0"/>
              </a:rPr>
              <a:t>Capacity </a:t>
            </a:r>
          </a:p>
          <a:p>
            <a:pPr algn="ctr" eaLnBrk="0" hangingPunct="0">
              <a:lnSpc>
                <a:spcPct val="80000"/>
              </a:lnSpc>
            </a:pPr>
            <a:r>
              <a:rPr lang="en-US" sz="1000" b="1" dirty="0">
                <a:solidFill>
                  <a:srgbClr val="000000"/>
                </a:solidFill>
                <a:latin typeface="News Gothic MT" pitchFamily="34" charset="0"/>
              </a:rPr>
              <a:t>Planning</a:t>
            </a:r>
            <a:r>
              <a:rPr lang="en-US" sz="800" b="1" dirty="0">
                <a:solidFill>
                  <a:srgbClr val="000000"/>
                </a:solidFill>
                <a:latin typeface="News Gothic MT" pitchFamily="34" charset="0"/>
              </a:rPr>
              <a:t> </a:t>
            </a:r>
            <a:r>
              <a:rPr lang="en-US" sz="800" dirty="0">
                <a:solidFill>
                  <a:srgbClr val="000000"/>
                </a:solidFill>
                <a:latin typeface="News Gothic MT" pitchFamily="34" charset="0"/>
              </a:rPr>
              <a:t>(RCCP)</a:t>
            </a:r>
            <a:endParaRPr lang="en-US" sz="1000" dirty="0">
              <a:solidFill>
                <a:srgbClr val="000000"/>
              </a:solidFill>
              <a:latin typeface="News Gothic MT" pitchFamily="34" charset="0"/>
            </a:endParaRPr>
          </a:p>
        </p:txBody>
      </p:sp>
      <p:sp>
        <p:nvSpPr>
          <p:cNvPr id="83" name="Rectangle 12"/>
          <p:cNvSpPr>
            <a:spLocks noChangeArrowheads="1"/>
          </p:cNvSpPr>
          <p:nvPr/>
        </p:nvSpPr>
        <p:spPr bwMode="auto">
          <a:xfrm>
            <a:off x="1088574" y="4555067"/>
            <a:ext cx="1023251" cy="499533"/>
          </a:xfrm>
          <a:prstGeom prst="rect">
            <a:avLst/>
          </a:prstGeom>
          <a:solidFill>
            <a:schemeClr val="accent1"/>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black"/>
                </a:solidFill>
                <a:latin typeface="News Gothic MT"/>
              </a:rPr>
              <a:t>Capacity </a:t>
            </a:r>
          </a:p>
          <a:p>
            <a:pPr algn="ctr" eaLnBrk="0" hangingPunct="0">
              <a:lnSpc>
                <a:spcPct val="80000"/>
              </a:lnSpc>
            </a:pPr>
            <a:r>
              <a:rPr lang="en-US" sz="1000" b="1" dirty="0">
                <a:solidFill>
                  <a:prstClr val="black"/>
                </a:solidFill>
                <a:latin typeface="News Gothic MT"/>
              </a:rPr>
              <a:t>Requirements</a:t>
            </a:r>
          </a:p>
          <a:p>
            <a:pPr algn="ctr" eaLnBrk="0" hangingPunct="0">
              <a:lnSpc>
                <a:spcPct val="80000"/>
              </a:lnSpc>
            </a:pPr>
            <a:r>
              <a:rPr lang="en-US" sz="1000" b="1" dirty="0">
                <a:solidFill>
                  <a:prstClr val="black"/>
                </a:solidFill>
                <a:latin typeface="News Gothic MT"/>
              </a:rPr>
              <a:t>Planning </a:t>
            </a:r>
            <a:r>
              <a:rPr lang="en-US" sz="800" dirty="0">
                <a:solidFill>
                  <a:prstClr val="black"/>
                </a:solidFill>
                <a:latin typeface="News Gothic MT"/>
              </a:rPr>
              <a:t>(CRP)</a:t>
            </a:r>
            <a:endParaRPr lang="en-US" sz="700" dirty="0">
              <a:solidFill>
                <a:prstClr val="black"/>
              </a:solidFill>
              <a:latin typeface="News Gothic MT"/>
            </a:endParaRPr>
          </a:p>
        </p:txBody>
      </p:sp>
      <p:sp>
        <p:nvSpPr>
          <p:cNvPr id="86" name="Rectangle 70"/>
          <p:cNvSpPr>
            <a:spLocks noChangeArrowheads="1"/>
          </p:cNvSpPr>
          <p:nvPr/>
        </p:nvSpPr>
        <p:spPr bwMode="auto">
          <a:xfrm>
            <a:off x="2925027" y="1307884"/>
            <a:ext cx="1107547" cy="135898"/>
          </a:xfrm>
          <a:prstGeom prst="rect">
            <a:avLst/>
          </a:prstGeom>
          <a:noFill/>
          <a:ln w="12700">
            <a:noFill/>
            <a:miter lim="800000"/>
            <a:headEnd/>
            <a:tailEnd/>
          </a:ln>
          <a:effectLst/>
        </p:spPr>
        <p:txBody>
          <a:bodyPr wrap="square" lIns="0" tIns="0" rIns="0" bIns="0" anchor="ctr" anchorCtr="1">
            <a:noAutofit/>
          </a:bodyPr>
          <a:lstStyle/>
          <a:p>
            <a:pPr algn="ctr" eaLnBrk="0" hangingPunct="0">
              <a:lnSpc>
                <a:spcPct val="80000"/>
              </a:lnSpc>
            </a:pPr>
            <a:endParaRPr lang="en-US" sz="1000" b="1" dirty="0">
              <a:solidFill>
                <a:prstClr val="white"/>
              </a:solidFill>
              <a:latin typeface="News Gothic MT"/>
            </a:endParaRPr>
          </a:p>
        </p:txBody>
      </p:sp>
      <p:sp>
        <p:nvSpPr>
          <p:cNvPr id="87" name="Oval 72"/>
          <p:cNvSpPr>
            <a:spLocks noChangeArrowheads="1"/>
          </p:cNvSpPr>
          <p:nvPr/>
        </p:nvSpPr>
        <p:spPr bwMode="auto">
          <a:xfrm>
            <a:off x="4891640" y="1178124"/>
            <a:ext cx="960920" cy="395419"/>
          </a:xfrm>
          <a:prstGeom prst="ellipse">
            <a:avLst/>
          </a:prstGeom>
          <a:solidFill>
            <a:schemeClr val="accent5"/>
          </a:solidFill>
          <a:ln w="12700">
            <a:solidFill>
              <a:srgbClr val="000000"/>
            </a:solidFill>
            <a:round/>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Financial  </a:t>
            </a:r>
          </a:p>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Plans</a:t>
            </a:r>
          </a:p>
        </p:txBody>
      </p:sp>
      <p:sp>
        <p:nvSpPr>
          <p:cNvPr id="88" name="Oval 91"/>
          <p:cNvSpPr>
            <a:spLocks noChangeArrowheads="1"/>
          </p:cNvSpPr>
          <p:nvPr/>
        </p:nvSpPr>
        <p:spPr bwMode="auto">
          <a:xfrm>
            <a:off x="1119740" y="1178124"/>
            <a:ext cx="960920" cy="395419"/>
          </a:xfrm>
          <a:prstGeom prst="ellipse">
            <a:avLst/>
          </a:prstGeom>
          <a:solidFill>
            <a:schemeClr val="accent5"/>
          </a:solidFill>
          <a:ln w="12700">
            <a:solidFill>
              <a:srgbClr val="000000"/>
            </a:solidFill>
            <a:round/>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Strategic  </a:t>
            </a:r>
          </a:p>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Plans</a:t>
            </a:r>
          </a:p>
        </p:txBody>
      </p:sp>
      <p:cxnSp>
        <p:nvCxnSpPr>
          <p:cNvPr id="107" name="Straight Connector 106"/>
          <p:cNvCxnSpPr>
            <a:stCxn id="85" idx="2"/>
            <a:endCxn id="95" idx="0"/>
          </p:cNvCxnSpPr>
          <p:nvPr/>
        </p:nvCxnSpPr>
        <p:spPr bwMode="auto">
          <a:xfrm>
            <a:off x="3467100" y="1541236"/>
            <a:ext cx="0" cy="329897"/>
          </a:xfrm>
          <a:prstGeom prst="line">
            <a:avLst/>
          </a:prstGeom>
          <a:solidFill>
            <a:schemeClr val="accent1"/>
          </a:solidFill>
          <a:ln w="38100" cap="flat" cmpd="sng" algn="ctr">
            <a:solidFill>
              <a:schemeClr val="tx1"/>
            </a:solidFill>
            <a:prstDash val="solid"/>
            <a:round/>
            <a:headEnd type="none" w="med" len="med"/>
            <a:tailEnd type="triangle" w="sm" len="sm"/>
          </a:ln>
          <a:effectLst>
            <a:outerShdw blurRad="50800" dist="38100" dir="2700000" algn="tl" rotWithShape="0">
              <a:prstClr val="black">
                <a:alpha val="40000"/>
              </a:prstClr>
            </a:outerShdw>
          </a:effectLst>
        </p:spPr>
      </p:cxnSp>
      <p:cxnSp>
        <p:nvCxnSpPr>
          <p:cNvPr id="108" name="Straight Connector 107"/>
          <p:cNvCxnSpPr>
            <a:stCxn id="88" idx="6"/>
            <a:endCxn id="85" idx="1"/>
          </p:cNvCxnSpPr>
          <p:nvPr/>
        </p:nvCxnSpPr>
        <p:spPr bwMode="auto">
          <a:xfrm flipV="1">
            <a:off x="2080660" y="1375833"/>
            <a:ext cx="300590" cy="1"/>
          </a:xfrm>
          <a:prstGeom prst="line">
            <a:avLst/>
          </a:prstGeom>
          <a:solidFill>
            <a:schemeClr val="accent1"/>
          </a:solidFill>
          <a:ln w="28575" cap="flat" cmpd="sng" algn="ctr">
            <a:solidFill>
              <a:schemeClr val="tx1"/>
            </a:solidFill>
            <a:prstDash val="solid"/>
            <a:round/>
            <a:headEnd type="triangle" w="med" len="med"/>
            <a:tailEnd type="triangle" w="med" len="med"/>
          </a:ln>
          <a:effectLst/>
        </p:spPr>
      </p:cxnSp>
      <p:sp>
        <p:nvSpPr>
          <p:cNvPr id="90" name="Rectangle 3"/>
          <p:cNvSpPr txBox="1">
            <a:spLocks noChangeArrowheads="1"/>
          </p:cNvSpPr>
          <p:nvPr/>
        </p:nvSpPr>
        <p:spPr bwMode="auto">
          <a:xfrm>
            <a:off x="6248399" y="3201987"/>
            <a:ext cx="948267" cy="686858"/>
          </a:xfrm>
          <a:prstGeom prst="rect">
            <a:avLst/>
          </a:prstGeom>
          <a:solidFill>
            <a:schemeClr val="bg1"/>
          </a:solidFill>
          <a:ln>
            <a:noFill/>
            <a:miter lim="800000"/>
            <a:headEnd/>
            <a:tailEnd/>
          </a:ln>
        </p:spPr>
        <p:txBody>
          <a:bodyPr vert="horz" wrap="square" lIns="0" tIns="0" rIns="0" bIns="0" numCol="1" anchor="ctr" anchorCtr="1" compatLnSpc="1">
            <a:prstTxWarp prst="textNoShape">
              <a:avLst/>
            </a:prstTxWarp>
          </a:bodyPr>
          <a:lstStyle/>
          <a:p>
            <a:pPr algn="ctr" defTabSz="855663" eaLnBrk="0" hangingPunct="0">
              <a:lnSpc>
                <a:spcPct val="90000"/>
              </a:lnSpc>
              <a:spcBef>
                <a:spcPts val="0"/>
              </a:spcBef>
              <a:spcAft>
                <a:spcPts val="0"/>
              </a:spcAft>
              <a:buClr>
                <a:prstClr val="black"/>
              </a:buClr>
              <a:buFont typeface="Monotype Sorts" charset="0"/>
              <a:buNone/>
              <a:defRPr/>
            </a:pPr>
            <a:r>
              <a:rPr lang="en-US" sz="1200" kern="0" dirty="0">
                <a:solidFill>
                  <a:srgbClr val="923222"/>
                </a:solidFill>
                <a:effectLst>
                  <a:outerShdw blurRad="38100" dist="38100" dir="2700000" algn="tl">
                    <a:srgbClr val="000000">
                      <a:alpha val="43137"/>
                    </a:srgbClr>
                  </a:outerShdw>
                </a:effectLst>
                <a:latin typeface="Calibri" panose="020F0502020204030204" pitchFamily="34" charset="0"/>
              </a:rPr>
              <a:t>) </a:t>
            </a:r>
          </a:p>
        </p:txBody>
      </p:sp>
      <p:sp>
        <p:nvSpPr>
          <p:cNvPr id="52" name="Rectangle 41"/>
          <p:cNvSpPr>
            <a:spLocks noChangeArrowheads="1"/>
          </p:cNvSpPr>
          <p:nvPr/>
        </p:nvSpPr>
        <p:spPr bwMode="auto">
          <a:xfrm>
            <a:off x="1073415" y="2460235"/>
            <a:ext cx="1053570" cy="498194"/>
          </a:xfrm>
          <a:prstGeom prst="rect">
            <a:avLst/>
          </a:prstGeom>
          <a:solidFill>
            <a:schemeClr val="accent1"/>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srgbClr val="000000"/>
                </a:solidFill>
                <a:latin typeface="News Gothic MT" pitchFamily="34" charset="0"/>
              </a:rPr>
              <a:t>Resource </a:t>
            </a:r>
          </a:p>
          <a:p>
            <a:pPr algn="ctr" eaLnBrk="0" hangingPunct="0">
              <a:lnSpc>
                <a:spcPct val="80000"/>
              </a:lnSpc>
            </a:pPr>
            <a:r>
              <a:rPr lang="en-US" sz="1000" b="1" dirty="0">
                <a:solidFill>
                  <a:srgbClr val="000000"/>
                </a:solidFill>
                <a:latin typeface="News Gothic MT" pitchFamily="34" charset="0"/>
              </a:rPr>
              <a:t>Requirements </a:t>
            </a:r>
          </a:p>
          <a:p>
            <a:pPr algn="ctr" eaLnBrk="0" hangingPunct="0">
              <a:lnSpc>
                <a:spcPct val="80000"/>
              </a:lnSpc>
            </a:pPr>
            <a:r>
              <a:rPr lang="en-US" sz="1000" b="1" dirty="0">
                <a:solidFill>
                  <a:srgbClr val="000000"/>
                </a:solidFill>
                <a:latin typeface="News Gothic MT" pitchFamily="34" charset="0"/>
              </a:rPr>
              <a:t>Planning</a:t>
            </a:r>
            <a:r>
              <a:rPr lang="en-US" sz="800" b="1" dirty="0">
                <a:solidFill>
                  <a:srgbClr val="000000"/>
                </a:solidFill>
                <a:latin typeface="News Gothic MT" pitchFamily="34" charset="0"/>
              </a:rPr>
              <a:t> </a:t>
            </a:r>
            <a:r>
              <a:rPr lang="en-US" sz="800" dirty="0">
                <a:solidFill>
                  <a:srgbClr val="000000"/>
                </a:solidFill>
                <a:latin typeface="News Gothic MT" pitchFamily="34" charset="0"/>
              </a:rPr>
              <a:t>(RRP)</a:t>
            </a:r>
            <a:endParaRPr lang="en-US" sz="1000" dirty="0">
              <a:solidFill>
                <a:srgbClr val="000000"/>
              </a:solidFill>
              <a:latin typeface="News Gothic MT" pitchFamily="34" charset="0"/>
            </a:endParaRPr>
          </a:p>
        </p:txBody>
      </p:sp>
      <p:cxnSp>
        <p:nvCxnSpPr>
          <p:cNvPr id="12" name="Straight Arrow Connector 11"/>
          <p:cNvCxnSpPr>
            <a:stCxn id="83" idx="3"/>
            <a:endCxn id="76" idx="1"/>
          </p:cNvCxnSpPr>
          <p:nvPr/>
        </p:nvCxnSpPr>
        <p:spPr bwMode="auto">
          <a:xfrm flipV="1">
            <a:off x="2111825" y="4804833"/>
            <a:ext cx="291650" cy="1"/>
          </a:xfrm>
          <a:prstGeom prst="straightConnector1">
            <a:avLst/>
          </a:prstGeom>
          <a:solidFill>
            <a:schemeClr val="accent1"/>
          </a:solidFill>
          <a:ln w="28575" cap="flat" cmpd="sng" algn="ctr">
            <a:solidFill>
              <a:schemeClr val="tx1"/>
            </a:solidFill>
            <a:prstDash val="sysDot"/>
            <a:round/>
            <a:headEnd type="triangle"/>
            <a:tailEnd type="triangle"/>
          </a:ln>
          <a:effectLst/>
        </p:spPr>
      </p:cxnSp>
      <p:cxnSp>
        <p:nvCxnSpPr>
          <p:cNvPr id="57" name="Straight Arrow Connector 56"/>
          <p:cNvCxnSpPr>
            <a:stCxn id="75" idx="3"/>
            <a:endCxn id="74" idx="1"/>
          </p:cNvCxnSpPr>
          <p:nvPr/>
        </p:nvCxnSpPr>
        <p:spPr bwMode="auto">
          <a:xfrm>
            <a:off x="2126985" y="3960160"/>
            <a:ext cx="273315" cy="1"/>
          </a:xfrm>
          <a:prstGeom prst="straightConnector1">
            <a:avLst/>
          </a:prstGeom>
          <a:solidFill>
            <a:schemeClr val="accent1"/>
          </a:solidFill>
          <a:ln w="28575" cap="flat" cmpd="sng" algn="ctr">
            <a:solidFill>
              <a:schemeClr val="tx1"/>
            </a:solidFill>
            <a:prstDash val="sysDot"/>
            <a:round/>
            <a:headEnd type="triangle"/>
            <a:tailEnd type="triangle"/>
          </a:ln>
          <a:effectLst/>
        </p:spPr>
      </p:cxnSp>
      <p:cxnSp>
        <p:nvCxnSpPr>
          <p:cNvPr id="69" name="Straight Arrow Connector 68"/>
          <p:cNvCxnSpPr>
            <a:stCxn id="52" idx="3"/>
            <a:endCxn id="84" idx="1"/>
          </p:cNvCxnSpPr>
          <p:nvPr/>
        </p:nvCxnSpPr>
        <p:spPr bwMode="auto">
          <a:xfrm>
            <a:off x="2126985" y="2709332"/>
            <a:ext cx="273315" cy="1"/>
          </a:xfrm>
          <a:prstGeom prst="straightConnector1">
            <a:avLst/>
          </a:prstGeom>
          <a:solidFill>
            <a:schemeClr val="accent1"/>
          </a:solidFill>
          <a:ln w="28575" cap="flat" cmpd="sng" algn="ctr">
            <a:solidFill>
              <a:schemeClr val="tx1"/>
            </a:solidFill>
            <a:prstDash val="sysDot"/>
            <a:round/>
            <a:headEnd type="triangle"/>
            <a:tailEnd type="triangle"/>
          </a:ln>
          <a:effectLst/>
        </p:spPr>
      </p:cxnSp>
      <p:cxnSp>
        <p:nvCxnSpPr>
          <p:cNvPr id="72" name="Straight Connector 71"/>
          <p:cNvCxnSpPr>
            <a:stCxn id="85" idx="3"/>
            <a:endCxn id="87" idx="2"/>
          </p:cNvCxnSpPr>
          <p:nvPr/>
        </p:nvCxnSpPr>
        <p:spPr bwMode="auto">
          <a:xfrm>
            <a:off x="4552950" y="1375833"/>
            <a:ext cx="338690" cy="1"/>
          </a:xfrm>
          <a:prstGeom prst="line">
            <a:avLst/>
          </a:prstGeom>
          <a:solidFill>
            <a:schemeClr val="accent1"/>
          </a:solidFill>
          <a:ln w="28575" cap="flat" cmpd="sng" algn="ctr">
            <a:solidFill>
              <a:schemeClr val="tx1"/>
            </a:solidFill>
            <a:prstDash val="solid"/>
            <a:round/>
            <a:headEnd type="triangle" w="med" len="med"/>
            <a:tailEnd type="triangle" w="med" len="med"/>
          </a:ln>
          <a:effectLst/>
        </p:spPr>
      </p:cxnSp>
      <p:sp>
        <p:nvSpPr>
          <p:cNvPr id="92" name="Rectangle 37"/>
          <p:cNvSpPr>
            <a:spLocks noChangeArrowheads="1"/>
          </p:cNvSpPr>
          <p:nvPr/>
        </p:nvSpPr>
        <p:spPr bwMode="auto">
          <a:xfrm>
            <a:off x="3589867" y="5412316"/>
            <a:ext cx="982133" cy="537634"/>
          </a:xfrm>
          <a:prstGeom prst="rect">
            <a:avLst/>
          </a:prstGeom>
          <a:solidFill>
            <a:schemeClr val="accent2"/>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90000"/>
              </a:lnSpc>
            </a:pPr>
            <a:r>
              <a:rPr lang="en-US" sz="1000" b="1" dirty="0">
                <a:solidFill>
                  <a:prstClr val="black"/>
                </a:solidFill>
                <a:latin typeface="News Gothic MT" pitchFamily="34" charset="0"/>
              </a:rPr>
              <a:t>Manufacturing </a:t>
            </a:r>
          </a:p>
          <a:p>
            <a:pPr algn="ctr" eaLnBrk="0" hangingPunct="0">
              <a:lnSpc>
                <a:spcPct val="90000"/>
              </a:lnSpc>
            </a:pPr>
            <a:r>
              <a:rPr lang="en-US" sz="700" i="1" dirty="0">
                <a:solidFill>
                  <a:prstClr val="black"/>
                </a:solidFill>
                <a:latin typeface="News Gothic MT" pitchFamily="34" charset="0"/>
              </a:rPr>
              <a:t>(Internal or External)</a:t>
            </a:r>
          </a:p>
        </p:txBody>
      </p:sp>
      <p:cxnSp>
        <p:nvCxnSpPr>
          <p:cNvPr id="44" name="Straight Arrow Connector 43"/>
          <p:cNvCxnSpPr>
            <a:stCxn id="76" idx="2"/>
            <a:endCxn id="91" idx="0"/>
          </p:cNvCxnSpPr>
          <p:nvPr/>
        </p:nvCxnSpPr>
        <p:spPr bwMode="auto">
          <a:xfrm>
            <a:off x="2895600" y="5071533"/>
            <a:ext cx="0" cy="342900"/>
          </a:xfrm>
          <a:prstGeom prst="straightConnector1">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47" name="Straight Arrow Connector 46"/>
          <p:cNvCxnSpPr/>
          <p:nvPr/>
        </p:nvCxnSpPr>
        <p:spPr bwMode="auto">
          <a:xfrm>
            <a:off x="4114800" y="4145227"/>
            <a:ext cx="0" cy="1269470"/>
          </a:xfrm>
          <a:prstGeom prst="straightConnector1">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77" name="Straight Arrow Connector 76"/>
          <p:cNvCxnSpPr>
            <a:endCxn id="76" idx="0"/>
          </p:cNvCxnSpPr>
          <p:nvPr/>
        </p:nvCxnSpPr>
        <p:spPr bwMode="auto">
          <a:xfrm>
            <a:off x="2894541" y="4130675"/>
            <a:ext cx="1059" cy="407458"/>
          </a:xfrm>
          <a:prstGeom prst="straightConnector1">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82" name="Straight Arrow Connector 81"/>
          <p:cNvCxnSpPr>
            <a:endCxn id="92" idx="1"/>
          </p:cNvCxnSpPr>
          <p:nvPr/>
        </p:nvCxnSpPr>
        <p:spPr bwMode="auto">
          <a:xfrm>
            <a:off x="3390900" y="5681133"/>
            <a:ext cx="198967" cy="0"/>
          </a:xfrm>
          <a:prstGeom prst="straightConnector1">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99" name="Straight Connector 98"/>
          <p:cNvCxnSpPr>
            <a:stCxn id="84" idx="2"/>
            <a:endCxn id="74" idx="0"/>
          </p:cNvCxnSpPr>
          <p:nvPr/>
        </p:nvCxnSpPr>
        <p:spPr bwMode="auto">
          <a:xfrm>
            <a:off x="3486150" y="2883071"/>
            <a:ext cx="0" cy="893086"/>
          </a:xfrm>
          <a:prstGeom prst="line">
            <a:avLst/>
          </a:prstGeom>
          <a:solidFill>
            <a:schemeClr val="accent1"/>
          </a:solidFill>
          <a:ln w="38100" cap="flat" cmpd="sng" algn="ctr">
            <a:solidFill>
              <a:schemeClr val="tx1"/>
            </a:solidFill>
            <a:prstDash val="solid"/>
            <a:round/>
            <a:headEnd type="none" w="med" len="med"/>
            <a:tailEnd type="triangle" w="med" len="med"/>
          </a:ln>
          <a:effectLst>
            <a:outerShdw blurRad="50800" dist="38100" dir="2700000" algn="tl" rotWithShape="0">
              <a:prstClr val="black">
                <a:alpha val="40000"/>
              </a:prstClr>
            </a:outerShdw>
          </a:effectLst>
        </p:spPr>
      </p:cxnSp>
      <p:cxnSp>
        <p:nvCxnSpPr>
          <p:cNvPr id="100" name="Straight Arrow Connector 99"/>
          <p:cNvCxnSpPr>
            <a:stCxn id="67" idx="1"/>
            <a:endCxn id="84" idx="3"/>
          </p:cNvCxnSpPr>
          <p:nvPr/>
        </p:nvCxnSpPr>
        <p:spPr bwMode="auto">
          <a:xfrm flipH="1">
            <a:off x="4572000" y="2364404"/>
            <a:ext cx="324281" cy="344929"/>
          </a:xfrm>
          <a:prstGeom prst="straightConnector1">
            <a:avLst/>
          </a:prstGeom>
          <a:solidFill>
            <a:schemeClr val="accent1"/>
          </a:solidFill>
          <a:ln w="28575" cap="flat" cmpd="sng" algn="ctr">
            <a:solidFill>
              <a:schemeClr val="tx1"/>
            </a:solidFill>
            <a:prstDash val="solid"/>
            <a:round/>
            <a:headEnd type="triangle"/>
            <a:tailEnd type="triangle"/>
          </a:ln>
          <a:effectLst>
            <a:outerShdw blurRad="50800" dist="38100" dir="2700000" algn="tl" rotWithShape="0">
              <a:prstClr val="black">
                <a:alpha val="40000"/>
              </a:prstClr>
            </a:outerShdw>
          </a:effectLst>
        </p:spPr>
      </p:cxnSp>
      <p:cxnSp>
        <p:nvCxnSpPr>
          <p:cNvPr id="102" name="Straight Arrow Connector 101"/>
          <p:cNvCxnSpPr>
            <a:stCxn id="73" idx="1"/>
            <a:endCxn id="84" idx="3"/>
          </p:cNvCxnSpPr>
          <p:nvPr/>
        </p:nvCxnSpPr>
        <p:spPr bwMode="auto">
          <a:xfrm flipH="1" flipV="1">
            <a:off x="4572000" y="2709333"/>
            <a:ext cx="325618" cy="306829"/>
          </a:xfrm>
          <a:prstGeom prst="straightConnector1">
            <a:avLst/>
          </a:prstGeom>
          <a:solidFill>
            <a:schemeClr val="accent1"/>
          </a:solidFill>
          <a:ln w="28575" cap="flat" cmpd="sng" algn="ctr">
            <a:solidFill>
              <a:schemeClr val="tx1"/>
            </a:solidFill>
            <a:prstDash val="solid"/>
            <a:round/>
            <a:headEnd type="triangle"/>
            <a:tailEnd type="triangle"/>
          </a:ln>
          <a:effectLst>
            <a:outerShdw blurRad="50800" dist="38100" dir="2700000" algn="tl" rotWithShape="0">
              <a:prstClr val="black">
                <a:alpha val="40000"/>
              </a:prstClr>
            </a:outerShdw>
          </a:effectLst>
        </p:spPr>
      </p:cxnSp>
      <p:cxnSp>
        <p:nvCxnSpPr>
          <p:cNvPr id="104" name="Straight Arrow Connector 103"/>
          <p:cNvCxnSpPr>
            <a:stCxn id="73" idx="0"/>
            <a:endCxn id="67" idx="2"/>
          </p:cNvCxnSpPr>
          <p:nvPr/>
        </p:nvCxnSpPr>
        <p:spPr bwMode="auto">
          <a:xfrm flipV="1">
            <a:off x="5372100" y="2518833"/>
            <a:ext cx="0" cy="342900"/>
          </a:xfrm>
          <a:prstGeom prst="straightConnector1">
            <a:avLst/>
          </a:prstGeom>
          <a:solidFill>
            <a:schemeClr val="accent1"/>
          </a:solidFill>
          <a:ln w="28575" cap="flat" cmpd="sng" algn="ctr">
            <a:solidFill>
              <a:schemeClr val="tx1"/>
            </a:solidFill>
            <a:prstDash val="solid"/>
            <a:round/>
            <a:headEnd type="triangle"/>
            <a:tailEnd type="triangle"/>
          </a:ln>
          <a:effectLst>
            <a:outerShdw blurRad="50800" dist="38100" dir="2700000" algn="tl" rotWithShape="0">
              <a:prstClr val="black">
                <a:alpha val="40000"/>
              </a:prstClr>
            </a:outerShdw>
          </a:effectLst>
        </p:spPr>
      </p:cxnSp>
      <p:sp>
        <p:nvSpPr>
          <p:cNvPr id="137" name="Rectangle 37"/>
          <p:cNvSpPr>
            <a:spLocks noChangeArrowheads="1"/>
          </p:cNvSpPr>
          <p:nvPr/>
        </p:nvSpPr>
        <p:spPr bwMode="auto">
          <a:xfrm>
            <a:off x="4385733" y="6210300"/>
            <a:ext cx="982133" cy="537634"/>
          </a:xfrm>
          <a:prstGeom prst="rect">
            <a:avLst/>
          </a:prstGeom>
          <a:solidFill>
            <a:schemeClr val="accent5"/>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9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Distribution</a:t>
            </a:r>
          </a:p>
          <a:p>
            <a:pPr algn="ctr" eaLnBrk="0" hangingPunct="0">
              <a:lnSpc>
                <a:spcPct val="9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Requirements</a:t>
            </a:r>
          </a:p>
          <a:p>
            <a:pPr algn="ctr" eaLnBrk="0" hangingPunct="0">
              <a:lnSpc>
                <a:spcPct val="9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Planning</a:t>
            </a:r>
            <a:r>
              <a:rPr lang="en-US" sz="800" b="1" dirty="0">
                <a:solidFill>
                  <a:schemeClr val="bg1"/>
                </a:solidFill>
                <a:effectLst>
                  <a:outerShdw blurRad="38100" dist="38100" dir="2700000" algn="tl">
                    <a:srgbClr val="000000">
                      <a:alpha val="43137"/>
                    </a:srgbClr>
                  </a:outerShdw>
                </a:effectLst>
                <a:latin typeface="News Gothic MT" pitchFamily="34" charset="0"/>
              </a:rPr>
              <a:t> </a:t>
            </a:r>
            <a:r>
              <a:rPr lang="en-US" sz="800" dirty="0">
                <a:solidFill>
                  <a:schemeClr val="bg1"/>
                </a:solidFill>
                <a:effectLst>
                  <a:outerShdw blurRad="38100" dist="38100" dir="2700000" algn="tl">
                    <a:srgbClr val="000000">
                      <a:alpha val="43137"/>
                    </a:srgbClr>
                  </a:outerShdw>
                </a:effectLst>
                <a:latin typeface="News Gothic MT" pitchFamily="34" charset="0"/>
              </a:rPr>
              <a:t>(DRP)</a:t>
            </a:r>
            <a:endParaRPr lang="en-US" sz="700" dirty="0">
              <a:solidFill>
                <a:schemeClr val="bg1"/>
              </a:solidFill>
              <a:effectLst>
                <a:outerShdw blurRad="38100" dist="38100" dir="2700000" algn="tl">
                  <a:srgbClr val="000000">
                    <a:alpha val="43137"/>
                  </a:srgbClr>
                </a:outerShdw>
              </a:effectLst>
              <a:latin typeface="News Gothic MT" pitchFamily="34" charset="0"/>
            </a:endParaRPr>
          </a:p>
        </p:txBody>
      </p:sp>
      <p:cxnSp>
        <p:nvCxnSpPr>
          <p:cNvPr id="11356" name="Straight Connector 11355"/>
          <p:cNvCxnSpPr>
            <a:stCxn id="74" idx="3"/>
          </p:cNvCxnSpPr>
          <p:nvPr/>
        </p:nvCxnSpPr>
        <p:spPr bwMode="auto">
          <a:xfrm flipV="1">
            <a:off x="4572000" y="3960160"/>
            <a:ext cx="304800" cy="1"/>
          </a:xfrm>
          <a:prstGeom prst="line">
            <a:avLst/>
          </a:prstGeom>
          <a:solidFill>
            <a:schemeClr val="accent1"/>
          </a:solidFill>
          <a:ln w="38100" cap="flat" cmpd="sng" algn="ctr">
            <a:solidFill>
              <a:schemeClr val="tx1"/>
            </a:solidFill>
            <a:prstDash val="solid"/>
            <a:round/>
            <a:headEnd type="triangle" w="med" len="med"/>
            <a:tailEnd type="none" w="med" len="med"/>
          </a:ln>
          <a:effectLst/>
        </p:spPr>
      </p:cxnSp>
      <p:cxnSp>
        <p:nvCxnSpPr>
          <p:cNvPr id="11358" name="Straight Connector 11357"/>
          <p:cNvCxnSpPr/>
          <p:nvPr/>
        </p:nvCxnSpPr>
        <p:spPr bwMode="auto">
          <a:xfrm>
            <a:off x="4876800" y="3943350"/>
            <a:ext cx="0" cy="2266950"/>
          </a:xfrm>
          <a:prstGeom prst="line">
            <a:avLst/>
          </a:prstGeom>
          <a:solidFill>
            <a:schemeClr val="accent1"/>
          </a:solidFill>
          <a:ln w="38100" cap="flat" cmpd="sng" algn="ctr">
            <a:solidFill>
              <a:schemeClr val="tx1"/>
            </a:solidFill>
            <a:prstDash val="solid"/>
            <a:round/>
            <a:headEnd type="none" w="med" len="med"/>
            <a:tailEnd type="triangle" w="med" len="med"/>
          </a:ln>
          <a:effectLst/>
        </p:spPr>
      </p:cxnSp>
      <p:sp>
        <p:nvSpPr>
          <p:cNvPr id="85" name="Rectangle 69"/>
          <p:cNvSpPr>
            <a:spLocks noChangeArrowheads="1"/>
          </p:cNvSpPr>
          <p:nvPr/>
        </p:nvSpPr>
        <p:spPr bwMode="auto">
          <a:xfrm>
            <a:off x="2381250" y="1210430"/>
            <a:ext cx="2171700" cy="330806"/>
          </a:xfrm>
          <a:prstGeom prst="rect">
            <a:avLst/>
          </a:prstGeom>
          <a:solidFill>
            <a:schemeClr val="accent4"/>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Business Planning</a:t>
            </a:r>
          </a:p>
        </p:txBody>
      </p:sp>
      <p:sp>
        <p:nvSpPr>
          <p:cNvPr id="84" name="Rectangle 52"/>
          <p:cNvSpPr>
            <a:spLocks noChangeArrowheads="1"/>
          </p:cNvSpPr>
          <p:nvPr/>
        </p:nvSpPr>
        <p:spPr bwMode="auto">
          <a:xfrm>
            <a:off x="2400300" y="2535594"/>
            <a:ext cx="2171700" cy="347477"/>
          </a:xfrm>
          <a:prstGeom prst="rect">
            <a:avLst/>
          </a:prstGeom>
          <a:solidFill>
            <a:schemeClr val="accent3"/>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Aggregate Production </a:t>
            </a:r>
          </a:p>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Planning </a:t>
            </a:r>
            <a:r>
              <a:rPr lang="en-US" sz="800" dirty="0">
                <a:solidFill>
                  <a:schemeClr val="bg1"/>
                </a:solidFill>
                <a:effectLst>
                  <a:outerShdw blurRad="38100" dist="38100" dir="2700000" algn="tl">
                    <a:srgbClr val="000000">
                      <a:alpha val="43137"/>
                    </a:srgbClr>
                  </a:outerShdw>
                </a:effectLst>
                <a:latin typeface="News Gothic MT" pitchFamily="34" charset="0"/>
              </a:rPr>
              <a:t>(APP)</a:t>
            </a:r>
          </a:p>
        </p:txBody>
      </p:sp>
      <p:sp>
        <p:nvSpPr>
          <p:cNvPr id="74" name="Rectangle 39"/>
          <p:cNvSpPr>
            <a:spLocks noChangeArrowheads="1"/>
          </p:cNvSpPr>
          <p:nvPr/>
        </p:nvSpPr>
        <p:spPr bwMode="auto">
          <a:xfrm>
            <a:off x="2400300" y="3776157"/>
            <a:ext cx="2171700" cy="368007"/>
          </a:xfrm>
          <a:prstGeom prst="rect">
            <a:avLst/>
          </a:prstGeom>
          <a:solidFill>
            <a:schemeClr val="accent3"/>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Master Production</a:t>
            </a:r>
          </a:p>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Scheduling </a:t>
            </a:r>
            <a:r>
              <a:rPr lang="en-US" sz="800" dirty="0">
                <a:solidFill>
                  <a:schemeClr val="bg1"/>
                </a:solidFill>
                <a:effectLst>
                  <a:outerShdw blurRad="38100" dist="38100" dir="2700000" algn="tl">
                    <a:srgbClr val="000000">
                      <a:alpha val="43137"/>
                    </a:srgbClr>
                  </a:outerShdw>
                </a:effectLst>
                <a:latin typeface="News Gothic MT" pitchFamily="34" charset="0"/>
              </a:rPr>
              <a:t>(MPS)</a:t>
            </a:r>
          </a:p>
        </p:txBody>
      </p:sp>
      <p:cxnSp>
        <p:nvCxnSpPr>
          <p:cNvPr id="45" name="Elbow Connector 44"/>
          <p:cNvCxnSpPr>
            <a:stCxn id="76" idx="3"/>
          </p:cNvCxnSpPr>
          <p:nvPr/>
        </p:nvCxnSpPr>
        <p:spPr bwMode="auto">
          <a:xfrm>
            <a:off x="3387725" y="4804833"/>
            <a:ext cx="387086" cy="591608"/>
          </a:xfrm>
          <a:prstGeom prst="bentConnector2">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sp>
        <p:nvSpPr>
          <p:cNvPr id="91" name="Rectangle 37"/>
          <p:cNvSpPr>
            <a:spLocks noChangeArrowheads="1"/>
          </p:cNvSpPr>
          <p:nvPr/>
        </p:nvSpPr>
        <p:spPr bwMode="auto">
          <a:xfrm>
            <a:off x="2400300" y="5414433"/>
            <a:ext cx="990600" cy="533400"/>
          </a:xfrm>
          <a:prstGeom prst="rect">
            <a:avLst/>
          </a:prstGeom>
          <a:solidFill>
            <a:schemeClr val="accent2"/>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90000"/>
              </a:lnSpc>
            </a:pPr>
            <a:r>
              <a:rPr lang="en-US" sz="1000" b="1" dirty="0">
                <a:solidFill>
                  <a:prstClr val="black"/>
                </a:solidFill>
                <a:latin typeface="News Gothic MT" pitchFamily="34" charset="0"/>
              </a:rPr>
              <a:t>Suppliers</a:t>
            </a:r>
          </a:p>
        </p:txBody>
      </p:sp>
      <p:sp>
        <p:nvSpPr>
          <p:cNvPr id="76" name="Rectangle 48"/>
          <p:cNvSpPr>
            <a:spLocks noChangeArrowheads="1"/>
          </p:cNvSpPr>
          <p:nvPr/>
        </p:nvSpPr>
        <p:spPr bwMode="auto">
          <a:xfrm>
            <a:off x="2403475" y="4538133"/>
            <a:ext cx="984250" cy="533400"/>
          </a:xfrm>
          <a:prstGeom prst="rect">
            <a:avLst/>
          </a:prstGeom>
          <a:solidFill>
            <a:schemeClr val="accent3"/>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Material </a:t>
            </a:r>
          </a:p>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Requirements </a:t>
            </a:r>
          </a:p>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Planning </a:t>
            </a:r>
            <a:r>
              <a:rPr lang="en-US" sz="800" dirty="0">
                <a:solidFill>
                  <a:schemeClr val="bg1"/>
                </a:solidFill>
                <a:effectLst>
                  <a:outerShdw blurRad="38100" dist="38100" dir="2700000" algn="tl">
                    <a:srgbClr val="000000">
                      <a:alpha val="43137"/>
                    </a:srgbClr>
                  </a:outerShdw>
                </a:effectLst>
                <a:latin typeface="News Gothic MT" pitchFamily="34" charset="0"/>
              </a:rPr>
              <a:t>(MRP)</a:t>
            </a:r>
          </a:p>
        </p:txBody>
      </p:sp>
      <p:sp>
        <p:nvSpPr>
          <p:cNvPr id="101" name="Right Bracket 100"/>
          <p:cNvSpPr/>
          <p:nvPr/>
        </p:nvSpPr>
        <p:spPr bwMode="auto">
          <a:xfrm flipH="1">
            <a:off x="488969" y="1051982"/>
            <a:ext cx="256095" cy="2300818"/>
          </a:xfrm>
          <a:prstGeom prst="rightBracket">
            <a:avLst/>
          </a:prstGeom>
          <a:noFill/>
          <a:ln w="28575" cap="flat" cmpd="sng" algn="ctr">
            <a:solidFill>
              <a:srgbClr val="923222"/>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US">
              <a:solidFill>
                <a:srgbClr val="923222"/>
              </a:solidFill>
            </a:endParaRPr>
          </a:p>
        </p:txBody>
      </p:sp>
      <p:sp>
        <p:nvSpPr>
          <p:cNvPr id="103" name="Right Bracket 102"/>
          <p:cNvSpPr/>
          <p:nvPr/>
        </p:nvSpPr>
        <p:spPr bwMode="auto">
          <a:xfrm flipH="1">
            <a:off x="488969" y="3390900"/>
            <a:ext cx="256095" cy="956733"/>
          </a:xfrm>
          <a:prstGeom prst="rightBracket">
            <a:avLst/>
          </a:prstGeom>
          <a:noFill/>
          <a:ln w="28575" cap="flat" cmpd="sng" algn="ctr">
            <a:solidFill>
              <a:srgbClr val="923222"/>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US">
              <a:solidFill>
                <a:srgbClr val="923222"/>
              </a:solidFill>
            </a:endParaRPr>
          </a:p>
        </p:txBody>
      </p:sp>
      <p:sp>
        <p:nvSpPr>
          <p:cNvPr id="105" name="Right Bracket 104"/>
          <p:cNvSpPr/>
          <p:nvPr/>
        </p:nvSpPr>
        <p:spPr bwMode="auto">
          <a:xfrm flipH="1">
            <a:off x="488971" y="4396317"/>
            <a:ext cx="256095" cy="2385483"/>
          </a:xfrm>
          <a:prstGeom prst="rightBracket">
            <a:avLst/>
          </a:prstGeom>
          <a:noFill/>
          <a:ln w="28575" cap="flat" cmpd="sng" algn="ctr">
            <a:solidFill>
              <a:srgbClr val="923222"/>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US">
              <a:solidFill>
                <a:srgbClr val="923222"/>
              </a:solidFill>
            </a:endParaRPr>
          </a:p>
        </p:txBody>
      </p:sp>
      <p:sp>
        <p:nvSpPr>
          <p:cNvPr id="106" name="Rectangle 3"/>
          <p:cNvSpPr txBox="1">
            <a:spLocks noChangeArrowheads="1"/>
          </p:cNvSpPr>
          <p:nvPr/>
        </p:nvSpPr>
        <p:spPr bwMode="auto">
          <a:xfrm>
            <a:off x="234951" y="2017476"/>
            <a:ext cx="520697" cy="384647"/>
          </a:xfrm>
          <a:prstGeom prst="rect">
            <a:avLst/>
          </a:prstGeom>
          <a:solidFill>
            <a:schemeClr val="bg1"/>
          </a:solidFill>
          <a:ln>
            <a:noFill/>
            <a:miter lim="800000"/>
            <a:headEnd/>
            <a:tailEnd/>
          </a:ln>
        </p:spPr>
        <p:txBody>
          <a:bodyPr vert="horz" wrap="square" lIns="0" tIns="0" rIns="0" bIns="0" numCol="1" anchor="ctr" anchorCtr="1" compatLnSpc="1">
            <a:prstTxWarp prst="textNoShape">
              <a:avLst/>
            </a:prstTxWarp>
          </a:bodyPr>
          <a:lstStyle/>
          <a:p>
            <a:pPr algn="ctr" defTabSz="855663" eaLnBrk="0" hangingPunct="0">
              <a:lnSpc>
                <a:spcPct val="90000"/>
              </a:lnSpc>
              <a:spcBef>
                <a:spcPts val="0"/>
              </a:spcBef>
              <a:spcAft>
                <a:spcPts val="0"/>
              </a:spcAft>
              <a:buClr>
                <a:prstClr val="black"/>
              </a:buClr>
              <a:buFont typeface="Monotype Sorts" charset="0"/>
              <a:buNone/>
              <a:defRPr/>
            </a:pPr>
            <a:r>
              <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rPr>
              <a:t>Long</a:t>
            </a:r>
          </a:p>
          <a:p>
            <a:pPr algn="ctr" defTabSz="855663" eaLnBrk="0" hangingPunct="0">
              <a:lnSpc>
                <a:spcPct val="90000"/>
              </a:lnSpc>
              <a:spcBef>
                <a:spcPts val="0"/>
              </a:spcBef>
              <a:spcAft>
                <a:spcPts val="0"/>
              </a:spcAft>
              <a:buClr>
                <a:prstClr val="black"/>
              </a:buClr>
              <a:buFont typeface="Monotype Sorts" charset="0"/>
              <a:buNone/>
              <a:defRPr/>
            </a:pPr>
            <a:r>
              <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rPr>
              <a:t>Range</a:t>
            </a:r>
          </a:p>
        </p:txBody>
      </p:sp>
      <p:sp>
        <p:nvSpPr>
          <p:cNvPr id="109" name="Rectangle 3"/>
          <p:cNvSpPr txBox="1">
            <a:spLocks noChangeArrowheads="1"/>
          </p:cNvSpPr>
          <p:nvPr/>
        </p:nvSpPr>
        <p:spPr bwMode="auto">
          <a:xfrm>
            <a:off x="76200" y="3657600"/>
            <a:ext cx="836082" cy="384647"/>
          </a:xfrm>
          <a:prstGeom prst="rect">
            <a:avLst/>
          </a:prstGeom>
          <a:solidFill>
            <a:schemeClr val="bg1"/>
          </a:solidFill>
          <a:ln>
            <a:noFill/>
            <a:miter lim="800000"/>
            <a:headEnd/>
            <a:tailEnd/>
          </a:ln>
        </p:spPr>
        <p:txBody>
          <a:bodyPr vert="horz" wrap="square" lIns="0" tIns="0" rIns="0" bIns="0" numCol="1" anchor="ctr" anchorCtr="1" compatLnSpc="1">
            <a:prstTxWarp prst="textNoShape">
              <a:avLst/>
            </a:prstTxWarp>
          </a:bodyPr>
          <a:lstStyle/>
          <a:p>
            <a:pPr algn="ctr" defTabSz="855663" eaLnBrk="0" hangingPunct="0">
              <a:lnSpc>
                <a:spcPct val="90000"/>
              </a:lnSpc>
              <a:spcBef>
                <a:spcPts val="0"/>
              </a:spcBef>
              <a:spcAft>
                <a:spcPts val="0"/>
              </a:spcAft>
              <a:buClr>
                <a:prstClr val="black"/>
              </a:buClr>
              <a:buFont typeface="Monotype Sorts" charset="0"/>
              <a:buNone/>
              <a:defRPr/>
            </a:pPr>
            <a:r>
              <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rPr>
              <a:t>Intermediate</a:t>
            </a:r>
          </a:p>
          <a:p>
            <a:pPr algn="ctr" defTabSz="855663" eaLnBrk="0" hangingPunct="0">
              <a:lnSpc>
                <a:spcPct val="90000"/>
              </a:lnSpc>
              <a:spcBef>
                <a:spcPts val="0"/>
              </a:spcBef>
              <a:spcAft>
                <a:spcPts val="0"/>
              </a:spcAft>
              <a:buClr>
                <a:prstClr val="black"/>
              </a:buClr>
              <a:buFont typeface="Monotype Sorts" charset="0"/>
              <a:buNone/>
              <a:defRPr/>
            </a:pPr>
            <a:r>
              <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rPr>
              <a:t>Range</a:t>
            </a:r>
          </a:p>
        </p:txBody>
      </p:sp>
      <p:sp>
        <p:nvSpPr>
          <p:cNvPr id="110" name="Rectangle 3"/>
          <p:cNvSpPr txBox="1">
            <a:spLocks noChangeArrowheads="1"/>
          </p:cNvSpPr>
          <p:nvPr/>
        </p:nvSpPr>
        <p:spPr bwMode="auto">
          <a:xfrm>
            <a:off x="237090" y="5408376"/>
            <a:ext cx="520697" cy="384647"/>
          </a:xfrm>
          <a:prstGeom prst="rect">
            <a:avLst/>
          </a:prstGeom>
          <a:solidFill>
            <a:schemeClr val="bg1"/>
          </a:solidFill>
          <a:ln>
            <a:noFill/>
            <a:miter lim="800000"/>
            <a:headEnd/>
            <a:tailEnd/>
          </a:ln>
        </p:spPr>
        <p:txBody>
          <a:bodyPr vert="horz" wrap="square" lIns="0" tIns="0" rIns="0" bIns="0" numCol="1" anchor="ctr" anchorCtr="1" compatLnSpc="1">
            <a:prstTxWarp prst="textNoShape">
              <a:avLst/>
            </a:prstTxWarp>
          </a:bodyPr>
          <a:lstStyle/>
          <a:p>
            <a:pPr algn="ctr" defTabSz="855663" eaLnBrk="0" hangingPunct="0">
              <a:lnSpc>
                <a:spcPct val="90000"/>
              </a:lnSpc>
              <a:spcBef>
                <a:spcPts val="0"/>
              </a:spcBef>
              <a:spcAft>
                <a:spcPts val="0"/>
              </a:spcAft>
              <a:buClr>
                <a:prstClr val="black"/>
              </a:buClr>
              <a:buFont typeface="Monotype Sorts" charset="0"/>
              <a:buNone/>
              <a:defRPr/>
            </a:pPr>
            <a:r>
              <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rPr>
              <a:t>Short</a:t>
            </a:r>
          </a:p>
          <a:p>
            <a:pPr algn="ctr" defTabSz="855663" eaLnBrk="0" hangingPunct="0">
              <a:lnSpc>
                <a:spcPct val="90000"/>
              </a:lnSpc>
              <a:spcBef>
                <a:spcPts val="0"/>
              </a:spcBef>
              <a:spcAft>
                <a:spcPts val="0"/>
              </a:spcAft>
              <a:buClr>
                <a:prstClr val="black"/>
              </a:buClr>
              <a:buFont typeface="Monotype Sorts" charset="0"/>
              <a:buNone/>
              <a:defRPr/>
            </a:pPr>
            <a:r>
              <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rPr>
              <a:t>Range</a:t>
            </a:r>
          </a:p>
        </p:txBody>
      </p:sp>
      <p:sp>
        <p:nvSpPr>
          <p:cNvPr id="5" name="Rectangle 4"/>
          <p:cNvSpPr/>
          <p:nvPr/>
        </p:nvSpPr>
        <p:spPr>
          <a:xfrm>
            <a:off x="7814734" y="1055231"/>
            <a:ext cx="1100666" cy="2246769"/>
          </a:xfrm>
          <a:prstGeom prst="rect">
            <a:avLst/>
          </a:prstGeom>
          <a:solidFill>
            <a:srgbClr val="B9DCFF"/>
          </a:solidFill>
          <a:ln>
            <a:solidFill>
              <a:srgbClr val="002060"/>
            </a:solidFill>
          </a:ln>
          <a:effectLst>
            <a:outerShdw blurRad="50800" dist="38100" dir="2700000" algn="tl" rotWithShape="0">
              <a:prstClr val="black">
                <a:alpha val="40000"/>
              </a:prstClr>
            </a:outerShdw>
          </a:effectLst>
          <a:scene3d>
            <a:camera prst="orthographicFront"/>
            <a:lightRig rig="threePt" dir="t"/>
          </a:scene3d>
          <a:sp3d>
            <a:bevelT/>
          </a:sp3d>
        </p:spPr>
        <p:txBody>
          <a:bodyPr wrap="square">
            <a:spAutoFit/>
          </a:bodyPr>
          <a:lstStyle/>
          <a:p>
            <a:pPr algn="ctr"/>
            <a:r>
              <a:rPr lang="en-US" sz="1400" dirty="0">
                <a:solidFill>
                  <a:srgbClr val="000000"/>
                </a:solidFill>
                <a:effectLst>
                  <a:outerShdw blurRad="38100" dist="38100" dir="2700000" algn="tl">
                    <a:srgbClr val="000000">
                      <a:alpha val="43137"/>
                    </a:srgbClr>
                  </a:outerShdw>
                </a:effectLst>
                <a:latin typeface="Calibri" panose="020F0502020204030204" pitchFamily="34" charset="0"/>
                <a:ea typeface="Times New Roman" panose="02020603050405020304" pitchFamily="18" charset="0"/>
              </a:rPr>
              <a:t>Sequence of supply chain planning processes, from top to bottom, and their relationship to each other. </a:t>
            </a:r>
            <a:endParaRPr lang="en-US" sz="1400" dirty="0">
              <a:effectLst>
                <a:outerShdw blurRad="38100" dist="38100" dir="2700000" algn="tl">
                  <a:srgbClr val="000000">
                    <a:alpha val="43137"/>
                  </a:srgbClr>
                </a:outerShdw>
              </a:effectLst>
              <a:latin typeface="Calibri" panose="020F0502020204030204" pitchFamily="34" charset="0"/>
            </a:endParaRPr>
          </a:p>
        </p:txBody>
      </p:sp>
      <p:cxnSp>
        <p:nvCxnSpPr>
          <p:cNvPr id="6" name="Elbow Connector 5"/>
          <p:cNvCxnSpPr>
            <a:stCxn id="92" idx="2"/>
            <a:endCxn id="137" idx="1"/>
          </p:cNvCxnSpPr>
          <p:nvPr/>
        </p:nvCxnSpPr>
        <p:spPr bwMode="auto">
          <a:xfrm rot="16200000" flipH="1">
            <a:off x="3968750" y="6062133"/>
            <a:ext cx="529167" cy="304799"/>
          </a:xfrm>
          <a:prstGeom prst="bentConnector2">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sp>
        <p:nvSpPr>
          <p:cNvPr id="51" name="Rectangle 3"/>
          <p:cNvSpPr txBox="1">
            <a:spLocks noChangeArrowheads="1"/>
          </p:cNvSpPr>
          <p:nvPr/>
        </p:nvSpPr>
        <p:spPr bwMode="auto">
          <a:xfrm>
            <a:off x="7035799" y="3580342"/>
            <a:ext cx="948267" cy="686858"/>
          </a:xfrm>
          <a:prstGeom prst="rect">
            <a:avLst/>
          </a:prstGeom>
          <a:solidFill>
            <a:schemeClr val="bg1"/>
          </a:solidFill>
          <a:ln>
            <a:noFill/>
            <a:miter lim="800000"/>
            <a:headEnd/>
            <a:tailEnd/>
          </a:ln>
        </p:spPr>
        <p:txBody>
          <a:bodyPr vert="horz" wrap="square" lIns="0" tIns="0" rIns="0" bIns="0" numCol="1" anchor="ctr" anchorCtr="1" compatLnSpc="1">
            <a:prstTxWarp prst="textNoShape">
              <a:avLst/>
            </a:prstTxWarp>
          </a:bodyPr>
          <a:lstStyle/>
          <a:p>
            <a:pPr algn="ctr" defTabSz="855663" eaLnBrk="0" hangingPunct="0">
              <a:lnSpc>
                <a:spcPct val="90000"/>
              </a:lnSpc>
              <a:spcBef>
                <a:spcPts val="0"/>
              </a:spcBef>
              <a:spcAft>
                <a:spcPts val="0"/>
              </a:spcAft>
              <a:buClr>
                <a:prstClr val="black"/>
              </a:buClr>
              <a:buFont typeface="Monotype Sorts" charset="0"/>
              <a:buNone/>
              <a:defRPr/>
            </a:pPr>
            <a:endParaRPr lang="en-US" sz="1200" kern="0" dirty="0">
              <a:solidFill>
                <a:srgbClr val="923222"/>
              </a:solidFill>
              <a:effectLst>
                <a:outerShdw blurRad="38100" dist="38100" dir="2700000" algn="tl">
                  <a:srgbClr val="000000">
                    <a:alpha val="43137"/>
                  </a:srgbClr>
                </a:outerShdw>
              </a:effectLst>
              <a:latin typeface="Calibri" panose="020F0502020204030204" pitchFamily="34" charset="0"/>
            </a:endParaRP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4" name="Slide Number Placeholder 3"/>
          <p:cNvSpPr>
            <a:spLocks noGrp="1"/>
          </p:cNvSpPr>
          <p:nvPr>
            <p:ph type="sldNum" sz="quarter" idx="4"/>
          </p:nvPr>
        </p:nvSpPr>
        <p:spPr/>
        <p:txBody>
          <a:bodyPr/>
          <a:lstStyle/>
          <a:p>
            <a:fld id="{E66AA3EA-0569-43EF-BBA3-83FDB109D582}" type="slidenum">
              <a:rPr lang="en-US" smtClean="0"/>
              <a:pPr/>
              <a:t>21</a:t>
            </a:fld>
            <a:endParaRPr lang="en-US" dirty="0"/>
          </a:p>
        </p:txBody>
      </p:sp>
    </p:spTree>
    <p:extLst>
      <p:ext uri="{BB962C8B-B14F-4D97-AF65-F5344CB8AC3E}">
        <p14:creationId xmlns:p14="http://schemas.microsoft.com/office/powerpoint/2010/main" val="2965891849"/>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 calcmode="lin" valueType="num">
                                      <p:cBhvr additive="base">
                                        <p:cTn id="7" dur="500" fill="hold"/>
                                        <p:tgtEl>
                                          <p:spTgt spid="76"/>
                                        </p:tgtEl>
                                        <p:attrNameLst>
                                          <p:attrName>ppt_x</p:attrName>
                                        </p:attrNameLst>
                                      </p:cBhvr>
                                      <p:tavLst>
                                        <p:tav tm="0">
                                          <p:val>
                                            <p:strVal val="#ppt_x"/>
                                          </p:val>
                                        </p:tav>
                                        <p:tav tm="100000">
                                          <p:val>
                                            <p:strVal val="#ppt_x"/>
                                          </p:val>
                                        </p:tav>
                                      </p:tavLst>
                                    </p:anim>
                                    <p:anim calcmode="lin" valueType="num">
                                      <p:cBhvr additive="base">
                                        <p:cTn id="8"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228600" y="137535"/>
            <a:ext cx="7162800" cy="486929"/>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Material Requirements Planning (MRP)</a:t>
            </a:r>
          </a:p>
        </p:txBody>
      </p:sp>
      <p:sp>
        <p:nvSpPr>
          <p:cNvPr id="31747" name="Rectangle 3"/>
          <p:cNvSpPr>
            <a:spLocks noGrp="1" noChangeArrowheads="1"/>
          </p:cNvSpPr>
          <p:nvPr>
            <p:ph type="body" idx="4294967295"/>
          </p:nvPr>
        </p:nvSpPr>
        <p:spPr>
          <a:xfrm>
            <a:off x="228600" y="990600"/>
            <a:ext cx="8686800" cy="5255684"/>
          </a:xfrm>
        </p:spPr>
        <p:txBody>
          <a:bodyPr/>
          <a:lstStyle/>
          <a:p>
            <a:pPr marL="3175" indent="0">
              <a:lnSpc>
                <a:spcPct val="90000"/>
              </a:lnSpc>
              <a:spcBef>
                <a:spcPts val="600"/>
              </a:spcBef>
              <a:spcAft>
                <a:spcPts val="1200"/>
              </a:spcAft>
              <a:buFontTx/>
              <a:buNone/>
            </a:pPr>
            <a:r>
              <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MRP</a:t>
            </a:r>
            <a:r>
              <a:rPr lang="en-US" altLang="en-US" sz="2400" b="1" dirty="0">
                <a:solidFill>
                  <a:srgbClr val="FF6600"/>
                </a:solidFill>
                <a:latin typeface="Calibri" panose="020F0502020204030204" pitchFamily="34" charset="0"/>
                <a:ea typeface="ＭＳ Ｐゴシック" panose="020B0600070205080204" pitchFamily="34" charset="-128"/>
              </a:rPr>
              <a:t> </a:t>
            </a:r>
            <a:r>
              <a:rPr lang="en-US" altLang="en-US" sz="2400" dirty="0">
                <a:latin typeface="Calibri" panose="020F0502020204030204" pitchFamily="34" charset="0"/>
                <a:ea typeface="ＭＳ Ｐゴシック" panose="020B0600070205080204" pitchFamily="34" charset="-128"/>
              </a:rPr>
              <a:t>- </a:t>
            </a:r>
            <a:r>
              <a:rPr lang="en-US" altLang="en-US" sz="2400" dirty="0">
                <a:solidFill>
                  <a:schemeClr val="bg2"/>
                </a:solidFill>
                <a:latin typeface="Calibri" panose="020F0502020204030204" pitchFamily="34" charset="0"/>
                <a:ea typeface="ＭＳ Ｐゴシック" panose="020B0600070205080204" pitchFamily="34" charset="-128"/>
              </a:rPr>
              <a:t> </a:t>
            </a:r>
            <a:r>
              <a:rPr lang="en-US" altLang="en-US" sz="2400" dirty="0">
                <a:latin typeface="Calibri" panose="020F0502020204030204" pitchFamily="34" charset="0"/>
                <a:ea typeface="ＭＳ Ｐゴシック" panose="020B0600070205080204" pitchFamily="34" charset="-128"/>
              </a:rPr>
              <a:t>A computer-based materials management system that </a:t>
            </a:r>
            <a:r>
              <a:rPr lang="en-US" altLang="en-US" sz="2400" b="1" dirty="0">
                <a:latin typeface="Calibri" panose="020F0502020204030204" pitchFamily="34" charset="0"/>
                <a:ea typeface="ＭＳ Ｐゴシック" panose="020B0600070205080204" pitchFamily="34" charset="-128"/>
              </a:rPr>
              <a:t>calculates the exact quantities</a:t>
            </a:r>
            <a:r>
              <a:rPr lang="en-US" altLang="en-US" sz="2400" dirty="0">
                <a:latin typeface="Calibri" panose="020F0502020204030204" pitchFamily="34" charset="0"/>
                <a:ea typeface="ＭＳ Ｐゴシック" panose="020B0600070205080204" pitchFamily="34" charset="-128"/>
              </a:rPr>
              <a:t>, </a:t>
            </a:r>
            <a:r>
              <a:rPr lang="en-US" altLang="en-US" sz="2400" b="1" u="sng" dirty="0">
                <a:latin typeface="Calibri" panose="020F0502020204030204" pitchFamily="34" charset="0"/>
                <a:ea typeface="ＭＳ Ｐゴシック" panose="020B0600070205080204" pitchFamily="34" charset="-128"/>
              </a:rPr>
              <a:t>need dates</a:t>
            </a:r>
            <a:r>
              <a:rPr lang="en-US" altLang="en-US" sz="2400" dirty="0">
                <a:latin typeface="Calibri" panose="020F0502020204030204" pitchFamily="34" charset="0"/>
                <a:ea typeface="ＭＳ Ｐゴシック" panose="020B0600070205080204" pitchFamily="34" charset="-128"/>
              </a:rPr>
              <a:t>, and </a:t>
            </a:r>
            <a:r>
              <a:rPr lang="en-US" altLang="en-US" sz="2400" u="sng"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planned order releases</a:t>
            </a:r>
            <a:r>
              <a:rPr lang="en-US" altLang="en-US" sz="2400"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 </a:t>
            </a:r>
            <a:r>
              <a:rPr lang="en-US" altLang="en-US" sz="2400" dirty="0">
                <a:latin typeface="Calibri" panose="020F0502020204030204" pitchFamily="34" charset="0"/>
                <a:ea typeface="ＭＳ Ｐゴシック" panose="020B0600070205080204" pitchFamily="34" charset="-128"/>
              </a:rPr>
              <a:t>for subassemblies, component parts and materials required to manufacture a final product.  </a:t>
            </a:r>
          </a:p>
          <a:p>
            <a:pPr marL="3175" indent="0">
              <a:lnSpc>
                <a:spcPct val="90000"/>
              </a:lnSpc>
              <a:spcBef>
                <a:spcPts val="1200"/>
              </a:spcBef>
              <a:spcAft>
                <a:spcPts val="1200"/>
              </a:spcAft>
              <a:buFontTx/>
              <a:buNone/>
            </a:pPr>
            <a:endPar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endParaRPr>
          </a:p>
          <a:p>
            <a:pPr marL="3175" indent="0">
              <a:lnSpc>
                <a:spcPct val="90000"/>
              </a:lnSpc>
              <a:spcBef>
                <a:spcPts val="1200"/>
              </a:spcBef>
              <a:spcAft>
                <a:spcPts val="1200"/>
              </a:spcAft>
              <a:buFontTx/>
              <a:buNone/>
            </a:pPr>
            <a:endPar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endParaRPr>
          </a:p>
          <a:p>
            <a:pPr marL="3175" indent="0">
              <a:lnSpc>
                <a:spcPct val="90000"/>
              </a:lnSpc>
              <a:spcBef>
                <a:spcPts val="1200"/>
              </a:spcBef>
              <a:spcAft>
                <a:spcPts val="1200"/>
              </a:spcAft>
              <a:buFontTx/>
              <a:buNone/>
            </a:pPr>
            <a:endPar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endParaRPr>
          </a:p>
          <a:p>
            <a:pPr marL="3175" indent="0">
              <a:lnSpc>
                <a:spcPct val="90000"/>
              </a:lnSpc>
              <a:spcBef>
                <a:spcPts val="1200"/>
              </a:spcBef>
              <a:spcAft>
                <a:spcPts val="1200"/>
              </a:spcAft>
              <a:buFontTx/>
              <a:buNone/>
            </a:pPr>
            <a:endPar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endParaRP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5145" t="5160" r="5837" b="18232"/>
          <a:stretch/>
        </p:blipFill>
        <p:spPr>
          <a:xfrm>
            <a:off x="5599611" y="2728889"/>
            <a:ext cx="3429000" cy="2009822"/>
          </a:xfrm>
          <a:prstGeom prst="rect">
            <a:avLst/>
          </a:prstGeom>
        </p:spPr>
      </p:pic>
      <p:sp>
        <p:nvSpPr>
          <p:cNvPr id="5" name="Rectangle 4"/>
          <p:cNvSpPr/>
          <p:nvPr/>
        </p:nvSpPr>
        <p:spPr>
          <a:xfrm>
            <a:off x="228600" y="2410361"/>
            <a:ext cx="5362303" cy="2923877"/>
          </a:xfrm>
          <a:prstGeom prst="rect">
            <a:avLst/>
          </a:prstGeom>
        </p:spPr>
        <p:txBody>
          <a:bodyPr wrap="square">
            <a:spAutoFit/>
          </a:bodyPr>
          <a:lstStyle/>
          <a:p>
            <a:pPr marL="3175" indent="0">
              <a:lnSpc>
                <a:spcPct val="90000"/>
              </a:lnSpc>
              <a:spcBef>
                <a:spcPts val="600"/>
              </a:spcBef>
              <a:spcAft>
                <a:spcPts val="1200"/>
              </a:spcAft>
              <a:buFontTx/>
              <a:buNone/>
            </a:pPr>
            <a:r>
              <a:rPr lang="en-US" altLang="en-US" sz="2000" dirty="0">
                <a:latin typeface="Calibri" panose="020F0502020204030204" pitchFamily="34" charset="0"/>
                <a:ea typeface="ＭＳ Ｐゴシック" panose="020B0600070205080204" pitchFamily="34" charset="-128"/>
              </a:rPr>
              <a:t>MRP requires:</a:t>
            </a:r>
          </a:p>
          <a:p>
            <a:pPr marL="703262" lvl="2" indent="-342900">
              <a:lnSpc>
                <a:spcPct val="90000"/>
              </a:lnSpc>
              <a:spcBef>
                <a:spcPts val="0"/>
              </a:spcBef>
              <a:spcAft>
                <a:spcPts val="1200"/>
              </a:spcAft>
              <a:buFont typeface="+mj-lt"/>
              <a:buAutoNum type="arabicPeriod"/>
            </a:pPr>
            <a:r>
              <a:rPr lang="en-US" altLang="en-US" sz="2000" dirty="0">
                <a:latin typeface="Calibri" panose="020F0502020204030204" pitchFamily="34" charset="0"/>
                <a:ea typeface="ＭＳ Ｐゴシック" panose="020B0600070205080204" pitchFamily="34" charset="-128"/>
              </a:rPr>
              <a:t>The </a:t>
            </a:r>
            <a:r>
              <a:rPr lang="en-US" altLang="en-US" sz="2000" b="1" u="sng" dirty="0">
                <a:latin typeface="Calibri" panose="020F0502020204030204" pitchFamily="34" charset="0"/>
                <a:ea typeface="ＭＳ Ｐゴシック" panose="020B0600070205080204" pitchFamily="34" charset="-128"/>
              </a:rPr>
              <a:t>independent demand </a:t>
            </a:r>
            <a:r>
              <a:rPr lang="en-US" altLang="en-US" sz="2000" dirty="0">
                <a:latin typeface="Calibri" panose="020F0502020204030204" pitchFamily="34" charset="0"/>
                <a:ea typeface="ＭＳ Ｐゴシック" panose="020B0600070205080204" pitchFamily="34" charset="-128"/>
              </a:rPr>
              <a:t>information,                         i.e., finished product forecast</a:t>
            </a:r>
          </a:p>
          <a:p>
            <a:pPr marL="703262" lvl="2" indent="-342900">
              <a:lnSpc>
                <a:spcPct val="90000"/>
              </a:lnSpc>
              <a:spcBef>
                <a:spcPts val="0"/>
              </a:spcBef>
              <a:spcAft>
                <a:spcPts val="1200"/>
              </a:spcAft>
              <a:buFont typeface="+mj-lt"/>
              <a:buAutoNum type="arabicPeriod"/>
            </a:pPr>
            <a:r>
              <a:rPr lang="en-US" altLang="en-US" sz="2000" b="1" u="sng" dirty="0">
                <a:latin typeface="Calibri" panose="020F0502020204030204" pitchFamily="34" charset="0"/>
                <a:ea typeface="ＭＳ Ｐゴシック" panose="020B0600070205080204" pitchFamily="34" charset="-128"/>
              </a:rPr>
              <a:t>Parent-component relationships from BOM</a:t>
            </a:r>
          </a:p>
          <a:p>
            <a:pPr marL="703262" lvl="2" indent="-342900">
              <a:lnSpc>
                <a:spcPct val="90000"/>
              </a:lnSpc>
              <a:spcBef>
                <a:spcPts val="0"/>
              </a:spcBef>
              <a:spcAft>
                <a:spcPts val="1200"/>
              </a:spcAft>
              <a:buFont typeface="+mj-lt"/>
              <a:buAutoNum type="arabicPeriod"/>
            </a:pPr>
            <a:r>
              <a:rPr lang="en-US" altLang="en-US" sz="2000" b="1" u="sng" dirty="0">
                <a:latin typeface="Calibri" panose="020F0502020204030204" pitchFamily="34" charset="0"/>
                <a:ea typeface="ＭＳ Ｐゴシック" panose="020B0600070205080204" pitchFamily="34" charset="-128"/>
              </a:rPr>
              <a:t>Inventory status </a:t>
            </a:r>
            <a:r>
              <a:rPr lang="en-US" altLang="en-US" sz="2000" dirty="0">
                <a:latin typeface="Calibri" panose="020F0502020204030204" pitchFamily="34" charset="0"/>
                <a:ea typeface="ＭＳ Ｐゴシック" panose="020B0600070205080204" pitchFamily="34" charset="-128"/>
              </a:rPr>
              <a:t>of final product and each of the components and materials. </a:t>
            </a:r>
          </a:p>
          <a:p>
            <a:pPr marL="703262" lvl="2" indent="-342900">
              <a:lnSpc>
                <a:spcPct val="90000"/>
              </a:lnSpc>
              <a:spcBef>
                <a:spcPts val="0"/>
              </a:spcBef>
              <a:spcAft>
                <a:spcPts val="1200"/>
              </a:spcAft>
              <a:buFont typeface="+mj-lt"/>
              <a:buAutoNum type="arabicPeriod"/>
            </a:pPr>
            <a:r>
              <a:rPr lang="en-US" altLang="en-US" sz="2000" b="1" u="sng" dirty="0">
                <a:latin typeface="Calibri" panose="020F0502020204030204" pitchFamily="34" charset="0"/>
                <a:ea typeface="ＭＳ Ｐゴシック" panose="020B0600070205080204" pitchFamily="34" charset="-128"/>
              </a:rPr>
              <a:t>Planned order releases (output of MRP) </a:t>
            </a: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4" name="Slide Number Placeholder 3"/>
          <p:cNvSpPr>
            <a:spLocks noGrp="1"/>
          </p:cNvSpPr>
          <p:nvPr>
            <p:ph type="sldNum" sz="quarter" idx="4"/>
          </p:nvPr>
        </p:nvSpPr>
        <p:spPr/>
        <p:txBody>
          <a:bodyPr/>
          <a:lstStyle/>
          <a:p>
            <a:fld id="{E66AA3EA-0569-43EF-BBA3-83FDB109D582}" type="slidenum">
              <a:rPr lang="en-US" smtClean="0"/>
              <a:pPr/>
              <a:t>22</a:t>
            </a:fld>
            <a:endParaRPr lang="en-US" dirty="0"/>
          </a:p>
        </p:txBody>
      </p:sp>
    </p:spTree>
    <p:extLst>
      <p:ext uri="{BB962C8B-B14F-4D97-AF65-F5344CB8AC3E}">
        <p14:creationId xmlns:p14="http://schemas.microsoft.com/office/powerpoint/2010/main" val="672633837"/>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 calcmode="lin" valueType="num">
                                      <p:cBhvr additive="base">
                                        <p:cTn id="7" dur="500" fill="hold"/>
                                        <p:tgtEl>
                                          <p:spTgt spid="317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7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 calcmode="lin" valueType="num">
                                      <p:cBhvr additive="base">
                                        <p:cTn id="1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 calcmode="lin" valueType="num">
                                      <p:cBhvr additive="base">
                                        <p:cTn id="2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 calcmode="lin" valueType="num">
                                      <p:cBhvr additive="base">
                                        <p:cTn id="2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type="body" idx="4294967295"/>
          </p:nvPr>
        </p:nvSpPr>
        <p:spPr>
          <a:xfrm>
            <a:off x="228600" y="914400"/>
            <a:ext cx="8686800" cy="5662084"/>
          </a:xfrm>
        </p:spPr>
        <p:txBody>
          <a:bodyPr/>
          <a:lstStyle/>
          <a:p>
            <a:pPr marL="347663" lvl="1" indent="-347663">
              <a:lnSpc>
                <a:spcPct val="90000"/>
              </a:lnSpc>
              <a:spcBef>
                <a:spcPts val="1000"/>
              </a:spcBef>
              <a:spcAft>
                <a:spcPts val="1000"/>
              </a:spcAft>
              <a:buClr>
                <a:srgbClr val="923222"/>
              </a:buClr>
              <a:buSzPct val="110000"/>
              <a:buFont typeface="Wingdings" panose="05000000000000000000" pitchFamily="2" charset="2"/>
              <a:buChar char="§"/>
            </a:pPr>
            <a:r>
              <a:rPr lang="en-US" altLang="en-US" sz="20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Gross Requirement </a:t>
            </a:r>
            <a:r>
              <a:rPr lang="en-US" altLang="en-US" sz="2000" dirty="0">
                <a:latin typeface="Calibri" panose="020F0502020204030204" pitchFamily="34" charset="0"/>
                <a:ea typeface="ＭＳ Ｐゴシック" panose="020B0600070205080204" pitchFamily="34" charset="-128"/>
              </a:rPr>
              <a:t>– A time-phased </a:t>
            </a:r>
            <a:r>
              <a:rPr lang="en-US" altLang="en-US" sz="2000" u="sng" dirty="0">
                <a:latin typeface="Calibri" panose="020F0502020204030204" pitchFamily="34" charset="0"/>
                <a:ea typeface="ＭＳ Ｐゴシック" panose="020B0600070205080204" pitchFamily="34" charset="-128"/>
              </a:rPr>
              <a:t>requirement prior to netting out on-hand inventory</a:t>
            </a:r>
            <a:r>
              <a:rPr lang="en-US" altLang="en-US" sz="2000" dirty="0">
                <a:latin typeface="Calibri" panose="020F0502020204030204" pitchFamily="34" charset="0"/>
                <a:ea typeface="ＭＳ Ｐゴシック" panose="020B0600070205080204" pitchFamily="34" charset="-128"/>
              </a:rPr>
              <a:t> and lead-time</a:t>
            </a:r>
          </a:p>
          <a:p>
            <a:pPr marL="347663" lvl="1" indent="-347663" algn="ctr">
              <a:lnSpc>
                <a:spcPct val="90000"/>
              </a:lnSpc>
              <a:spcBef>
                <a:spcPts val="1000"/>
              </a:spcBef>
              <a:spcAft>
                <a:spcPts val="1000"/>
              </a:spcAft>
              <a:buClr>
                <a:srgbClr val="923222"/>
              </a:buClr>
              <a:buSzPct val="110000"/>
              <a:buFont typeface="Wingdings" panose="05000000000000000000" pitchFamily="2" charset="2"/>
              <a:buChar char="§"/>
            </a:pPr>
            <a:r>
              <a:rPr lang="en-US" altLang="en-US" sz="20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Net Requirement </a:t>
            </a:r>
            <a:r>
              <a:rPr lang="en-US" altLang="en-US" sz="2000" dirty="0">
                <a:latin typeface="Calibri" panose="020F0502020204030204" pitchFamily="34" charset="0"/>
                <a:ea typeface="ＭＳ Ｐゴシック" panose="020B0600070205080204" pitchFamily="34" charset="-128"/>
              </a:rPr>
              <a:t>– The unsatisfied item requirement for a specific time period.   </a:t>
            </a:r>
            <a:r>
              <a:rPr lang="en-US" altLang="en-US" sz="2000" u="sng" dirty="0">
                <a:latin typeface="Calibri" panose="020F0502020204030204" pitchFamily="34" charset="0"/>
                <a:ea typeface="ＭＳ Ｐゴシック" panose="020B0600070205080204" pitchFamily="34" charset="-128"/>
              </a:rPr>
              <a:t>Gross requirement for period </a:t>
            </a:r>
            <a:r>
              <a:rPr lang="en-US" altLang="en-US" sz="2000" i="1" u="sng" dirty="0">
                <a:latin typeface="Calibri" panose="020F0502020204030204" pitchFamily="34" charset="0"/>
                <a:ea typeface="ＭＳ Ｐゴシック" panose="020B0600070205080204" pitchFamily="34" charset="-128"/>
              </a:rPr>
              <a:t>minus</a:t>
            </a:r>
            <a:r>
              <a:rPr lang="en-US" altLang="en-US" sz="2000" u="sng" dirty="0">
                <a:latin typeface="Calibri" panose="020F0502020204030204" pitchFamily="34" charset="0"/>
                <a:ea typeface="ＭＳ Ｐゴシック" panose="020B0600070205080204" pitchFamily="34" charset="-128"/>
              </a:rPr>
              <a:t> current on-hand inventory</a:t>
            </a:r>
            <a:r>
              <a:rPr lang="en-US" altLang="en-US" sz="2000" dirty="0">
                <a:latin typeface="Calibri" panose="020F0502020204030204" pitchFamily="34" charset="0"/>
                <a:ea typeface="ＭＳ Ｐゴシック" panose="020B0600070205080204" pitchFamily="34" charset="-128"/>
              </a:rPr>
              <a:t>.</a:t>
            </a:r>
          </a:p>
          <a:p>
            <a:pPr marL="347663" lvl="1" indent="-347663">
              <a:lnSpc>
                <a:spcPct val="90000"/>
              </a:lnSpc>
              <a:spcBef>
                <a:spcPts val="1000"/>
              </a:spcBef>
              <a:spcAft>
                <a:spcPts val="1000"/>
              </a:spcAft>
              <a:buClr>
                <a:srgbClr val="923222"/>
              </a:buClr>
              <a:buSzPct val="110000"/>
              <a:buFont typeface="Wingdings" panose="05000000000000000000" pitchFamily="2" charset="2"/>
              <a:buChar char="§"/>
            </a:pPr>
            <a:r>
              <a:rPr lang="en-US" altLang="en-US" sz="20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Projected On-Hand Inventory </a:t>
            </a:r>
            <a:r>
              <a:rPr lang="en-US" altLang="en-US" sz="2000" dirty="0">
                <a:latin typeface="Calibri" panose="020F0502020204030204" pitchFamily="34" charset="0"/>
                <a:ea typeface="ＭＳ Ｐゴシック" panose="020B0600070205080204" pitchFamily="34" charset="-128"/>
              </a:rPr>
              <a:t>– Projected closing inventory at end of a period. Beginning inventory </a:t>
            </a:r>
            <a:r>
              <a:rPr lang="en-US" altLang="en-US" sz="2000" i="1" u="sng" dirty="0">
                <a:latin typeface="Calibri" panose="020F0502020204030204" pitchFamily="34" charset="0"/>
                <a:ea typeface="ＭＳ Ｐゴシック" panose="020B0600070205080204" pitchFamily="34" charset="-128"/>
              </a:rPr>
              <a:t>minus</a:t>
            </a:r>
            <a:r>
              <a:rPr lang="en-US" altLang="en-US" sz="2000" dirty="0">
                <a:latin typeface="Calibri" panose="020F0502020204030204" pitchFamily="34" charset="0"/>
                <a:ea typeface="ＭＳ Ｐゴシック" panose="020B0600070205080204" pitchFamily="34" charset="-128"/>
              </a:rPr>
              <a:t> gross requirements, </a:t>
            </a:r>
            <a:r>
              <a:rPr lang="en-US" altLang="en-US" sz="2000" i="1" u="sng" dirty="0">
                <a:latin typeface="Calibri" panose="020F0502020204030204" pitchFamily="34" charset="0"/>
                <a:ea typeface="ＭＳ Ｐゴシック" panose="020B0600070205080204" pitchFamily="34" charset="-128"/>
              </a:rPr>
              <a:t>plus</a:t>
            </a:r>
            <a:r>
              <a:rPr lang="en-US" altLang="en-US" sz="2000" dirty="0">
                <a:latin typeface="Calibri" panose="020F0502020204030204" pitchFamily="34" charset="0"/>
                <a:ea typeface="ＭＳ Ｐゴシック" panose="020B0600070205080204" pitchFamily="34" charset="-128"/>
              </a:rPr>
              <a:t> scheduled receipts </a:t>
            </a:r>
            <a:r>
              <a:rPr lang="en-US" altLang="en-US" sz="2000" i="1" u="sng" dirty="0">
                <a:latin typeface="Calibri" panose="020F0502020204030204" pitchFamily="34" charset="0"/>
                <a:ea typeface="ＭＳ Ｐゴシック" panose="020B0600070205080204" pitchFamily="34" charset="-128"/>
              </a:rPr>
              <a:t>plus</a:t>
            </a:r>
            <a:r>
              <a:rPr lang="en-US" altLang="en-US" sz="2000" dirty="0">
                <a:latin typeface="Calibri" panose="020F0502020204030204" pitchFamily="34" charset="0"/>
                <a:ea typeface="ＭＳ Ｐゴシック" panose="020B0600070205080204" pitchFamily="34" charset="-128"/>
              </a:rPr>
              <a:t> planned receipts from planned order releases.</a:t>
            </a:r>
          </a:p>
          <a:p>
            <a:pPr marL="347663" lvl="1" indent="-347663">
              <a:lnSpc>
                <a:spcPct val="90000"/>
              </a:lnSpc>
              <a:spcBef>
                <a:spcPts val="1000"/>
              </a:spcBef>
              <a:spcAft>
                <a:spcPts val="1000"/>
              </a:spcAft>
              <a:buClr>
                <a:srgbClr val="923222"/>
              </a:buClr>
              <a:buSzPct val="110000"/>
              <a:buFont typeface="Wingdings" panose="05000000000000000000" pitchFamily="2" charset="2"/>
              <a:buChar char="§"/>
            </a:pPr>
            <a:r>
              <a:rPr lang="en-US" altLang="en-US" sz="20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Planned Order Release </a:t>
            </a:r>
            <a:r>
              <a:rPr lang="en-US" altLang="en-US" sz="2000" dirty="0">
                <a:latin typeface="Calibri" panose="020F0502020204030204" pitchFamily="34" charset="0"/>
                <a:ea typeface="ＭＳ Ｐゴシック" panose="020B0600070205080204" pitchFamily="34" charset="-128"/>
              </a:rPr>
              <a:t>– A specific order for a specific item and quantity to be released to the shop or to the supplier.</a:t>
            </a:r>
          </a:p>
          <a:p>
            <a:pPr marL="347663" lvl="1" indent="-347663">
              <a:lnSpc>
                <a:spcPct val="90000"/>
              </a:lnSpc>
              <a:spcBef>
                <a:spcPts val="1000"/>
              </a:spcBef>
              <a:spcAft>
                <a:spcPts val="0"/>
              </a:spcAft>
              <a:buClr>
                <a:srgbClr val="923222"/>
              </a:buClr>
              <a:buSzPct val="110000"/>
              <a:buFont typeface="Wingdings" panose="05000000000000000000" pitchFamily="2" charset="2"/>
              <a:buChar char="§"/>
            </a:pPr>
            <a:r>
              <a:rPr lang="en-US" altLang="en-US" sz="20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Firmed Planned Order </a:t>
            </a:r>
            <a:r>
              <a:rPr lang="en-US" altLang="en-US" sz="2000" dirty="0">
                <a:latin typeface="Calibri" panose="020F0502020204030204" pitchFamily="34" charset="0"/>
                <a:ea typeface="ＭＳ Ｐゴシック" panose="020B0600070205080204" pitchFamily="34" charset="-128"/>
              </a:rPr>
              <a:t>– </a:t>
            </a:r>
            <a:r>
              <a:rPr lang="en-US" altLang="en-US" sz="2000" u="sng" dirty="0">
                <a:latin typeface="Calibri" panose="020F0502020204030204" pitchFamily="34" charset="0"/>
                <a:ea typeface="ＭＳ Ｐゴシック" panose="020B0600070205080204" pitchFamily="34" charset="-128"/>
              </a:rPr>
              <a:t>A planned order that can be frozen </a:t>
            </a:r>
            <a:r>
              <a:rPr lang="en-US" altLang="en-US" sz="2000" dirty="0">
                <a:latin typeface="Calibri" panose="020F0502020204030204" pitchFamily="34" charset="0"/>
                <a:ea typeface="ＭＳ Ｐゴシック" panose="020B0600070205080204" pitchFamily="34" charset="-128"/>
              </a:rPr>
              <a:t>in quantity and time so that the MRP computer logic cannot automatically change when conditions change.  Established by the Planner or Supply Chain Manager to prevent system nervousness.  This can aid planners working with MRP systems to respond to material and capacity problems by firming up selected planned orders.</a:t>
            </a:r>
          </a:p>
          <a:p>
            <a:pPr marL="347663" lvl="1" indent="-347663">
              <a:lnSpc>
                <a:spcPct val="90000"/>
              </a:lnSpc>
              <a:spcBef>
                <a:spcPts val="1000"/>
              </a:spcBef>
              <a:spcAft>
                <a:spcPts val="1000"/>
              </a:spcAft>
              <a:buClr>
                <a:srgbClr val="923222"/>
              </a:buClr>
              <a:buSzPct val="110000"/>
              <a:buFont typeface="Wingdings" panose="05000000000000000000" pitchFamily="2" charset="2"/>
              <a:buChar char="§"/>
            </a:pPr>
            <a:r>
              <a:rPr lang="en-US" altLang="en-US" sz="20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Scheduled Receipt </a:t>
            </a:r>
            <a:r>
              <a:rPr lang="en-US" altLang="en-US" sz="2000" dirty="0">
                <a:latin typeface="Calibri" panose="020F0502020204030204" pitchFamily="34" charset="0"/>
                <a:ea typeface="ＭＳ Ｐゴシック" panose="020B0600070205080204" pitchFamily="34" charset="-128"/>
              </a:rPr>
              <a:t>– </a:t>
            </a:r>
            <a:r>
              <a:rPr lang="en-US" altLang="en-US" sz="2000" u="sng" dirty="0">
                <a:latin typeface="Calibri" panose="020F0502020204030204" pitchFamily="34" charset="0"/>
                <a:ea typeface="ＭＳ Ｐゴシック" panose="020B0600070205080204" pitchFamily="34" charset="-128"/>
              </a:rPr>
              <a:t>A committed order awaiting delivery </a:t>
            </a:r>
            <a:r>
              <a:rPr lang="en-US" altLang="en-US" sz="2000" dirty="0">
                <a:latin typeface="Calibri" panose="020F0502020204030204" pitchFamily="34" charset="0"/>
                <a:ea typeface="ＭＳ Ｐゴシック" panose="020B0600070205080204" pitchFamily="34" charset="-128"/>
              </a:rPr>
              <a:t>for a specific period.</a:t>
            </a:r>
          </a:p>
        </p:txBody>
      </p:sp>
      <p:sp>
        <p:nvSpPr>
          <p:cNvPr id="32771" name="Rectangle 5"/>
          <p:cNvSpPr>
            <a:spLocks noGrp="1" noChangeArrowheads="1"/>
          </p:cNvSpPr>
          <p:nvPr>
            <p:ph type="title" idx="4294967295"/>
          </p:nvPr>
        </p:nvSpPr>
        <p:spPr>
          <a:xfrm>
            <a:off x="228600" y="137535"/>
            <a:ext cx="7162800" cy="486929"/>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Terms Used in MRP</a:t>
            </a: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3" name="Slide Number Placeholder 2"/>
          <p:cNvSpPr>
            <a:spLocks noGrp="1"/>
          </p:cNvSpPr>
          <p:nvPr>
            <p:ph type="sldNum" sz="quarter" idx="4"/>
          </p:nvPr>
        </p:nvSpPr>
        <p:spPr/>
        <p:txBody>
          <a:bodyPr/>
          <a:lstStyle/>
          <a:p>
            <a:fld id="{E66AA3EA-0569-43EF-BBA3-83FDB109D582}" type="slidenum">
              <a:rPr lang="en-US" smtClean="0"/>
              <a:pPr/>
              <a:t>23</a:t>
            </a:fld>
            <a:endParaRPr lang="en-US" dirty="0"/>
          </a:p>
        </p:txBody>
      </p:sp>
    </p:spTree>
    <p:extLst>
      <p:ext uri="{BB962C8B-B14F-4D97-AF65-F5344CB8AC3E}">
        <p14:creationId xmlns:p14="http://schemas.microsoft.com/office/powerpoint/2010/main" val="988150543"/>
      </p:ext>
    </p:extLst>
  </p:cSld>
  <p:clrMapOvr>
    <a:masterClrMapping/>
  </p:clrMapOvr>
  <p:transition spd="slow">
    <p:pull dir="l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a:off x="228600" y="132598"/>
            <a:ext cx="7018338"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Terms Used in MRP </a:t>
            </a:r>
            <a:r>
              <a:rPr lang="en-US" altLang="en-US" sz="2000" b="0" i="1"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(continued)</a:t>
            </a:r>
          </a:p>
        </p:txBody>
      </p:sp>
      <p:sp>
        <p:nvSpPr>
          <p:cNvPr id="33795" name="Rectangle 3"/>
          <p:cNvSpPr>
            <a:spLocks noGrp="1" noChangeArrowheads="1"/>
          </p:cNvSpPr>
          <p:nvPr>
            <p:ph type="body" idx="4294967295"/>
          </p:nvPr>
        </p:nvSpPr>
        <p:spPr>
          <a:xfrm>
            <a:off x="228600" y="914400"/>
            <a:ext cx="8686800" cy="5867400"/>
          </a:xfrm>
        </p:spPr>
        <p:txBody>
          <a:bodyPr/>
          <a:lstStyle/>
          <a:p>
            <a:pPr marL="347663" lvl="1" indent="-347663">
              <a:lnSpc>
                <a:spcPct val="80000"/>
              </a:lnSpc>
              <a:spcBef>
                <a:spcPts val="1200"/>
              </a:spcBef>
              <a:spcAft>
                <a:spcPts val="1000"/>
              </a:spcAft>
              <a:buClr>
                <a:srgbClr val="923222"/>
              </a:buClr>
              <a:buSzPct val="110000"/>
              <a:buFont typeface="Wingdings" panose="05000000000000000000" pitchFamily="2" charset="2"/>
              <a:buChar char="§"/>
            </a:pPr>
            <a:r>
              <a:rPr lang="en-US" altLang="en-US" sz="20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Time Bucket </a:t>
            </a:r>
            <a:r>
              <a:rPr lang="en-US" altLang="en-US" sz="2000" dirty="0">
                <a:latin typeface="Calibri" panose="020F0502020204030204" pitchFamily="34" charset="0"/>
                <a:ea typeface="ＭＳ Ｐゴシック" panose="020B0600070205080204" pitchFamily="34" charset="-128"/>
              </a:rPr>
              <a:t>– </a:t>
            </a:r>
            <a:r>
              <a:rPr lang="en-US" altLang="en-US" sz="2000" u="sng" dirty="0">
                <a:latin typeface="Calibri" panose="020F0502020204030204" pitchFamily="34" charset="0"/>
                <a:ea typeface="ＭＳ Ｐゴシック" panose="020B0600070205080204" pitchFamily="34" charset="-128"/>
              </a:rPr>
              <a:t>Unit of time </a:t>
            </a:r>
            <a:r>
              <a:rPr lang="en-US" altLang="en-US" sz="2000" dirty="0">
                <a:latin typeface="Calibri" panose="020F0502020204030204" pitchFamily="34" charset="0"/>
                <a:ea typeface="ＭＳ Ｐゴシック" panose="020B0600070205080204" pitchFamily="34" charset="-128"/>
              </a:rPr>
              <a:t>/ time period used in MRP, </a:t>
            </a:r>
            <a:r>
              <a:rPr lang="en-US" altLang="en-US" dirty="0">
                <a:latin typeface="Calibri" panose="020F0502020204030204" pitchFamily="34" charset="0"/>
                <a:ea typeface="ＭＳ Ｐゴシック" panose="020B0600070205080204" pitchFamily="34" charset="-128"/>
              </a:rPr>
              <a:t>e.g., days, weeks, months</a:t>
            </a:r>
            <a:endParaRPr lang="en-US" altLang="en-US" sz="2000" dirty="0">
              <a:latin typeface="Calibri" panose="020F0502020204030204" pitchFamily="34" charset="0"/>
              <a:ea typeface="ＭＳ Ｐゴシック" panose="020B0600070205080204" pitchFamily="34" charset="-128"/>
            </a:endParaRPr>
          </a:p>
          <a:p>
            <a:pPr marL="347663" lvl="1" indent="-347663">
              <a:lnSpc>
                <a:spcPct val="80000"/>
              </a:lnSpc>
              <a:spcBef>
                <a:spcPts val="1200"/>
              </a:spcBef>
              <a:spcAft>
                <a:spcPts val="1000"/>
              </a:spcAft>
              <a:buClr>
                <a:srgbClr val="923222"/>
              </a:buClr>
              <a:buSzPct val="110000"/>
              <a:buFont typeface="Wingdings" panose="05000000000000000000" pitchFamily="2" charset="2"/>
              <a:buChar char="§"/>
            </a:pPr>
            <a:r>
              <a:rPr lang="en-US" altLang="en-US" sz="20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Parent </a:t>
            </a:r>
            <a:r>
              <a:rPr lang="en-US" altLang="en-US" sz="2000" dirty="0">
                <a:latin typeface="Calibri" panose="020F0502020204030204" pitchFamily="34" charset="0"/>
                <a:ea typeface="ＭＳ Ｐゴシック" panose="020B0600070205080204" pitchFamily="34" charset="-128"/>
              </a:rPr>
              <a:t>– Item generating demand for lower-level components.</a:t>
            </a:r>
          </a:p>
          <a:p>
            <a:pPr marL="347663" lvl="1" indent="-347663">
              <a:lnSpc>
                <a:spcPct val="80000"/>
              </a:lnSpc>
              <a:spcBef>
                <a:spcPts val="1200"/>
              </a:spcBef>
              <a:spcAft>
                <a:spcPts val="1000"/>
              </a:spcAft>
              <a:buClr>
                <a:srgbClr val="923222"/>
              </a:buClr>
              <a:buSzPct val="110000"/>
              <a:buFont typeface="Wingdings" panose="05000000000000000000" pitchFamily="2" charset="2"/>
              <a:buChar char="§"/>
            </a:pPr>
            <a:r>
              <a:rPr lang="en-US" altLang="en-US" sz="20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Components </a:t>
            </a:r>
            <a:r>
              <a:rPr lang="en-US" altLang="en-US" sz="2000" dirty="0">
                <a:latin typeface="Calibri" panose="020F0502020204030204" pitchFamily="34" charset="0"/>
                <a:ea typeface="ＭＳ Ｐゴシック" panose="020B0600070205080204" pitchFamily="34" charset="-128"/>
              </a:rPr>
              <a:t>– parts demanded by a parent.</a:t>
            </a:r>
          </a:p>
          <a:p>
            <a:pPr marL="347663" lvl="1" indent="-347663">
              <a:lnSpc>
                <a:spcPct val="80000"/>
              </a:lnSpc>
              <a:spcBef>
                <a:spcPts val="1200"/>
              </a:spcBef>
              <a:spcAft>
                <a:spcPts val="1000"/>
              </a:spcAft>
              <a:buClr>
                <a:srgbClr val="923222"/>
              </a:buClr>
              <a:buSzPct val="110000"/>
              <a:buFont typeface="Wingdings" panose="05000000000000000000" pitchFamily="2" charset="2"/>
              <a:buChar char="§"/>
            </a:pPr>
            <a:r>
              <a:rPr lang="en-US" altLang="en-US" sz="20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Planning factor </a:t>
            </a:r>
            <a:r>
              <a:rPr lang="en-US" altLang="en-US" sz="2000" dirty="0">
                <a:latin typeface="Calibri" panose="020F0502020204030204" pitchFamily="34" charset="0"/>
                <a:ea typeface="ＭＳ Ｐゴシック" panose="020B0600070205080204" pitchFamily="34" charset="-128"/>
              </a:rPr>
              <a:t>– The number/quantity of each component or material needed to produce a single unit of the parent item</a:t>
            </a:r>
          </a:p>
          <a:p>
            <a:pPr marL="347663" lvl="1" indent="-347663">
              <a:lnSpc>
                <a:spcPct val="80000"/>
              </a:lnSpc>
              <a:spcBef>
                <a:spcPts val="1200"/>
              </a:spcBef>
              <a:spcAft>
                <a:spcPts val="1000"/>
              </a:spcAft>
              <a:buClr>
                <a:srgbClr val="923222"/>
              </a:buClr>
              <a:buSzPct val="110000"/>
              <a:buFont typeface="Wingdings" panose="05000000000000000000" pitchFamily="2" charset="2"/>
              <a:buChar char="§"/>
            </a:pPr>
            <a:r>
              <a:rPr lang="en-US" altLang="en-US" sz="20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MRP Explosion </a:t>
            </a:r>
            <a:r>
              <a:rPr lang="en-US" altLang="en-US" sz="2000" dirty="0">
                <a:latin typeface="Calibri" panose="020F0502020204030204" pitchFamily="34" charset="0"/>
                <a:ea typeface="ＭＳ Ｐゴシック" panose="020B0600070205080204" pitchFamily="34" charset="-128"/>
              </a:rPr>
              <a:t>– The process of converting a parent item’s planned order releases into component gross requirements</a:t>
            </a:r>
          </a:p>
          <a:p>
            <a:pPr marL="347663" lvl="1" indent="-347663">
              <a:lnSpc>
                <a:spcPct val="80000"/>
              </a:lnSpc>
              <a:spcBef>
                <a:spcPts val="1200"/>
              </a:spcBef>
              <a:spcAft>
                <a:spcPts val="1000"/>
              </a:spcAft>
              <a:buClr>
                <a:srgbClr val="923222"/>
              </a:buClr>
              <a:buSzPct val="110000"/>
              <a:buFont typeface="Wingdings" panose="05000000000000000000" pitchFamily="2" charset="2"/>
              <a:buChar char="§"/>
            </a:pPr>
            <a:r>
              <a:rPr lang="en-US" altLang="en-US" sz="20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Pegging </a:t>
            </a:r>
            <a:r>
              <a:rPr lang="en-US" altLang="en-US" sz="2000" dirty="0">
                <a:latin typeface="Calibri" panose="020F0502020204030204" pitchFamily="34" charset="0"/>
                <a:ea typeface="ＭＳ Ｐゴシック" panose="020B0600070205080204" pitchFamily="34" charset="-128"/>
              </a:rPr>
              <a:t>– Relates the gross requirements for a component part to the planned order releases of the parent item, so as to </a:t>
            </a:r>
            <a:r>
              <a:rPr lang="en-US" altLang="en-US" sz="2000" u="sng" dirty="0">
                <a:latin typeface="Calibri" panose="020F0502020204030204" pitchFamily="34" charset="0"/>
                <a:ea typeface="ＭＳ Ｐゴシック" panose="020B0600070205080204" pitchFamily="34" charset="-128"/>
              </a:rPr>
              <a:t>identify the source(s) of the item’s gross requirements</a:t>
            </a:r>
            <a:r>
              <a:rPr lang="en-US" altLang="en-US" sz="2000" dirty="0">
                <a:latin typeface="Calibri" panose="020F0502020204030204" pitchFamily="34" charset="0"/>
                <a:ea typeface="ＭＳ Ｐゴシック" panose="020B0600070205080204" pitchFamily="34" charset="-128"/>
              </a:rPr>
              <a:t>. Pegging can be thought of as active where-used information. </a:t>
            </a:r>
          </a:p>
          <a:p>
            <a:pPr marL="347663" lvl="1" indent="-347663">
              <a:lnSpc>
                <a:spcPct val="80000"/>
              </a:lnSpc>
              <a:spcBef>
                <a:spcPts val="1200"/>
              </a:spcBef>
              <a:spcAft>
                <a:spcPts val="1000"/>
              </a:spcAft>
              <a:buClr>
                <a:srgbClr val="923222"/>
              </a:buClr>
              <a:buSzPct val="110000"/>
              <a:buFont typeface="Wingdings" panose="05000000000000000000" pitchFamily="2" charset="2"/>
              <a:buChar char="§"/>
            </a:pPr>
            <a:r>
              <a:rPr lang="en-US" altLang="en-US" sz="20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Lot Size </a:t>
            </a:r>
            <a:r>
              <a:rPr lang="en-US" altLang="en-US" sz="2000" dirty="0">
                <a:latin typeface="Calibri" panose="020F0502020204030204" pitchFamily="34" charset="0"/>
                <a:ea typeface="ＭＳ Ｐゴシック" panose="020B0600070205080204" pitchFamily="34" charset="-128"/>
              </a:rPr>
              <a:t>– order size for MRP logic</a:t>
            </a:r>
          </a:p>
          <a:p>
            <a:pPr marL="347663" lvl="1" indent="-347663">
              <a:lnSpc>
                <a:spcPct val="80000"/>
              </a:lnSpc>
              <a:spcBef>
                <a:spcPts val="1200"/>
              </a:spcBef>
              <a:spcAft>
                <a:spcPts val="1000"/>
              </a:spcAft>
              <a:buClr>
                <a:srgbClr val="923222"/>
              </a:buClr>
              <a:buSzPct val="110000"/>
              <a:buFont typeface="Wingdings" panose="05000000000000000000" pitchFamily="2" charset="2"/>
              <a:buChar char="§"/>
            </a:pPr>
            <a:r>
              <a:rPr lang="en-US" altLang="en-US" sz="20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Safety Stock </a:t>
            </a:r>
            <a:r>
              <a:rPr lang="en-US" altLang="en-US" sz="2000" dirty="0">
                <a:latin typeface="Calibri" panose="020F0502020204030204" pitchFamily="34" charset="0"/>
                <a:ea typeface="ＭＳ Ｐゴシック" panose="020B0600070205080204" pitchFamily="34" charset="-128"/>
              </a:rPr>
              <a:t>– a quantity of stock planned to be in inventory to protect against fluctuations in demand or supply. Over planning supply versus demand can be used to create safety stock.</a:t>
            </a: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3" name="Slide Number Placeholder 2"/>
          <p:cNvSpPr>
            <a:spLocks noGrp="1"/>
          </p:cNvSpPr>
          <p:nvPr>
            <p:ph type="sldNum" sz="quarter" idx="4"/>
          </p:nvPr>
        </p:nvSpPr>
        <p:spPr/>
        <p:txBody>
          <a:bodyPr/>
          <a:lstStyle/>
          <a:p>
            <a:fld id="{E66AA3EA-0569-43EF-BBA3-83FDB109D582}" type="slidenum">
              <a:rPr lang="en-US" smtClean="0"/>
              <a:pPr/>
              <a:t>24</a:t>
            </a:fld>
            <a:endParaRPr lang="en-US" dirty="0"/>
          </a:p>
        </p:txBody>
      </p:sp>
    </p:spTree>
    <p:extLst>
      <p:ext uri="{BB962C8B-B14F-4D97-AF65-F5344CB8AC3E}">
        <p14:creationId xmlns:p14="http://schemas.microsoft.com/office/powerpoint/2010/main" val="1370250726"/>
      </p:ext>
    </p:extLst>
  </p:cSld>
  <p:clrMapOvr>
    <a:masterClrMapping/>
  </p:clrMapOvr>
  <p:transition spd="slow">
    <p:pull dir="ru"/>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p:cNvSpPr/>
          <p:nvPr/>
        </p:nvSpPr>
        <p:spPr>
          <a:xfrm>
            <a:off x="143973" y="0"/>
            <a:ext cx="1241878" cy="461665"/>
          </a:xfrm>
          <a:prstGeom prst="rect">
            <a:avLst/>
          </a:prstGeom>
        </p:spPr>
        <p:txBody>
          <a:bodyPr wrap="none">
            <a:spAutoFit/>
          </a:bodyPr>
          <a:lstStyle/>
          <a:p>
            <a:r>
              <a:rPr lang="en-US" altLang="en-US" dirty="0">
                <a:effectLst>
                  <a:outerShdw blurRad="38100" dist="38100" dir="2700000" algn="tl">
                    <a:srgbClr val="C0C0C0"/>
                  </a:outerShdw>
                </a:effectLst>
                <a:latin typeface="Calibri" panose="020F0502020204030204" pitchFamily="34" charset="0"/>
                <a:cs typeface="Arial" charset="0"/>
              </a:rPr>
              <a:t>Example</a:t>
            </a:r>
            <a:endParaRPr lang="en-US" dirty="0"/>
          </a:p>
        </p:txBody>
      </p:sp>
      <p:pic>
        <p:nvPicPr>
          <p:cNvPr id="10" name="Picture 9"/>
          <p:cNvPicPr>
            <a:picLocks noChangeAspect="1"/>
          </p:cNvPicPr>
          <p:nvPr/>
        </p:nvPicPr>
        <p:blipFill>
          <a:blip r:embed="rId2"/>
          <a:stretch>
            <a:fillRect/>
          </a:stretch>
        </p:blipFill>
        <p:spPr>
          <a:xfrm>
            <a:off x="76199" y="110068"/>
            <a:ext cx="8991601" cy="6570132"/>
          </a:xfrm>
          <a:prstGeom prst="rect">
            <a:avLst/>
          </a:prstGeom>
        </p:spPr>
      </p:pic>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3" name="Slide Number Placeholder 2"/>
          <p:cNvSpPr>
            <a:spLocks noGrp="1"/>
          </p:cNvSpPr>
          <p:nvPr>
            <p:ph type="sldNum" sz="quarter" idx="4"/>
          </p:nvPr>
        </p:nvSpPr>
        <p:spPr/>
        <p:txBody>
          <a:bodyPr/>
          <a:lstStyle/>
          <a:p>
            <a:fld id="{E66AA3EA-0569-43EF-BBA3-83FDB109D582}" type="slidenum">
              <a:rPr lang="en-US" smtClean="0"/>
              <a:pPr/>
              <a:t>25</a:t>
            </a:fld>
            <a:endParaRPr lang="en-US" dirty="0"/>
          </a:p>
        </p:txBody>
      </p:sp>
      <p:sp>
        <p:nvSpPr>
          <p:cNvPr id="6" name="TextBox 5"/>
          <p:cNvSpPr txBox="1"/>
          <p:nvPr/>
        </p:nvSpPr>
        <p:spPr>
          <a:xfrm>
            <a:off x="1477435" y="50845"/>
            <a:ext cx="1143000" cy="332399"/>
          </a:xfrm>
          <a:prstGeom prst="rect">
            <a:avLst/>
          </a:prstGeom>
          <a:solidFill>
            <a:srgbClr val="FFFF00"/>
          </a:solidFill>
        </p:spPr>
        <p:txBody>
          <a:bodyPr wrap="square" lIns="0" tIns="0" rIns="0" bIns="0" rtlCol="0">
            <a:spAutoFit/>
          </a:bodyPr>
          <a:lstStyle/>
          <a:p>
            <a:pPr algn="ctr">
              <a:lnSpc>
                <a:spcPct val="90000"/>
              </a:lnSpc>
            </a:pPr>
            <a:r>
              <a:rPr lang="en-US" sz="1200" dirty="0">
                <a:latin typeface="Calibri" panose="020F0502020204030204" pitchFamily="34" charset="0"/>
                <a:cs typeface="Calibri" panose="020F0502020204030204" pitchFamily="34" charset="0"/>
              </a:rPr>
              <a:t>Textbook </a:t>
            </a:r>
          </a:p>
          <a:p>
            <a:pPr algn="ctr">
              <a:lnSpc>
                <a:spcPct val="90000"/>
              </a:lnSpc>
            </a:pPr>
            <a:r>
              <a:rPr lang="en-US" sz="1200" dirty="0">
                <a:latin typeface="Calibri" panose="020F0502020204030204" pitchFamily="34" charset="0"/>
                <a:cs typeface="Calibri" panose="020F0502020204030204" pitchFamily="34" charset="0"/>
              </a:rPr>
              <a:t>Pages 86 - 88</a:t>
            </a:r>
          </a:p>
        </p:txBody>
      </p:sp>
      <p:sp>
        <p:nvSpPr>
          <p:cNvPr id="7" name="TextBox 6"/>
          <p:cNvSpPr txBox="1"/>
          <p:nvPr/>
        </p:nvSpPr>
        <p:spPr>
          <a:xfrm>
            <a:off x="5786967" y="1924278"/>
            <a:ext cx="1337733" cy="184666"/>
          </a:xfrm>
          <a:prstGeom prst="rect">
            <a:avLst/>
          </a:prstGeom>
          <a:solidFill>
            <a:schemeClr val="bg1"/>
          </a:solidFill>
        </p:spPr>
        <p:txBody>
          <a:bodyPr wrap="square" lIns="0" tIns="0" rIns="0" bIns="0" rtlCol="0">
            <a:spAutoFit/>
          </a:bodyPr>
          <a:lstStyle/>
          <a:p>
            <a:pPr algn="ctr"/>
            <a:r>
              <a:rPr lang="en-US" sz="1200" dirty="0">
                <a:solidFill>
                  <a:srgbClr val="923222"/>
                </a:solidFill>
                <a:latin typeface="Calibri" panose="020F0502020204030204" pitchFamily="34" charset="0"/>
                <a:cs typeface="Calibri" panose="020F0502020204030204" pitchFamily="34" charset="0"/>
              </a:rPr>
              <a:t>“MRP explosion”</a:t>
            </a:r>
          </a:p>
        </p:txBody>
      </p:sp>
    </p:spTree>
    <p:extLst>
      <p:ext uri="{BB962C8B-B14F-4D97-AF65-F5344CB8AC3E}">
        <p14:creationId xmlns:p14="http://schemas.microsoft.com/office/powerpoint/2010/main" val="1986704871"/>
      </p:ext>
    </p:extLst>
  </p:cSld>
  <p:clrMapOvr>
    <a:masterClrMapping/>
  </p:clrMapOvr>
  <p:transition spd="slow">
    <p:pull dir="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 name="Object 121"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122" name="Object 12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386" name="Rectangle 122"/>
          <p:cNvSpPr>
            <a:spLocks noGrp="1" noChangeArrowheads="1"/>
          </p:cNvSpPr>
          <p:nvPr>
            <p:ph type="title"/>
          </p:nvPr>
        </p:nvSpPr>
        <p:spPr bwMode="auto">
          <a:xfrm>
            <a:off x="233362" y="127660"/>
            <a:ext cx="8910638"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cs typeface="Arial" charset="0"/>
              </a:rPr>
              <a:t>Supply Chain Planning </a:t>
            </a:r>
            <a:r>
              <a:rPr 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Diagram</a:t>
            </a:r>
          </a:p>
        </p:txBody>
      </p:sp>
      <p:sp>
        <p:nvSpPr>
          <p:cNvPr id="95" name="Rectangle 94"/>
          <p:cNvSpPr/>
          <p:nvPr/>
        </p:nvSpPr>
        <p:spPr bwMode="auto">
          <a:xfrm>
            <a:off x="939801" y="1871133"/>
            <a:ext cx="5054598" cy="1401233"/>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r>
              <a:rPr lang="en-US" sz="1400" b="1" dirty="0">
                <a:effectLst>
                  <a:outerShdw blurRad="38100" dist="38100" dir="2700000" algn="tl">
                    <a:srgbClr val="000000">
                      <a:alpha val="43137"/>
                    </a:srgbClr>
                  </a:outerShdw>
                </a:effectLst>
                <a:latin typeface="News Gothic MT" pitchFamily="34" charset="0"/>
              </a:rPr>
              <a:t>Sales &amp; Operations Planning </a:t>
            </a:r>
            <a:r>
              <a:rPr lang="en-US" sz="1000" dirty="0">
                <a:effectLst>
                  <a:outerShdw blurRad="38100" dist="38100" dir="2700000" algn="tl">
                    <a:srgbClr val="000000">
                      <a:alpha val="43137"/>
                    </a:srgbClr>
                  </a:outerShdw>
                </a:effectLst>
                <a:latin typeface="News Gothic MT" pitchFamily="34" charset="0"/>
              </a:rPr>
              <a:t>(S&amp;OP)</a:t>
            </a:r>
          </a:p>
        </p:txBody>
      </p:sp>
      <p:sp>
        <p:nvSpPr>
          <p:cNvPr id="67" name="Rectangle 27"/>
          <p:cNvSpPr>
            <a:spLocks noChangeArrowheads="1"/>
          </p:cNvSpPr>
          <p:nvPr/>
        </p:nvSpPr>
        <p:spPr bwMode="auto">
          <a:xfrm>
            <a:off x="4896281" y="2209975"/>
            <a:ext cx="951637" cy="308858"/>
          </a:xfrm>
          <a:prstGeom prst="rect">
            <a:avLst/>
          </a:prstGeom>
          <a:solidFill>
            <a:schemeClr val="accent1">
              <a:lumMod val="40000"/>
              <a:lumOff val="60000"/>
            </a:schemeClr>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black"/>
                </a:solidFill>
                <a:latin typeface="News Gothic MT" pitchFamily="34" charset="0"/>
              </a:rPr>
              <a:t>Demand </a:t>
            </a:r>
          </a:p>
          <a:p>
            <a:pPr algn="ctr" eaLnBrk="0" hangingPunct="0">
              <a:lnSpc>
                <a:spcPct val="80000"/>
              </a:lnSpc>
            </a:pPr>
            <a:r>
              <a:rPr lang="en-US" sz="1000" b="1" dirty="0">
                <a:solidFill>
                  <a:prstClr val="black"/>
                </a:solidFill>
                <a:latin typeface="News Gothic MT" pitchFamily="34" charset="0"/>
              </a:rPr>
              <a:t>Management</a:t>
            </a:r>
          </a:p>
        </p:txBody>
      </p:sp>
      <p:sp>
        <p:nvSpPr>
          <p:cNvPr id="73" name="Rectangle 37"/>
          <p:cNvSpPr>
            <a:spLocks noChangeArrowheads="1"/>
          </p:cNvSpPr>
          <p:nvPr/>
        </p:nvSpPr>
        <p:spPr bwMode="auto">
          <a:xfrm>
            <a:off x="4897618" y="2861733"/>
            <a:ext cx="948964" cy="308858"/>
          </a:xfrm>
          <a:prstGeom prst="rect">
            <a:avLst/>
          </a:prstGeom>
          <a:solidFill>
            <a:schemeClr val="accent1">
              <a:lumMod val="40000"/>
              <a:lumOff val="60000"/>
            </a:schemeClr>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90000"/>
              </a:lnSpc>
            </a:pPr>
            <a:r>
              <a:rPr lang="en-US" sz="1000" b="1" dirty="0">
                <a:solidFill>
                  <a:prstClr val="black"/>
                </a:solidFill>
                <a:latin typeface="News Gothic MT" pitchFamily="34" charset="0"/>
              </a:rPr>
              <a:t>Supply </a:t>
            </a:r>
          </a:p>
          <a:p>
            <a:pPr algn="ctr" eaLnBrk="0" hangingPunct="0">
              <a:lnSpc>
                <a:spcPct val="90000"/>
              </a:lnSpc>
            </a:pPr>
            <a:r>
              <a:rPr lang="en-US" sz="1000" b="1" dirty="0">
                <a:solidFill>
                  <a:prstClr val="black"/>
                </a:solidFill>
                <a:latin typeface="News Gothic MT" pitchFamily="34" charset="0"/>
              </a:rPr>
              <a:t>Management</a:t>
            </a:r>
          </a:p>
        </p:txBody>
      </p:sp>
      <p:sp>
        <p:nvSpPr>
          <p:cNvPr id="75" name="Rectangle 41"/>
          <p:cNvSpPr>
            <a:spLocks noChangeArrowheads="1"/>
          </p:cNvSpPr>
          <p:nvPr/>
        </p:nvSpPr>
        <p:spPr bwMode="auto">
          <a:xfrm>
            <a:off x="1073415" y="3711063"/>
            <a:ext cx="1053570" cy="498194"/>
          </a:xfrm>
          <a:prstGeom prst="rect">
            <a:avLst/>
          </a:prstGeom>
          <a:solidFill>
            <a:schemeClr val="accent1"/>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srgbClr val="000000"/>
                </a:solidFill>
                <a:latin typeface="News Gothic MT" pitchFamily="34" charset="0"/>
              </a:rPr>
              <a:t>Rough-Cut </a:t>
            </a:r>
          </a:p>
          <a:p>
            <a:pPr algn="ctr" eaLnBrk="0" hangingPunct="0">
              <a:lnSpc>
                <a:spcPct val="80000"/>
              </a:lnSpc>
            </a:pPr>
            <a:r>
              <a:rPr lang="en-US" sz="1000" b="1" dirty="0">
                <a:solidFill>
                  <a:srgbClr val="000000"/>
                </a:solidFill>
                <a:latin typeface="News Gothic MT" pitchFamily="34" charset="0"/>
              </a:rPr>
              <a:t>Capacity </a:t>
            </a:r>
          </a:p>
          <a:p>
            <a:pPr algn="ctr" eaLnBrk="0" hangingPunct="0">
              <a:lnSpc>
                <a:spcPct val="80000"/>
              </a:lnSpc>
            </a:pPr>
            <a:r>
              <a:rPr lang="en-US" sz="1000" b="1" dirty="0">
                <a:solidFill>
                  <a:srgbClr val="000000"/>
                </a:solidFill>
                <a:latin typeface="News Gothic MT" pitchFamily="34" charset="0"/>
              </a:rPr>
              <a:t>Planning</a:t>
            </a:r>
            <a:r>
              <a:rPr lang="en-US" sz="800" b="1" dirty="0">
                <a:solidFill>
                  <a:srgbClr val="000000"/>
                </a:solidFill>
                <a:latin typeface="News Gothic MT" pitchFamily="34" charset="0"/>
              </a:rPr>
              <a:t> </a:t>
            </a:r>
            <a:r>
              <a:rPr lang="en-US" sz="800" dirty="0">
                <a:solidFill>
                  <a:srgbClr val="000000"/>
                </a:solidFill>
                <a:latin typeface="News Gothic MT" pitchFamily="34" charset="0"/>
              </a:rPr>
              <a:t>(RCCP)</a:t>
            </a:r>
            <a:endParaRPr lang="en-US" sz="1000" dirty="0">
              <a:solidFill>
                <a:srgbClr val="000000"/>
              </a:solidFill>
              <a:latin typeface="News Gothic MT" pitchFamily="34" charset="0"/>
            </a:endParaRPr>
          </a:p>
        </p:txBody>
      </p:sp>
      <p:sp>
        <p:nvSpPr>
          <p:cNvPr id="83" name="Rectangle 12"/>
          <p:cNvSpPr>
            <a:spLocks noChangeArrowheads="1"/>
          </p:cNvSpPr>
          <p:nvPr/>
        </p:nvSpPr>
        <p:spPr bwMode="auto">
          <a:xfrm>
            <a:off x="1088574" y="4555067"/>
            <a:ext cx="1023251" cy="499533"/>
          </a:xfrm>
          <a:prstGeom prst="rect">
            <a:avLst/>
          </a:prstGeom>
          <a:solidFill>
            <a:schemeClr val="accent1"/>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black"/>
                </a:solidFill>
                <a:latin typeface="News Gothic MT"/>
              </a:rPr>
              <a:t>Capacity </a:t>
            </a:r>
          </a:p>
          <a:p>
            <a:pPr algn="ctr" eaLnBrk="0" hangingPunct="0">
              <a:lnSpc>
                <a:spcPct val="80000"/>
              </a:lnSpc>
            </a:pPr>
            <a:r>
              <a:rPr lang="en-US" sz="1000" b="1" dirty="0">
                <a:solidFill>
                  <a:prstClr val="black"/>
                </a:solidFill>
                <a:latin typeface="News Gothic MT"/>
              </a:rPr>
              <a:t>Requirements</a:t>
            </a:r>
          </a:p>
          <a:p>
            <a:pPr algn="ctr" eaLnBrk="0" hangingPunct="0">
              <a:lnSpc>
                <a:spcPct val="80000"/>
              </a:lnSpc>
            </a:pPr>
            <a:r>
              <a:rPr lang="en-US" sz="1000" b="1" dirty="0">
                <a:solidFill>
                  <a:prstClr val="black"/>
                </a:solidFill>
                <a:latin typeface="News Gothic MT"/>
              </a:rPr>
              <a:t>Planning </a:t>
            </a:r>
            <a:r>
              <a:rPr lang="en-US" sz="800" dirty="0">
                <a:solidFill>
                  <a:prstClr val="black"/>
                </a:solidFill>
                <a:latin typeface="News Gothic MT"/>
              </a:rPr>
              <a:t>(CRP)</a:t>
            </a:r>
            <a:endParaRPr lang="en-US" sz="700" dirty="0">
              <a:solidFill>
                <a:prstClr val="black"/>
              </a:solidFill>
              <a:latin typeface="News Gothic MT"/>
            </a:endParaRPr>
          </a:p>
        </p:txBody>
      </p:sp>
      <p:sp>
        <p:nvSpPr>
          <p:cNvPr id="86" name="Rectangle 70"/>
          <p:cNvSpPr>
            <a:spLocks noChangeArrowheads="1"/>
          </p:cNvSpPr>
          <p:nvPr/>
        </p:nvSpPr>
        <p:spPr bwMode="auto">
          <a:xfrm>
            <a:off x="2925027" y="1307884"/>
            <a:ext cx="1107547" cy="135898"/>
          </a:xfrm>
          <a:prstGeom prst="rect">
            <a:avLst/>
          </a:prstGeom>
          <a:noFill/>
          <a:ln w="12700">
            <a:noFill/>
            <a:miter lim="800000"/>
            <a:headEnd/>
            <a:tailEnd/>
          </a:ln>
          <a:effectLst/>
        </p:spPr>
        <p:txBody>
          <a:bodyPr wrap="square" lIns="0" tIns="0" rIns="0" bIns="0" anchor="ctr" anchorCtr="1">
            <a:noAutofit/>
          </a:bodyPr>
          <a:lstStyle/>
          <a:p>
            <a:pPr algn="ctr" eaLnBrk="0" hangingPunct="0">
              <a:lnSpc>
                <a:spcPct val="80000"/>
              </a:lnSpc>
            </a:pPr>
            <a:endParaRPr lang="en-US" sz="1000" b="1" dirty="0">
              <a:solidFill>
                <a:prstClr val="white"/>
              </a:solidFill>
              <a:latin typeface="News Gothic MT"/>
            </a:endParaRPr>
          </a:p>
        </p:txBody>
      </p:sp>
      <p:sp>
        <p:nvSpPr>
          <p:cNvPr id="87" name="Oval 72"/>
          <p:cNvSpPr>
            <a:spLocks noChangeArrowheads="1"/>
          </p:cNvSpPr>
          <p:nvPr/>
        </p:nvSpPr>
        <p:spPr bwMode="auto">
          <a:xfrm>
            <a:off x="4891640" y="1178124"/>
            <a:ext cx="960920" cy="395419"/>
          </a:xfrm>
          <a:prstGeom prst="ellipse">
            <a:avLst/>
          </a:prstGeom>
          <a:solidFill>
            <a:schemeClr val="accent5"/>
          </a:solidFill>
          <a:ln w="12700">
            <a:solidFill>
              <a:srgbClr val="000000"/>
            </a:solidFill>
            <a:round/>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Financial  </a:t>
            </a:r>
          </a:p>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Plans</a:t>
            </a:r>
          </a:p>
        </p:txBody>
      </p:sp>
      <p:sp>
        <p:nvSpPr>
          <p:cNvPr id="88" name="Oval 91"/>
          <p:cNvSpPr>
            <a:spLocks noChangeArrowheads="1"/>
          </p:cNvSpPr>
          <p:nvPr/>
        </p:nvSpPr>
        <p:spPr bwMode="auto">
          <a:xfrm>
            <a:off x="1119740" y="1178124"/>
            <a:ext cx="960920" cy="395419"/>
          </a:xfrm>
          <a:prstGeom prst="ellipse">
            <a:avLst/>
          </a:prstGeom>
          <a:solidFill>
            <a:schemeClr val="accent5"/>
          </a:solidFill>
          <a:ln w="12700">
            <a:solidFill>
              <a:srgbClr val="000000"/>
            </a:solidFill>
            <a:round/>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Strategic  </a:t>
            </a:r>
          </a:p>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Plans</a:t>
            </a:r>
          </a:p>
        </p:txBody>
      </p:sp>
      <p:cxnSp>
        <p:nvCxnSpPr>
          <p:cNvPr id="107" name="Straight Connector 106"/>
          <p:cNvCxnSpPr>
            <a:stCxn id="85" idx="2"/>
            <a:endCxn id="95" idx="0"/>
          </p:cNvCxnSpPr>
          <p:nvPr/>
        </p:nvCxnSpPr>
        <p:spPr bwMode="auto">
          <a:xfrm>
            <a:off x="3467100" y="1541236"/>
            <a:ext cx="0" cy="329897"/>
          </a:xfrm>
          <a:prstGeom prst="line">
            <a:avLst/>
          </a:prstGeom>
          <a:solidFill>
            <a:schemeClr val="accent1"/>
          </a:solidFill>
          <a:ln w="38100" cap="flat" cmpd="sng" algn="ctr">
            <a:solidFill>
              <a:schemeClr val="tx1"/>
            </a:solidFill>
            <a:prstDash val="solid"/>
            <a:round/>
            <a:headEnd type="none" w="med" len="med"/>
            <a:tailEnd type="triangle" w="sm" len="sm"/>
          </a:ln>
          <a:effectLst>
            <a:outerShdw blurRad="50800" dist="38100" dir="2700000" algn="tl" rotWithShape="0">
              <a:prstClr val="black">
                <a:alpha val="40000"/>
              </a:prstClr>
            </a:outerShdw>
          </a:effectLst>
        </p:spPr>
      </p:cxnSp>
      <p:cxnSp>
        <p:nvCxnSpPr>
          <p:cNvPr id="108" name="Straight Connector 107"/>
          <p:cNvCxnSpPr>
            <a:stCxn id="88" idx="6"/>
            <a:endCxn id="85" idx="1"/>
          </p:cNvCxnSpPr>
          <p:nvPr/>
        </p:nvCxnSpPr>
        <p:spPr bwMode="auto">
          <a:xfrm flipV="1">
            <a:off x="2080660" y="1375833"/>
            <a:ext cx="300590" cy="1"/>
          </a:xfrm>
          <a:prstGeom prst="line">
            <a:avLst/>
          </a:prstGeom>
          <a:solidFill>
            <a:schemeClr val="accent1"/>
          </a:solidFill>
          <a:ln w="28575" cap="flat" cmpd="sng" algn="ctr">
            <a:solidFill>
              <a:schemeClr val="tx1"/>
            </a:solidFill>
            <a:prstDash val="solid"/>
            <a:round/>
            <a:headEnd type="triangle" w="med" len="med"/>
            <a:tailEnd type="triangle" w="med" len="med"/>
          </a:ln>
          <a:effectLst/>
        </p:spPr>
      </p:cxnSp>
      <p:sp>
        <p:nvSpPr>
          <p:cNvPr id="52" name="Rectangle 41"/>
          <p:cNvSpPr>
            <a:spLocks noChangeArrowheads="1"/>
          </p:cNvSpPr>
          <p:nvPr/>
        </p:nvSpPr>
        <p:spPr bwMode="auto">
          <a:xfrm>
            <a:off x="1073415" y="2460235"/>
            <a:ext cx="1053570" cy="498194"/>
          </a:xfrm>
          <a:prstGeom prst="rect">
            <a:avLst/>
          </a:prstGeom>
          <a:solidFill>
            <a:schemeClr val="accent1"/>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srgbClr val="000000"/>
                </a:solidFill>
                <a:latin typeface="News Gothic MT" pitchFamily="34" charset="0"/>
              </a:rPr>
              <a:t>Resource </a:t>
            </a:r>
          </a:p>
          <a:p>
            <a:pPr algn="ctr" eaLnBrk="0" hangingPunct="0">
              <a:lnSpc>
                <a:spcPct val="80000"/>
              </a:lnSpc>
            </a:pPr>
            <a:r>
              <a:rPr lang="en-US" sz="1000" b="1" dirty="0">
                <a:solidFill>
                  <a:srgbClr val="000000"/>
                </a:solidFill>
                <a:latin typeface="News Gothic MT" pitchFamily="34" charset="0"/>
              </a:rPr>
              <a:t>Requirements </a:t>
            </a:r>
          </a:p>
          <a:p>
            <a:pPr algn="ctr" eaLnBrk="0" hangingPunct="0">
              <a:lnSpc>
                <a:spcPct val="80000"/>
              </a:lnSpc>
            </a:pPr>
            <a:r>
              <a:rPr lang="en-US" sz="1000" b="1" dirty="0">
                <a:solidFill>
                  <a:srgbClr val="000000"/>
                </a:solidFill>
                <a:latin typeface="News Gothic MT" pitchFamily="34" charset="0"/>
              </a:rPr>
              <a:t>Planning</a:t>
            </a:r>
            <a:r>
              <a:rPr lang="en-US" sz="800" b="1" dirty="0">
                <a:solidFill>
                  <a:srgbClr val="000000"/>
                </a:solidFill>
                <a:latin typeface="News Gothic MT" pitchFamily="34" charset="0"/>
              </a:rPr>
              <a:t> </a:t>
            </a:r>
            <a:r>
              <a:rPr lang="en-US" sz="800" dirty="0">
                <a:solidFill>
                  <a:srgbClr val="000000"/>
                </a:solidFill>
                <a:latin typeface="News Gothic MT" pitchFamily="34" charset="0"/>
              </a:rPr>
              <a:t>(RRP)</a:t>
            </a:r>
            <a:endParaRPr lang="en-US" sz="1000" dirty="0">
              <a:solidFill>
                <a:srgbClr val="000000"/>
              </a:solidFill>
              <a:latin typeface="News Gothic MT" pitchFamily="34" charset="0"/>
            </a:endParaRPr>
          </a:p>
        </p:txBody>
      </p:sp>
      <p:cxnSp>
        <p:nvCxnSpPr>
          <p:cNvPr id="12" name="Straight Arrow Connector 11"/>
          <p:cNvCxnSpPr>
            <a:stCxn id="83" idx="3"/>
            <a:endCxn id="76" idx="1"/>
          </p:cNvCxnSpPr>
          <p:nvPr/>
        </p:nvCxnSpPr>
        <p:spPr bwMode="auto">
          <a:xfrm flipV="1">
            <a:off x="2111825" y="4804833"/>
            <a:ext cx="291650" cy="1"/>
          </a:xfrm>
          <a:prstGeom prst="straightConnector1">
            <a:avLst/>
          </a:prstGeom>
          <a:solidFill>
            <a:schemeClr val="accent1"/>
          </a:solidFill>
          <a:ln w="28575" cap="flat" cmpd="sng" algn="ctr">
            <a:solidFill>
              <a:schemeClr val="tx1"/>
            </a:solidFill>
            <a:prstDash val="sysDot"/>
            <a:round/>
            <a:headEnd type="triangle"/>
            <a:tailEnd type="triangle"/>
          </a:ln>
          <a:effectLst/>
        </p:spPr>
      </p:cxnSp>
      <p:cxnSp>
        <p:nvCxnSpPr>
          <p:cNvPr id="57" name="Straight Arrow Connector 56"/>
          <p:cNvCxnSpPr>
            <a:stCxn id="75" idx="3"/>
            <a:endCxn id="74" idx="1"/>
          </p:cNvCxnSpPr>
          <p:nvPr/>
        </p:nvCxnSpPr>
        <p:spPr bwMode="auto">
          <a:xfrm>
            <a:off x="2126985" y="3960160"/>
            <a:ext cx="273315" cy="1"/>
          </a:xfrm>
          <a:prstGeom prst="straightConnector1">
            <a:avLst/>
          </a:prstGeom>
          <a:solidFill>
            <a:schemeClr val="accent1"/>
          </a:solidFill>
          <a:ln w="28575" cap="flat" cmpd="sng" algn="ctr">
            <a:solidFill>
              <a:schemeClr val="tx1"/>
            </a:solidFill>
            <a:prstDash val="sysDot"/>
            <a:round/>
            <a:headEnd type="triangle"/>
            <a:tailEnd type="triangle"/>
          </a:ln>
          <a:effectLst/>
        </p:spPr>
      </p:cxnSp>
      <p:cxnSp>
        <p:nvCxnSpPr>
          <p:cNvPr id="69" name="Straight Arrow Connector 68"/>
          <p:cNvCxnSpPr>
            <a:stCxn id="52" idx="3"/>
            <a:endCxn id="84" idx="1"/>
          </p:cNvCxnSpPr>
          <p:nvPr/>
        </p:nvCxnSpPr>
        <p:spPr bwMode="auto">
          <a:xfrm>
            <a:off x="2126985" y="2709332"/>
            <a:ext cx="273315" cy="1"/>
          </a:xfrm>
          <a:prstGeom prst="straightConnector1">
            <a:avLst/>
          </a:prstGeom>
          <a:solidFill>
            <a:schemeClr val="accent1"/>
          </a:solidFill>
          <a:ln w="28575" cap="flat" cmpd="sng" algn="ctr">
            <a:solidFill>
              <a:schemeClr val="tx1"/>
            </a:solidFill>
            <a:prstDash val="sysDot"/>
            <a:round/>
            <a:headEnd type="triangle"/>
            <a:tailEnd type="triangle"/>
          </a:ln>
          <a:effectLst/>
        </p:spPr>
      </p:cxnSp>
      <p:cxnSp>
        <p:nvCxnSpPr>
          <p:cNvPr id="72" name="Straight Connector 71"/>
          <p:cNvCxnSpPr>
            <a:stCxn id="85" idx="3"/>
            <a:endCxn id="87" idx="2"/>
          </p:cNvCxnSpPr>
          <p:nvPr/>
        </p:nvCxnSpPr>
        <p:spPr bwMode="auto">
          <a:xfrm>
            <a:off x="4552950" y="1375833"/>
            <a:ext cx="338690" cy="1"/>
          </a:xfrm>
          <a:prstGeom prst="line">
            <a:avLst/>
          </a:prstGeom>
          <a:solidFill>
            <a:schemeClr val="accent1"/>
          </a:solidFill>
          <a:ln w="28575" cap="flat" cmpd="sng" algn="ctr">
            <a:solidFill>
              <a:schemeClr val="tx1"/>
            </a:solidFill>
            <a:prstDash val="solid"/>
            <a:round/>
            <a:headEnd type="triangle" w="med" len="med"/>
            <a:tailEnd type="triangle" w="med" len="med"/>
          </a:ln>
          <a:effectLst/>
        </p:spPr>
      </p:cxnSp>
      <p:sp>
        <p:nvSpPr>
          <p:cNvPr id="92" name="Rectangle 37"/>
          <p:cNvSpPr>
            <a:spLocks noChangeArrowheads="1"/>
          </p:cNvSpPr>
          <p:nvPr/>
        </p:nvSpPr>
        <p:spPr bwMode="auto">
          <a:xfrm>
            <a:off x="3589867" y="5412316"/>
            <a:ext cx="982133" cy="537634"/>
          </a:xfrm>
          <a:prstGeom prst="rect">
            <a:avLst/>
          </a:prstGeom>
          <a:solidFill>
            <a:schemeClr val="accent2"/>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90000"/>
              </a:lnSpc>
            </a:pPr>
            <a:r>
              <a:rPr lang="en-US" sz="1000" b="1" dirty="0">
                <a:solidFill>
                  <a:prstClr val="black"/>
                </a:solidFill>
                <a:latin typeface="News Gothic MT" pitchFamily="34" charset="0"/>
              </a:rPr>
              <a:t>Manufacturing </a:t>
            </a:r>
          </a:p>
          <a:p>
            <a:pPr algn="ctr" eaLnBrk="0" hangingPunct="0">
              <a:lnSpc>
                <a:spcPct val="90000"/>
              </a:lnSpc>
            </a:pPr>
            <a:r>
              <a:rPr lang="en-US" sz="700" i="1" dirty="0">
                <a:solidFill>
                  <a:prstClr val="black"/>
                </a:solidFill>
                <a:latin typeface="News Gothic MT" pitchFamily="34" charset="0"/>
              </a:rPr>
              <a:t>(Internal or External)</a:t>
            </a:r>
          </a:p>
        </p:txBody>
      </p:sp>
      <p:cxnSp>
        <p:nvCxnSpPr>
          <p:cNvPr id="44" name="Straight Arrow Connector 43"/>
          <p:cNvCxnSpPr>
            <a:stCxn id="76" idx="2"/>
            <a:endCxn id="91" idx="0"/>
          </p:cNvCxnSpPr>
          <p:nvPr/>
        </p:nvCxnSpPr>
        <p:spPr bwMode="auto">
          <a:xfrm>
            <a:off x="2895600" y="5071533"/>
            <a:ext cx="0" cy="342900"/>
          </a:xfrm>
          <a:prstGeom prst="straightConnector1">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47" name="Straight Arrow Connector 46"/>
          <p:cNvCxnSpPr/>
          <p:nvPr/>
        </p:nvCxnSpPr>
        <p:spPr bwMode="auto">
          <a:xfrm>
            <a:off x="4114800" y="4145227"/>
            <a:ext cx="0" cy="1269470"/>
          </a:xfrm>
          <a:prstGeom prst="straightConnector1">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77" name="Straight Arrow Connector 76"/>
          <p:cNvCxnSpPr>
            <a:endCxn id="76" idx="0"/>
          </p:cNvCxnSpPr>
          <p:nvPr/>
        </p:nvCxnSpPr>
        <p:spPr bwMode="auto">
          <a:xfrm>
            <a:off x="2894541" y="4130675"/>
            <a:ext cx="1059" cy="407458"/>
          </a:xfrm>
          <a:prstGeom prst="straightConnector1">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82" name="Straight Arrow Connector 81"/>
          <p:cNvCxnSpPr>
            <a:endCxn id="92" idx="1"/>
          </p:cNvCxnSpPr>
          <p:nvPr/>
        </p:nvCxnSpPr>
        <p:spPr bwMode="auto">
          <a:xfrm>
            <a:off x="3390900" y="5681133"/>
            <a:ext cx="198967" cy="0"/>
          </a:xfrm>
          <a:prstGeom prst="straightConnector1">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99" name="Straight Connector 98"/>
          <p:cNvCxnSpPr>
            <a:stCxn id="84" idx="2"/>
            <a:endCxn id="74" idx="0"/>
          </p:cNvCxnSpPr>
          <p:nvPr/>
        </p:nvCxnSpPr>
        <p:spPr bwMode="auto">
          <a:xfrm>
            <a:off x="3486150" y="2883071"/>
            <a:ext cx="0" cy="893086"/>
          </a:xfrm>
          <a:prstGeom prst="line">
            <a:avLst/>
          </a:prstGeom>
          <a:solidFill>
            <a:schemeClr val="accent1"/>
          </a:solidFill>
          <a:ln w="38100" cap="flat" cmpd="sng" algn="ctr">
            <a:solidFill>
              <a:schemeClr val="tx1"/>
            </a:solidFill>
            <a:prstDash val="solid"/>
            <a:round/>
            <a:headEnd type="none" w="med" len="med"/>
            <a:tailEnd type="triangle" w="med" len="med"/>
          </a:ln>
          <a:effectLst>
            <a:outerShdw blurRad="50800" dist="38100" dir="2700000" algn="tl" rotWithShape="0">
              <a:prstClr val="black">
                <a:alpha val="40000"/>
              </a:prstClr>
            </a:outerShdw>
          </a:effectLst>
        </p:spPr>
      </p:cxnSp>
      <p:cxnSp>
        <p:nvCxnSpPr>
          <p:cNvPr id="100" name="Straight Arrow Connector 99"/>
          <p:cNvCxnSpPr>
            <a:stCxn id="67" idx="1"/>
            <a:endCxn id="84" idx="3"/>
          </p:cNvCxnSpPr>
          <p:nvPr/>
        </p:nvCxnSpPr>
        <p:spPr bwMode="auto">
          <a:xfrm flipH="1">
            <a:off x="4572000" y="2364404"/>
            <a:ext cx="324281" cy="344929"/>
          </a:xfrm>
          <a:prstGeom prst="straightConnector1">
            <a:avLst/>
          </a:prstGeom>
          <a:solidFill>
            <a:schemeClr val="accent1"/>
          </a:solidFill>
          <a:ln w="28575" cap="flat" cmpd="sng" algn="ctr">
            <a:solidFill>
              <a:schemeClr val="tx1"/>
            </a:solidFill>
            <a:prstDash val="solid"/>
            <a:round/>
            <a:headEnd type="triangle"/>
            <a:tailEnd type="triangle"/>
          </a:ln>
          <a:effectLst>
            <a:outerShdw blurRad="50800" dist="38100" dir="2700000" algn="tl" rotWithShape="0">
              <a:prstClr val="black">
                <a:alpha val="40000"/>
              </a:prstClr>
            </a:outerShdw>
          </a:effectLst>
        </p:spPr>
      </p:cxnSp>
      <p:cxnSp>
        <p:nvCxnSpPr>
          <p:cNvPr id="102" name="Straight Arrow Connector 101"/>
          <p:cNvCxnSpPr>
            <a:stCxn id="73" idx="1"/>
            <a:endCxn id="84" idx="3"/>
          </p:cNvCxnSpPr>
          <p:nvPr/>
        </p:nvCxnSpPr>
        <p:spPr bwMode="auto">
          <a:xfrm flipH="1" flipV="1">
            <a:off x="4572000" y="2709333"/>
            <a:ext cx="325618" cy="306829"/>
          </a:xfrm>
          <a:prstGeom prst="straightConnector1">
            <a:avLst/>
          </a:prstGeom>
          <a:solidFill>
            <a:schemeClr val="accent1"/>
          </a:solidFill>
          <a:ln w="28575" cap="flat" cmpd="sng" algn="ctr">
            <a:solidFill>
              <a:schemeClr val="tx1"/>
            </a:solidFill>
            <a:prstDash val="solid"/>
            <a:round/>
            <a:headEnd type="triangle"/>
            <a:tailEnd type="triangle"/>
          </a:ln>
          <a:effectLst>
            <a:outerShdw blurRad="50800" dist="38100" dir="2700000" algn="tl" rotWithShape="0">
              <a:prstClr val="black">
                <a:alpha val="40000"/>
              </a:prstClr>
            </a:outerShdw>
          </a:effectLst>
        </p:spPr>
      </p:cxnSp>
      <p:cxnSp>
        <p:nvCxnSpPr>
          <p:cNvPr id="104" name="Straight Arrow Connector 103"/>
          <p:cNvCxnSpPr>
            <a:stCxn id="73" idx="0"/>
            <a:endCxn id="67" idx="2"/>
          </p:cNvCxnSpPr>
          <p:nvPr/>
        </p:nvCxnSpPr>
        <p:spPr bwMode="auto">
          <a:xfrm flipV="1">
            <a:off x="5372100" y="2518833"/>
            <a:ext cx="0" cy="342900"/>
          </a:xfrm>
          <a:prstGeom prst="straightConnector1">
            <a:avLst/>
          </a:prstGeom>
          <a:solidFill>
            <a:schemeClr val="accent1"/>
          </a:solidFill>
          <a:ln w="28575" cap="flat" cmpd="sng" algn="ctr">
            <a:solidFill>
              <a:schemeClr val="tx1"/>
            </a:solidFill>
            <a:prstDash val="solid"/>
            <a:round/>
            <a:headEnd type="triangle"/>
            <a:tailEnd type="triangle"/>
          </a:ln>
          <a:effectLst>
            <a:outerShdw blurRad="50800" dist="38100" dir="2700000" algn="tl" rotWithShape="0">
              <a:prstClr val="black">
                <a:alpha val="40000"/>
              </a:prstClr>
            </a:outerShdw>
          </a:effectLst>
        </p:spPr>
      </p:cxnSp>
      <p:sp>
        <p:nvSpPr>
          <p:cNvPr id="137" name="Rectangle 37"/>
          <p:cNvSpPr>
            <a:spLocks noChangeArrowheads="1"/>
          </p:cNvSpPr>
          <p:nvPr/>
        </p:nvSpPr>
        <p:spPr bwMode="auto">
          <a:xfrm>
            <a:off x="4385733" y="6210300"/>
            <a:ext cx="982133" cy="537634"/>
          </a:xfrm>
          <a:prstGeom prst="rect">
            <a:avLst/>
          </a:prstGeom>
          <a:solidFill>
            <a:schemeClr val="accent5"/>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9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Distribution</a:t>
            </a:r>
          </a:p>
          <a:p>
            <a:pPr algn="ctr" eaLnBrk="0" hangingPunct="0">
              <a:lnSpc>
                <a:spcPct val="9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Requirements</a:t>
            </a:r>
          </a:p>
          <a:p>
            <a:pPr algn="ctr" eaLnBrk="0" hangingPunct="0">
              <a:lnSpc>
                <a:spcPct val="9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Planning</a:t>
            </a:r>
            <a:r>
              <a:rPr lang="en-US" sz="800" b="1" dirty="0">
                <a:solidFill>
                  <a:schemeClr val="bg1"/>
                </a:solidFill>
                <a:effectLst>
                  <a:outerShdw blurRad="38100" dist="38100" dir="2700000" algn="tl">
                    <a:srgbClr val="000000">
                      <a:alpha val="43137"/>
                    </a:srgbClr>
                  </a:outerShdw>
                </a:effectLst>
                <a:latin typeface="News Gothic MT" pitchFamily="34" charset="0"/>
              </a:rPr>
              <a:t> </a:t>
            </a:r>
            <a:r>
              <a:rPr lang="en-US" sz="800" dirty="0">
                <a:solidFill>
                  <a:schemeClr val="bg1"/>
                </a:solidFill>
                <a:effectLst>
                  <a:outerShdw blurRad="38100" dist="38100" dir="2700000" algn="tl">
                    <a:srgbClr val="000000">
                      <a:alpha val="43137"/>
                    </a:srgbClr>
                  </a:outerShdw>
                </a:effectLst>
                <a:latin typeface="News Gothic MT" pitchFamily="34" charset="0"/>
              </a:rPr>
              <a:t>(DRP)</a:t>
            </a:r>
            <a:endParaRPr lang="en-US" sz="700" dirty="0">
              <a:solidFill>
                <a:schemeClr val="bg1"/>
              </a:solidFill>
              <a:effectLst>
                <a:outerShdw blurRad="38100" dist="38100" dir="2700000" algn="tl">
                  <a:srgbClr val="000000">
                    <a:alpha val="43137"/>
                  </a:srgbClr>
                </a:outerShdw>
              </a:effectLst>
              <a:latin typeface="News Gothic MT" pitchFamily="34" charset="0"/>
            </a:endParaRPr>
          </a:p>
        </p:txBody>
      </p:sp>
      <p:cxnSp>
        <p:nvCxnSpPr>
          <p:cNvPr id="11356" name="Straight Connector 11355"/>
          <p:cNvCxnSpPr>
            <a:stCxn id="74" idx="3"/>
          </p:cNvCxnSpPr>
          <p:nvPr/>
        </p:nvCxnSpPr>
        <p:spPr bwMode="auto">
          <a:xfrm flipV="1">
            <a:off x="4572000" y="3960160"/>
            <a:ext cx="304800" cy="1"/>
          </a:xfrm>
          <a:prstGeom prst="line">
            <a:avLst/>
          </a:prstGeom>
          <a:solidFill>
            <a:schemeClr val="accent1"/>
          </a:solidFill>
          <a:ln w="38100" cap="flat" cmpd="sng" algn="ctr">
            <a:solidFill>
              <a:schemeClr val="tx1"/>
            </a:solidFill>
            <a:prstDash val="solid"/>
            <a:round/>
            <a:headEnd type="triangle" w="med" len="med"/>
            <a:tailEnd type="none" w="med" len="med"/>
          </a:ln>
          <a:effectLst/>
        </p:spPr>
      </p:cxnSp>
      <p:cxnSp>
        <p:nvCxnSpPr>
          <p:cNvPr id="11358" name="Straight Connector 11357"/>
          <p:cNvCxnSpPr/>
          <p:nvPr/>
        </p:nvCxnSpPr>
        <p:spPr bwMode="auto">
          <a:xfrm>
            <a:off x="4876800" y="3943350"/>
            <a:ext cx="0" cy="2266950"/>
          </a:xfrm>
          <a:prstGeom prst="line">
            <a:avLst/>
          </a:prstGeom>
          <a:solidFill>
            <a:schemeClr val="accent1"/>
          </a:solidFill>
          <a:ln w="38100" cap="flat" cmpd="sng" algn="ctr">
            <a:solidFill>
              <a:schemeClr val="tx1"/>
            </a:solidFill>
            <a:prstDash val="solid"/>
            <a:round/>
            <a:headEnd type="none" w="med" len="med"/>
            <a:tailEnd type="triangle" w="med" len="med"/>
          </a:ln>
          <a:effectLst/>
        </p:spPr>
      </p:cxnSp>
      <p:sp>
        <p:nvSpPr>
          <p:cNvPr id="85" name="Rectangle 69"/>
          <p:cNvSpPr>
            <a:spLocks noChangeArrowheads="1"/>
          </p:cNvSpPr>
          <p:nvPr/>
        </p:nvSpPr>
        <p:spPr bwMode="auto">
          <a:xfrm>
            <a:off x="2381250" y="1210430"/>
            <a:ext cx="2171700" cy="330806"/>
          </a:xfrm>
          <a:prstGeom prst="rect">
            <a:avLst/>
          </a:prstGeom>
          <a:solidFill>
            <a:schemeClr val="accent4"/>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prstClr val="white"/>
                </a:solidFill>
                <a:effectLst>
                  <a:outerShdw blurRad="38100" dist="38100" dir="2700000" algn="tl">
                    <a:srgbClr val="000000">
                      <a:alpha val="43137"/>
                    </a:srgbClr>
                  </a:outerShdw>
                </a:effectLst>
                <a:latin typeface="News Gothic MT" pitchFamily="34" charset="0"/>
              </a:rPr>
              <a:t>Business Planning</a:t>
            </a:r>
          </a:p>
        </p:txBody>
      </p:sp>
      <p:sp>
        <p:nvSpPr>
          <p:cNvPr id="84" name="Rectangle 52"/>
          <p:cNvSpPr>
            <a:spLocks noChangeArrowheads="1"/>
          </p:cNvSpPr>
          <p:nvPr/>
        </p:nvSpPr>
        <p:spPr bwMode="auto">
          <a:xfrm>
            <a:off x="2400300" y="2535594"/>
            <a:ext cx="2171700" cy="347477"/>
          </a:xfrm>
          <a:prstGeom prst="rect">
            <a:avLst/>
          </a:prstGeom>
          <a:solidFill>
            <a:schemeClr val="accent3"/>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Aggregate Production </a:t>
            </a:r>
          </a:p>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Planning </a:t>
            </a:r>
            <a:r>
              <a:rPr lang="en-US" sz="800" dirty="0">
                <a:solidFill>
                  <a:schemeClr val="bg1"/>
                </a:solidFill>
                <a:effectLst>
                  <a:outerShdw blurRad="38100" dist="38100" dir="2700000" algn="tl">
                    <a:srgbClr val="000000">
                      <a:alpha val="43137"/>
                    </a:srgbClr>
                  </a:outerShdw>
                </a:effectLst>
                <a:latin typeface="News Gothic MT" pitchFamily="34" charset="0"/>
              </a:rPr>
              <a:t>(APP)</a:t>
            </a:r>
          </a:p>
        </p:txBody>
      </p:sp>
      <p:sp>
        <p:nvSpPr>
          <p:cNvPr id="74" name="Rectangle 39"/>
          <p:cNvSpPr>
            <a:spLocks noChangeArrowheads="1"/>
          </p:cNvSpPr>
          <p:nvPr/>
        </p:nvSpPr>
        <p:spPr bwMode="auto">
          <a:xfrm>
            <a:off x="2400300" y="3776157"/>
            <a:ext cx="2171700" cy="368007"/>
          </a:xfrm>
          <a:prstGeom prst="rect">
            <a:avLst/>
          </a:prstGeom>
          <a:solidFill>
            <a:schemeClr val="accent3"/>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Master Production</a:t>
            </a:r>
          </a:p>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Scheduling </a:t>
            </a:r>
            <a:r>
              <a:rPr lang="en-US" sz="800" dirty="0">
                <a:solidFill>
                  <a:schemeClr val="bg1"/>
                </a:solidFill>
                <a:effectLst>
                  <a:outerShdw blurRad="38100" dist="38100" dir="2700000" algn="tl">
                    <a:srgbClr val="000000">
                      <a:alpha val="43137"/>
                    </a:srgbClr>
                  </a:outerShdw>
                </a:effectLst>
                <a:latin typeface="News Gothic MT" pitchFamily="34" charset="0"/>
              </a:rPr>
              <a:t>(MPS)</a:t>
            </a:r>
          </a:p>
        </p:txBody>
      </p:sp>
      <p:cxnSp>
        <p:nvCxnSpPr>
          <p:cNvPr id="45" name="Elbow Connector 44"/>
          <p:cNvCxnSpPr>
            <a:stCxn id="76" idx="3"/>
          </p:cNvCxnSpPr>
          <p:nvPr/>
        </p:nvCxnSpPr>
        <p:spPr bwMode="auto">
          <a:xfrm>
            <a:off x="3387725" y="4804833"/>
            <a:ext cx="387086" cy="591608"/>
          </a:xfrm>
          <a:prstGeom prst="bentConnector2">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sp>
        <p:nvSpPr>
          <p:cNvPr id="91" name="Rectangle 37"/>
          <p:cNvSpPr>
            <a:spLocks noChangeArrowheads="1"/>
          </p:cNvSpPr>
          <p:nvPr/>
        </p:nvSpPr>
        <p:spPr bwMode="auto">
          <a:xfrm>
            <a:off x="2400300" y="5414433"/>
            <a:ext cx="990600" cy="533400"/>
          </a:xfrm>
          <a:prstGeom prst="rect">
            <a:avLst/>
          </a:prstGeom>
          <a:solidFill>
            <a:schemeClr val="accent2"/>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90000"/>
              </a:lnSpc>
            </a:pPr>
            <a:r>
              <a:rPr lang="en-US" sz="1000" b="1" dirty="0">
                <a:solidFill>
                  <a:prstClr val="black"/>
                </a:solidFill>
                <a:latin typeface="News Gothic MT" pitchFamily="34" charset="0"/>
              </a:rPr>
              <a:t>Suppliers</a:t>
            </a:r>
          </a:p>
        </p:txBody>
      </p:sp>
      <p:sp>
        <p:nvSpPr>
          <p:cNvPr id="76" name="Rectangle 48"/>
          <p:cNvSpPr>
            <a:spLocks noChangeArrowheads="1"/>
          </p:cNvSpPr>
          <p:nvPr/>
        </p:nvSpPr>
        <p:spPr bwMode="auto">
          <a:xfrm>
            <a:off x="2403475" y="4538133"/>
            <a:ext cx="984250" cy="533400"/>
          </a:xfrm>
          <a:prstGeom prst="rect">
            <a:avLst/>
          </a:prstGeom>
          <a:solidFill>
            <a:schemeClr val="accent3"/>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Material </a:t>
            </a:r>
          </a:p>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Requirements </a:t>
            </a:r>
          </a:p>
          <a:p>
            <a:pPr algn="ctr" eaLnBrk="0" hangingPunct="0">
              <a:lnSpc>
                <a:spcPct val="80000"/>
              </a:lnSpc>
            </a:pPr>
            <a:r>
              <a:rPr lang="en-US" sz="1000" b="1" dirty="0">
                <a:solidFill>
                  <a:schemeClr val="bg1"/>
                </a:solidFill>
                <a:effectLst>
                  <a:outerShdw blurRad="38100" dist="38100" dir="2700000" algn="tl">
                    <a:srgbClr val="000000">
                      <a:alpha val="43137"/>
                    </a:srgbClr>
                  </a:outerShdw>
                </a:effectLst>
                <a:latin typeface="News Gothic MT" pitchFamily="34" charset="0"/>
              </a:rPr>
              <a:t>Planning </a:t>
            </a:r>
            <a:r>
              <a:rPr lang="en-US" sz="800" dirty="0">
                <a:solidFill>
                  <a:schemeClr val="bg1"/>
                </a:solidFill>
                <a:effectLst>
                  <a:outerShdw blurRad="38100" dist="38100" dir="2700000" algn="tl">
                    <a:srgbClr val="000000">
                      <a:alpha val="43137"/>
                    </a:srgbClr>
                  </a:outerShdw>
                </a:effectLst>
                <a:latin typeface="News Gothic MT" pitchFamily="34" charset="0"/>
              </a:rPr>
              <a:t>(MRP)</a:t>
            </a:r>
          </a:p>
        </p:txBody>
      </p:sp>
      <p:sp>
        <p:nvSpPr>
          <p:cNvPr id="101" name="Right Bracket 100"/>
          <p:cNvSpPr/>
          <p:nvPr/>
        </p:nvSpPr>
        <p:spPr bwMode="auto">
          <a:xfrm flipH="1">
            <a:off x="488969" y="1051982"/>
            <a:ext cx="256095" cy="2300818"/>
          </a:xfrm>
          <a:prstGeom prst="rightBracket">
            <a:avLst/>
          </a:prstGeom>
          <a:noFill/>
          <a:ln w="28575" cap="flat" cmpd="sng" algn="ctr">
            <a:solidFill>
              <a:srgbClr val="923222"/>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US">
              <a:solidFill>
                <a:srgbClr val="923222"/>
              </a:solidFill>
            </a:endParaRPr>
          </a:p>
        </p:txBody>
      </p:sp>
      <p:sp>
        <p:nvSpPr>
          <p:cNvPr id="103" name="Right Bracket 102"/>
          <p:cNvSpPr/>
          <p:nvPr/>
        </p:nvSpPr>
        <p:spPr bwMode="auto">
          <a:xfrm flipH="1">
            <a:off x="488969" y="3390900"/>
            <a:ext cx="256095" cy="956733"/>
          </a:xfrm>
          <a:prstGeom prst="rightBracket">
            <a:avLst/>
          </a:prstGeom>
          <a:noFill/>
          <a:ln w="28575" cap="flat" cmpd="sng" algn="ctr">
            <a:solidFill>
              <a:srgbClr val="923222"/>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US">
              <a:solidFill>
                <a:srgbClr val="923222"/>
              </a:solidFill>
            </a:endParaRPr>
          </a:p>
        </p:txBody>
      </p:sp>
      <p:sp>
        <p:nvSpPr>
          <p:cNvPr id="105" name="Right Bracket 104"/>
          <p:cNvSpPr/>
          <p:nvPr/>
        </p:nvSpPr>
        <p:spPr bwMode="auto">
          <a:xfrm flipH="1">
            <a:off x="488971" y="4396317"/>
            <a:ext cx="256095" cy="2385483"/>
          </a:xfrm>
          <a:prstGeom prst="rightBracket">
            <a:avLst/>
          </a:prstGeom>
          <a:noFill/>
          <a:ln w="28575" cap="flat" cmpd="sng" algn="ctr">
            <a:solidFill>
              <a:srgbClr val="923222"/>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US">
              <a:solidFill>
                <a:srgbClr val="923222"/>
              </a:solidFill>
            </a:endParaRPr>
          </a:p>
        </p:txBody>
      </p:sp>
      <p:sp>
        <p:nvSpPr>
          <p:cNvPr id="106" name="Rectangle 3"/>
          <p:cNvSpPr txBox="1">
            <a:spLocks noChangeArrowheads="1"/>
          </p:cNvSpPr>
          <p:nvPr/>
        </p:nvSpPr>
        <p:spPr bwMode="auto">
          <a:xfrm>
            <a:off x="234951" y="2017476"/>
            <a:ext cx="520697" cy="384647"/>
          </a:xfrm>
          <a:prstGeom prst="rect">
            <a:avLst/>
          </a:prstGeom>
          <a:solidFill>
            <a:schemeClr val="bg1"/>
          </a:solidFill>
          <a:ln>
            <a:noFill/>
            <a:miter lim="800000"/>
            <a:headEnd/>
            <a:tailEnd/>
          </a:ln>
        </p:spPr>
        <p:txBody>
          <a:bodyPr vert="horz" wrap="square" lIns="0" tIns="0" rIns="0" bIns="0" numCol="1" anchor="ctr" anchorCtr="1" compatLnSpc="1">
            <a:prstTxWarp prst="textNoShape">
              <a:avLst/>
            </a:prstTxWarp>
          </a:bodyPr>
          <a:lstStyle/>
          <a:p>
            <a:pPr algn="ctr" defTabSz="855663" eaLnBrk="0" hangingPunct="0">
              <a:lnSpc>
                <a:spcPct val="90000"/>
              </a:lnSpc>
              <a:spcBef>
                <a:spcPts val="0"/>
              </a:spcBef>
              <a:spcAft>
                <a:spcPts val="0"/>
              </a:spcAft>
              <a:buClr>
                <a:prstClr val="black"/>
              </a:buClr>
              <a:buFont typeface="Monotype Sorts" charset="0"/>
              <a:buNone/>
              <a:defRPr/>
            </a:pPr>
            <a:r>
              <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rPr>
              <a:t>Long</a:t>
            </a:r>
          </a:p>
          <a:p>
            <a:pPr algn="ctr" defTabSz="855663" eaLnBrk="0" hangingPunct="0">
              <a:lnSpc>
                <a:spcPct val="90000"/>
              </a:lnSpc>
              <a:spcBef>
                <a:spcPts val="0"/>
              </a:spcBef>
              <a:spcAft>
                <a:spcPts val="0"/>
              </a:spcAft>
              <a:buClr>
                <a:prstClr val="black"/>
              </a:buClr>
              <a:buFont typeface="Monotype Sorts" charset="0"/>
              <a:buNone/>
              <a:defRPr/>
            </a:pPr>
            <a:r>
              <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rPr>
              <a:t>Range</a:t>
            </a:r>
          </a:p>
        </p:txBody>
      </p:sp>
      <p:sp>
        <p:nvSpPr>
          <p:cNvPr id="109" name="Rectangle 3"/>
          <p:cNvSpPr txBox="1">
            <a:spLocks noChangeArrowheads="1"/>
          </p:cNvSpPr>
          <p:nvPr/>
        </p:nvSpPr>
        <p:spPr bwMode="auto">
          <a:xfrm>
            <a:off x="76200" y="3657600"/>
            <a:ext cx="836082" cy="384647"/>
          </a:xfrm>
          <a:prstGeom prst="rect">
            <a:avLst/>
          </a:prstGeom>
          <a:solidFill>
            <a:schemeClr val="bg1"/>
          </a:solidFill>
          <a:ln>
            <a:noFill/>
            <a:miter lim="800000"/>
            <a:headEnd/>
            <a:tailEnd/>
          </a:ln>
        </p:spPr>
        <p:txBody>
          <a:bodyPr vert="horz" wrap="square" lIns="0" tIns="0" rIns="0" bIns="0" numCol="1" anchor="ctr" anchorCtr="1" compatLnSpc="1">
            <a:prstTxWarp prst="textNoShape">
              <a:avLst/>
            </a:prstTxWarp>
          </a:bodyPr>
          <a:lstStyle/>
          <a:p>
            <a:pPr algn="ctr" defTabSz="855663" eaLnBrk="0" hangingPunct="0">
              <a:lnSpc>
                <a:spcPct val="90000"/>
              </a:lnSpc>
              <a:spcBef>
                <a:spcPts val="0"/>
              </a:spcBef>
              <a:spcAft>
                <a:spcPts val="0"/>
              </a:spcAft>
              <a:buClr>
                <a:prstClr val="black"/>
              </a:buClr>
              <a:buFont typeface="Monotype Sorts" charset="0"/>
              <a:buNone/>
              <a:defRPr/>
            </a:pPr>
            <a:r>
              <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rPr>
              <a:t>Intermediate</a:t>
            </a:r>
          </a:p>
          <a:p>
            <a:pPr algn="ctr" defTabSz="855663" eaLnBrk="0" hangingPunct="0">
              <a:lnSpc>
                <a:spcPct val="90000"/>
              </a:lnSpc>
              <a:spcBef>
                <a:spcPts val="0"/>
              </a:spcBef>
              <a:spcAft>
                <a:spcPts val="0"/>
              </a:spcAft>
              <a:buClr>
                <a:prstClr val="black"/>
              </a:buClr>
              <a:buFont typeface="Monotype Sorts" charset="0"/>
              <a:buNone/>
              <a:defRPr/>
            </a:pPr>
            <a:r>
              <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rPr>
              <a:t>Range</a:t>
            </a:r>
          </a:p>
        </p:txBody>
      </p:sp>
      <p:sp>
        <p:nvSpPr>
          <p:cNvPr id="110" name="Rectangle 3"/>
          <p:cNvSpPr txBox="1">
            <a:spLocks noChangeArrowheads="1"/>
          </p:cNvSpPr>
          <p:nvPr/>
        </p:nvSpPr>
        <p:spPr bwMode="auto">
          <a:xfrm>
            <a:off x="237090" y="5408376"/>
            <a:ext cx="520697" cy="384647"/>
          </a:xfrm>
          <a:prstGeom prst="rect">
            <a:avLst/>
          </a:prstGeom>
          <a:solidFill>
            <a:schemeClr val="bg1"/>
          </a:solidFill>
          <a:ln>
            <a:noFill/>
            <a:miter lim="800000"/>
            <a:headEnd/>
            <a:tailEnd/>
          </a:ln>
        </p:spPr>
        <p:txBody>
          <a:bodyPr vert="horz" wrap="square" lIns="0" tIns="0" rIns="0" bIns="0" numCol="1" anchor="ctr" anchorCtr="1" compatLnSpc="1">
            <a:prstTxWarp prst="textNoShape">
              <a:avLst/>
            </a:prstTxWarp>
          </a:bodyPr>
          <a:lstStyle/>
          <a:p>
            <a:pPr algn="ctr" defTabSz="855663" eaLnBrk="0" hangingPunct="0">
              <a:lnSpc>
                <a:spcPct val="90000"/>
              </a:lnSpc>
              <a:spcBef>
                <a:spcPts val="0"/>
              </a:spcBef>
              <a:spcAft>
                <a:spcPts val="0"/>
              </a:spcAft>
              <a:buClr>
                <a:prstClr val="black"/>
              </a:buClr>
              <a:buFont typeface="Monotype Sorts" charset="0"/>
              <a:buNone/>
              <a:defRPr/>
            </a:pPr>
            <a:r>
              <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rPr>
              <a:t>Short</a:t>
            </a:r>
          </a:p>
          <a:p>
            <a:pPr algn="ctr" defTabSz="855663" eaLnBrk="0" hangingPunct="0">
              <a:lnSpc>
                <a:spcPct val="90000"/>
              </a:lnSpc>
              <a:spcBef>
                <a:spcPts val="0"/>
              </a:spcBef>
              <a:spcAft>
                <a:spcPts val="0"/>
              </a:spcAft>
              <a:buClr>
                <a:prstClr val="black"/>
              </a:buClr>
              <a:buFont typeface="Monotype Sorts" charset="0"/>
              <a:buNone/>
              <a:defRPr/>
            </a:pPr>
            <a:r>
              <a:rPr lang="en-US" sz="1200" b="1" kern="0" dirty="0">
                <a:solidFill>
                  <a:srgbClr val="923222"/>
                </a:solidFill>
                <a:effectLst>
                  <a:outerShdw blurRad="38100" dist="38100" dir="2700000" algn="tl">
                    <a:srgbClr val="000000">
                      <a:alpha val="43137"/>
                    </a:srgbClr>
                  </a:outerShdw>
                </a:effectLst>
                <a:latin typeface="Calibri" panose="020F0502020204030204" pitchFamily="34" charset="0"/>
              </a:rPr>
              <a:t>Range</a:t>
            </a:r>
          </a:p>
        </p:txBody>
      </p:sp>
      <p:sp>
        <p:nvSpPr>
          <p:cNvPr id="5" name="Rectangle 4"/>
          <p:cNvSpPr/>
          <p:nvPr/>
        </p:nvSpPr>
        <p:spPr>
          <a:xfrm>
            <a:off x="7814734" y="1055231"/>
            <a:ext cx="1100666" cy="2246769"/>
          </a:xfrm>
          <a:prstGeom prst="rect">
            <a:avLst/>
          </a:prstGeom>
          <a:solidFill>
            <a:srgbClr val="B9DCFF"/>
          </a:solidFill>
          <a:ln>
            <a:solidFill>
              <a:srgbClr val="002060"/>
            </a:solidFill>
          </a:ln>
          <a:effectLst>
            <a:outerShdw blurRad="50800" dist="38100" dir="2700000" algn="tl" rotWithShape="0">
              <a:prstClr val="black">
                <a:alpha val="40000"/>
              </a:prstClr>
            </a:outerShdw>
          </a:effectLst>
          <a:scene3d>
            <a:camera prst="orthographicFront"/>
            <a:lightRig rig="threePt" dir="t"/>
          </a:scene3d>
          <a:sp3d>
            <a:bevelT/>
          </a:sp3d>
        </p:spPr>
        <p:txBody>
          <a:bodyPr wrap="square">
            <a:spAutoFit/>
          </a:bodyPr>
          <a:lstStyle/>
          <a:p>
            <a:pPr algn="ctr"/>
            <a:r>
              <a:rPr lang="en-US" sz="1400" dirty="0">
                <a:solidFill>
                  <a:srgbClr val="000000"/>
                </a:solidFill>
                <a:effectLst>
                  <a:outerShdw blurRad="38100" dist="38100" dir="2700000" algn="tl">
                    <a:srgbClr val="000000">
                      <a:alpha val="43137"/>
                    </a:srgbClr>
                  </a:outerShdw>
                </a:effectLst>
                <a:latin typeface="Calibri" panose="020F0502020204030204" pitchFamily="34" charset="0"/>
                <a:ea typeface="Times New Roman" panose="02020603050405020304" pitchFamily="18" charset="0"/>
              </a:rPr>
              <a:t>Sequence of supply chain planning processes, from top to bottom, and their relationship to each other. </a:t>
            </a:r>
            <a:endParaRPr lang="en-US" sz="1400" dirty="0">
              <a:effectLst>
                <a:outerShdw blurRad="38100" dist="38100" dir="2700000" algn="tl">
                  <a:srgbClr val="000000">
                    <a:alpha val="43137"/>
                  </a:srgbClr>
                </a:outerShdw>
              </a:effectLst>
              <a:latin typeface="Calibri" panose="020F0502020204030204" pitchFamily="34" charset="0"/>
            </a:endParaRPr>
          </a:p>
        </p:txBody>
      </p:sp>
      <p:cxnSp>
        <p:nvCxnSpPr>
          <p:cNvPr id="6" name="Elbow Connector 5"/>
          <p:cNvCxnSpPr>
            <a:stCxn id="92" idx="2"/>
            <a:endCxn id="137" idx="1"/>
          </p:cNvCxnSpPr>
          <p:nvPr/>
        </p:nvCxnSpPr>
        <p:spPr bwMode="auto">
          <a:xfrm rot="16200000" flipH="1">
            <a:off x="3968750" y="6062133"/>
            <a:ext cx="529167" cy="304799"/>
          </a:xfrm>
          <a:prstGeom prst="bentConnector2">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sp>
        <p:nvSpPr>
          <p:cNvPr id="51" name="Rectangle 3"/>
          <p:cNvSpPr txBox="1">
            <a:spLocks noChangeArrowheads="1"/>
          </p:cNvSpPr>
          <p:nvPr/>
        </p:nvSpPr>
        <p:spPr bwMode="auto">
          <a:xfrm>
            <a:off x="7035799" y="3580342"/>
            <a:ext cx="948267" cy="686858"/>
          </a:xfrm>
          <a:prstGeom prst="rect">
            <a:avLst/>
          </a:prstGeom>
          <a:solidFill>
            <a:schemeClr val="bg1"/>
          </a:solidFill>
          <a:ln>
            <a:noFill/>
            <a:miter lim="800000"/>
            <a:headEnd/>
            <a:tailEnd/>
          </a:ln>
        </p:spPr>
        <p:txBody>
          <a:bodyPr vert="horz" wrap="square" lIns="0" tIns="0" rIns="0" bIns="0" numCol="1" anchor="ctr" anchorCtr="1" compatLnSpc="1">
            <a:prstTxWarp prst="textNoShape">
              <a:avLst/>
            </a:prstTxWarp>
          </a:bodyPr>
          <a:lstStyle/>
          <a:p>
            <a:pPr algn="ctr" defTabSz="855663" eaLnBrk="0" hangingPunct="0">
              <a:lnSpc>
                <a:spcPct val="90000"/>
              </a:lnSpc>
              <a:spcBef>
                <a:spcPts val="0"/>
              </a:spcBef>
              <a:spcAft>
                <a:spcPts val="0"/>
              </a:spcAft>
              <a:buClr>
                <a:prstClr val="black"/>
              </a:buClr>
              <a:buFont typeface="Monotype Sorts" charset="0"/>
              <a:buNone/>
              <a:defRPr/>
            </a:pPr>
            <a:endParaRPr lang="en-US" sz="1200" kern="0" dirty="0">
              <a:solidFill>
                <a:srgbClr val="923222"/>
              </a:solidFill>
              <a:effectLst>
                <a:outerShdw blurRad="38100" dist="38100" dir="2700000" algn="tl">
                  <a:srgbClr val="000000">
                    <a:alpha val="43137"/>
                  </a:srgbClr>
                </a:outerShdw>
              </a:effectLst>
              <a:latin typeface="Calibri" panose="020F0502020204030204" pitchFamily="34" charset="0"/>
            </a:endParaRP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4" name="Slide Number Placeholder 3"/>
          <p:cNvSpPr>
            <a:spLocks noGrp="1"/>
          </p:cNvSpPr>
          <p:nvPr>
            <p:ph type="sldNum" sz="quarter" idx="4"/>
          </p:nvPr>
        </p:nvSpPr>
        <p:spPr/>
        <p:txBody>
          <a:bodyPr/>
          <a:lstStyle/>
          <a:p>
            <a:fld id="{E66AA3EA-0569-43EF-BBA3-83FDB109D582}" type="slidenum">
              <a:rPr lang="en-US" smtClean="0"/>
              <a:pPr/>
              <a:t>26</a:t>
            </a:fld>
            <a:endParaRPr lang="en-US" dirty="0"/>
          </a:p>
        </p:txBody>
      </p:sp>
    </p:spTree>
    <p:extLst>
      <p:ext uri="{BB962C8B-B14F-4D97-AF65-F5344CB8AC3E}">
        <p14:creationId xmlns:p14="http://schemas.microsoft.com/office/powerpoint/2010/main" val="2240078610"/>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 calcmode="lin" valueType="num">
                                      <p:cBhvr additive="base">
                                        <p:cTn id="7" dur="500" fill="hold"/>
                                        <p:tgtEl>
                                          <p:spTgt spid="76"/>
                                        </p:tgtEl>
                                        <p:attrNameLst>
                                          <p:attrName>ppt_x</p:attrName>
                                        </p:attrNameLst>
                                      </p:cBhvr>
                                      <p:tavLst>
                                        <p:tav tm="0">
                                          <p:val>
                                            <p:strVal val="#ppt_x"/>
                                          </p:val>
                                        </p:tav>
                                        <p:tav tm="100000">
                                          <p:val>
                                            <p:strVal val="#ppt_x"/>
                                          </p:val>
                                        </p:tav>
                                      </p:tavLst>
                                    </p:anim>
                                    <p:anim calcmode="lin" valueType="num">
                                      <p:cBhvr additive="base">
                                        <p:cTn id="8"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 y="1890441"/>
            <a:ext cx="4699000" cy="4588949"/>
          </a:xfrm>
          <a:prstGeom prst="rect">
            <a:avLst/>
          </a:prstGeom>
        </p:spPr>
        <p:txBody>
          <a:bodyPr wrap="square">
            <a:spAutoFit/>
          </a:bodyPr>
          <a:lstStyle/>
          <a:p>
            <a:pPr>
              <a:lnSpc>
                <a:spcPct val="95000"/>
              </a:lnSpc>
              <a:spcBef>
                <a:spcPts val="600"/>
              </a:spcBef>
              <a:spcAft>
                <a:spcPts val="1200"/>
              </a:spcAft>
              <a:buClr>
                <a:srgbClr val="923222"/>
              </a:buClr>
              <a:buSzPct val="110000"/>
            </a:pPr>
            <a:r>
              <a:rPr lang="en-US" altLang="en-US" sz="20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Resource Requirement Planning (RRP)</a:t>
            </a:r>
            <a:r>
              <a:rPr lang="en-US" altLang="en-US" sz="2000" b="1" dirty="0">
                <a:solidFill>
                  <a:srgbClr val="FF6600"/>
                </a:solidFill>
                <a:latin typeface="Calibri" panose="020F0502020204030204" pitchFamily="34" charset="0"/>
                <a:ea typeface="ＭＳ Ｐゴシック" panose="020B0600070205080204" pitchFamily="34" charset="-128"/>
              </a:rPr>
              <a:t>                 </a:t>
            </a:r>
            <a:r>
              <a:rPr lang="en-US" altLang="en-US" sz="1800" dirty="0">
                <a:latin typeface="Calibri" panose="020F0502020204030204" pitchFamily="34" charset="0"/>
                <a:ea typeface="ＭＳ Ｐゴシック" panose="020B0600070205080204" pitchFamily="34" charset="-128"/>
              </a:rPr>
              <a:t>A long-range capacity planning module used to check whether aggregate resources (i.e., labor and manpower) are capable of satisfying the </a:t>
            </a:r>
            <a:r>
              <a:rPr lang="en-US" altLang="en-US" sz="1800" dirty="0">
                <a:solidFill>
                  <a:srgbClr val="923222"/>
                </a:solidFill>
                <a:latin typeface="Calibri" panose="020F0502020204030204" pitchFamily="34" charset="0"/>
                <a:ea typeface="ＭＳ Ｐゴシック" panose="020B0600070205080204" pitchFamily="34" charset="-128"/>
              </a:rPr>
              <a:t>Aggregate Production Plan</a:t>
            </a:r>
            <a:r>
              <a:rPr lang="en-US" altLang="en-US" sz="1800" dirty="0">
                <a:latin typeface="Calibri" panose="020F0502020204030204" pitchFamily="34" charset="0"/>
                <a:ea typeface="ＭＳ Ｐゴシック" panose="020B0600070205080204" pitchFamily="34" charset="-128"/>
              </a:rPr>
              <a:t>. </a:t>
            </a:r>
          </a:p>
          <a:p>
            <a:pPr>
              <a:lnSpc>
                <a:spcPct val="95000"/>
              </a:lnSpc>
              <a:spcBef>
                <a:spcPts val="600"/>
              </a:spcBef>
              <a:spcAft>
                <a:spcPts val="1200"/>
              </a:spcAft>
              <a:buClr>
                <a:srgbClr val="923222"/>
              </a:buClr>
              <a:buSzPct val="110000"/>
            </a:pPr>
            <a:r>
              <a:rPr lang="en-US" altLang="en-US" sz="20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Rough-Cut Capacity Planning (RCCP)                                    </a:t>
            </a:r>
            <a:r>
              <a:rPr lang="en-US" altLang="en-US" sz="1800" dirty="0">
                <a:latin typeface="Calibri" panose="020F0502020204030204" pitchFamily="34" charset="0"/>
                <a:ea typeface="ＭＳ Ｐゴシック" panose="020B0600070205080204" pitchFamily="34" charset="-128"/>
              </a:rPr>
              <a:t>A medium-range capacity planning module used to check the feasibility of the </a:t>
            </a:r>
            <a:r>
              <a:rPr lang="en-US" altLang="en-US" sz="1800" dirty="0">
                <a:solidFill>
                  <a:srgbClr val="923222"/>
                </a:solidFill>
                <a:latin typeface="Calibri" panose="020F0502020204030204" pitchFamily="34" charset="0"/>
                <a:ea typeface="ＭＳ Ｐゴシック" panose="020B0600070205080204" pitchFamily="34" charset="-128"/>
              </a:rPr>
              <a:t>Master Production Schedule</a:t>
            </a:r>
            <a:r>
              <a:rPr lang="en-US" altLang="en-US" sz="1800" dirty="0">
                <a:latin typeface="Calibri" panose="020F0502020204030204" pitchFamily="34" charset="0"/>
                <a:ea typeface="ＭＳ Ｐゴシック" panose="020B0600070205080204" pitchFamily="34" charset="-128"/>
              </a:rPr>
              <a:t>.   Converts MPS from the production needed to the capacity required, then compares it to capacity available.</a:t>
            </a:r>
          </a:p>
          <a:p>
            <a:pPr>
              <a:lnSpc>
                <a:spcPct val="95000"/>
              </a:lnSpc>
              <a:spcBef>
                <a:spcPts val="600"/>
              </a:spcBef>
              <a:spcAft>
                <a:spcPts val="1200"/>
              </a:spcAft>
              <a:buClr>
                <a:srgbClr val="923222"/>
              </a:buClr>
              <a:buSzPct val="110000"/>
            </a:pPr>
            <a:r>
              <a:rPr lang="en-US" altLang="en-US" sz="20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Capacity Requirement Planning (CRP)                         </a:t>
            </a:r>
            <a:r>
              <a:rPr lang="en-US" altLang="en-US" sz="1800" dirty="0">
                <a:latin typeface="Calibri" panose="020F0502020204030204" pitchFamily="34" charset="0"/>
                <a:ea typeface="ＭＳ Ｐゴシック" panose="020B0600070205080204" pitchFamily="34" charset="-128"/>
              </a:rPr>
              <a:t>A short-range capacity planning module used to check the feasibility of the </a:t>
            </a:r>
            <a:r>
              <a:rPr lang="en-US" altLang="en-US" sz="1800" dirty="0">
                <a:solidFill>
                  <a:srgbClr val="923222"/>
                </a:solidFill>
                <a:latin typeface="Calibri" panose="020F0502020204030204" pitchFamily="34" charset="0"/>
                <a:ea typeface="ＭＳ Ｐゴシック" panose="020B0600070205080204" pitchFamily="34" charset="-128"/>
              </a:rPr>
              <a:t>Material Requirements Plan.</a:t>
            </a:r>
          </a:p>
        </p:txBody>
      </p:sp>
      <p:sp>
        <p:nvSpPr>
          <p:cNvPr id="36866" name="Rectangle 2"/>
          <p:cNvSpPr>
            <a:spLocks noGrp="1" noChangeArrowheads="1"/>
          </p:cNvSpPr>
          <p:nvPr>
            <p:ph type="title" idx="4294967295"/>
          </p:nvPr>
        </p:nvSpPr>
        <p:spPr>
          <a:xfrm>
            <a:off x="228600" y="127660"/>
            <a:ext cx="655320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Capacity Planning</a:t>
            </a:r>
          </a:p>
        </p:txBody>
      </p:sp>
      <p:sp>
        <p:nvSpPr>
          <p:cNvPr id="36867" name="Rectangle 3"/>
          <p:cNvSpPr>
            <a:spLocks noGrp="1" noChangeArrowheads="1"/>
          </p:cNvSpPr>
          <p:nvPr>
            <p:ph type="body" idx="4294967295"/>
          </p:nvPr>
        </p:nvSpPr>
        <p:spPr>
          <a:xfrm>
            <a:off x="228600" y="872067"/>
            <a:ext cx="8754533" cy="1041400"/>
          </a:xfrm>
        </p:spPr>
        <p:txBody>
          <a:bodyPr/>
          <a:lstStyle/>
          <a:p>
            <a:pPr marL="0" indent="0">
              <a:lnSpc>
                <a:spcPct val="90000"/>
              </a:lnSpc>
              <a:spcBef>
                <a:spcPts val="0"/>
              </a:spcBef>
              <a:spcAft>
                <a:spcPts val="600"/>
              </a:spcAft>
              <a:buClr>
                <a:srgbClr val="923222"/>
              </a:buClr>
              <a:buSzPct val="110000"/>
              <a:buNone/>
            </a:pPr>
            <a:r>
              <a:rPr lang="en-US" altLang="en-US" sz="2000" dirty="0">
                <a:latin typeface="Calibri" panose="020F0502020204030204" pitchFamily="34" charset="0"/>
                <a:ea typeface="ＭＳ Ｐゴシック" panose="020B0600070205080204" pitchFamily="34" charset="-128"/>
              </a:rPr>
              <a:t>Organizations must </a:t>
            </a:r>
            <a:r>
              <a:rPr lang="en-US" altLang="en-US" sz="2000" u="sng" dirty="0">
                <a:latin typeface="Calibri" panose="020F0502020204030204" pitchFamily="34" charset="0"/>
                <a:ea typeface="ＭＳ Ｐゴシック" panose="020B0600070205080204" pitchFamily="34" charset="-128"/>
              </a:rPr>
              <a:t>balance the production plan with capacity</a:t>
            </a:r>
            <a:r>
              <a:rPr lang="en-US" altLang="en-US" sz="2000" dirty="0">
                <a:latin typeface="Calibri" panose="020F0502020204030204" pitchFamily="34" charset="0"/>
                <a:ea typeface="ＭＳ Ｐゴシック" panose="020B0600070205080204" pitchFamily="34" charset="-128"/>
              </a:rPr>
              <a:t>.  This directly impacts how effectively the organization deploys its resources in producing goods.  </a:t>
            </a:r>
          </a:p>
          <a:p>
            <a:pPr marL="0" indent="0">
              <a:lnSpc>
                <a:spcPct val="90000"/>
              </a:lnSpc>
              <a:spcBef>
                <a:spcPts val="0"/>
              </a:spcBef>
              <a:spcAft>
                <a:spcPts val="600"/>
              </a:spcAft>
              <a:buClr>
                <a:srgbClr val="923222"/>
              </a:buClr>
              <a:buSzPct val="110000"/>
              <a:buNone/>
            </a:pPr>
            <a:r>
              <a:rPr lang="en-US" altLang="en-US" sz="2000" dirty="0">
                <a:latin typeface="Calibri" panose="020F0502020204030204" pitchFamily="34" charset="0"/>
                <a:ea typeface="ＭＳ Ｐゴシック" panose="020B0600070205080204" pitchFamily="34" charset="-128"/>
              </a:rPr>
              <a:t>The following are the major capacity planning tools:</a:t>
            </a:r>
          </a:p>
        </p:txBody>
      </p:sp>
      <p:sp>
        <p:nvSpPr>
          <p:cNvPr id="5" name="Rectangle 41"/>
          <p:cNvSpPr>
            <a:spLocks noChangeArrowheads="1"/>
          </p:cNvSpPr>
          <p:nvPr/>
        </p:nvSpPr>
        <p:spPr bwMode="auto">
          <a:xfrm>
            <a:off x="5071534" y="3572645"/>
            <a:ext cx="1185595" cy="711392"/>
          </a:xfrm>
          <a:prstGeom prst="rect">
            <a:avLst/>
          </a:prstGeom>
          <a:solidFill>
            <a:schemeClr val="accent1"/>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50" b="1" dirty="0">
                <a:solidFill>
                  <a:srgbClr val="000000"/>
                </a:solidFill>
                <a:latin typeface="News Gothic MT" pitchFamily="34" charset="0"/>
              </a:rPr>
              <a:t>Rough-Cut </a:t>
            </a:r>
          </a:p>
          <a:p>
            <a:pPr algn="ctr" eaLnBrk="0" hangingPunct="0">
              <a:lnSpc>
                <a:spcPct val="80000"/>
              </a:lnSpc>
            </a:pPr>
            <a:r>
              <a:rPr lang="en-US" sz="1050" b="1" dirty="0">
                <a:solidFill>
                  <a:srgbClr val="000000"/>
                </a:solidFill>
                <a:latin typeface="News Gothic MT" pitchFamily="34" charset="0"/>
              </a:rPr>
              <a:t>Capacity </a:t>
            </a:r>
          </a:p>
          <a:p>
            <a:pPr algn="ctr" eaLnBrk="0" hangingPunct="0">
              <a:lnSpc>
                <a:spcPct val="80000"/>
              </a:lnSpc>
            </a:pPr>
            <a:r>
              <a:rPr lang="en-US" sz="1050" b="1" dirty="0">
                <a:solidFill>
                  <a:srgbClr val="000000"/>
                </a:solidFill>
                <a:latin typeface="News Gothic MT" pitchFamily="34" charset="0"/>
              </a:rPr>
              <a:t>Planning</a:t>
            </a:r>
            <a:r>
              <a:rPr lang="en-US" sz="900" b="1" dirty="0">
                <a:solidFill>
                  <a:srgbClr val="000000"/>
                </a:solidFill>
                <a:latin typeface="News Gothic MT" pitchFamily="34" charset="0"/>
              </a:rPr>
              <a:t> </a:t>
            </a:r>
            <a:r>
              <a:rPr lang="en-US" sz="900" dirty="0">
                <a:solidFill>
                  <a:srgbClr val="000000"/>
                </a:solidFill>
                <a:latin typeface="News Gothic MT" pitchFamily="34" charset="0"/>
              </a:rPr>
              <a:t>(RCCP)</a:t>
            </a:r>
            <a:endParaRPr lang="en-US" sz="1050" dirty="0">
              <a:solidFill>
                <a:srgbClr val="000000"/>
              </a:solidFill>
              <a:latin typeface="News Gothic MT" pitchFamily="34" charset="0"/>
            </a:endParaRPr>
          </a:p>
        </p:txBody>
      </p:sp>
      <p:sp>
        <p:nvSpPr>
          <p:cNvPr id="6" name="Rectangle 12"/>
          <p:cNvSpPr>
            <a:spLocks noChangeArrowheads="1"/>
          </p:cNvSpPr>
          <p:nvPr/>
        </p:nvSpPr>
        <p:spPr bwMode="auto">
          <a:xfrm>
            <a:off x="5067300" y="4790852"/>
            <a:ext cx="1172770" cy="713304"/>
          </a:xfrm>
          <a:prstGeom prst="rect">
            <a:avLst/>
          </a:prstGeom>
          <a:solidFill>
            <a:schemeClr val="accent1"/>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50" b="1" dirty="0">
                <a:solidFill>
                  <a:prstClr val="black"/>
                </a:solidFill>
                <a:latin typeface="News Gothic MT"/>
              </a:rPr>
              <a:t>Capacity </a:t>
            </a:r>
          </a:p>
          <a:p>
            <a:pPr algn="ctr" eaLnBrk="0" hangingPunct="0">
              <a:lnSpc>
                <a:spcPct val="80000"/>
              </a:lnSpc>
            </a:pPr>
            <a:r>
              <a:rPr lang="en-US" sz="1050" b="1" dirty="0">
                <a:solidFill>
                  <a:prstClr val="black"/>
                </a:solidFill>
                <a:latin typeface="News Gothic MT"/>
              </a:rPr>
              <a:t>Requirements</a:t>
            </a:r>
          </a:p>
          <a:p>
            <a:pPr algn="ctr" eaLnBrk="0" hangingPunct="0">
              <a:lnSpc>
                <a:spcPct val="80000"/>
              </a:lnSpc>
            </a:pPr>
            <a:r>
              <a:rPr lang="en-US" sz="1050" b="1" dirty="0">
                <a:solidFill>
                  <a:prstClr val="black"/>
                </a:solidFill>
                <a:latin typeface="News Gothic MT"/>
              </a:rPr>
              <a:t>Planning </a:t>
            </a:r>
            <a:r>
              <a:rPr lang="en-US" sz="900" dirty="0">
                <a:solidFill>
                  <a:prstClr val="black"/>
                </a:solidFill>
                <a:latin typeface="News Gothic MT"/>
              </a:rPr>
              <a:t>(CRP)</a:t>
            </a:r>
            <a:endParaRPr lang="en-US" sz="800" dirty="0">
              <a:solidFill>
                <a:prstClr val="black"/>
              </a:solidFill>
              <a:latin typeface="News Gothic MT"/>
            </a:endParaRPr>
          </a:p>
        </p:txBody>
      </p:sp>
      <p:sp>
        <p:nvSpPr>
          <p:cNvPr id="7" name="Rectangle 41"/>
          <p:cNvSpPr>
            <a:spLocks noChangeArrowheads="1"/>
          </p:cNvSpPr>
          <p:nvPr/>
        </p:nvSpPr>
        <p:spPr bwMode="auto">
          <a:xfrm>
            <a:off x="5071534" y="2391604"/>
            <a:ext cx="1185595" cy="711392"/>
          </a:xfrm>
          <a:prstGeom prst="rect">
            <a:avLst/>
          </a:prstGeom>
          <a:solidFill>
            <a:schemeClr val="accent1"/>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50" b="1" dirty="0">
                <a:solidFill>
                  <a:srgbClr val="000000"/>
                </a:solidFill>
                <a:latin typeface="News Gothic MT" pitchFamily="34" charset="0"/>
              </a:rPr>
              <a:t>Resource </a:t>
            </a:r>
          </a:p>
          <a:p>
            <a:pPr algn="ctr" eaLnBrk="0" hangingPunct="0">
              <a:lnSpc>
                <a:spcPct val="80000"/>
              </a:lnSpc>
            </a:pPr>
            <a:r>
              <a:rPr lang="en-US" sz="1050" b="1" dirty="0">
                <a:solidFill>
                  <a:srgbClr val="000000"/>
                </a:solidFill>
                <a:latin typeface="News Gothic MT" pitchFamily="34" charset="0"/>
              </a:rPr>
              <a:t>Requirements </a:t>
            </a:r>
          </a:p>
          <a:p>
            <a:pPr algn="ctr" eaLnBrk="0" hangingPunct="0">
              <a:lnSpc>
                <a:spcPct val="80000"/>
              </a:lnSpc>
            </a:pPr>
            <a:r>
              <a:rPr lang="en-US" sz="1050" b="1" dirty="0">
                <a:solidFill>
                  <a:srgbClr val="000000"/>
                </a:solidFill>
                <a:latin typeface="News Gothic MT" pitchFamily="34" charset="0"/>
              </a:rPr>
              <a:t>Planning</a:t>
            </a:r>
            <a:r>
              <a:rPr lang="en-US" sz="900" b="1" dirty="0">
                <a:solidFill>
                  <a:srgbClr val="000000"/>
                </a:solidFill>
                <a:latin typeface="News Gothic MT" pitchFamily="34" charset="0"/>
              </a:rPr>
              <a:t> </a:t>
            </a:r>
            <a:r>
              <a:rPr lang="en-US" sz="900" dirty="0">
                <a:solidFill>
                  <a:srgbClr val="000000"/>
                </a:solidFill>
                <a:latin typeface="News Gothic MT" pitchFamily="34" charset="0"/>
              </a:rPr>
              <a:t>(RRP)</a:t>
            </a:r>
            <a:endParaRPr lang="en-US" sz="1050" dirty="0">
              <a:solidFill>
                <a:srgbClr val="000000"/>
              </a:solidFill>
              <a:latin typeface="News Gothic MT" pitchFamily="34" charset="0"/>
            </a:endParaRPr>
          </a:p>
        </p:txBody>
      </p:sp>
      <p:cxnSp>
        <p:nvCxnSpPr>
          <p:cNvPr id="8" name="Straight Arrow Connector 7"/>
          <p:cNvCxnSpPr>
            <a:stCxn id="6" idx="3"/>
            <a:endCxn id="21" idx="1"/>
          </p:cNvCxnSpPr>
          <p:nvPr/>
        </p:nvCxnSpPr>
        <p:spPr bwMode="auto">
          <a:xfrm>
            <a:off x="6240070" y="5147504"/>
            <a:ext cx="465530" cy="0"/>
          </a:xfrm>
          <a:prstGeom prst="straightConnector1">
            <a:avLst/>
          </a:prstGeom>
          <a:solidFill>
            <a:schemeClr val="accent1"/>
          </a:solidFill>
          <a:ln w="28575" cap="flat" cmpd="sng" algn="ctr">
            <a:solidFill>
              <a:schemeClr val="tx1"/>
            </a:solidFill>
            <a:prstDash val="sysDash"/>
            <a:round/>
            <a:headEnd type="triangle"/>
            <a:tailEnd type="triangle"/>
          </a:ln>
          <a:effectLst/>
        </p:spPr>
      </p:cxnSp>
      <p:cxnSp>
        <p:nvCxnSpPr>
          <p:cNvPr id="9" name="Straight Arrow Connector 8"/>
          <p:cNvCxnSpPr>
            <a:stCxn id="5" idx="3"/>
            <a:endCxn id="18" idx="1"/>
          </p:cNvCxnSpPr>
          <p:nvPr/>
        </p:nvCxnSpPr>
        <p:spPr bwMode="auto">
          <a:xfrm>
            <a:off x="6257129" y="3928341"/>
            <a:ext cx="448471" cy="2"/>
          </a:xfrm>
          <a:prstGeom prst="straightConnector1">
            <a:avLst/>
          </a:prstGeom>
          <a:solidFill>
            <a:schemeClr val="accent1"/>
          </a:solidFill>
          <a:ln w="28575" cap="flat" cmpd="sng" algn="ctr">
            <a:solidFill>
              <a:schemeClr val="tx1"/>
            </a:solidFill>
            <a:prstDash val="sysDash"/>
            <a:round/>
            <a:headEnd type="triangle"/>
            <a:tailEnd type="triangle"/>
          </a:ln>
          <a:effectLst/>
        </p:spPr>
      </p:cxnSp>
      <p:cxnSp>
        <p:nvCxnSpPr>
          <p:cNvPr id="10" name="Straight Arrow Connector 9"/>
          <p:cNvCxnSpPr>
            <a:stCxn id="7" idx="3"/>
            <a:endCxn id="17" idx="1"/>
          </p:cNvCxnSpPr>
          <p:nvPr/>
        </p:nvCxnSpPr>
        <p:spPr bwMode="auto">
          <a:xfrm>
            <a:off x="6257129" y="2747300"/>
            <a:ext cx="448471" cy="1"/>
          </a:xfrm>
          <a:prstGeom prst="straightConnector1">
            <a:avLst/>
          </a:prstGeom>
          <a:solidFill>
            <a:schemeClr val="accent1"/>
          </a:solidFill>
          <a:ln w="28575" cap="flat" cmpd="sng" algn="ctr">
            <a:solidFill>
              <a:schemeClr val="tx1"/>
            </a:solidFill>
            <a:prstDash val="sysDash"/>
            <a:round/>
            <a:headEnd type="triangle"/>
            <a:tailEnd type="triangle"/>
          </a:ln>
          <a:effectLst/>
        </p:spPr>
      </p:cxnSp>
      <p:sp>
        <p:nvSpPr>
          <p:cNvPr id="11" name="Rectangle 37"/>
          <p:cNvSpPr>
            <a:spLocks noChangeArrowheads="1"/>
          </p:cNvSpPr>
          <p:nvPr/>
        </p:nvSpPr>
        <p:spPr bwMode="auto">
          <a:xfrm>
            <a:off x="7810194" y="6019060"/>
            <a:ext cx="1105206" cy="501010"/>
          </a:xfrm>
          <a:prstGeom prst="rect">
            <a:avLst/>
          </a:prstGeom>
          <a:solidFill>
            <a:schemeClr val="bg1"/>
          </a:solidFill>
          <a:ln w="12700">
            <a:solidFill>
              <a:schemeClr val="bg1">
                <a:lumMod val="65000"/>
              </a:schemeClr>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90000"/>
              </a:lnSpc>
            </a:pPr>
            <a:r>
              <a:rPr lang="en-US" sz="1050" b="1" dirty="0">
                <a:solidFill>
                  <a:schemeClr val="bg2"/>
                </a:solidFill>
                <a:latin typeface="News Gothic MT" pitchFamily="34" charset="0"/>
              </a:rPr>
              <a:t>Manufacturing </a:t>
            </a:r>
          </a:p>
          <a:p>
            <a:pPr algn="ctr" eaLnBrk="0" hangingPunct="0">
              <a:lnSpc>
                <a:spcPct val="90000"/>
              </a:lnSpc>
            </a:pPr>
            <a:r>
              <a:rPr lang="en-US" sz="800" i="1" dirty="0">
                <a:solidFill>
                  <a:schemeClr val="bg2"/>
                </a:solidFill>
                <a:latin typeface="News Gothic MT" pitchFamily="34" charset="0"/>
              </a:rPr>
              <a:t>(Internal or External)</a:t>
            </a:r>
          </a:p>
        </p:txBody>
      </p:sp>
      <p:cxnSp>
        <p:nvCxnSpPr>
          <p:cNvPr id="12" name="Straight Arrow Connector 11"/>
          <p:cNvCxnSpPr/>
          <p:nvPr/>
        </p:nvCxnSpPr>
        <p:spPr bwMode="auto">
          <a:xfrm>
            <a:off x="7255201" y="5497609"/>
            <a:ext cx="732" cy="500795"/>
          </a:xfrm>
          <a:prstGeom prst="straightConnector1">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13" name="Straight Arrow Connector 12"/>
          <p:cNvCxnSpPr/>
          <p:nvPr/>
        </p:nvCxnSpPr>
        <p:spPr bwMode="auto">
          <a:xfrm>
            <a:off x="8494041" y="4183363"/>
            <a:ext cx="0" cy="1812730"/>
          </a:xfrm>
          <a:prstGeom prst="straightConnector1">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14" name="Straight Arrow Connector 13"/>
          <p:cNvCxnSpPr/>
          <p:nvPr/>
        </p:nvCxnSpPr>
        <p:spPr bwMode="auto">
          <a:xfrm>
            <a:off x="7258798" y="4184844"/>
            <a:ext cx="1192" cy="581827"/>
          </a:xfrm>
          <a:prstGeom prst="straightConnector1">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15" name="Straight Arrow Connector 14"/>
          <p:cNvCxnSpPr>
            <a:stCxn id="20" idx="3"/>
            <a:endCxn id="11" idx="1"/>
          </p:cNvCxnSpPr>
          <p:nvPr/>
        </p:nvCxnSpPr>
        <p:spPr bwMode="auto">
          <a:xfrm flipV="1">
            <a:off x="7633906" y="6269565"/>
            <a:ext cx="176288" cy="1"/>
          </a:xfrm>
          <a:prstGeom prst="straightConnector1">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16" name="Straight Connector 15"/>
          <p:cNvCxnSpPr>
            <a:stCxn id="17" idx="2"/>
            <a:endCxn id="18" idx="0"/>
          </p:cNvCxnSpPr>
          <p:nvPr/>
        </p:nvCxnSpPr>
        <p:spPr bwMode="auto">
          <a:xfrm>
            <a:off x="7810500" y="2995389"/>
            <a:ext cx="0" cy="670207"/>
          </a:xfrm>
          <a:prstGeom prst="line">
            <a:avLst/>
          </a:prstGeom>
          <a:solidFill>
            <a:schemeClr val="accent1"/>
          </a:solidFill>
          <a:ln w="38100" cap="flat" cmpd="sng" algn="ctr">
            <a:solidFill>
              <a:schemeClr val="tx1"/>
            </a:solidFill>
            <a:prstDash val="solid"/>
            <a:round/>
            <a:headEnd type="none" w="med" len="med"/>
            <a:tailEnd type="triangle" w="med" len="med"/>
          </a:ln>
          <a:effectLst>
            <a:outerShdw blurRad="50800" dist="38100" dir="2700000" algn="tl" rotWithShape="0">
              <a:prstClr val="black">
                <a:alpha val="40000"/>
              </a:prstClr>
            </a:outerShdw>
          </a:effectLst>
        </p:spPr>
      </p:cxnSp>
      <p:sp>
        <p:nvSpPr>
          <p:cNvPr id="17" name="Rectangle 52"/>
          <p:cNvSpPr>
            <a:spLocks noChangeArrowheads="1"/>
          </p:cNvSpPr>
          <p:nvPr/>
        </p:nvSpPr>
        <p:spPr bwMode="auto">
          <a:xfrm>
            <a:off x="6705600" y="2499212"/>
            <a:ext cx="2209800" cy="496177"/>
          </a:xfrm>
          <a:prstGeom prst="rect">
            <a:avLst/>
          </a:prstGeom>
          <a:solidFill>
            <a:schemeClr val="accent3"/>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50" b="1" dirty="0">
                <a:solidFill>
                  <a:schemeClr val="bg1"/>
                </a:solidFill>
                <a:effectLst>
                  <a:outerShdw blurRad="38100" dist="38100" dir="2700000" algn="tl">
                    <a:srgbClr val="000000">
                      <a:alpha val="43137"/>
                    </a:srgbClr>
                  </a:outerShdw>
                </a:effectLst>
                <a:latin typeface="News Gothic MT" pitchFamily="34" charset="0"/>
              </a:rPr>
              <a:t>Aggregate Production </a:t>
            </a:r>
          </a:p>
          <a:p>
            <a:pPr algn="ctr" eaLnBrk="0" hangingPunct="0">
              <a:lnSpc>
                <a:spcPct val="80000"/>
              </a:lnSpc>
            </a:pPr>
            <a:r>
              <a:rPr lang="en-US" sz="1050" b="1" dirty="0">
                <a:solidFill>
                  <a:schemeClr val="bg1"/>
                </a:solidFill>
                <a:effectLst>
                  <a:outerShdw blurRad="38100" dist="38100" dir="2700000" algn="tl">
                    <a:srgbClr val="000000">
                      <a:alpha val="43137"/>
                    </a:srgbClr>
                  </a:outerShdw>
                </a:effectLst>
                <a:latin typeface="News Gothic MT" pitchFamily="34" charset="0"/>
              </a:rPr>
              <a:t>Planning </a:t>
            </a:r>
            <a:r>
              <a:rPr lang="en-US" sz="900" dirty="0">
                <a:solidFill>
                  <a:schemeClr val="bg1"/>
                </a:solidFill>
                <a:effectLst>
                  <a:outerShdw blurRad="38100" dist="38100" dir="2700000" algn="tl">
                    <a:srgbClr val="000000">
                      <a:alpha val="43137"/>
                    </a:srgbClr>
                  </a:outerShdw>
                </a:effectLst>
                <a:latin typeface="News Gothic MT" pitchFamily="34" charset="0"/>
              </a:rPr>
              <a:t>(APP)</a:t>
            </a:r>
          </a:p>
        </p:txBody>
      </p:sp>
      <p:sp>
        <p:nvSpPr>
          <p:cNvPr id="18" name="Rectangle 39"/>
          <p:cNvSpPr>
            <a:spLocks noChangeArrowheads="1"/>
          </p:cNvSpPr>
          <p:nvPr/>
        </p:nvSpPr>
        <p:spPr bwMode="auto">
          <a:xfrm>
            <a:off x="6705600" y="3665596"/>
            <a:ext cx="2209800" cy="525493"/>
          </a:xfrm>
          <a:prstGeom prst="rect">
            <a:avLst/>
          </a:prstGeom>
          <a:solidFill>
            <a:schemeClr val="accent3"/>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50" b="1" dirty="0">
                <a:solidFill>
                  <a:schemeClr val="bg1"/>
                </a:solidFill>
                <a:effectLst>
                  <a:outerShdw blurRad="38100" dist="38100" dir="2700000" algn="tl">
                    <a:srgbClr val="000000">
                      <a:alpha val="43137"/>
                    </a:srgbClr>
                  </a:outerShdw>
                </a:effectLst>
                <a:latin typeface="News Gothic MT" pitchFamily="34" charset="0"/>
              </a:rPr>
              <a:t>Master Production</a:t>
            </a:r>
          </a:p>
          <a:p>
            <a:pPr algn="ctr" eaLnBrk="0" hangingPunct="0">
              <a:lnSpc>
                <a:spcPct val="80000"/>
              </a:lnSpc>
            </a:pPr>
            <a:r>
              <a:rPr lang="en-US" sz="1050" b="1" dirty="0">
                <a:solidFill>
                  <a:schemeClr val="bg1"/>
                </a:solidFill>
                <a:effectLst>
                  <a:outerShdw blurRad="38100" dist="38100" dir="2700000" algn="tl">
                    <a:srgbClr val="000000">
                      <a:alpha val="43137"/>
                    </a:srgbClr>
                  </a:outerShdw>
                </a:effectLst>
                <a:latin typeface="News Gothic MT" pitchFamily="34" charset="0"/>
              </a:rPr>
              <a:t>Scheduling </a:t>
            </a:r>
            <a:r>
              <a:rPr lang="en-US" sz="900" dirty="0">
                <a:solidFill>
                  <a:schemeClr val="bg1"/>
                </a:solidFill>
                <a:effectLst>
                  <a:outerShdw blurRad="38100" dist="38100" dir="2700000" algn="tl">
                    <a:srgbClr val="000000">
                      <a:alpha val="43137"/>
                    </a:srgbClr>
                  </a:outerShdw>
                </a:effectLst>
                <a:latin typeface="News Gothic MT" pitchFamily="34" charset="0"/>
              </a:rPr>
              <a:t>(MPS)</a:t>
            </a:r>
          </a:p>
        </p:txBody>
      </p:sp>
      <p:cxnSp>
        <p:nvCxnSpPr>
          <p:cNvPr id="19" name="Elbow Connector 18"/>
          <p:cNvCxnSpPr>
            <a:stCxn id="21" idx="3"/>
          </p:cNvCxnSpPr>
          <p:nvPr/>
        </p:nvCxnSpPr>
        <p:spPr bwMode="auto">
          <a:xfrm>
            <a:off x="7813188" y="5147504"/>
            <a:ext cx="433345" cy="859367"/>
          </a:xfrm>
          <a:prstGeom prst="bentConnector2">
            <a:avLst/>
          </a:prstGeom>
          <a:solidFill>
            <a:schemeClr val="accent1"/>
          </a:solidFill>
          <a:ln w="3810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sp>
        <p:nvSpPr>
          <p:cNvPr id="20" name="Rectangle 37"/>
          <p:cNvSpPr>
            <a:spLocks noChangeArrowheads="1"/>
          </p:cNvSpPr>
          <p:nvPr/>
        </p:nvSpPr>
        <p:spPr bwMode="auto">
          <a:xfrm>
            <a:off x="6705600" y="6021033"/>
            <a:ext cx="928306" cy="497065"/>
          </a:xfrm>
          <a:prstGeom prst="rect">
            <a:avLst/>
          </a:prstGeom>
          <a:solidFill>
            <a:schemeClr val="bg1"/>
          </a:solidFill>
          <a:ln w="12700">
            <a:solidFill>
              <a:schemeClr val="bg1">
                <a:lumMod val="65000"/>
              </a:schemeClr>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90000"/>
              </a:lnSpc>
            </a:pPr>
            <a:r>
              <a:rPr lang="en-US" sz="1050" b="1" dirty="0">
                <a:solidFill>
                  <a:schemeClr val="bg2"/>
                </a:solidFill>
                <a:latin typeface="News Gothic MT" pitchFamily="34" charset="0"/>
              </a:rPr>
              <a:t>Suppliers</a:t>
            </a:r>
          </a:p>
        </p:txBody>
      </p:sp>
      <p:sp>
        <p:nvSpPr>
          <p:cNvPr id="21" name="Rectangle 48"/>
          <p:cNvSpPr>
            <a:spLocks noChangeArrowheads="1"/>
          </p:cNvSpPr>
          <p:nvPr/>
        </p:nvSpPr>
        <p:spPr bwMode="auto">
          <a:xfrm>
            <a:off x="6705600" y="4766671"/>
            <a:ext cx="1107588" cy="761665"/>
          </a:xfrm>
          <a:prstGeom prst="rect">
            <a:avLst/>
          </a:prstGeom>
          <a:solidFill>
            <a:schemeClr val="accent3"/>
          </a:solidFill>
          <a:ln w="1270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wrap="none" lIns="0" tIns="0" rIns="0" bIns="0" anchor="ctr" anchorCtr="1">
            <a:noAutofit/>
          </a:bodyPr>
          <a:lstStyle/>
          <a:p>
            <a:pPr algn="ctr" eaLnBrk="0" hangingPunct="0">
              <a:lnSpc>
                <a:spcPct val="80000"/>
              </a:lnSpc>
            </a:pPr>
            <a:r>
              <a:rPr lang="en-US" sz="1050" b="1" dirty="0">
                <a:solidFill>
                  <a:schemeClr val="bg1"/>
                </a:solidFill>
                <a:effectLst>
                  <a:outerShdw blurRad="38100" dist="38100" dir="2700000" algn="tl">
                    <a:srgbClr val="000000">
                      <a:alpha val="43137"/>
                    </a:srgbClr>
                  </a:outerShdw>
                </a:effectLst>
                <a:latin typeface="News Gothic MT" pitchFamily="34" charset="0"/>
              </a:rPr>
              <a:t>Material </a:t>
            </a:r>
          </a:p>
          <a:p>
            <a:pPr algn="ctr" eaLnBrk="0" hangingPunct="0">
              <a:lnSpc>
                <a:spcPct val="80000"/>
              </a:lnSpc>
            </a:pPr>
            <a:r>
              <a:rPr lang="en-US" sz="1050" b="1" dirty="0">
                <a:solidFill>
                  <a:schemeClr val="bg1"/>
                </a:solidFill>
                <a:effectLst>
                  <a:outerShdw blurRad="38100" dist="38100" dir="2700000" algn="tl">
                    <a:srgbClr val="000000">
                      <a:alpha val="43137"/>
                    </a:srgbClr>
                  </a:outerShdw>
                </a:effectLst>
                <a:latin typeface="News Gothic MT" pitchFamily="34" charset="0"/>
              </a:rPr>
              <a:t>Requirements </a:t>
            </a:r>
          </a:p>
          <a:p>
            <a:pPr algn="ctr" eaLnBrk="0" hangingPunct="0">
              <a:lnSpc>
                <a:spcPct val="80000"/>
              </a:lnSpc>
            </a:pPr>
            <a:r>
              <a:rPr lang="en-US" sz="1050" b="1" dirty="0">
                <a:solidFill>
                  <a:schemeClr val="bg1"/>
                </a:solidFill>
                <a:effectLst>
                  <a:outerShdw blurRad="38100" dist="38100" dir="2700000" algn="tl">
                    <a:srgbClr val="000000">
                      <a:alpha val="43137"/>
                    </a:srgbClr>
                  </a:outerShdw>
                </a:effectLst>
                <a:latin typeface="News Gothic MT" pitchFamily="34" charset="0"/>
              </a:rPr>
              <a:t>Planning </a:t>
            </a:r>
            <a:r>
              <a:rPr lang="en-US" sz="900" dirty="0">
                <a:solidFill>
                  <a:schemeClr val="bg1"/>
                </a:solidFill>
                <a:effectLst>
                  <a:outerShdw blurRad="38100" dist="38100" dir="2700000" algn="tl">
                    <a:srgbClr val="000000">
                      <a:alpha val="43137"/>
                    </a:srgbClr>
                  </a:outerShdw>
                </a:effectLst>
                <a:latin typeface="News Gothic MT" pitchFamily="34" charset="0"/>
              </a:rPr>
              <a:t>(MRP)</a:t>
            </a:r>
          </a:p>
        </p:txBody>
      </p:sp>
      <p:sp>
        <p:nvSpPr>
          <p:cNvPr id="4" name="Rectangle 3"/>
          <p:cNvSpPr/>
          <p:nvPr/>
        </p:nvSpPr>
        <p:spPr>
          <a:xfrm>
            <a:off x="4076700" y="85534"/>
            <a:ext cx="4741334" cy="590931"/>
          </a:xfrm>
          <a:prstGeom prst="rect">
            <a:avLst/>
          </a:prstGeom>
        </p:spPr>
        <p:txBody>
          <a:bodyPr wrap="square">
            <a:spAutoFit/>
          </a:bodyPr>
          <a:lstStyle/>
          <a:p>
            <a:pPr>
              <a:lnSpc>
                <a:spcPct val="90000"/>
              </a:lnSpc>
            </a:pPr>
            <a:r>
              <a:rPr lang="en-US" sz="1800" dirty="0">
                <a:latin typeface="Calibri" panose="020F0502020204030204" pitchFamily="34" charset="0"/>
              </a:rPr>
              <a:t>Determining the amount of capacity required to produce a good or service in the future.</a:t>
            </a:r>
          </a:p>
        </p:txBody>
      </p: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22" name="Slide Number Placeholder 21"/>
          <p:cNvSpPr>
            <a:spLocks noGrp="1"/>
          </p:cNvSpPr>
          <p:nvPr>
            <p:ph type="sldNum" sz="quarter" idx="4"/>
          </p:nvPr>
        </p:nvSpPr>
        <p:spPr/>
        <p:txBody>
          <a:bodyPr/>
          <a:lstStyle/>
          <a:p>
            <a:fld id="{E66AA3EA-0569-43EF-BBA3-83FDB109D582}" type="slidenum">
              <a:rPr lang="en-US" smtClean="0"/>
              <a:pPr/>
              <a:t>27</a:t>
            </a:fld>
            <a:endParaRPr lang="en-US" dirty="0"/>
          </a:p>
        </p:txBody>
      </p:sp>
    </p:spTree>
    <p:extLst>
      <p:ext uri="{BB962C8B-B14F-4D97-AF65-F5344CB8AC3E}">
        <p14:creationId xmlns:p14="http://schemas.microsoft.com/office/powerpoint/2010/main" val="744838664"/>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 calcmode="lin" valueType="num">
                                      <p:cBhvr additive="base">
                                        <p:cTn id="7" dur="500" fill="hold"/>
                                        <p:tgtEl>
                                          <p:spTgt spid="368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6867">
                                            <p:txEl>
                                              <p:pRg st="1" end="1"/>
                                            </p:txEl>
                                          </p:spTgt>
                                        </p:tgtEl>
                                        <p:attrNameLst>
                                          <p:attrName>style.visibility</p:attrName>
                                        </p:attrNameLst>
                                      </p:cBhvr>
                                      <p:to>
                                        <p:strVal val="visible"/>
                                      </p:to>
                                    </p:set>
                                    <p:anim calcmode="lin" valueType="num">
                                      <p:cBhvr additive="base">
                                        <p:cTn id="11" dur="500" fill="hold"/>
                                        <p:tgtEl>
                                          <p:spTgt spid="3686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68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 calcmode="lin" valueType="num">
                                      <p:cBhvr additive="base">
                                        <p:cTn id="1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additive="base">
                                        <p:cTn id="2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 calcmode="lin" valueType="num">
                                      <p:cBhvr additive="base">
                                        <p:cTn id="2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228600" y="137535"/>
            <a:ext cx="8439150" cy="486929"/>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Distribution Requirements Planning (DRP)</a:t>
            </a:r>
          </a:p>
        </p:txBody>
      </p:sp>
      <p:sp>
        <p:nvSpPr>
          <p:cNvPr id="37891" name="Rectangle 3"/>
          <p:cNvSpPr>
            <a:spLocks noGrp="1" noChangeArrowheads="1"/>
          </p:cNvSpPr>
          <p:nvPr>
            <p:ph type="body" idx="4294967295"/>
          </p:nvPr>
        </p:nvSpPr>
        <p:spPr>
          <a:xfrm>
            <a:off x="203200" y="914400"/>
            <a:ext cx="8686801" cy="2144760"/>
          </a:xfrm>
        </p:spPr>
        <p:txBody>
          <a:bodyPr/>
          <a:lstStyle/>
          <a:p>
            <a:pPr marL="0" indent="0">
              <a:lnSpc>
                <a:spcPct val="90000"/>
              </a:lnSpc>
              <a:spcBef>
                <a:spcPts val="1200"/>
              </a:spcBef>
              <a:spcAft>
                <a:spcPts val="0"/>
              </a:spcAft>
              <a:buFontTx/>
              <a:buNone/>
            </a:pPr>
            <a:r>
              <a:rPr lang="en-US" altLang="en-US" sz="2800" dirty="0">
                <a:latin typeface="Calibri" panose="020F0502020204030204" pitchFamily="34" charset="0"/>
                <a:ea typeface="ＭＳ Ｐゴシック" panose="020B0600070205080204" pitchFamily="34" charset="-128"/>
              </a:rPr>
              <a:t>A time-phased finished good inventory replenishment plan in a distribution network. The </a:t>
            </a:r>
            <a:r>
              <a:rPr lang="en-US" altLang="en-US" sz="2800" u="sng" dirty="0">
                <a:latin typeface="Calibri" panose="020F0502020204030204" pitchFamily="34" charset="0"/>
                <a:ea typeface="ＭＳ Ｐゴシック" panose="020B0600070205080204" pitchFamily="34" charset="-128"/>
              </a:rPr>
              <a:t>function of determining the need to replenish inventory at branch warehouses</a:t>
            </a:r>
            <a:r>
              <a:rPr lang="en-US" altLang="en-US" sz="2800" dirty="0">
                <a:latin typeface="Calibri" panose="020F0502020204030204" pitchFamily="34" charset="0"/>
                <a:ea typeface="ＭＳ Ｐゴシック" panose="020B0600070205080204" pitchFamily="34" charset="-128"/>
              </a:rPr>
              <a:t>. </a:t>
            </a:r>
          </a:p>
          <a:p>
            <a:pPr marL="576263" lvl="1" indent="-406400">
              <a:lnSpc>
                <a:spcPct val="90000"/>
              </a:lnSpc>
              <a:spcBef>
                <a:spcPts val="1200"/>
              </a:spcBef>
              <a:spcAft>
                <a:spcPts val="1200"/>
              </a:spcAft>
            </a:pPr>
            <a:r>
              <a:rPr lang="en-US" altLang="en-US" sz="2400" dirty="0">
                <a:latin typeface="Calibri" panose="020F0502020204030204" pitchFamily="34" charset="0"/>
                <a:ea typeface="ＭＳ Ｐゴシック" panose="020B0600070205080204" pitchFamily="34" charset="-128"/>
              </a:rPr>
              <a:t>DRP is a logical extension of the MRP system and ties physical distribution to the manufacturing planning and control system </a:t>
            </a:r>
          </a:p>
          <a:p>
            <a:pPr marL="0" indent="0">
              <a:spcBef>
                <a:spcPts val="1200"/>
              </a:spcBef>
              <a:spcAft>
                <a:spcPts val="1200"/>
              </a:spcAft>
              <a:buFontTx/>
              <a:buNone/>
            </a:pPr>
            <a:r>
              <a:rPr lang="en-US" altLang="en-US" sz="2800" dirty="0">
                <a:latin typeface="Calibri" panose="020F0502020204030204" pitchFamily="34" charset="0"/>
                <a:ea typeface="ＭＳ Ｐゴシック" panose="020B0600070205080204" pitchFamily="34" charset="-128"/>
              </a:rPr>
              <a:t>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3382142"/>
            <a:ext cx="4893733" cy="2629104"/>
          </a:xfrm>
          <a:prstGeom prst="rect">
            <a:avLst/>
          </a:prstGeom>
        </p:spPr>
      </p:pic>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4" name="Slide Number Placeholder 3"/>
          <p:cNvSpPr>
            <a:spLocks noGrp="1"/>
          </p:cNvSpPr>
          <p:nvPr>
            <p:ph type="sldNum" sz="quarter" idx="4"/>
          </p:nvPr>
        </p:nvSpPr>
        <p:spPr/>
        <p:txBody>
          <a:bodyPr/>
          <a:lstStyle/>
          <a:p>
            <a:fld id="{E66AA3EA-0569-43EF-BBA3-83FDB109D582}" type="slidenum">
              <a:rPr lang="en-US" smtClean="0"/>
              <a:pPr/>
              <a:t>28</a:t>
            </a:fld>
            <a:endParaRPr lang="en-US" dirty="0"/>
          </a:p>
        </p:txBody>
      </p:sp>
      <p:sp>
        <p:nvSpPr>
          <p:cNvPr id="5" name="Rectangle 4"/>
          <p:cNvSpPr/>
          <p:nvPr/>
        </p:nvSpPr>
        <p:spPr>
          <a:xfrm>
            <a:off x="5410201" y="3473282"/>
            <a:ext cx="3733800" cy="2446824"/>
          </a:xfrm>
          <a:prstGeom prst="rect">
            <a:avLst/>
          </a:prstGeom>
        </p:spPr>
        <p:txBody>
          <a:bodyPr wrap="square">
            <a:spAutoFit/>
          </a:bodyPr>
          <a:lstStyle/>
          <a:p>
            <a:pPr eaLnBrk="0" hangingPunct="0">
              <a:spcBef>
                <a:spcPts val="0"/>
              </a:spcBef>
              <a:spcAft>
                <a:spcPts val="600"/>
              </a:spcAft>
            </a:pPr>
            <a:r>
              <a:rPr lang="en-US" sz="2000" b="1"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Key elements necessary for DRP:</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223838" eaLnBrk="0" hangingPunct="0">
              <a:spcBef>
                <a:spcPts val="0"/>
              </a:spcBef>
              <a:spcAft>
                <a:spcPts val="600"/>
              </a:spcAft>
              <a:buFont typeface="Wingdings" panose="05000000000000000000" pitchFamily="2" charset="2"/>
              <a:buChar char=""/>
            </a:pPr>
            <a:r>
              <a:rPr lang="en-US" sz="18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Forecast demands by DC</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342900" lvl="0" indent="-223838" eaLnBrk="0" hangingPunct="0">
              <a:spcBef>
                <a:spcPts val="0"/>
              </a:spcBef>
              <a:spcAft>
                <a:spcPts val="600"/>
              </a:spcAft>
              <a:buFont typeface="Wingdings" panose="05000000000000000000" pitchFamily="2" charset="2"/>
              <a:buChar char=""/>
            </a:pPr>
            <a:r>
              <a:rPr lang="en-US" sz="18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Current inventory levels by DC</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342900" lvl="0" indent="-223838" eaLnBrk="0" hangingPunct="0">
              <a:spcBef>
                <a:spcPts val="0"/>
              </a:spcBef>
              <a:spcAft>
                <a:spcPts val="600"/>
              </a:spcAft>
              <a:buFont typeface="Wingdings" panose="05000000000000000000" pitchFamily="2" charset="2"/>
              <a:buChar char=""/>
            </a:pPr>
            <a:r>
              <a:rPr lang="en-US" sz="18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Target safety stock by DC</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342900" lvl="0" indent="-223838" eaLnBrk="0" hangingPunct="0">
              <a:spcBef>
                <a:spcPts val="0"/>
              </a:spcBef>
              <a:spcAft>
                <a:spcPts val="600"/>
              </a:spcAft>
              <a:buFont typeface="Wingdings" panose="05000000000000000000" pitchFamily="2" charset="2"/>
              <a:buChar char=""/>
            </a:pPr>
            <a:r>
              <a:rPr lang="en-US" sz="18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Recommended replenishment quantities</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342900" lvl="0" indent="-223838" eaLnBrk="0" hangingPunct="0">
              <a:spcBef>
                <a:spcPts val="0"/>
              </a:spcBef>
              <a:spcAft>
                <a:spcPts val="600"/>
              </a:spcAft>
              <a:buFont typeface="Wingdings" panose="05000000000000000000" pitchFamily="2" charset="2"/>
              <a:buChar char=""/>
            </a:pPr>
            <a:r>
              <a:rPr lang="en-US" sz="18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Replenishment lead times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87894295"/>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 calcmode="lin" valueType="num">
                                      <p:cBhvr additive="base">
                                        <p:cTn id="7" dur="500" fill="hold"/>
                                        <p:tgtEl>
                                          <p:spTgt spid="378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7891">
                                            <p:txEl>
                                              <p:pRg st="1" end="1"/>
                                            </p:txEl>
                                          </p:spTgt>
                                        </p:tgtEl>
                                        <p:attrNameLst>
                                          <p:attrName>style.visibility</p:attrName>
                                        </p:attrNameLst>
                                      </p:cBhvr>
                                      <p:to>
                                        <p:strVal val="visible"/>
                                      </p:to>
                                    </p:set>
                                    <p:anim calcmode="lin" valueType="num">
                                      <p:cBhvr additive="base">
                                        <p:cTn id="11" dur="500" fill="hold"/>
                                        <p:tgtEl>
                                          <p:spTgt spid="3789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78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a:xfrm>
            <a:off x="228600" y="132598"/>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Enterprise Requirements Planning Systems (ERP) </a:t>
            </a:r>
          </a:p>
        </p:txBody>
      </p:sp>
      <p:sp>
        <p:nvSpPr>
          <p:cNvPr id="38915" name="Rectangle 3"/>
          <p:cNvSpPr>
            <a:spLocks noGrp="1" noChangeArrowheads="1"/>
          </p:cNvSpPr>
          <p:nvPr>
            <p:ph type="body" idx="4294967295"/>
          </p:nvPr>
        </p:nvSpPr>
        <p:spPr>
          <a:xfrm>
            <a:off x="228600" y="998913"/>
            <a:ext cx="8686800" cy="4111625"/>
          </a:xfrm>
        </p:spPr>
        <p:txBody>
          <a:bodyPr/>
          <a:lstStyle/>
          <a:p>
            <a:pPr marL="0" indent="0">
              <a:spcBef>
                <a:spcPts val="1200"/>
              </a:spcBef>
              <a:spcAft>
                <a:spcPts val="1200"/>
              </a:spcAft>
              <a:buNone/>
            </a:pPr>
            <a:r>
              <a:rPr lang="en-US" altLang="en-US" sz="2800" dirty="0">
                <a:latin typeface="Calibri" panose="020F0502020204030204" pitchFamily="34" charset="0"/>
                <a:ea typeface="ＭＳ Ｐゴシック" panose="020B0600070205080204" pitchFamily="34" charset="-128"/>
              </a:rPr>
              <a:t>Information system </a:t>
            </a:r>
            <a:r>
              <a:rPr lang="en-US" altLang="en-US" sz="2800" u="sng" dirty="0">
                <a:latin typeface="Calibri" panose="020F0502020204030204" pitchFamily="34" charset="0"/>
                <a:ea typeface="ＭＳ Ｐゴシック" panose="020B0600070205080204" pitchFamily="34" charset="-128"/>
              </a:rPr>
              <a:t>connecting all functional areas </a:t>
            </a:r>
            <a:r>
              <a:rPr lang="en-US" altLang="en-US" sz="2800" b="1" dirty="0">
                <a:latin typeface="Calibri" panose="020F0502020204030204" pitchFamily="34" charset="0"/>
                <a:ea typeface="ＭＳ Ｐゴシック" panose="020B0600070205080204" pitchFamily="34" charset="-128"/>
              </a:rPr>
              <a:t>and</a:t>
            </a:r>
            <a:r>
              <a:rPr lang="en-US" altLang="en-US" sz="2800" dirty="0">
                <a:latin typeface="Calibri" panose="020F0502020204030204" pitchFamily="34" charset="0"/>
                <a:ea typeface="ＭＳ Ｐゴシック" panose="020B0600070205080204" pitchFamily="34" charset="-128"/>
              </a:rPr>
              <a:t> </a:t>
            </a:r>
            <a:r>
              <a:rPr lang="en-US" altLang="en-US" sz="2800" u="sng" dirty="0">
                <a:latin typeface="Calibri" panose="020F0502020204030204" pitchFamily="34" charset="0"/>
                <a:ea typeface="ＭＳ Ｐゴシック" panose="020B0600070205080204" pitchFamily="34" charset="-128"/>
              </a:rPr>
              <a:t>operations of an organization</a:t>
            </a:r>
            <a:r>
              <a:rPr lang="en-US" altLang="en-US" sz="2800" dirty="0">
                <a:latin typeface="Calibri" panose="020F0502020204030204" pitchFamily="34" charset="0"/>
                <a:ea typeface="ＭＳ Ｐゴシック" panose="020B0600070205080204" pitchFamily="34" charset="-128"/>
              </a:rPr>
              <a:t>, and in </a:t>
            </a:r>
            <a:r>
              <a:rPr lang="en-US" altLang="en-US" sz="2800" u="sng" dirty="0">
                <a:latin typeface="Calibri" panose="020F0502020204030204" pitchFamily="34" charset="0"/>
                <a:ea typeface="ＭＳ Ｐゴシック" panose="020B0600070205080204" pitchFamily="34" charset="-128"/>
              </a:rPr>
              <a:t>some cases suppliers and customers</a:t>
            </a:r>
            <a:r>
              <a:rPr lang="en-US" altLang="en-US" sz="2800" dirty="0">
                <a:latin typeface="Calibri" panose="020F0502020204030204" pitchFamily="34" charset="0"/>
                <a:ea typeface="ＭＳ Ｐゴシック" panose="020B0600070205080204" pitchFamily="34" charset="-128"/>
              </a:rPr>
              <a:t>, via common software infrastructure and database</a:t>
            </a:r>
          </a:p>
          <a:p>
            <a:pPr marL="576263" lvl="1" indent="-406400">
              <a:spcBef>
                <a:spcPts val="1200"/>
              </a:spcBef>
              <a:spcAft>
                <a:spcPts val="1200"/>
              </a:spcAft>
            </a:pPr>
            <a:r>
              <a:rPr lang="en-US" altLang="en-US" sz="2400" dirty="0">
                <a:latin typeface="Calibri" panose="020F0502020204030204" pitchFamily="34" charset="0"/>
                <a:ea typeface="ＭＳ Ｐゴシック" panose="020B0600070205080204" pitchFamily="34" charset="-128"/>
              </a:rPr>
              <a:t>ERP provides a means for </a:t>
            </a:r>
            <a:r>
              <a:rPr lang="en-US" altLang="en-US" sz="2400" u="sng" dirty="0">
                <a:latin typeface="Calibri" panose="020F0502020204030204" pitchFamily="34" charset="0"/>
                <a:ea typeface="ＭＳ Ｐゴシック" panose="020B0600070205080204" pitchFamily="34" charset="-128"/>
              </a:rPr>
              <a:t>supply chain members to share information</a:t>
            </a:r>
            <a:r>
              <a:rPr lang="en-US" altLang="en-US" sz="2400" dirty="0">
                <a:latin typeface="Calibri" panose="020F0502020204030204" pitchFamily="34" charset="0"/>
                <a:ea typeface="ＭＳ Ｐゴシック" panose="020B0600070205080204" pitchFamily="34" charset="-128"/>
              </a:rPr>
              <a:t> so that scarce resources can be fully utilized to meet demand, while minimizing supply chain inventories  </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0750" y="4462895"/>
            <a:ext cx="4762500" cy="2171700"/>
          </a:xfrm>
          <a:prstGeom prst="rect">
            <a:avLst/>
          </a:prstGeom>
        </p:spPr>
      </p:pic>
      <p:sp>
        <p:nvSpPr>
          <p:cNvPr id="3" name="Footer Placeholder 2"/>
          <p:cNvSpPr>
            <a:spLocks noGrp="1"/>
          </p:cNvSpPr>
          <p:nvPr>
            <p:ph type="ftr" sz="quarter" idx="3"/>
          </p:nvPr>
        </p:nvSpPr>
        <p:spPr/>
        <p:txBody>
          <a:bodyPr/>
          <a:lstStyle/>
          <a:p>
            <a:r>
              <a:rPr lang="en-US"/>
              <a:t>Fundamentals of Supply Chain Management – McLaury/Spiegle</a:t>
            </a:r>
            <a:endParaRPr lang="en-US" dirty="0"/>
          </a:p>
        </p:txBody>
      </p:sp>
      <p:sp>
        <p:nvSpPr>
          <p:cNvPr id="4" name="Slide Number Placeholder 3"/>
          <p:cNvSpPr>
            <a:spLocks noGrp="1"/>
          </p:cNvSpPr>
          <p:nvPr>
            <p:ph type="sldNum" sz="quarter" idx="4"/>
          </p:nvPr>
        </p:nvSpPr>
        <p:spPr/>
        <p:txBody>
          <a:bodyPr/>
          <a:lstStyle/>
          <a:p>
            <a:fld id="{E66AA3EA-0569-43EF-BBA3-83FDB109D582}" type="slidenum">
              <a:rPr lang="en-US" smtClean="0"/>
              <a:pPr/>
              <a:t>29</a:t>
            </a:fld>
            <a:endParaRPr lang="en-US" dirty="0"/>
          </a:p>
        </p:txBody>
      </p:sp>
    </p:spTree>
    <p:extLst>
      <p:ext uri="{BB962C8B-B14F-4D97-AF65-F5344CB8AC3E}">
        <p14:creationId xmlns:p14="http://schemas.microsoft.com/office/powerpoint/2010/main" val="507181782"/>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 calcmode="lin" valueType="num">
                                      <p:cBhvr additive="base">
                                        <p:cTn id="7" dur="500" fill="hold"/>
                                        <p:tgtEl>
                                          <p:spTgt spid="389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9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8915">
                                            <p:txEl>
                                              <p:pRg st="1" end="1"/>
                                            </p:txEl>
                                          </p:spTgt>
                                        </p:tgtEl>
                                        <p:attrNameLst>
                                          <p:attrName>style.visibility</p:attrName>
                                        </p:attrNameLst>
                                      </p:cBhvr>
                                      <p:to>
                                        <p:strVal val="visible"/>
                                      </p:to>
                                    </p:set>
                                    <p:anim calcmode="lin" valueType="num">
                                      <p:cBhvr additive="base">
                                        <p:cTn id="13" dur="500" fill="hold"/>
                                        <p:tgtEl>
                                          <p:spTgt spid="389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891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7"/>
          <p:cNvSpPr/>
          <p:nvPr/>
        </p:nvSpPr>
        <p:spPr bwMode="auto">
          <a:xfrm>
            <a:off x="1646766" y="888999"/>
            <a:ext cx="5850467" cy="5549901"/>
          </a:xfrm>
          <a:prstGeom prst="ellipse">
            <a:avLst/>
          </a:prstGeom>
          <a:solidFill>
            <a:schemeClr val="accent1">
              <a:lumMod val="20000"/>
              <a:lumOff val="80000"/>
            </a:schemeClr>
          </a:solidFill>
          <a:ln w="2857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outerShdw blurRad="38100" dist="38100" dir="2700000" algn="tl">
                  <a:srgbClr val="000000">
                    <a:alpha val="43137"/>
                  </a:srgbClr>
                </a:outerShdw>
              </a:effectLst>
              <a:latin typeface="News Gothic MT" pitchFamily="34" charset="0"/>
            </a:endParaRPr>
          </a:p>
        </p:txBody>
      </p:sp>
      <p:sp>
        <p:nvSpPr>
          <p:cNvPr id="39938" name="Rectangle 2"/>
          <p:cNvSpPr>
            <a:spLocks noGrp="1" noChangeArrowheads="1"/>
          </p:cNvSpPr>
          <p:nvPr>
            <p:ph type="title" idx="4294967295"/>
          </p:nvPr>
        </p:nvSpPr>
        <p:spPr>
          <a:xfrm>
            <a:off x="228600" y="132598"/>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Development of ERP Systems</a:t>
            </a:r>
            <a:endParaRPr lang="en-US" altLang="en-US" sz="2000" b="0" i="1"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endParaRPr>
          </a:p>
        </p:txBody>
      </p:sp>
      <p:sp>
        <p:nvSpPr>
          <p:cNvPr id="3" name="Rectangle 2"/>
          <p:cNvSpPr/>
          <p:nvPr/>
        </p:nvSpPr>
        <p:spPr bwMode="auto">
          <a:xfrm>
            <a:off x="78316" y="3335866"/>
            <a:ext cx="1312333" cy="609600"/>
          </a:xfrm>
          <a:prstGeom prst="rect">
            <a:avLst/>
          </a:prstGeom>
          <a:solidFill>
            <a:schemeClr val="accent5"/>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bg1"/>
                </a:solidFill>
                <a:effectLst>
                  <a:outerShdw blurRad="38100" dist="38100" dir="2700000" algn="tl">
                    <a:srgbClr val="000000">
                      <a:alpha val="43137"/>
                    </a:srgbClr>
                  </a:outerShdw>
                </a:effectLst>
                <a:latin typeface="Calibri" panose="020F0502020204030204" pitchFamily="34" charset="0"/>
              </a:rPr>
              <a:t>Suppliers</a:t>
            </a:r>
          </a:p>
        </p:txBody>
      </p:sp>
      <p:sp>
        <p:nvSpPr>
          <p:cNvPr id="6" name="Rectangle 5"/>
          <p:cNvSpPr/>
          <p:nvPr/>
        </p:nvSpPr>
        <p:spPr bwMode="auto">
          <a:xfrm>
            <a:off x="7755467" y="3335866"/>
            <a:ext cx="1312333" cy="609600"/>
          </a:xfrm>
          <a:prstGeom prst="rect">
            <a:avLst/>
          </a:prstGeom>
          <a:solidFill>
            <a:schemeClr val="accent5"/>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bg1"/>
                </a:solidFill>
                <a:effectLst>
                  <a:outerShdw blurRad="38100" dist="38100" dir="2700000" algn="tl">
                    <a:srgbClr val="000000">
                      <a:alpha val="43137"/>
                    </a:srgbClr>
                  </a:outerShdw>
                </a:effectLst>
                <a:latin typeface="Calibri" panose="020F0502020204030204" pitchFamily="34" charset="0"/>
              </a:rPr>
              <a:t>Customers</a:t>
            </a:r>
          </a:p>
        </p:txBody>
      </p:sp>
      <p:sp>
        <p:nvSpPr>
          <p:cNvPr id="4" name="Oval 3"/>
          <p:cNvSpPr/>
          <p:nvPr/>
        </p:nvSpPr>
        <p:spPr bwMode="auto">
          <a:xfrm>
            <a:off x="3534833" y="2709333"/>
            <a:ext cx="2074333" cy="1862667"/>
          </a:xfrm>
          <a:prstGeom prst="ellipse">
            <a:avLst/>
          </a:prstGeom>
          <a:solidFill>
            <a:schemeClr val="accent4"/>
          </a:solidFill>
          <a:ln w="2857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txBody>
          <a:bodyPr vert="horz" wrap="square" lIns="0" tIns="0" rIns="0" bIns="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chemeClr val="bg1"/>
                </a:solidFill>
                <a:effectLst>
                  <a:outerShdw blurRad="38100" dist="38100" dir="2700000" algn="tl">
                    <a:srgbClr val="000000">
                      <a:alpha val="43137"/>
                    </a:srgbClr>
                  </a:outerShdw>
                </a:effectLst>
                <a:latin typeface="Calibri" panose="020F0502020204030204" pitchFamily="34" charset="0"/>
              </a:rPr>
              <a:t>Central Database</a:t>
            </a:r>
          </a:p>
          <a:p>
            <a:pPr marL="0" marR="0" indent="0" algn="ctr" defTabSz="914400" rtl="0" eaLnBrk="0" fontAlgn="base" latinLnBrk="0" hangingPunct="0">
              <a:lnSpc>
                <a:spcPct val="100000"/>
              </a:lnSpc>
              <a:spcBef>
                <a:spcPct val="0"/>
              </a:spcBef>
              <a:spcAft>
                <a:spcPct val="0"/>
              </a:spcAft>
              <a:buClrTx/>
              <a:buSzTx/>
              <a:buFontTx/>
              <a:buNone/>
              <a:tabLst/>
            </a:pPr>
            <a:r>
              <a:rPr lang="en-US" sz="1400" i="1" dirty="0">
                <a:solidFill>
                  <a:schemeClr val="bg1"/>
                </a:solidFill>
                <a:effectLst>
                  <a:outerShdw blurRad="38100" dist="38100" dir="2700000" algn="tl">
                    <a:srgbClr val="000000">
                      <a:alpha val="43137"/>
                    </a:srgbClr>
                  </a:outerShdw>
                </a:effectLst>
                <a:latin typeface="Calibri" panose="020F0502020204030204" pitchFamily="34" charset="0"/>
              </a:rPr>
              <a:t>with Master Data</a:t>
            </a:r>
          </a:p>
        </p:txBody>
      </p:sp>
      <p:sp>
        <p:nvSpPr>
          <p:cNvPr id="5" name="Oval 4"/>
          <p:cNvSpPr/>
          <p:nvPr/>
        </p:nvSpPr>
        <p:spPr bwMode="auto">
          <a:xfrm>
            <a:off x="5962650" y="3007783"/>
            <a:ext cx="1418167" cy="1265767"/>
          </a:xfrm>
          <a:prstGeom prst="ellipse">
            <a:avLst/>
          </a:prstGeom>
          <a:solidFill>
            <a:schemeClr val="accent1"/>
          </a:solidFill>
          <a:ln w="2857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txBody>
          <a:bodyPr vert="horz" wrap="square" lIns="0" tIns="0" rIns="0" bIns="0" numCol="1" rtlCol="0" anchor="ctr" anchorCtr="1" compatLnSpc="1">
            <a:prstTxWarp prst="textNoShape">
              <a:avLst/>
            </a:prstTxWarp>
          </a:bodyPr>
          <a:lstStyle/>
          <a:p>
            <a:pPr algn="ctr" eaLnBrk="0" hangingPunct="0"/>
            <a:r>
              <a:rPr lang="en-US" sz="1400" b="1" dirty="0">
                <a:effectLst>
                  <a:outerShdw blurRad="38100" dist="38100" dir="2700000" algn="tl">
                    <a:srgbClr val="000000">
                      <a:alpha val="43137"/>
                    </a:srgbClr>
                  </a:outerShdw>
                </a:effectLst>
                <a:latin typeface="Calibri" panose="020F0502020204030204" pitchFamily="34" charset="0"/>
              </a:rPr>
              <a:t>Customer Relationship Management</a:t>
            </a:r>
          </a:p>
        </p:txBody>
      </p:sp>
      <p:sp>
        <p:nvSpPr>
          <p:cNvPr id="10" name="Oval 9"/>
          <p:cNvSpPr/>
          <p:nvPr/>
        </p:nvSpPr>
        <p:spPr bwMode="auto">
          <a:xfrm>
            <a:off x="3862916" y="1071033"/>
            <a:ext cx="1418167" cy="1265767"/>
          </a:xfrm>
          <a:prstGeom prst="ellipse">
            <a:avLst/>
          </a:prstGeom>
          <a:solidFill>
            <a:schemeClr val="accent1"/>
          </a:solidFill>
          <a:ln w="2857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txBody>
          <a:bodyPr vert="horz" wrap="square" lIns="0" tIns="0" rIns="0" bIns="0" numCol="1" rtlCol="0" anchor="ctr" anchorCtr="1" compatLnSpc="1">
            <a:prstTxWarp prst="textNoShape">
              <a:avLst/>
            </a:prstTxWarp>
          </a:bodyPr>
          <a:lstStyle/>
          <a:p>
            <a:pPr algn="ctr" eaLnBrk="0" hangingPunct="0"/>
            <a:r>
              <a:rPr lang="en-US" sz="1400" b="1">
                <a:effectLst>
                  <a:outerShdw blurRad="38100" dist="38100" dir="2700000" algn="tl">
                    <a:srgbClr val="000000">
                      <a:alpha val="43137"/>
                    </a:srgbClr>
                  </a:outerShdw>
                </a:effectLst>
                <a:latin typeface="Calibri" panose="020F0502020204030204" pitchFamily="34" charset="0"/>
              </a:rPr>
              <a:t>Accounting and Finance</a:t>
            </a:r>
          </a:p>
        </p:txBody>
      </p:sp>
      <p:sp>
        <p:nvSpPr>
          <p:cNvPr id="11" name="Oval 10"/>
          <p:cNvSpPr/>
          <p:nvPr/>
        </p:nvSpPr>
        <p:spPr bwMode="auto">
          <a:xfrm>
            <a:off x="1771649" y="3007783"/>
            <a:ext cx="1418167" cy="1265767"/>
          </a:xfrm>
          <a:prstGeom prst="ellipse">
            <a:avLst/>
          </a:prstGeom>
          <a:solidFill>
            <a:schemeClr val="accent1"/>
          </a:solidFill>
          <a:ln w="2857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txBody>
          <a:bodyPr vert="horz" wrap="square" lIns="0" tIns="0" rIns="0" bIns="0" numCol="1" rtlCol="0" anchor="ctr" anchorCtr="1" compatLnSpc="1">
            <a:prstTxWarp prst="textNoShape">
              <a:avLst/>
            </a:prstTxWarp>
          </a:bodyPr>
          <a:lstStyle/>
          <a:p>
            <a:pPr algn="ctr" eaLnBrk="0" hangingPunct="0"/>
            <a:r>
              <a:rPr lang="en-US" sz="1400" b="1" dirty="0">
                <a:effectLst>
                  <a:outerShdw blurRad="38100" dist="38100" dir="2700000" algn="tl">
                    <a:srgbClr val="000000">
                      <a:alpha val="43137"/>
                    </a:srgbClr>
                  </a:outerShdw>
                </a:effectLst>
                <a:latin typeface="Calibri" panose="020F0502020204030204" pitchFamily="34" charset="0"/>
              </a:rPr>
              <a:t>Supplier Relationship Management</a:t>
            </a:r>
          </a:p>
        </p:txBody>
      </p:sp>
      <p:sp>
        <p:nvSpPr>
          <p:cNvPr id="12" name="Oval 11"/>
          <p:cNvSpPr/>
          <p:nvPr/>
        </p:nvSpPr>
        <p:spPr bwMode="auto">
          <a:xfrm>
            <a:off x="5463116" y="1615016"/>
            <a:ext cx="1418167" cy="1265767"/>
          </a:xfrm>
          <a:prstGeom prst="ellipse">
            <a:avLst/>
          </a:prstGeom>
          <a:solidFill>
            <a:schemeClr val="accent1"/>
          </a:solidFill>
          <a:ln w="2857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txBody>
          <a:bodyPr vert="horz" wrap="square" lIns="0" tIns="0" rIns="0" bIns="0" numCol="1" rtlCol="0" anchor="ctr" anchorCtr="1" compatLnSpc="1">
            <a:prstTxWarp prst="textNoShape">
              <a:avLst/>
            </a:prstTxWarp>
          </a:bodyPr>
          <a:lstStyle/>
          <a:p>
            <a:pPr algn="ctr" eaLnBrk="0" hangingPunct="0"/>
            <a:r>
              <a:rPr lang="en-US" sz="1400" b="1" dirty="0">
                <a:effectLst>
                  <a:outerShdw blurRad="38100" dist="38100" dir="2700000" algn="tl">
                    <a:srgbClr val="000000">
                      <a:alpha val="43137"/>
                    </a:srgbClr>
                  </a:outerShdw>
                </a:effectLst>
                <a:latin typeface="Calibri" panose="020F0502020204030204" pitchFamily="34" charset="0"/>
              </a:rPr>
              <a:t>Sales &amp; Marketing</a:t>
            </a:r>
          </a:p>
        </p:txBody>
      </p:sp>
      <p:sp>
        <p:nvSpPr>
          <p:cNvPr id="13" name="Oval 12"/>
          <p:cNvSpPr/>
          <p:nvPr/>
        </p:nvSpPr>
        <p:spPr bwMode="auto">
          <a:xfrm>
            <a:off x="2262716" y="4434416"/>
            <a:ext cx="1418167" cy="1265767"/>
          </a:xfrm>
          <a:prstGeom prst="ellipse">
            <a:avLst/>
          </a:prstGeom>
          <a:solidFill>
            <a:schemeClr val="accent1"/>
          </a:solidFill>
          <a:ln w="2857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txBody>
          <a:bodyPr vert="horz" wrap="square" lIns="0" tIns="0" rIns="0" bIns="0" numCol="1" rtlCol="0" anchor="ctr" anchorCtr="1" compatLnSpc="1">
            <a:prstTxWarp prst="textNoShape">
              <a:avLst/>
            </a:prstTxWarp>
          </a:bodyPr>
          <a:lstStyle/>
          <a:p>
            <a:pPr algn="ctr" eaLnBrk="0" hangingPunct="0"/>
            <a:r>
              <a:rPr lang="en-US" sz="1400" b="1" dirty="0">
                <a:effectLst>
                  <a:outerShdw blurRad="38100" dist="38100" dir="2700000" algn="tl">
                    <a:srgbClr val="000000">
                      <a:alpha val="43137"/>
                    </a:srgbClr>
                  </a:outerShdw>
                </a:effectLst>
                <a:latin typeface="Calibri" panose="020F0502020204030204" pitchFamily="34" charset="0"/>
              </a:rPr>
              <a:t>Logistics</a:t>
            </a:r>
          </a:p>
        </p:txBody>
      </p:sp>
      <p:sp>
        <p:nvSpPr>
          <p:cNvPr id="14" name="Oval 13"/>
          <p:cNvSpPr/>
          <p:nvPr/>
        </p:nvSpPr>
        <p:spPr bwMode="auto">
          <a:xfrm>
            <a:off x="3862916" y="4944533"/>
            <a:ext cx="1418167" cy="1265767"/>
          </a:xfrm>
          <a:prstGeom prst="ellipse">
            <a:avLst/>
          </a:prstGeom>
          <a:solidFill>
            <a:schemeClr val="accent1"/>
          </a:solidFill>
          <a:ln w="2857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txBody>
          <a:bodyPr vert="horz" wrap="square" lIns="0" tIns="0" rIns="0" bIns="0" numCol="1" rtlCol="0" anchor="ctr" anchorCtr="1" compatLnSpc="1">
            <a:prstTxWarp prst="textNoShape">
              <a:avLst/>
            </a:prstTxWarp>
          </a:bodyPr>
          <a:lstStyle/>
          <a:p>
            <a:pPr algn="ctr" eaLnBrk="0" hangingPunct="0"/>
            <a:r>
              <a:rPr lang="en-US" sz="1400" b="1" dirty="0">
                <a:effectLst>
                  <a:outerShdw blurRad="38100" dist="38100" dir="2700000" algn="tl">
                    <a:srgbClr val="000000">
                      <a:alpha val="43137"/>
                    </a:srgbClr>
                  </a:outerShdw>
                </a:effectLst>
                <a:latin typeface="Calibri" panose="020F0502020204030204" pitchFamily="34" charset="0"/>
              </a:rPr>
              <a:t>Operations</a:t>
            </a:r>
          </a:p>
        </p:txBody>
      </p:sp>
      <p:sp>
        <p:nvSpPr>
          <p:cNvPr id="15" name="Oval 14"/>
          <p:cNvSpPr/>
          <p:nvPr/>
        </p:nvSpPr>
        <p:spPr bwMode="auto">
          <a:xfrm>
            <a:off x="5463116" y="4445000"/>
            <a:ext cx="1418167" cy="1265767"/>
          </a:xfrm>
          <a:prstGeom prst="ellipse">
            <a:avLst/>
          </a:prstGeom>
          <a:solidFill>
            <a:schemeClr val="accent1"/>
          </a:solidFill>
          <a:ln w="2857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txBody>
          <a:bodyPr vert="horz" wrap="square" lIns="0" tIns="0" rIns="0" bIns="0" numCol="1" rtlCol="0" anchor="ctr" anchorCtr="1" compatLnSpc="1">
            <a:prstTxWarp prst="textNoShape">
              <a:avLst/>
            </a:prstTxWarp>
          </a:bodyPr>
          <a:lstStyle/>
          <a:p>
            <a:pPr algn="ctr" eaLnBrk="0" hangingPunct="0"/>
            <a:r>
              <a:rPr lang="en-US" sz="1400" b="1" dirty="0">
                <a:effectLst>
                  <a:outerShdw blurRad="38100" dist="38100" dir="2700000" algn="tl">
                    <a:srgbClr val="000000">
                      <a:alpha val="43137"/>
                    </a:srgbClr>
                  </a:outerShdw>
                </a:effectLst>
                <a:latin typeface="Calibri" panose="020F0502020204030204" pitchFamily="34" charset="0"/>
              </a:rPr>
              <a:t>Human Resources</a:t>
            </a:r>
          </a:p>
        </p:txBody>
      </p:sp>
      <p:sp>
        <p:nvSpPr>
          <p:cNvPr id="16" name="Oval 15"/>
          <p:cNvSpPr/>
          <p:nvPr/>
        </p:nvSpPr>
        <p:spPr bwMode="auto">
          <a:xfrm>
            <a:off x="2262716" y="1615016"/>
            <a:ext cx="1418167" cy="1265767"/>
          </a:xfrm>
          <a:prstGeom prst="ellipse">
            <a:avLst/>
          </a:prstGeom>
          <a:solidFill>
            <a:schemeClr val="accent1"/>
          </a:solidFill>
          <a:ln w="2857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txBody>
          <a:bodyPr vert="horz" wrap="square" lIns="0" tIns="0" rIns="0" bIns="0" numCol="1" rtlCol="0" anchor="ctr" anchorCtr="1" compatLnSpc="1">
            <a:prstTxWarp prst="textNoShape">
              <a:avLst/>
            </a:prstTxWarp>
          </a:bodyPr>
          <a:lstStyle/>
          <a:p>
            <a:pPr algn="ctr" eaLnBrk="0" hangingPunct="0"/>
            <a:r>
              <a:rPr lang="en-US" sz="1400" b="1" dirty="0">
                <a:effectLst>
                  <a:outerShdw blurRad="38100" dist="38100" dir="2700000" algn="tl">
                    <a:srgbClr val="000000">
                      <a:alpha val="43137"/>
                    </a:srgbClr>
                  </a:outerShdw>
                </a:effectLst>
                <a:latin typeface="Calibri" panose="020F0502020204030204" pitchFamily="34" charset="0"/>
              </a:rPr>
              <a:t>Engineering R&amp;D</a:t>
            </a:r>
          </a:p>
        </p:txBody>
      </p:sp>
      <p:cxnSp>
        <p:nvCxnSpPr>
          <p:cNvPr id="17" name="Straight Connector 16"/>
          <p:cNvCxnSpPr>
            <a:stCxn id="4" idx="4"/>
            <a:endCxn id="14" idx="0"/>
          </p:cNvCxnSpPr>
          <p:nvPr/>
        </p:nvCxnSpPr>
        <p:spPr bwMode="auto">
          <a:xfrm>
            <a:off x="4572000" y="4572000"/>
            <a:ext cx="0" cy="372533"/>
          </a:xfrm>
          <a:prstGeom prst="line">
            <a:avLst/>
          </a:prstGeom>
          <a:solidFill>
            <a:schemeClr val="accent1"/>
          </a:solidFill>
          <a:ln w="57150" cap="flat" cmpd="sng" algn="ctr">
            <a:solidFill>
              <a:srgbClr val="923222"/>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cxnSp>
      <p:cxnSp>
        <p:nvCxnSpPr>
          <p:cNvPr id="21" name="Straight Connector 20"/>
          <p:cNvCxnSpPr>
            <a:stCxn id="10" idx="4"/>
            <a:endCxn id="4" idx="0"/>
          </p:cNvCxnSpPr>
          <p:nvPr/>
        </p:nvCxnSpPr>
        <p:spPr bwMode="auto">
          <a:xfrm>
            <a:off x="4572000" y="2336800"/>
            <a:ext cx="0" cy="372533"/>
          </a:xfrm>
          <a:prstGeom prst="line">
            <a:avLst/>
          </a:prstGeom>
          <a:solidFill>
            <a:schemeClr val="accent1"/>
          </a:solidFill>
          <a:ln w="57150" cap="flat" cmpd="sng" algn="ctr">
            <a:solidFill>
              <a:srgbClr val="923222"/>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cxnSp>
      <p:cxnSp>
        <p:nvCxnSpPr>
          <p:cNvPr id="24" name="Straight Connector 23"/>
          <p:cNvCxnSpPr>
            <a:stCxn id="16" idx="5"/>
            <a:endCxn id="4" idx="1"/>
          </p:cNvCxnSpPr>
          <p:nvPr/>
        </p:nvCxnSpPr>
        <p:spPr bwMode="auto">
          <a:xfrm>
            <a:off x="3473197" y="2695416"/>
            <a:ext cx="365415" cy="286698"/>
          </a:xfrm>
          <a:prstGeom prst="line">
            <a:avLst/>
          </a:prstGeom>
          <a:solidFill>
            <a:schemeClr val="accent1"/>
          </a:solidFill>
          <a:ln w="57150" cap="flat" cmpd="sng" algn="ctr">
            <a:solidFill>
              <a:srgbClr val="923222"/>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cxnSp>
      <p:cxnSp>
        <p:nvCxnSpPr>
          <p:cNvPr id="27" name="Straight Connector 26"/>
          <p:cNvCxnSpPr>
            <a:stCxn id="4" idx="7"/>
            <a:endCxn id="12" idx="3"/>
          </p:cNvCxnSpPr>
          <p:nvPr/>
        </p:nvCxnSpPr>
        <p:spPr bwMode="auto">
          <a:xfrm flipV="1">
            <a:off x="5305387" y="2695416"/>
            <a:ext cx="365415" cy="286698"/>
          </a:xfrm>
          <a:prstGeom prst="line">
            <a:avLst/>
          </a:prstGeom>
          <a:solidFill>
            <a:schemeClr val="accent1"/>
          </a:solidFill>
          <a:ln w="57150" cap="flat" cmpd="sng" algn="ctr">
            <a:solidFill>
              <a:srgbClr val="923222"/>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cxnSp>
      <p:cxnSp>
        <p:nvCxnSpPr>
          <p:cNvPr id="32" name="Straight Connector 31"/>
          <p:cNvCxnSpPr>
            <a:stCxn id="13" idx="7"/>
            <a:endCxn id="4" idx="3"/>
          </p:cNvCxnSpPr>
          <p:nvPr/>
        </p:nvCxnSpPr>
        <p:spPr bwMode="auto">
          <a:xfrm flipV="1">
            <a:off x="3473197" y="4299219"/>
            <a:ext cx="365415" cy="320564"/>
          </a:xfrm>
          <a:prstGeom prst="line">
            <a:avLst/>
          </a:prstGeom>
          <a:solidFill>
            <a:schemeClr val="accent1"/>
          </a:solidFill>
          <a:ln w="57150" cap="flat" cmpd="sng" algn="ctr">
            <a:solidFill>
              <a:srgbClr val="923222"/>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cxnSp>
      <p:cxnSp>
        <p:nvCxnSpPr>
          <p:cNvPr id="38" name="Straight Connector 37"/>
          <p:cNvCxnSpPr>
            <a:stCxn id="4" idx="5"/>
            <a:endCxn id="15" idx="1"/>
          </p:cNvCxnSpPr>
          <p:nvPr/>
        </p:nvCxnSpPr>
        <p:spPr bwMode="auto">
          <a:xfrm>
            <a:off x="5305387" y="4299219"/>
            <a:ext cx="365415" cy="331148"/>
          </a:xfrm>
          <a:prstGeom prst="line">
            <a:avLst/>
          </a:prstGeom>
          <a:solidFill>
            <a:schemeClr val="accent1"/>
          </a:solidFill>
          <a:ln w="57150" cap="flat" cmpd="sng" algn="ctr">
            <a:solidFill>
              <a:srgbClr val="923222"/>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cxnSp>
      <p:cxnSp>
        <p:nvCxnSpPr>
          <p:cNvPr id="41" name="Straight Connector 40"/>
          <p:cNvCxnSpPr>
            <a:stCxn id="11" idx="6"/>
            <a:endCxn id="4" idx="2"/>
          </p:cNvCxnSpPr>
          <p:nvPr/>
        </p:nvCxnSpPr>
        <p:spPr bwMode="auto">
          <a:xfrm>
            <a:off x="3189816" y="3640667"/>
            <a:ext cx="345017" cy="0"/>
          </a:xfrm>
          <a:prstGeom prst="line">
            <a:avLst/>
          </a:prstGeom>
          <a:solidFill>
            <a:schemeClr val="accent1"/>
          </a:solidFill>
          <a:ln w="57150" cap="flat" cmpd="sng" algn="ctr">
            <a:solidFill>
              <a:srgbClr val="923222"/>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cxnSp>
      <p:cxnSp>
        <p:nvCxnSpPr>
          <p:cNvPr id="45" name="Straight Connector 44"/>
          <p:cNvCxnSpPr>
            <a:stCxn id="4" idx="6"/>
            <a:endCxn id="5" idx="2"/>
          </p:cNvCxnSpPr>
          <p:nvPr/>
        </p:nvCxnSpPr>
        <p:spPr bwMode="auto">
          <a:xfrm>
            <a:off x="5609166" y="3640667"/>
            <a:ext cx="353484" cy="0"/>
          </a:xfrm>
          <a:prstGeom prst="line">
            <a:avLst/>
          </a:prstGeom>
          <a:solidFill>
            <a:schemeClr val="accent1"/>
          </a:solidFill>
          <a:ln w="57150" cap="flat" cmpd="sng" algn="ctr">
            <a:solidFill>
              <a:srgbClr val="923222"/>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cxnSp>
      <p:cxnSp>
        <p:nvCxnSpPr>
          <p:cNvPr id="50" name="Straight Connector 49"/>
          <p:cNvCxnSpPr/>
          <p:nvPr/>
        </p:nvCxnSpPr>
        <p:spPr bwMode="auto">
          <a:xfrm>
            <a:off x="1390649" y="3640666"/>
            <a:ext cx="381000" cy="1"/>
          </a:xfrm>
          <a:prstGeom prst="line">
            <a:avLst/>
          </a:prstGeom>
          <a:solidFill>
            <a:schemeClr val="accent1"/>
          </a:solidFill>
          <a:ln w="5715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cxnSp>
      <p:cxnSp>
        <p:nvCxnSpPr>
          <p:cNvPr id="53" name="Straight Connector 52"/>
          <p:cNvCxnSpPr/>
          <p:nvPr/>
        </p:nvCxnSpPr>
        <p:spPr bwMode="auto">
          <a:xfrm flipV="1">
            <a:off x="7380817" y="3640666"/>
            <a:ext cx="374650" cy="1"/>
          </a:xfrm>
          <a:prstGeom prst="line">
            <a:avLst/>
          </a:prstGeom>
          <a:solidFill>
            <a:schemeClr val="accent1"/>
          </a:solidFill>
          <a:ln w="5715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cxnSp>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7" name="Slide Number Placeholder 6"/>
          <p:cNvSpPr>
            <a:spLocks noGrp="1"/>
          </p:cNvSpPr>
          <p:nvPr>
            <p:ph type="sldNum" sz="quarter" idx="4"/>
          </p:nvPr>
        </p:nvSpPr>
        <p:spPr/>
        <p:txBody>
          <a:bodyPr/>
          <a:lstStyle/>
          <a:p>
            <a:fld id="{E66AA3EA-0569-43EF-BBA3-83FDB109D582}" type="slidenum">
              <a:rPr lang="en-US" smtClean="0"/>
              <a:pPr/>
              <a:t>30</a:t>
            </a:fld>
            <a:endParaRPr lang="en-US" dirty="0"/>
          </a:p>
        </p:txBody>
      </p:sp>
    </p:spTree>
    <p:extLst>
      <p:ext uri="{BB962C8B-B14F-4D97-AF65-F5344CB8AC3E}">
        <p14:creationId xmlns:p14="http://schemas.microsoft.com/office/powerpoint/2010/main" val="3560839117"/>
      </p:ext>
    </p:extLst>
  </p:cSld>
  <p:clrMapOvr>
    <a:masterClrMapping/>
  </p:clrMapOvr>
  <p:transition spd="slow">
    <p:pull dir="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228600" y="137535"/>
            <a:ext cx="8439150" cy="486929"/>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Implementing ERP Systems</a:t>
            </a:r>
          </a:p>
        </p:txBody>
      </p:sp>
      <p:sp>
        <p:nvSpPr>
          <p:cNvPr id="40963" name="Rectangle 3"/>
          <p:cNvSpPr>
            <a:spLocks noGrp="1" noChangeArrowheads="1"/>
          </p:cNvSpPr>
          <p:nvPr>
            <p:ph type="body" idx="4294967295"/>
          </p:nvPr>
        </p:nvSpPr>
        <p:spPr>
          <a:xfrm>
            <a:off x="228600" y="1645181"/>
            <a:ext cx="8572499" cy="4941886"/>
          </a:xfrm>
        </p:spPr>
        <p:txBody>
          <a:bodyPr/>
          <a:lstStyle/>
          <a:p>
            <a:pPr marL="457200" indent="-457200">
              <a:spcBef>
                <a:spcPts val="600"/>
              </a:spcBef>
              <a:spcAft>
                <a:spcPts val="600"/>
              </a:spcAft>
              <a:buClr>
                <a:schemeClr val="tx1"/>
              </a:buClr>
              <a:buFontTx/>
              <a:buAutoNum type="arabicPeriod"/>
            </a:pPr>
            <a:r>
              <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Best-of-breed</a:t>
            </a:r>
            <a:r>
              <a:rPr lang="en-US" altLang="en-US" sz="2400" dirty="0">
                <a:solidFill>
                  <a:srgbClr val="FF6600"/>
                </a:solidFill>
                <a:latin typeface="Calibri" panose="020F0502020204030204" pitchFamily="34" charset="0"/>
                <a:ea typeface="ＭＳ Ｐゴシック" panose="020B0600070205080204" pitchFamily="34" charset="-128"/>
              </a:rPr>
              <a:t> </a:t>
            </a:r>
            <a:r>
              <a:rPr lang="en-US" altLang="en-US" sz="2400" dirty="0">
                <a:latin typeface="Calibri" panose="020F0502020204030204" pitchFamily="34" charset="0"/>
                <a:ea typeface="ＭＳ Ｐゴシック" panose="020B0600070205080204" pitchFamily="34" charset="-128"/>
              </a:rPr>
              <a:t>- pick </a:t>
            </a:r>
            <a:r>
              <a:rPr lang="en-US" altLang="en-US" sz="2400" u="sng" dirty="0">
                <a:latin typeface="Calibri" panose="020F0502020204030204" pitchFamily="34" charset="0"/>
                <a:ea typeface="ＭＳ Ｐゴシック" panose="020B0600070205080204" pitchFamily="34" charset="-128"/>
              </a:rPr>
              <a:t>the best application for each individual function</a:t>
            </a:r>
            <a:r>
              <a:rPr lang="en-US" altLang="en-US" sz="2400" dirty="0">
                <a:latin typeface="Calibri" panose="020F0502020204030204" pitchFamily="34" charset="0"/>
                <a:ea typeface="ＭＳ Ｐゴシック" panose="020B0600070205080204" pitchFamily="34" charset="-128"/>
              </a:rPr>
              <a:t>. Disadvantage - software may not integrate well but this may not be a major issue in future</a:t>
            </a:r>
          </a:p>
          <a:p>
            <a:pPr marL="457200" indent="-457200">
              <a:spcBef>
                <a:spcPts val="600"/>
              </a:spcBef>
              <a:spcAft>
                <a:spcPts val="600"/>
              </a:spcAft>
              <a:buClr>
                <a:schemeClr val="tx1"/>
              </a:buClr>
              <a:buFontTx/>
              <a:buAutoNum type="arabicPeriod"/>
            </a:pPr>
            <a:r>
              <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Single integrator solution </a:t>
            </a:r>
            <a:r>
              <a:rPr lang="en-US" altLang="en-US" sz="2400" dirty="0">
                <a:latin typeface="Calibri" panose="020F0502020204030204" pitchFamily="34" charset="0"/>
                <a:ea typeface="ＭＳ Ｐゴシック" panose="020B0600070205080204" pitchFamily="34" charset="-128"/>
              </a:rPr>
              <a:t>- pick all the desired applications from a </a:t>
            </a:r>
            <a:r>
              <a:rPr lang="en-US" altLang="en-US" sz="2400" u="sng" dirty="0">
                <a:latin typeface="Calibri" panose="020F0502020204030204" pitchFamily="34" charset="0"/>
                <a:ea typeface="ＭＳ Ｐゴシック" panose="020B0600070205080204" pitchFamily="34" charset="-128"/>
              </a:rPr>
              <a:t>single vendor </a:t>
            </a:r>
          </a:p>
          <a:p>
            <a:pPr marL="0" indent="0">
              <a:spcBef>
                <a:spcPts val="600"/>
              </a:spcBef>
              <a:spcAft>
                <a:spcPts val="600"/>
              </a:spcAft>
              <a:buFontTx/>
              <a:buNone/>
            </a:pPr>
            <a:r>
              <a:rPr lang="en-US" altLang="en-US" sz="2400" b="1" dirty="0">
                <a:latin typeface="Calibri" panose="020F0502020204030204" pitchFamily="34" charset="0"/>
                <a:ea typeface="ＭＳ Ｐゴシック" panose="020B0600070205080204" pitchFamily="34" charset="-128"/>
              </a:rPr>
              <a:t>Implementation Problems:</a:t>
            </a:r>
          </a:p>
          <a:p>
            <a:pPr marL="914400" lvl="3" indent="-342900">
              <a:spcBef>
                <a:spcPts val="600"/>
              </a:spcBef>
              <a:spcAft>
                <a:spcPts val="600"/>
              </a:spcAft>
              <a:buClr>
                <a:srgbClr val="923222"/>
              </a:buClr>
              <a:buSzPct val="110000"/>
              <a:buFont typeface="Wingdings" panose="05000000000000000000" pitchFamily="2" charset="2"/>
              <a:buChar char="§"/>
            </a:pPr>
            <a:r>
              <a:rPr lang="en-US" altLang="en-US" sz="2000" dirty="0">
                <a:solidFill>
                  <a:schemeClr val="tx1"/>
                </a:solidFill>
                <a:latin typeface="Calibri" panose="020F0502020204030204" pitchFamily="34" charset="0"/>
                <a:ea typeface="ＭＳ Ｐゴシック" panose="020B0600070205080204" pitchFamily="34" charset="-128"/>
              </a:rPr>
              <a:t>Lack of top management commitment</a:t>
            </a:r>
          </a:p>
          <a:p>
            <a:pPr marL="914400" lvl="3" indent="-342900">
              <a:spcBef>
                <a:spcPts val="600"/>
              </a:spcBef>
              <a:spcAft>
                <a:spcPts val="600"/>
              </a:spcAft>
              <a:buClr>
                <a:srgbClr val="923222"/>
              </a:buClr>
              <a:buSzPct val="110000"/>
              <a:buFont typeface="Wingdings" panose="05000000000000000000" pitchFamily="2" charset="2"/>
              <a:buChar char="§"/>
            </a:pPr>
            <a:r>
              <a:rPr lang="en-US" altLang="en-US" sz="2000" dirty="0">
                <a:solidFill>
                  <a:schemeClr val="tx1"/>
                </a:solidFill>
                <a:latin typeface="Calibri" panose="020F0502020204030204" pitchFamily="34" charset="0"/>
                <a:ea typeface="ＭＳ Ｐゴシック" panose="020B0600070205080204" pitchFamily="34" charset="-128"/>
              </a:rPr>
              <a:t>Lack of adequate resources</a:t>
            </a:r>
          </a:p>
          <a:p>
            <a:pPr marL="914400" lvl="3" indent="-342900">
              <a:spcBef>
                <a:spcPts val="600"/>
              </a:spcBef>
              <a:spcAft>
                <a:spcPts val="600"/>
              </a:spcAft>
              <a:buClr>
                <a:srgbClr val="923222"/>
              </a:buClr>
              <a:buSzPct val="110000"/>
              <a:buFont typeface="Wingdings" panose="05000000000000000000" pitchFamily="2" charset="2"/>
              <a:buChar char="§"/>
            </a:pPr>
            <a:r>
              <a:rPr lang="en-US" altLang="en-US" sz="2000" dirty="0">
                <a:solidFill>
                  <a:schemeClr val="tx1"/>
                </a:solidFill>
                <a:latin typeface="Calibri" panose="020F0502020204030204" pitchFamily="34" charset="0"/>
                <a:ea typeface="ＭＳ Ｐゴシック" panose="020B0600070205080204" pitchFamily="34" charset="-128"/>
              </a:rPr>
              <a:t>Lack of proper training</a:t>
            </a:r>
          </a:p>
          <a:p>
            <a:pPr marL="914400" lvl="3" indent="-342900">
              <a:spcBef>
                <a:spcPts val="600"/>
              </a:spcBef>
              <a:spcAft>
                <a:spcPts val="600"/>
              </a:spcAft>
              <a:buClr>
                <a:srgbClr val="923222"/>
              </a:buClr>
              <a:buSzPct val="110000"/>
              <a:buFont typeface="Wingdings" panose="05000000000000000000" pitchFamily="2" charset="2"/>
              <a:buChar char="§"/>
            </a:pPr>
            <a:r>
              <a:rPr lang="en-US" altLang="en-US" sz="2000" dirty="0">
                <a:solidFill>
                  <a:schemeClr val="tx1"/>
                </a:solidFill>
                <a:latin typeface="Calibri" panose="020F0502020204030204" pitchFamily="34" charset="0"/>
                <a:ea typeface="ＭＳ Ｐゴシック" panose="020B0600070205080204" pitchFamily="34" charset="-128"/>
              </a:rPr>
              <a:t>Lack of communication</a:t>
            </a:r>
          </a:p>
          <a:p>
            <a:pPr marL="914400" lvl="3" indent="-342900">
              <a:spcBef>
                <a:spcPts val="600"/>
              </a:spcBef>
              <a:spcAft>
                <a:spcPts val="600"/>
              </a:spcAft>
              <a:buClr>
                <a:srgbClr val="923222"/>
              </a:buClr>
              <a:buSzPct val="110000"/>
              <a:buFont typeface="Wingdings" panose="05000000000000000000" pitchFamily="2" charset="2"/>
              <a:buChar char="§"/>
            </a:pPr>
            <a:r>
              <a:rPr lang="en-US" altLang="en-US" sz="2000" dirty="0">
                <a:solidFill>
                  <a:schemeClr val="tx1"/>
                </a:solidFill>
                <a:latin typeface="Calibri" panose="020F0502020204030204" pitchFamily="34" charset="0"/>
                <a:ea typeface="ＭＳ Ｐゴシック" panose="020B0600070205080204" pitchFamily="34" charset="-128"/>
              </a:rPr>
              <a:t>Incompatible system environment</a:t>
            </a:r>
          </a:p>
        </p:txBody>
      </p:sp>
      <p:sp>
        <p:nvSpPr>
          <p:cNvPr id="2" name="Rectangle 1"/>
          <p:cNvSpPr/>
          <p:nvPr/>
        </p:nvSpPr>
        <p:spPr>
          <a:xfrm>
            <a:off x="228600" y="914400"/>
            <a:ext cx="8686800" cy="523220"/>
          </a:xfrm>
          <a:prstGeom prst="rect">
            <a:avLst/>
          </a:prstGeom>
        </p:spPr>
        <p:txBody>
          <a:bodyPr wrap="square">
            <a:spAutoFit/>
          </a:bodyPr>
          <a:lstStyle/>
          <a:p>
            <a:r>
              <a:rPr lang="en-US" altLang="en-US" sz="2800" b="1" dirty="0">
                <a:effectLst>
                  <a:outerShdw blurRad="38100" dist="38100" dir="2700000" algn="tl">
                    <a:srgbClr val="C0C0C0"/>
                  </a:outerShdw>
                </a:effectLst>
                <a:latin typeface="Calibri" panose="020F0502020204030204" pitchFamily="34" charset="0"/>
                <a:cs typeface="Arial" charset="0"/>
              </a:rPr>
              <a:t>Two Types of Implementation</a:t>
            </a:r>
            <a:endParaRPr lang="en-US" sz="2800"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7073" y="3924300"/>
            <a:ext cx="3588327" cy="2645832"/>
          </a:xfrm>
          <a:prstGeom prst="rect">
            <a:avLst/>
          </a:prstGeom>
        </p:spPr>
      </p:pic>
      <p:sp>
        <p:nvSpPr>
          <p:cNvPr id="4" name="Footer Placeholder 3"/>
          <p:cNvSpPr>
            <a:spLocks noGrp="1"/>
          </p:cNvSpPr>
          <p:nvPr>
            <p:ph type="ftr" sz="quarter" idx="3"/>
          </p:nvPr>
        </p:nvSpPr>
        <p:spPr/>
        <p:txBody>
          <a:bodyPr/>
          <a:lstStyle/>
          <a:p>
            <a:r>
              <a:rPr lang="en-US"/>
              <a:t>Fundamentals of Supply Chain Management – McLaury/Spiegle</a:t>
            </a:r>
            <a:endParaRPr lang="en-US" dirty="0"/>
          </a:p>
        </p:txBody>
      </p:sp>
      <p:sp>
        <p:nvSpPr>
          <p:cNvPr id="5" name="Slide Number Placeholder 4"/>
          <p:cNvSpPr>
            <a:spLocks noGrp="1"/>
          </p:cNvSpPr>
          <p:nvPr>
            <p:ph type="sldNum" sz="quarter" idx="4"/>
          </p:nvPr>
        </p:nvSpPr>
        <p:spPr/>
        <p:txBody>
          <a:bodyPr/>
          <a:lstStyle/>
          <a:p>
            <a:fld id="{E66AA3EA-0569-43EF-BBA3-83FDB109D582}" type="slidenum">
              <a:rPr lang="en-US" smtClean="0"/>
              <a:pPr/>
              <a:t>31</a:t>
            </a:fld>
            <a:endParaRPr lang="en-US" dirty="0"/>
          </a:p>
        </p:txBody>
      </p:sp>
    </p:spTree>
    <p:extLst>
      <p:ext uri="{BB962C8B-B14F-4D97-AF65-F5344CB8AC3E}">
        <p14:creationId xmlns:p14="http://schemas.microsoft.com/office/powerpoint/2010/main" val="4279568893"/>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 calcmode="lin" valueType="num">
                                      <p:cBhvr additive="base">
                                        <p:cTn id="7" dur="500" fill="hold"/>
                                        <p:tgtEl>
                                          <p:spTgt spid="409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963">
                                            <p:txEl>
                                              <p:pRg st="1" end="1"/>
                                            </p:txEl>
                                          </p:spTgt>
                                        </p:tgtEl>
                                        <p:attrNameLst>
                                          <p:attrName>style.visibility</p:attrName>
                                        </p:attrNameLst>
                                      </p:cBhvr>
                                      <p:to>
                                        <p:strVal val="visible"/>
                                      </p:to>
                                    </p:set>
                                    <p:anim calcmode="lin" valueType="num">
                                      <p:cBhvr additive="base">
                                        <p:cTn id="13" dur="500" fill="hold"/>
                                        <p:tgtEl>
                                          <p:spTgt spid="409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9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0963">
                                            <p:txEl>
                                              <p:pRg st="2" end="2"/>
                                            </p:txEl>
                                          </p:spTgt>
                                        </p:tgtEl>
                                        <p:attrNameLst>
                                          <p:attrName>style.visibility</p:attrName>
                                        </p:attrNameLst>
                                      </p:cBhvr>
                                      <p:to>
                                        <p:strVal val="visible"/>
                                      </p:to>
                                    </p:set>
                                    <p:anim calcmode="lin" valueType="num">
                                      <p:cBhvr additive="base">
                                        <p:cTn id="19" dur="500" fill="hold"/>
                                        <p:tgtEl>
                                          <p:spTgt spid="409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96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0963">
                                            <p:txEl>
                                              <p:pRg st="3" end="3"/>
                                            </p:txEl>
                                          </p:spTgt>
                                        </p:tgtEl>
                                        <p:attrNameLst>
                                          <p:attrName>style.visibility</p:attrName>
                                        </p:attrNameLst>
                                      </p:cBhvr>
                                      <p:to>
                                        <p:strVal val="visible"/>
                                      </p:to>
                                    </p:set>
                                    <p:anim calcmode="lin" valueType="num">
                                      <p:cBhvr additive="base">
                                        <p:cTn id="23" dur="500" fill="hold"/>
                                        <p:tgtEl>
                                          <p:spTgt spid="4096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096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0963">
                                            <p:txEl>
                                              <p:pRg st="4" end="4"/>
                                            </p:txEl>
                                          </p:spTgt>
                                        </p:tgtEl>
                                        <p:attrNameLst>
                                          <p:attrName>style.visibility</p:attrName>
                                        </p:attrNameLst>
                                      </p:cBhvr>
                                      <p:to>
                                        <p:strVal val="visible"/>
                                      </p:to>
                                    </p:set>
                                    <p:anim calcmode="lin" valueType="num">
                                      <p:cBhvr additive="base">
                                        <p:cTn id="27" dur="500" fill="hold"/>
                                        <p:tgtEl>
                                          <p:spTgt spid="4096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096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0963">
                                            <p:txEl>
                                              <p:pRg st="5" end="5"/>
                                            </p:txEl>
                                          </p:spTgt>
                                        </p:tgtEl>
                                        <p:attrNameLst>
                                          <p:attrName>style.visibility</p:attrName>
                                        </p:attrNameLst>
                                      </p:cBhvr>
                                      <p:to>
                                        <p:strVal val="visible"/>
                                      </p:to>
                                    </p:set>
                                    <p:anim calcmode="lin" valueType="num">
                                      <p:cBhvr additive="base">
                                        <p:cTn id="31" dur="500" fill="hold"/>
                                        <p:tgtEl>
                                          <p:spTgt spid="4096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096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0963">
                                            <p:txEl>
                                              <p:pRg st="6" end="6"/>
                                            </p:txEl>
                                          </p:spTgt>
                                        </p:tgtEl>
                                        <p:attrNameLst>
                                          <p:attrName>style.visibility</p:attrName>
                                        </p:attrNameLst>
                                      </p:cBhvr>
                                      <p:to>
                                        <p:strVal val="visible"/>
                                      </p:to>
                                    </p:set>
                                    <p:anim calcmode="lin" valueType="num">
                                      <p:cBhvr additive="base">
                                        <p:cTn id="35" dur="500" fill="hold"/>
                                        <p:tgtEl>
                                          <p:spTgt spid="4096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096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0963">
                                            <p:txEl>
                                              <p:pRg st="7" end="7"/>
                                            </p:txEl>
                                          </p:spTgt>
                                        </p:tgtEl>
                                        <p:attrNameLst>
                                          <p:attrName>style.visibility</p:attrName>
                                        </p:attrNameLst>
                                      </p:cBhvr>
                                      <p:to>
                                        <p:strVal val="visible"/>
                                      </p:to>
                                    </p:set>
                                    <p:anim calcmode="lin" valueType="num">
                                      <p:cBhvr additive="base">
                                        <p:cTn id="39" dur="500" fill="hold"/>
                                        <p:tgtEl>
                                          <p:spTgt spid="4096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096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228600" y="137535"/>
            <a:ext cx="8585200" cy="486929"/>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Advantages and Disadvantages of ERP Systems </a:t>
            </a:r>
          </a:p>
        </p:txBody>
      </p:sp>
      <p:sp>
        <p:nvSpPr>
          <p:cNvPr id="41987" name="Rectangle 3"/>
          <p:cNvSpPr>
            <a:spLocks noGrp="1" noChangeArrowheads="1"/>
          </p:cNvSpPr>
          <p:nvPr>
            <p:ph type="body" idx="4294967295"/>
          </p:nvPr>
        </p:nvSpPr>
        <p:spPr>
          <a:xfrm>
            <a:off x="1600200" y="1258889"/>
            <a:ext cx="7315200" cy="4951411"/>
          </a:xfrm>
        </p:spPr>
        <p:txBody>
          <a:bodyPr/>
          <a:lstStyle/>
          <a:p>
            <a:pPr>
              <a:spcBef>
                <a:spcPts val="600"/>
              </a:spcBef>
              <a:spcAft>
                <a:spcPts val="600"/>
              </a:spcAft>
              <a:buFontTx/>
              <a:buNone/>
            </a:pPr>
            <a:r>
              <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Advantages</a:t>
            </a:r>
          </a:p>
          <a:p>
            <a:pPr lvl="1" indent="-339725">
              <a:spcBef>
                <a:spcPts val="600"/>
              </a:spcBef>
              <a:spcAft>
                <a:spcPts val="600"/>
              </a:spcAft>
            </a:pPr>
            <a:r>
              <a:rPr lang="en-US" altLang="en-US" sz="2400" dirty="0">
                <a:latin typeface="Calibri" panose="020F0502020204030204" pitchFamily="34" charset="0"/>
                <a:ea typeface="ＭＳ Ｐゴシック" panose="020B0600070205080204" pitchFamily="34" charset="-128"/>
              </a:rPr>
              <a:t>Added visibility leads to reduced supply chain inventories</a:t>
            </a:r>
          </a:p>
          <a:p>
            <a:pPr lvl="1" indent="-339725">
              <a:spcBef>
                <a:spcPts val="600"/>
              </a:spcBef>
              <a:spcAft>
                <a:spcPts val="600"/>
              </a:spcAft>
            </a:pPr>
            <a:r>
              <a:rPr lang="en-US" altLang="en-US" sz="2400" dirty="0">
                <a:latin typeface="Calibri" panose="020F0502020204030204" pitchFamily="34" charset="0"/>
                <a:ea typeface="ＭＳ Ｐゴシック" panose="020B0600070205080204" pitchFamily="34" charset="-128"/>
              </a:rPr>
              <a:t>Helps to standardize manufacturing processes </a:t>
            </a:r>
          </a:p>
          <a:p>
            <a:pPr lvl="1" indent="-339725">
              <a:spcBef>
                <a:spcPts val="600"/>
              </a:spcBef>
              <a:spcAft>
                <a:spcPts val="600"/>
              </a:spcAft>
            </a:pPr>
            <a:r>
              <a:rPr lang="en-US" altLang="en-US" sz="2400" dirty="0">
                <a:latin typeface="Calibri" panose="020F0502020204030204" pitchFamily="34" charset="0"/>
                <a:ea typeface="ＭＳ Ｐゴシック" panose="020B0600070205080204" pitchFamily="34" charset="-128"/>
              </a:rPr>
              <a:t>Measure performance and communicate via a standardized method </a:t>
            </a:r>
          </a:p>
          <a:p>
            <a:pPr>
              <a:spcBef>
                <a:spcPts val="2400"/>
              </a:spcBef>
              <a:spcAft>
                <a:spcPts val="600"/>
              </a:spcAft>
              <a:buFontTx/>
              <a:buNone/>
            </a:pPr>
            <a:r>
              <a:rPr lang="en-US" altLang="en-US" sz="2400" b="1" dirty="0">
                <a:solidFill>
                  <a:srgbClr val="923222"/>
                </a:solidFill>
                <a:effectLst>
                  <a:outerShdw blurRad="38100" dist="38100" dir="2700000" algn="tl">
                    <a:srgbClr val="000000">
                      <a:alpha val="43137"/>
                    </a:srgbClr>
                  </a:outerShdw>
                </a:effectLst>
                <a:latin typeface="Calibri" panose="020F0502020204030204" pitchFamily="34" charset="0"/>
                <a:ea typeface="ＭＳ Ｐゴシック" panose="020B0600070205080204" pitchFamily="34" charset="-128"/>
              </a:rPr>
              <a:t>Disadvantages </a:t>
            </a:r>
          </a:p>
          <a:p>
            <a:pPr lvl="1" indent="-339725">
              <a:spcBef>
                <a:spcPts val="600"/>
              </a:spcBef>
              <a:spcAft>
                <a:spcPts val="600"/>
              </a:spcAft>
            </a:pPr>
            <a:r>
              <a:rPr lang="en-US" altLang="en-US" sz="2400" dirty="0">
                <a:latin typeface="Calibri" panose="020F0502020204030204" pitchFamily="34" charset="0"/>
                <a:ea typeface="ＭＳ Ｐゴシック" panose="020B0600070205080204" pitchFamily="34" charset="-128"/>
              </a:rPr>
              <a:t>Substantial time and capital investment</a:t>
            </a:r>
          </a:p>
          <a:p>
            <a:pPr lvl="1" indent="-339725">
              <a:spcBef>
                <a:spcPts val="600"/>
              </a:spcBef>
              <a:spcAft>
                <a:spcPts val="600"/>
              </a:spcAft>
            </a:pPr>
            <a:r>
              <a:rPr lang="en-US" altLang="en-US" sz="2400" dirty="0">
                <a:latin typeface="Calibri" panose="020F0502020204030204" pitchFamily="34" charset="0"/>
                <a:ea typeface="ＭＳ Ｐゴシック" panose="020B0600070205080204" pitchFamily="34" charset="-128"/>
              </a:rPr>
              <a:t>Complexity</a:t>
            </a:r>
          </a:p>
          <a:p>
            <a:pPr lvl="1" indent="-339725">
              <a:spcBef>
                <a:spcPts val="600"/>
              </a:spcBef>
              <a:spcAft>
                <a:spcPts val="600"/>
              </a:spcAft>
            </a:pPr>
            <a:r>
              <a:rPr lang="en-US" altLang="en-US" sz="2400" dirty="0">
                <a:latin typeface="Calibri" panose="020F0502020204030204" pitchFamily="34" charset="0"/>
                <a:ea typeface="ＭＳ Ｐゴシック" panose="020B0600070205080204" pitchFamily="34" charset="-128"/>
              </a:rPr>
              <a:t>Firms adapt processes to meet ERP system</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0" y="1189567"/>
            <a:ext cx="685800" cy="668866"/>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500" y="4381500"/>
            <a:ext cx="685800" cy="685800"/>
          </a:xfrm>
          <a:prstGeom prst="rect">
            <a:avLst/>
          </a:prstGeom>
        </p:spPr>
      </p:pic>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5" name="Slide Number Placeholder 4"/>
          <p:cNvSpPr>
            <a:spLocks noGrp="1"/>
          </p:cNvSpPr>
          <p:nvPr>
            <p:ph type="sldNum" sz="quarter" idx="4"/>
          </p:nvPr>
        </p:nvSpPr>
        <p:spPr/>
        <p:txBody>
          <a:bodyPr/>
          <a:lstStyle/>
          <a:p>
            <a:fld id="{E66AA3EA-0569-43EF-BBA3-83FDB109D582}" type="slidenum">
              <a:rPr lang="en-US" smtClean="0"/>
              <a:pPr/>
              <a:t>32</a:t>
            </a:fld>
            <a:endParaRPr lang="en-US" dirty="0"/>
          </a:p>
        </p:txBody>
      </p:sp>
    </p:spTree>
    <p:extLst>
      <p:ext uri="{BB962C8B-B14F-4D97-AF65-F5344CB8AC3E}">
        <p14:creationId xmlns:p14="http://schemas.microsoft.com/office/powerpoint/2010/main" val="4035800036"/>
      </p:ext>
    </p:extLst>
  </p:cSld>
  <p:clrMapOvr>
    <a:masterClrMapping/>
  </p:clrMapOvr>
  <p:transition spd="slow">
    <p:pull dir="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a:xfrm>
            <a:off x="228600" y="127660"/>
            <a:ext cx="8439150" cy="496804"/>
          </a:xfrm>
          <a:noFill/>
          <a:ln w="9525">
            <a:noFill/>
            <a:miter lim="800000"/>
            <a:headEnd/>
            <a:tailEnd/>
          </a:ln>
          <a:effectLst/>
        </p:spPr>
        <p:txBody>
          <a:bodyPr vert="horz" wrap="square" lIns="92075" tIns="46038" rIns="92075" bIns="46038" numCol="1" anchor="b" anchorCtr="0" compatLnSpc="1">
            <a:prstTxWarp prst="textNoShape">
              <a:avLst/>
            </a:prstTxWarp>
            <a:spAutoFit/>
          </a:bodyPr>
          <a:lstStyle/>
          <a:p>
            <a:pPr>
              <a:lnSpc>
                <a:spcPct val="80000"/>
              </a:lnSpc>
            </a:pPr>
            <a:r>
              <a:rPr lang="en-US" altLang="en-US" sz="3200" kern="1200" dirty="0">
                <a:solidFill>
                  <a:srgbClr val="923222"/>
                </a:solidFill>
                <a:effectLst>
                  <a:outerShdw blurRad="38100" dist="38100" dir="2700000" algn="tl">
                    <a:srgbClr val="C0C0C0"/>
                  </a:outerShdw>
                </a:effectLst>
                <a:latin typeface="Calibri" panose="020F0502020204030204" pitchFamily="34" charset="0"/>
                <a:ea typeface="+mn-ea"/>
                <a:cs typeface="Arial" charset="0"/>
              </a:rPr>
              <a:t>ERP Software Applications and Providers</a:t>
            </a:r>
          </a:p>
        </p:txBody>
      </p:sp>
      <p:sp>
        <p:nvSpPr>
          <p:cNvPr id="43011" name="Rectangle 3"/>
          <p:cNvSpPr>
            <a:spLocks noGrp="1" noChangeArrowheads="1"/>
          </p:cNvSpPr>
          <p:nvPr>
            <p:ph type="body" idx="4294967295"/>
          </p:nvPr>
        </p:nvSpPr>
        <p:spPr>
          <a:xfrm>
            <a:off x="228600" y="990601"/>
            <a:ext cx="8686799" cy="2666999"/>
          </a:xfrm>
        </p:spPr>
        <p:txBody>
          <a:bodyPr/>
          <a:lstStyle/>
          <a:p>
            <a:pPr>
              <a:spcBef>
                <a:spcPts val="300"/>
              </a:spcBef>
              <a:spcAft>
                <a:spcPts val="300"/>
              </a:spcAft>
              <a:buFontTx/>
              <a:buNone/>
            </a:pPr>
            <a:r>
              <a:rPr lang="en-US" altLang="en-US" sz="2400" b="1" dirty="0">
                <a:latin typeface="Calibri" panose="020F0502020204030204" pitchFamily="34" charset="0"/>
                <a:ea typeface="ＭＳ Ｐゴシック" panose="020B0600070205080204" pitchFamily="34" charset="-128"/>
              </a:rPr>
              <a:t>Major ERP applications include:</a:t>
            </a:r>
          </a:p>
          <a:p>
            <a:pPr marL="398463" lvl="1" indent="-279400">
              <a:spcBef>
                <a:spcPts val="300"/>
              </a:spcBef>
              <a:spcAft>
                <a:spcPts val="300"/>
              </a:spcAft>
            </a:pPr>
            <a:r>
              <a:rPr lang="en-US" altLang="en-US" sz="2000" dirty="0">
                <a:latin typeface="Calibri" panose="020F0502020204030204" pitchFamily="34" charset="0"/>
                <a:ea typeface="ＭＳ Ｐゴシック" panose="020B0600070205080204" pitchFamily="34" charset="-128"/>
              </a:rPr>
              <a:t>Accounting and Finance</a:t>
            </a:r>
          </a:p>
          <a:p>
            <a:pPr marL="398463" lvl="1" indent="-279400">
              <a:spcBef>
                <a:spcPts val="300"/>
              </a:spcBef>
              <a:spcAft>
                <a:spcPts val="300"/>
              </a:spcAft>
            </a:pPr>
            <a:r>
              <a:rPr lang="en-US" altLang="en-US" sz="2000" dirty="0">
                <a:latin typeface="Calibri" panose="020F0502020204030204" pitchFamily="34" charset="0"/>
                <a:ea typeface="ＭＳ Ｐゴシック" panose="020B0600070205080204" pitchFamily="34" charset="-128"/>
              </a:rPr>
              <a:t>Customer Relationship Management</a:t>
            </a:r>
          </a:p>
          <a:p>
            <a:pPr marL="398463" lvl="1" indent="-279400">
              <a:spcBef>
                <a:spcPts val="300"/>
              </a:spcBef>
              <a:spcAft>
                <a:spcPts val="300"/>
              </a:spcAft>
            </a:pPr>
            <a:r>
              <a:rPr lang="en-US" altLang="en-US" sz="2000" dirty="0">
                <a:latin typeface="Calibri" panose="020F0502020204030204" pitchFamily="34" charset="0"/>
                <a:ea typeface="ＭＳ Ｐゴシック" panose="020B0600070205080204" pitchFamily="34" charset="-128"/>
              </a:rPr>
              <a:t>Human Resource Management</a:t>
            </a:r>
          </a:p>
          <a:p>
            <a:pPr marL="398463" lvl="1" indent="-279400">
              <a:spcBef>
                <a:spcPts val="300"/>
              </a:spcBef>
              <a:spcAft>
                <a:spcPts val="300"/>
              </a:spcAft>
            </a:pPr>
            <a:r>
              <a:rPr lang="en-US" altLang="en-US" sz="2000" dirty="0">
                <a:latin typeface="Calibri" panose="020F0502020204030204" pitchFamily="34" charset="0"/>
                <a:ea typeface="ＭＳ Ｐゴシック" panose="020B0600070205080204" pitchFamily="34" charset="-128"/>
              </a:rPr>
              <a:t>Manufacturing</a:t>
            </a:r>
          </a:p>
          <a:p>
            <a:pPr marL="398463" lvl="1" indent="-279400">
              <a:spcBef>
                <a:spcPts val="300"/>
              </a:spcBef>
              <a:spcAft>
                <a:spcPts val="300"/>
              </a:spcAft>
            </a:pPr>
            <a:r>
              <a:rPr lang="en-US" altLang="en-US" sz="2000" dirty="0">
                <a:latin typeface="Calibri" panose="020F0502020204030204" pitchFamily="34" charset="0"/>
                <a:ea typeface="ＭＳ Ｐゴシック" panose="020B0600070205080204" pitchFamily="34" charset="-128"/>
              </a:rPr>
              <a:t>Supplier Relationship Management</a:t>
            </a:r>
          </a:p>
          <a:p>
            <a:pPr marL="398463" lvl="1" indent="-279400">
              <a:spcBef>
                <a:spcPts val="300"/>
              </a:spcBef>
              <a:spcAft>
                <a:spcPts val="300"/>
              </a:spcAft>
            </a:pPr>
            <a:r>
              <a:rPr lang="en-US" altLang="en-US" sz="2000" dirty="0">
                <a:latin typeface="Calibri" panose="020F0502020204030204" pitchFamily="34" charset="0"/>
                <a:ea typeface="ＭＳ Ｐゴシック" panose="020B0600070205080204" pitchFamily="34" charset="-128"/>
              </a:rPr>
              <a:t>Supply Chain Management</a:t>
            </a:r>
          </a:p>
        </p:txBody>
      </p:sp>
      <p:sp>
        <p:nvSpPr>
          <p:cNvPr id="5" name="Rectangle 3"/>
          <p:cNvSpPr txBox="1">
            <a:spLocks noChangeArrowheads="1"/>
          </p:cNvSpPr>
          <p:nvPr/>
        </p:nvSpPr>
        <p:spPr bwMode="auto">
          <a:xfrm>
            <a:off x="228601" y="3835399"/>
            <a:ext cx="8686799" cy="2887133"/>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lvl1pPr marL="192088" indent="-192088" algn="l" rtl="0" eaLnBrk="0" fontAlgn="base" hangingPunct="0">
              <a:spcBef>
                <a:spcPct val="50000"/>
              </a:spcBef>
              <a:spcAft>
                <a:spcPct val="0"/>
              </a:spcAft>
              <a:buClr>
                <a:schemeClr val="tx1"/>
              </a:buClr>
              <a:buFont typeface="Symbol" pitchFamily="18" charset="2"/>
              <a:buChar char="·"/>
              <a:defRPr sz="2200">
                <a:solidFill>
                  <a:schemeClr val="tx1"/>
                </a:solidFill>
                <a:latin typeface="+mn-lt"/>
                <a:ea typeface="+mn-ea"/>
                <a:cs typeface="+mn-cs"/>
              </a:defRPr>
            </a:lvl1pPr>
            <a:lvl2pPr marL="568325" indent="-185738" algn="l" rtl="0" eaLnBrk="0" fontAlgn="base" hangingPunct="0">
              <a:spcBef>
                <a:spcPct val="50000"/>
              </a:spcBef>
              <a:spcAft>
                <a:spcPct val="0"/>
              </a:spcAft>
              <a:buClr>
                <a:schemeClr val="tx1"/>
              </a:buClr>
              <a:buFont typeface="Symbol" pitchFamily="18" charset="2"/>
              <a:buChar char="-"/>
              <a:defRPr>
                <a:solidFill>
                  <a:schemeClr val="tx1"/>
                </a:solidFill>
                <a:latin typeface="+mn-lt"/>
              </a:defRPr>
            </a:lvl2pPr>
            <a:lvl3pPr marL="855663" indent="-96838" algn="l" rtl="0" eaLnBrk="0" fontAlgn="base" hangingPunct="0">
              <a:spcBef>
                <a:spcPct val="50000"/>
              </a:spcBef>
              <a:spcAft>
                <a:spcPct val="0"/>
              </a:spcAft>
              <a:buClr>
                <a:schemeClr val="tx1"/>
              </a:buClr>
              <a:buChar char="•"/>
              <a:defRPr>
                <a:solidFill>
                  <a:schemeClr val="tx1"/>
                </a:solidFill>
                <a:latin typeface="+mn-lt"/>
              </a:defRPr>
            </a:lvl3pPr>
            <a:lvl4pPr marL="1981200" indent="-228600" algn="l" rtl="0" eaLnBrk="0" fontAlgn="base" hangingPunct="0">
              <a:spcBef>
                <a:spcPct val="50000"/>
              </a:spcBef>
              <a:spcAft>
                <a:spcPct val="0"/>
              </a:spcAft>
              <a:buChar char="–"/>
              <a:defRPr sz="1600">
                <a:solidFill>
                  <a:schemeClr val="bg1"/>
                </a:solidFill>
                <a:latin typeface="+mn-lt"/>
              </a:defRPr>
            </a:lvl4pPr>
            <a:lvl5pPr marL="2400300" indent="-228600" algn="l" rtl="0" eaLnBrk="0" fontAlgn="base" hangingPunct="0">
              <a:spcBef>
                <a:spcPct val="50000"/>
              </a:spcBef>
              <a:spcAft>
                <a:spcPct val="0"/>
              </a:spcAft>
              <a:buChar char="•"/>
              <a:defRPr sz="1400">
                <a:solidFill>
                  <a:schemeClr val="bg1"/>
                </a:solidFill>
                <a:latin typeface="+mn-lt"/>
              </a:defRPr>
            </a:lvl5pPr>
            <a:lvl6pPr marL="2857500" indent="-228600" algn="l" rtl="0" eaLnBrk="0" fontAlgn="base" hangingPunct="0">
              <a:spcBef>
                <a:spcPct val="50000"/>
              </a:spcBef>
              <a:spcAft>
                <a:spcPct val="0"/>
              </a:spcAft>
              <a:buChar char="•"/>
              <a:defRPr sz="1400">
                <a:solidFill>
                  <a:schemeClr val="bg1"/>
                </a:solidFill>
                <a:latin typeface="+mn-lt"/>
              </a:defRPr>
            </a:lvl6pPr>
            <a:lvl7pPr marL="3314700" indent="-228600" algn="l" rtl="0" eaLnBrk="0" fontAlgn="base" hangingPunct="0">
              <a:spcBef>
                <a:spcPct val="50000"/>
              </a:spcBef>
              <a:spcAft>
                <a:spcPct val="0"/>
              </a:spcAft>
              <a:buChar char="•"/>
              <a:defRPr sz="1400">
                <a:solidFill>
                  <a:schemeClr val="bg1"/>
                </a:solidFill>
                <a:latin typeface="+mn-lt"/>
              </a:defRPr>
            </a:lvl7pPr>
            <a:lvl8pPr marL="3771900" indent="-228600" algn="l" rtl="0" eaLnBrk="0" fontAlgn="base" hangingPunct="0">
              <a:spcBef>
                <a:spcPct val="50000"/>
              </a:spcBef>
              <a:spcAft>
                <a:spcPct val="0"/>
              </a:spcAft>
              <a:buChar char="•"/>
              <a:defRPr sz="1400">
                <a:solidFill>
                  <a:schemeClr val="bg1"/>
                </a:solidFill>
                <a:latin typeface="+mn-lt"/>
              </a:defRPr>
            </a:lvl8pPr>
            <a:lvl9pPr marL="4229100" indent="-228600" algn="l" rtl="0" eaLnBrk="0" fontAlgn="base" hangingPunct="0">
              <a:spcBef>
                <a:spcPct val="50000"/>
              </a:spcBef>
              <a:spcAft>
                <a:spcPct val="0"/>
              </a:spcAft>
              <a:buChar char="•"/>
              <a:defRPr sz="1400">
                <a:solidFill>
                  <a:schemeClr val="bg1"/>
                </a:solidFill>
                <a:latin typeface="+mn-lt"/>
              </a:defRPr>
            </a:lvl9pPr>
          </a:lstStyle>
          <a:p>
            <a:pPr marL="0" indent="0">
              <a:spcBef>
                <a:spcPts val="600"/>
              </a:spcBef>
              <a:spcAft>
                <a:spcPts val="600"/>
              </a:spcAft>
              <a:buFontTx/>
              <a:buNone/>
            </a:pPr>
            <a:r>
              <a:rPr lang="en-US" altLang="en-US" sz="2400" b="1" kern="0" dirty="0">
                <a:latin typeface="Calibri" panose="020F0502020204030204" pitchFamily="34" charset="0"/>
                <a:ea typeface="ＭＳ Ｐゴシック" panose="020B0600070205080204" pitchFamily="34" charset="-128"/>
              </a:rPr>
              <a:t>The 3 major ERP providers are:</a:t>
            </a:r>
          </a:p>
          <a:p>
            <a:pPr marL="914400" lvl="1" indent="-457200">
              <a:spcBef>
                <a:spcPts val="300"/>
              </a:spcBef>
              <a:spcAft>
                <a:spcPts val="300"/>
              </a:spcAft>
              <a:buFont typeface="+mj-lt"/>
              <a:buAutoNum type="arabicPeriod"/>
            </a:pPr>
            <a:r>
              <a:rPr lang="en-US" altLang="en-US" sz="2000" kern="0" dirty="0">
                <a:latin typeface="Calibri" panose="020F0502020204030204" pitchFamily="34" charset="0"/>
                <a:ea typeface="ＭＳ Ｐゴシック" panose="020B0600070205080204" pitchFamily="34" charset="-128"/>
              </a:rPr>
              <a:t>SAP</a:t>
            </a:r>
          </a:p>
          <a:p>
            <a:pPr marL="914400" lvl="1" indent="-457200">
              <a:spcBef>
                <a:spcPts val="300"/>
              </a:spcBef>
              <a:spcAft>
                <a:spcPts val="300"/>
              </a:spcAft>
              <a:buFont typeface="+mj-lt"/>
              <a:buAutoNum type="arabicPeriod"/>
            </a:pPr>
            <a:r>
              <a:rPr lang="en-US" altLang="en-US" sz="2000" kern="0" dirty="0">
                <a:latin typeface="Calibri" panose="020F0502020204030204" pitchFamily="34" charset="0"/>
                <a:ea typeface="ＭＳ Ｐゴシック" panose="020B0600070205080204" pitchFamily="34" charset="-128"/>
              </a:rPr>
              <a:t>Oracle</a:t>
            </a:r>
          </a:p>
          <a:p>
            <a:pPr marL="914400" lvl="1" indent="-457200">
              <a:spcBef>
                <a:spcPts val="300"/>
              </a:spcBef>
              <a:spcAft>
                <a:spcPts val="300"/>
              </a:spcAft>
              <a:buFont typeface="+mj-lt"/>
              <a:buAutoNum type="arabicPeriod"/>
            </a:pPr>
            <a:r>
              <a:rPr lang="en-US" altLang="en-US" sz="2000" kern="0" dirty="0">
                <a:latin typeface="Calibri" panose="020F0502020204030204" pitchFamily="34" charset="0"/>
                <a:ea typeface="ＭＳ Ｐゴシック" panose="020B0600070205080204" pitchFamily="34" charset="-128"/>
              </a:rPr>
              <a:t>Microsoft</a:t>
            </a:r>
          </a:p>
          <a:p>
            <a:pPr marL="376237" lvl="1" indent="0">
              <a:spcBef>
                <a:spcPts val="600"/>
              </a:spcBef>
              <a:spcAft>
                <a:spcPts val="600"/>
              </a:spcAft>
              <a:buFontTx/>
              <a:buNone/>
            </a:pPr>
            <a:r>
              <a:rPr lang="en-US" altLang="en-US" sz="2000" kern="0" dirty="0">
                <a:latin typeface="Calibri" panose="020F0502020204030204" pitchFamily="34" charset="0"/>
                <a:ea typeface="ＭＳ Ｐゴシック" panose="020B0600070205080204" pitchFamily="34" charset="-128"/>
              </a:rPr>
              <a:t>Other small software firms provide applications </a:t>
            </a:r>
            <a:r>
              <a:rPr lang="en-US" altLang="en-US" sz="1600" i="1" kern="0" dirty="0">
                <a:latin typeface="Calibri" panose="020F0502020204030204" pitchFamily="34" charset="0"/>
                <a:ea typeface="ＭＳ Ｐゴシック" panose="020B0600070205080204" pitchFamily="34" charset="-128"/>
              </a:rPr>
              <a:t>(e.g., Sage’s MAS 90)</a:t>
            </a:r>
            <a:r>
              <a:rPr lang="en-US" altLang="en-US" sz="2000" kern="0" dirty="0">
                <a:latin typeface="Calibri" panose="020F0502020204030204" pitchFamily="34" charset="0"/>
                <a:ea typeface="ＭＳ Ｐゴシック" panose="020B0600070205080204" pitchFamily="34" charset="-128"/>
              </a:rPr>
              <a:t> as well as full ERP solutions, but lack applistructure </a:t>
            </a:r>
            <a:r>
              <a:rPr lang="en-US" altLang="en-US" sz="1800" i="1" kern="0" dirty="0">
                <a:latin typeface="Calibri" panose="020F0502020204030204" pitchFamily="34" charset="0"/>
                <a:ea typeface="ＭＳ Ｐゴシック" panose="020B0600070205080204" pitchFamily="34" charset="-128"/>
              </a:rPr>
              <a:t>(the amalgamation of enterprise applications and technological infrastructure)</a:t>
            </a:r>
            <a:endParaRPr lang="en-US" altLang="en-US" sz="1600" i="1" kern="0" dirty="0">
              <a:latin typeface="Calibri" panose="020F0502020204030204" pitchFamily="34" charset="0"/>
              <a:ea typeface="ＭＳ Ｐゴシック" panose="020B0600070205080204" pitchFamily="34" charset="-128"/>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25568" y="1662768"/>
            <a:ext cx="3989832" cy="1915330"/>
          </a:xfrm>
          <a:prstGeom prst="rect">
            <a:avLst/>
          </a:prstGeom>
        </p:spPr>
      </p:pic>
      <p:sp>
        <p:nvSpPr>
          <p:cNvPr id="2" name="Footer Placeholder 1"/>
          <p:cNvSpPr>
            <a:spLocks noGrp="1"/>
          </p:cNvSpPr>
          <p:nvPr>
            <p:ph type="ftr" sz="quarter" idx="3"/>
          </p:nvPr>
        </p:nvSpPr>
        <p:spPr/>
        <p:txBody>
          <a:bodyPr/>
          <a:lstStyle/>
          <a:p>
            <a:r>
              <a:rPr lang="en-US"/>
              <a:t>Fundamentals of Supply Chain Management – McLaury/Spiegle</a:t>
            </a:r>
            <a:endParaRPr lang="en-US" dirty="0"/>
          </a:p>
        </p:txBody>
      </p:sp>
      <p:sp>
        <p:nvSpPr>
          <p:cNvPr id="4" name="Slide Number Placeholder 3"/>
          <p:cNvSpPr>
            <a:spLocks noGrp="1"/>
          </p:cNvSpPr>
          <p:nvPr>
            <p:ph type="sldNum" sz="quarter" idx="4"/>
          </p:nvPr>
        </p:nvSpPr>
        <p:spPr/>
        <p:txBody>
          <a:bodyPr/>
          <a:lstStyle/>
          <a:p>
            <a:fld id="{E66AA3EA-0569-43EF-BBA3-83FDB109D582}" type="slidenum">
              <a:rPr lang="en-US" smtClean="0"/>
              <a:pPr/>
              <a:t>33</a:t>
            </a:fld>
            <a:endParaRPr lang="en-US" dirty="0"/>
          </a:p>
        </p:txBody>
      </p:sp>
    </p:spTree>
    <p:extLst>
      <p:ext uri="{BB962C8B-B14F-4D97-AF65-F5344CB8AC3E}">
        <p14:creationId xmlns:p14="http://schemas.microsoft.com/office/powerpoint/2010/main" val="139474738"/>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 calcmode="lin" valueType="num">
                                      <p:cBhvr additive="base">
                                        <p:cTn id="7" dur="500" fill="hold"/>
                                        <p:tgtEl>
                                          <p:spTgt spid="430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anim calcmode="lin" valueType="num">
                                      <p:cBhvr additive="base">
                                        <p:cTn id="11" dur="500" fill="hold"/>
                                        <p:tgtEl>
                                          <p:spTgt spid="4301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301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anim calcmode="lin" valueType="num">
                                      <p:cBhvr additive="base">
                                        <p:cTn id="15" dur="500" fill="hold"/>
                                        <p:tgtEl>
                                          <p:spTgt spid="4301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3011">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3011">
                                            <p:txEl>
                                              <p:pRg st="3" end="3"/>
                                            </p:txEl>
                                          </p:spTgt>
                                        </p:tgtEl>
                                        <p:attrNameLst>
                                          <p:attrName>style.visibility</p:attrName>
                                        </p:attrNameLst>
                                      </p:cBhvr>
                                      <p:to>
                                        <p:strVal val="visible"/>
                                      </p:to>
                                    </p:set>
                                    <p:anim calcmode="lin" valueType="num">
                                      <p:cBhvr additive="base">
                                        <p:cTn id="19" dur="500" fill="hold"/>
                                        <p:tgtEl>
                                          <p:spTgt spid="4301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3011">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3011">
                                            <p:txEl>
                                              <p:pRg st="4" end="4"/>
                                            </p:txEl>
                                          </p:spTgt>
                                        </p:tgtEl>
                                        <p:attrNameLst>
                                          <p:attrName>style.visibility</p:attrName>
                                        </p:attrNameLst>
                                      </p:cBhvr>
                                      <p:to>
                                        <p:strVal val="visible"/>
                                      </p:to>
                                    </p:set>
                                    <p:anim calcmode="lin" valueType="num">
                                      <p:cBhvr additive="base">
                                        <p:cTn id="23" dur="500" fill="hold"/>
                                        <p:tgtEl>
                                          <p:spTgt spid="43011">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3011">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3011">
                                            <p:txEl>
                                              <p:pRg st="5" end="5"/>
                                            </p:txEl>
                                          </p:spTgt>
                                        </p:tgtEl>
                                        <p:attrNameLst>
                                          <p:attrName>style.visibility</p:attrName>
                                        </p:attrNameLst>
                                      </p:cBhvr>
                                      <p:to>
                                        <p:strVal val="visible"/>
                                      </p:to>
                                    </p:set>
                                    <p:anim calcmode="lin" valueType="num">
                                      <p:cBhvr additive="base">
                                        <p:cTn id="27" dur="500" fill="hold"/>
                                        <p:tgtEl>
                                          <p:spTgt spid="43011">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3011">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3011">
                                            <p:txEl>
                                              <p:pRg st="6" end="6"/>
                                            </p:txEl>
                                          </p:spTgt>
                                        </p:tgtEl>
                                        <p:attrNameLst>
                                          <p:attrName>style.visibility</p:attrName>
                                        </p:attrNameLst>
                                      </p:cBhvr>
                                      <p:to>
                                        <p:strVal val="visible"/>
                                      </p:to>
                                    </p:set>
                                    <p:anim calcmode="lin" valueType="num">
                                      <p:cBhvr additive="base">
                                        <p:cTn id="31" dur="500" fill="hold"/>
                                        <p:tgtEl>
                                          <p:spTgt spid="43011">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301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anim calcmode="lin" valueType="num">
                                      <p:cBhvr additive="base">
                                        <p:cTn id="3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5">
                                            <p:txEl>
                                              <p:pRg st="1" end="1"/>
                                            </p:txEl>
                                          </p:spTgt>
                                        </p:tgtEl>
                                        <p:attrNameLst>
                                          <p:attrName>style.visibility</p:attrName>
                                        </p:attrNameLst>
                                      </p:cBhvr>
                                      <p:to>
                                        <p:strVal val="visible"/>
                                      </p:to>
                                    </p:set>
                                    <p:anim calcmode="lin" valueType="num">
                                      <p:cBhvr additive="base">
                                        <p:cTn id="4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5">
                                            <p:txEl>
                                              <p:pRg st="2" end="2"/>
                                            </p:txEl>
                                          </p:spTgt>
                                        </p:tgtEl>
                                        <p:attrNameLst>
                                          <p:attrName>style.visibility</p:attrName>
                                        </p:attrNameLst>
                                      </p:cBhvr>
                                      <p:to>
                                        <p:strVal val="visible"/>
                                      </p:to>
                                    </p:set>
                                    <p:anim calcmode="lin" valueType="num">
                                      <p:cBhvr additive="base">
                                        <p:cTn id="4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5">
                                            <p:txEl>
                                              <p:pRg st="3" end="3"/>
                                            </p:txEl>
                                          </p:spTgt>
                                        </p:tgtEl>
                                        <p:attrNameLst>
                                          <p:attrName>style.visibility</p:attrName>
                                        </p:attrNameLst>
                                      </p:cBhvr>
                                      <p:to>
                                        <p:strVal val="visible"/>
                                      </p:to>
                                    </p:set>
                                    <p:anim calcmode="lin" valueType="num">
                                      <p:cBhvr additive="base">
                                        <p:cTn id="4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3" end="3"/>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5">
                                            <p:txEl>
                                              <p:pRg st="4" end="4"/>
                                            </p:txEl>
                                          </p:spTgt>
                                        </p:tgtEl>
                                        <p:attrNameLst>
                                          <p:attrName>style.visibility</p:attrName>
                                        </p:attrNameLst>
                                      </p:cBhvr>
                                      <p:to>
                                        <p:strVal val="visible"/>
                                      </p:to>
                                    </p:set>
                                    <p:anim calcmode="lin" valueType="num">
                                      <p:cBhvr additive="base">
                                        <p:cTn id="5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TPVERSION" val="5"/>
  <p:tag name="TPFULLVERSION" val="5.3.1.3337"/>
  <p:tag name="PPTVERSION" val="15"/>
  <p:tag name="TPOS" val="2"/>
</p:tagLst>
</file>

<file path=ppt/tags/tag2.xml><?xml version="1.0" encoding="utf-8"?>
<p:tagLst xmlns:a="http://schemas.openxmlformats.org/drawingml/2006/main" xmlns:r="http://schemas.openxmlformats.org/officeDocument/2006/relationships" xmlns:p="http://schemas.openxmlformats.org/presentationml/2006/main">
  <p:tag name="SECTIONNUMBER" val="1"/>
  <p:tag name="DIVIDERPICTUREPATH" val="C:\Program Files\PPTADDIN.300.EN\PictureGallery\NVS_P_00048_PPT.jpg"/>
  <p:tag name="SLIDETYPE" val="NovartisTitl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New template for GSBD">
  <a:themeElements>
    <a:clrScheme name="NovartisWhite">
      <a:dk1>
        <a:sysClr val="windowText" lastClr="000000"/>
      </a:dk1>
      <a:lt1>
        <a:sysClr val="window" lastClr="FFFFFF"/>
      </a:lt1>
      <a:dk2>
        <a:srgbClr val="69676D"/>
      </a:dk2>
      <a:lt2>
        <a:srgbClr val="C9C2D1"/>
      </a:lt2>
      <a:accent1>
        <a:srgbClr val="FCAF17"/>
      </a:accent1>
      <a:accent2>
        <a:srgbClr val="EC8026"/>
      </a:accent2>
      <a:accent3>
        <a:srgbClr val="E44C16"/>
      </a:accent3>
      <a:accent4>
        <a:srgbClr val="923222"/>
      </a:accent4>
      <a:accent5>
        <a:srgbClr val="634329"/>
      </a:accent5>
      <a:accent6>
        <a:srgbClr val="000000"/>
      </a:accent6>
      <a:hlink>
        <a:srgbClr val="E44C16"/>
      </a:hlink>
      <a:folHlink>
        <a:srgbClr val="FCAF17"/>
      </a:folHlink>
    </a:clrScheme>
    <a:fontScheme name="New template for GSBD">
      <a:majorFont>
        <a:latin typeface="News Gothic MT"/>
        <a:ea typeface=""/>
        <a:cs typeface=""/>
      </a:majorFont>
      <a:minorFont>
        <a:latin typeface="News Gothic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E497"/>
        </a:solidFill>
        <a:ln w="28575"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sz="2800" b="1" i="0" u="none" strike="noStrike" cap="none" normalizeH="0" baseline="0" smtClean="0">
            <a:ln>
              <a:noFill/>
            </a:ln>
            <a:solidFill>
              <a:schemeClr val="tx1"/>
            </a:solidFill>
            <a:effectLst>
              <a:outerShdw blurRad="38100" dist="38100" dir="2700000" algn="tl">
                <a:srgbClr val="000000">
                  <a:alpha val="43137"/>
                </a:srgbClr>
              </a:outerShdw>
            </a:effectLst>
            <a:latin typeface="News Gothic MT" pitchFamily="34" charset="0"/>
          </a:defRPr>
        </a:defPPr>
      </a:lstStyle>
    </a:spDef>
    <a:lnDef>
      <a:spPr bwMode="auto">
        <a:solidFill>
          <a:schemeClr val="accent1"/>
        </a:solidFill>
        <a:ln w="28575" cap="flat" cmpd="sng" algn="ctr">
          <a:solidFill>
            <a:schemeClr val="tx1"/>
          </a:solidFill>
          <a:prstDash val="solid"/>
          <a:round/>
          <a:headEnd type="none" w="med" len="med"/>
          <a:tailEnd type="none" w="med" len="med"/>
        </a:ln>
        <a:effectLst/>
      </a:spPr>
      <a:bodyPr/>
      <a:lstStyle/>
    </a:lnDef>
  </a:objectDefaults>
  <a:extraClrSchemeLst>
    <a:extraClrScheme>
      <a:clrScheme name="New template for GSBD 1">
        <a:dk1>
          <a:srgbClr val="969696"/>
        </a:dk1>
        <a:lt1>
          <a:srgbClr val="FFFFFF"/>
        </a:lt1>
        <a:dk2>
          <a:srgbClr val="004D7D"/>
        </a:dk2>
        <a:lt2>
          <a:srgbClr val="FFFFFF"/>
        </a:lt2>
        <a:accent1>
          <a:srgbClr val="00CC99"/>
        </a:accent1>
        <a:accent2>
          <a:srgbClr val="3333CC"/>
        </a:accent2>
        <a:accent3>
          <a:srgbClr val="AAB2BF"/>
        </a:accent3>
        <a:accent4>
          <a:srgbClr val="DADADA"/>
        </a:accent4>
        <a:accent5>
          <a:srgbClr val="AAE2CA"/>
        </a:accent5>
        <a:accent6>
          <a:srgbClr val="2D2DB9"/>
        </a:accent6>
        <a:hlink>
          <a:srgbClr val="CCCCFF"/>
        </a:hlink>
        <a:folHlink>
          <a:srgbClr val="B2B2B2"/>
        </a:folHlink>
      </a:clrScheme>
      <a:clrMap bg1="dk2" tx1="lt1" bg2="dk1" tx2="lt2" accent1="accent1" accent2="accent2" accent3="accent3" accent4="accent4" accent5="accent5" accent6="accent6" hlink="hlink" folHlink="folHlink"/>
    </a:extraClrScheme>
    <a:extraClrScheme>
      <a:clrScheme name="New template for GSBD 2">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New template for GSBD 3">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New template for GSBD 4">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New template for GSBD 5">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New template for GSBD 6">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New template for GSBD 7">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New template for GSBD 8">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Novartis">
  <a:themeElements>
    <a:clrScheme name="Novartis">
      <a:dk1>
        <a:srgbClr val="917B69"/>
      </a:dk1>
      <a:lt1>
        <a:srgbClr val="FFFFFF"/>
      </a:lt1>
      <a:dk2>
        <a:srgbClr val="917B69"/>
      </a:dk2>
      <a:lt2>
        <a:srgbClr val="F8F8F8"/>
      </a:lt2>
      <a:accent1>
        <a:srgbClr val="FCAF17"/>
      </a:accent1>
      <a:accent2>
        <a:srgbClr val="EC8026"/>
      </a:accent2>
      <a:accent3>
        <a:srgbClr val="E44C16"/>
      </a:accent3>
      <a:accent4>
        <a:srgbClr val="923222"/>
      </a:accent4>
      <a:accent5>
        <a:srgbClr val="634329"/>
      </a:accent5>
      <a:accent6>
        <a:srgbClr val="000000"/>
      </a:accent6>
      <a:hlink>
        <a:srgbClr val="917B69"/>
      </a:hlink>
      <a:folHlink>
        <a:srgbClr val="917B69"/>
      </a:folHlink>
    </a:clrScheme>
    <a:fontScheme name="Novartis">
      <a:majorFont>
        <a:latin typeface="Arial"/>
        <a:ea typeface=""/>
        <a:cs typeface=""/>
      </a:majorFont>
      <a:minorFont>
        <a:latin typeface="Arial"/>
        <a:ea typeface=""/>
        <a:cs typeface=""/>
      </a:minorFont>
    </a:fontScheme>
    <a:fmtScheme name="Novart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Novartis">
  <a:themeElements>
    <a:clrScheme name="Novartis">
      <a:dk1>
        <a:srgbClr val="917B69"/>
      </a:dk1>
      <a:lt1>
        <a:srgbClr val="FFFFFF"/>
      </a:lt1>
      <a:dk2>
        <a:srgbClr val="917B69"/>
      </a:dk2>
      <a:lt2>
        <a:srgbClr val="F8F8F8"/>
      </a:lt2>
      <a:accent1>
        <a:srgbClr val="FCAF17"/>
      </a:accent1>
      <a:accent2>
        <a:srgbClr val="EC8026"/>
      </a:accent2>
      <a:accent3>
        <a:srgbClr val="E44C16"/>
      </a:accent3>
      <a:accent4>
        <a:srgbClr val="923222"/>
      </a:accent4>
      <a:accent5>
        <a:srgbClr val="634329"/>
      </a:accent5>
      <a:accent6>
        <a:srgbClr val="000000"/>
      </a:accent6>
      <a:hlink>
        <a:srgbClr val="917B69"/>
      </a:hlink>
      <a:folHlink>
        <a:srgbClr val="917B69"/>
      </a:folHlink>
    </a:clrScheme>
    <a:fontScheme name="Novartis">
      <a:majorFont>
        <a:latin typeface="Arial"/>
        <a:ea typeface=""/>
        <a:cs typeface=""/>
      </a:majorFont>
      <a:minorFont>
        <a:latin typeface="Arial"/>
        <a:ea typeface=""/>
        <a:cs typeface=""/>
      </a:minorFont>
    </a:fontScheme>
    <a:fmtScheme name="Novart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11365</TotalTime>
  <Words>3621</Words>
  <Application>Microsoft Office PowerPoint</Application>
  <PresentationFormat>On-screen Show (4:3)</PresentationFormat>
  <Paragraphs>622</Paragraphs>
  <Slides>33</Slides>
  <Notes>14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1" baseType="lpstr">
      <vt:lpstr>Arial</vt:lpstr>
      <vt:lpstr>Calibri</vt:lpstr>
      <vt:lpstr>Monotype Sorts</vt:lpstr>
      <vt:lpstr>News Gothic MT</vt:lpstr>
      <vt:lpstr>Symbol</vt:lpstr>
      <vt:lpstr>Wingdings</vt:lpstr>
      <vt:lpstr>New template for GSBD</vt:lpstr>
      <vt:lpstr>think-cell Slide</vt:lpstr>
      <vt:lpstr>PowerPoint Presentation</vt:lpstr>
      <vt:lpstr>Supply Chain Planning - Introduction</vt:lpstr>
      <vt:lpstr>Supply Chain Planning </vt:lpstr>
      <vt:lpstr>Planning Responsibilities and Tasks</vt:lpstr>
      <vt:lpstr>Supply Chain Planning Diagram</vt:lpstr>
      <vt:lpstr>Business Planning</vt:lpstr>
      <vt:lpstr>Sales &amp; Operations Planning (S&amp;OP) </vt:lpstr>
      <vt:lpstr>Aggregate Production Plan (APP) </vt:lpstr>
      <vt:lpstr>Aggregate Planning - Purpose and Goals</vt:lpstr>
      <vt:lpstr>Aggregate Planning Strategies – Demand Options</vt:lpstr>
      <vt:lpstr>Aggregate Planning Strategies – Supply Options</vt:lpstr>
      <vt:lpstr>Master Production Schedule (MPS) </vt:lpstr>
      <vt:lpstr>PowerPoint Presentation</vt:lpstr>
      <vt:lpstr>Time Fencing</vt:lpstr>
      <vt:lpstr>Basic Production Strategies</vt:lpstr>
      <vt:lpstr>Basic Production Strategies (continued)</vt:lpstr>
      <vt:lpstr>Basic Production Strategies (continued)</vt:lpstr>
      <vt:lpstr>The Bill of Materials </vt:lpstr>
      <vt:lpstr>Single Level Bill of Materials</vt:lpstr>
      <vt:lpstr>Multilevel Bill of Materials</vt:lpstr>
      <vt:lpstr>Supply Chain Planning Diagram</vt:lpstr>
      <vt:lpstr>Material Requirements Planning (MRP)</vt:lpstr>
      <vt:lpstr>Terms Used in MRP</vt:lpstr>
      <vt:lpstr>Terms Used in MRP (continued)</vt:lpstr>
      <vt:lpstr>PowerPoint Presentation</vt:lpstr>
      <vt:lpstr>Supply Chain Planning Diagram</vt:lpstr>
      <vt:lpstr>Capacity Planning</vt:lpstr>
      <vt:lpstr>Distribution Requirements Planning (DRP)</vt:lpstr>
      <vt:lpstr>Enterprise Requirements Planning Systems (ERP) </vt:lpstr>
      <vt:lpstr>Development of ERP Systems</vt:lpstr>
      <vt:lpstr>Implementing ERP Systems</vt:lpstr>
      <vt:lpstr>Advantages and Disadvantages of ERP Systems </vt:lpstr>
      <vt:lpstr>ERP Software Applications and Providers</vt:lpstr>
    </vt:vector>
  </TitlesOfParts>
  <Company>Novartis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McLaury, William</dc:creator>
  <cp:lastModifiedBy>John Impellizzeri</cp:lastModifiedBy>
  <cp:revision>547</cp:revision>
  <cp:lastPrinted>2016-01-18T15:44:39Z</cp:lastPrinted>
  <dcterms:created xsi:type="dcterms:W3CDTF">2014-03-13T13:06:01Z</dcterms:created>
  <dcterms:modified xsi:type="dcterms:W3CDTF">2025-09-10T15:51:14Z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ividerSectionCount">
    <vt:lpwstr>6</vt:lpwstr>
  </property>
</Properties>
</file>